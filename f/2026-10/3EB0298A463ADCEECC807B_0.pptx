
<file path=[Content_Types].xml><?xml version="1.0" encoding="utf-8"?>
<Types xmlns="http://schemas.openxmlformats.org/package/2006/content-types">
  <Default Extension="gif" ContentType="image/gif"/>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60"/>
  </p:notesMasterIdLst>
  <p:sldIdLst>
    <p:sldId id="320" r:id="rId2"/>
    <p:sldId id="309" r:id="rId3"/>
    <p:sldId id="310" r:id="rId4"/>
    <p:sldId id="311" r:id="rId5"/>
    <p:sldId id="261" r:id="rId6"/>
    <p:sldId id="263" r:id="rId7"/>
    <p:sldId id="318" r:id="rId8"/>
    <p:sldId id="271" r:id="rId9"/>
    <p:sldId id="265" r:id="rId10"/>
    <p:sldId id="272" r:id="rId11"/>
    <p:sldId id="262" r:id="rId12"/>
    <p:sldId id="264" r:id="rId13"/>
    <p:sldId id="267" r:id="rId14"/>
    <p:sldId id="268" r:id="rId15"/>
    <p:sldId id="502" r:id="rId16"/>
    <p:sldId id="269" r:id="rId17"/>
    <p:sldId id="270" r:id="rId18"/>
    <p:sldId id="273" r:id="rId19"/>
    <p:sldId id="274" r:id="rId20"/>
    <p:sldId id="329" r:id="rId21"/>
    <p:sldId id="275" r:id="rId22"/>
    <p:sldId id="277" r:id="rId23"/>
    <p:sldId id="276" r:id="rId24"/>
    <p:sldId id="296" r:id="rId25"/>
    <p:sldId id="301" r:id="rId26"/>
    <p:sldId id="304" r:id="rId27"/>
    <p:sldId id="297" r:id="rId28"/>
    <p:sldId id="298" r:id="rId29"/>
    <p:sldId id="280" r:id="rId30"/>
    <p:sldId id="281" r:id="rId31"/>
    <p:sldId id="285" r:id="rId32"/>
    <p:sldId id="282" r:id="rId33"/>
    <p:sldId id="284" r:id="rId34"/>
    <p:sldId id="299" r:id="rId35"/>
    <p:sldId id="283" r:id="rId36"/>
    <p:sldId id="332" r:id="rId37"/>
    <p:sldId id="333" r:id="rId38"/>
    <p:sldId id="334" r:id="rId39"/>
    <p:sldId id="335" r:id="rId40"/>
    <p:sldId id="336" r:id="rId41"/>
    <p:sldId id="337" r:id="rId42"/>
    <p:sldId id="338" r:id="rId43"/>
    <p:sldId id="339" r:id="rId44"/>
    <p:sldId id="340" r:id="rId45"/>
    <p:sldId id="293" r:id="rId46"/>
    <p:sldId id="300" r:id="rId47"/>
    <p:sldId id="316" r:id="rId48"/>
    <p:sldId id="317" r:id="rId49"/>
    <p:sldId id="303" r:id="rId50"/>
    <p:sldId id="295" r:id="rId51"/>
    <p:sldId id="305" r:id="rId52"/>
    <p:sldId id="306" r:id="rId53"/>
    <p:sldId id="307" r:id="rId54"/>
    <p:sldId id="342" r:id="rId55"/>
    <p:sldId id="312" r:id="rId56"/>
    <p:sldId id="319" r:id="rId57"/>
    <p:sldId id="501" r:id="rId58"/>
    <p:sldId id="279" r:id="rId5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005" autoAdjust="0"/>
    <p:restoredTop sz="94604" autoAdjust="0"/>
  </p:normalViewPr>
  <p:slideViewPr>
    <p:cSldViewPr snapToGrid="0" showGuides="1">
      <p:cViewPr varScale="1">
        <p:scale>
          <a:sx n="104" d="100"/>
          <a:sy n="104" d="100"/>
        </p:scale>
        <p:origin x="870" y="11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אלעד סלע" userId="e258557df0731695" providerId="LiveId" clId="{84E347F9-C87D-4B25-9A29-8A157D6CB353}"/>
    <pc:docChg chg="undo custSel delSld modSld">
      <pc:chgData name="אלעד סלע" userId="e258557df0731695" providerId="LiveId" clId="{84E347F9-C87D-4B25-9A29-8A157D6CB353}" dt="2023-10-31T06:22:37.794" v="28" actId="2696"/>
      <pc:docMkLst>
        <pc:docMk/>
      </pc:docMkLst>
      <pc:sldChg chg="addSp delSp modSp mod">
        <pc:chgData name="אלעד סלע" userId="e258557df0731695" providerId="LiveId" clId="{84E347F9-C87D-4B25-9A29-8A157D6CB353}" dt="2023-10-31T06:21:40.565" v="24" actId="14100"/>
        <pc:sldMkLst>
          <pc:docMk/>
          <pc:sldMk cId="1589917042" sldId="311"/>
        </pc:sldMkLst>
        <pc:spChg chg="add del mod">
          <ac:chgData name="אלעד סלע" userId="e258557df0731695" providerId="LiveId" clId="{84E347F9-C87D-4B25-9A29-8A157D6CB353}" dt="2023-10-31T06:20:58.034" v="5" actId="767"/>
          <ac:spMkLst>
            <pc:docMk/>
            <pc:sldMk cId="1589917042" sldId="311"/>
            <ac:spMk id="5" creationId="{9337E74A-8685-4FEC-9BCE-22E3C211599C}"/>
          </ac:spMkLst>
        </pc:spChg>
        <pc:spChg chg="add mod">
          <ac:chgData name="אלעד סלע" userId="e258557df0731695" providerId="LiveId" clId="{84E347F9-C87D-4B25-9A29-8A157D6CB353}" dt="2023-10-31T06:21:40.565" v="24" actId="14100"/>
          <ac:spMkLst>
            <pc:docMk/>
            <pc:sldMk cId="1589917042" sldId="311"/>
            <ac:spMk id="6" creationId="{828F99C7-F056-4625-A813-B18443F11328}"/>
          </ac:spMkLst>
        </pc:spChg>
        <pc:picChg chg="mod">
          <ac:chgData name="אלעד סלע" userId="e258557df0731695" providerId="LiveId" clId="{84E347F9-C87D-4B25-9A29-8A157D6CB353}" dt="2023-10-31T06:20:26.716" v="1" actId="1076"/>
          <ac:picMkLst>
            <pc:docMk/>
            <pc:sldMk cId="1589917042" sldId="311"/>
            <ac:picMk id="2" creationId="{00000000-0000-0000-0000-000000000000}"/>
          </ac:picMkLst>
        </pc:picChg>
      </pc:sldChg>
      <pc:sldChg chg="del">
        <pc:chgData name="אלעד סלע" userId="e258557df0731695" providerId="LiveId" clId="{84E347F9-C87D-4B25-9A29-8A157D6CB353}" dt="2023-10-31T06:22:23.206" v="25" actId="2696"/>
        <pc:sldMkLst>
          <pc:docMk/>
          <pc:sldMk cId="1038769767" sldId="313"/>
        </pc:sldMkLst>
      </pc:sldChg>
      <pc:sldChg chg="del">
        <pc:chgData name="אלעד סלע" userId="e258557df0731695" providerId="LiveId" clId="{84E347F9-C87D-4B25-9A29-8A157D6CB353}" dt="2023-10-31T06:22:25.978" v="26" actId="2696"/>
        <pc:sldMkLst>
          <pc:docMk/>
          <pc:sldMk cId="2180886479" sldId="314"/>
        </pc:sldMkLst>
      </pc:sldChg>
      <pc:sldChg chg="del">
        <pc:chgData name="אלעד סלע" userId="e258557df0731695" providerId="LiveId" clId="{84E347F9-C87D-4B25-9A29-8A157D6CB353}" dt="2023-10-31T06:22:29.560" v="27" actId="2696"/>
        <pc:sldMkLst>
          <pc:docMk/>
          <pc:sldMk cId="2508957681" sldId="315"/>
        </pc:sldMkLst>
      </pc:sldChg>
      <pc:sldChg chg="del">
        <pc:chgData name="אלעד סלע" userId="e258557df0731695" providerId="LiveId" clId="{84E347F9-C87D-4B25-9A29-8A157D6CB353}" dt="2023-10-31T06:22:37.794" v="28" actId="2696"/>
        <pc:sldMkLst>
          <pc:docMk/>
          <pc:sldMk cId="1454106704" sldId="32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F5A1C86B-25E9-46A5-BBEF-569E3FDD44A5}" type="datetimeFigureOut">
              <a:rPr lang="he-IL" smtClean="0"/>
              <a:t>י'/חשון/תשפ"ז</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21D00F1-CF90-4BB0-B327-6710C9A9805C}" type="slidenum">
              <a:rPr lang="he-IL" smtClean="0"/>
              <a:t>‹#›</a:t>
            </a:fld>
            <a:endParaRPr lang="he-IL"/>
          </a:p>
        </p:txBody>
      </p:sp>
    </p:spTree>
    <p:extLst>
      <p:ext uri="{BB962C8B-B14F-4D97-AF65-F5344CB8AC3E}">
        <p14:creationId xmlns:p14="http://schemas.microsoft.com/office/powerpoint/2010/main" val="132648044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521D00F1-CF90-4BB0-B327-6710C9A9805C}" type="slidenum">
              <a:rPr lang="he-IL" smtClean="0"/>
              <a:t>54</a:t>
            </a:fld>
            <a:endParaRPr lang="he-IL"/>
          </a:p>
        </p:txBody>
      </p:sp>
    </p:spTree>
    <p:extLst>
      <p:ext uri="{BB962C8B-B14F-4D97-AF65-F5344CB8AC3E}">
        <p14:creationId xmlns:p14="http://schemas.microsoft.com/office/powerpoint/2010/main" val="2204738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fld id="{950574F7-130F-44F5-A167-BA0BF0F79DD2}" type="slidenum">
              <a:rPr lang="he-IL" altLang="he-IL" sz="1200"/>
              <a:pPr algn="l" eaLnBrk="1" hangingPunct="1"/>
              <a:t>58</a:t>
            </a:fld>
            <a:endParaRPr lang="en-US" altLang="he-IL" sz="1200"/>
          </a:p>
        </p:txBody>
      </p:sp>
      <p:sp>
        <p:nvSpPr>
          <p:cNvPr id="118787" name="Rectangle 7"/>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fld id="{2F8EAD5E-D70A-4E0E-ACD2-635B83C51F02}" type="slidenum">
              <a:rPr lang="he-IL" altLang="he-IL" sz="1200"/>
              <a:pPr algn="l" eaLnBrk="1" hangingPunct="1"/>
              <a:t>58</a:t>
            </a:fld>
            <a:endParaRPr lang="en-US" altLang="he-IL" sz="1200"/>
          </a:p>
        </p:txBody>
      </p:sp>
      <p:sp>
        <p:nvSpPr>
          <p:cNvPr id="118788" name="Rectangle 7"/>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fld id="{55F71058-3EBA-40BA-8A4B-A1F371F7B858}" type="slidenum">
              <a:rPr lang="he-IL" altLang="he-IL" sz="1200"/>
              <a:pPr algn="l" eaLnBrk="1" hangingPunct="1"/>
              <a:t>58</a:t>
            </a:fld>
            <a:endParaRPr lang="en-US" altLang="he-IL" sz="1200"/>
          </a:p>
        </p:txBody>
      </p:sp>
      <p:sp>
        <p:nvSpPr>
          <p:cNvPr id="118789" name="Rectangle 2"/>
          <p:cNvSpPr>
            <a:spLocks noGrp="1" noRot="1" noChangeAspect="1" noChangeArrowheads="1" noTextEdit="1"/>
          </p:cNvSpPr>
          <p:nvPr>
            <p:ph type="sldImg"/>
          </p:nvPr>
        </p:nvSpPr>
        <p:spPr>
          <a:ln/>
        </p:spPr>
      </p:sp>
      <p:sp>
        <p:nvSpPr>
          <p:cNvPr id="11879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he-IL" altLang="he-IL"/>
              <a:t>הילד</a:t>
            </a:r>
          </a:p>
        </p:txBody>
      </p:sp>
    </p:spTree>
    <p:extLst>
      <p:ext uri="{BB962C8B-B14F-4D97-AF65-F5344CB8AC3E}">
        <p14:creationId xmlns:p14="http://schemas.microsoft.com/office/powerpoint/2010/main" val="4064155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3777642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1444041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1361562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2741828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2884070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3415855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788085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3295369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1380871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17679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33A170BC-A756-4FC5-ACE5-C3BACBAFBBC9}" type="datetimeFigureOut">
              <a:rPr lang="he-IL" smtClean="0"/>
              <a:t>י'/חשון/תשפ"ז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6E0B6964-971E-440E-BA06-7BDAA4269822}" type="slidenum">
              <a:rPr lang="he-IL" smtClean="0"/>
              <a:t>‹#›</a:t>
            </a:fld>
            <a:endParaRPr lang="he-IL"/>
          </a:p>
        </p:txBody>
      </p:sp>
    </p:spTree>
    <p:extLst>
      <p:ext uri="{BB962C8B-B14F-4D97-AF65-F5344CB8AC3E}">
        <p14:creationId xmlns:p14="http://schemas.microsoft.com/office/powerpoint/2010/main" val="1881535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33A170BC-A756-4FC5-ACE5-C3BACBAFBBC9}" type="datetimeFigureOut">
              <a:rPr lang="he-IL" smtClean="0"/>
              <a:t>י'/חשון/תשפ"ז</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6E0B6964-971E-440E-BA06-7BDAA4269822}" type="slidenum">
              <a:rPr lang="he-IL" smtClean="0"/>
              <a:t>‹#›</a:t>
            </a:fld>
            <a:endParaRPr lang="he-IL"/>
          </a:p>
        </p:txBody>
      </p:sp>
    </p:spTree>
    <p:extLst>
      <p:ext uri="{BB962C8B-B14F-4D97-AF65-F5344CB8AC3E}">
        <p14:creationId xmlns:p14="http://schemas.microsoft.com/office/powerpoint/2010/main" val="4104371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7.xml"/><Relationship Id="rId4" Type="http://schemas.openxmlformats.org/officeDocument/2006/relationships/image" Target="../media/image49.jpe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jpeg"/><Relationship Id="rId1" Type="http://schemas.openxmlformats.org/officeDocument/2006/relationships/slideLayout" Target="../slideLayouts/slideLayout7.xml"/><Relationship Id="rId4" Type="http://schemas.openxmlformats.org/officeDocument/2006/relationships/image" Target="../media/image52.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60.png"/><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3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74.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image" Target="../media/image77.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4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3.png"/></Relationships>
</file>

<file path=ppt/slides/_rels/slide51.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image" Target="../media/image97.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99.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55.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58.xml.rels><?xml version="1.0" encoding="UTF-8" standalone="yes"?>
<Relationships xmlns="http://schemas.openxmlformats.org/package/2006/relationships"><Relationship Id="rId3" Type="http://schemas.openxmlformats.org/officeDocument/2006/relationships/image" Target="../media/image111.gi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5"/>
          <p:cNvSpPr txBox="1">
            <a:spLocks noChangeArrowheads="1"/>
          </p:cNvSpPr>
          <p:nvPr/>
        </p:nvSpPr>
        <p:spPr bwMode="auto">
          <a:xfrm>
            <a:off x="3455693" y="900184"/>
            <a:ext cx="5280613" cy="954107"/>
          </a:xfrm>
          <a:prstGeom prst="rect">
            <a:avLst/>
          </a:prstGeom>
          <a:solidFill>
            <a:srgbClr val="0000FF"/>
          </a:solidFill>
          <a:ln>
            <a:noFill/>
          </a:ln>
          <a:effec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he-IL" altLang="he-IL" sz="2800" b="1" dirty="0">
                <a:solidFill>
                  <a:schemeClr val="bg1"/>
                </a:solidFill>
              </a:rPr>
              <a:t>חייו ופועלו של </a:t>
            </a:r>
          </a:p>
          <a:p>
            <a:pPr algn="ctr" eaLnBrk="1" hangingPunct="1"/>
            <a:r>
              <a:rPr lang="he-IL" altLang="he-IL" sz="2800" b="1">
                <a:solidFill>
                  <a:schemeClr val="bg1"/>
                </a:solidFill>
              </a:rPr>
              <a:t>הרב </a:t>
            </a:r>
            <a:r>
              <a:rPr lang="he-IL" altLang="he-IL" sz="2800" b="1" dirty="0">
                <a:solidFill>
                  <a:schemeClr val="bg1"/>
                </a:solidFill>
              </a:rPr>
              <a:t>הראשי (הראשון) לארץ-ישראל</a:t>
            </a:r>
            <a:r>
              <a:rPr lang="he-IL" altLang="he-IL" sz="2800" dirty="0">
                <a:solidFill>
                  <a:schemeClr val="bg1"/>
                </a:solidFill>
              </a:rPr>
              <a:t> </a:t>
            </a:r>
            <a:endParaRPr lang="en-US" altLang="he-IL" sz="2800" dirty="0">
              <a:solidFill>
                <a:schemeClr val="bg1"/>
              </a:solidFill>
            </a:endParaRPr>
          </a:p>
        </p:txBody>
      </p:sp>
      <p:sp>
        <p:nvSpPr>
          <p:cNvPr id="3076" name="Text Box 6"/>
          <p:cNvSpPr txBox="1">
            <a:spLocks noChangeArrowheads="1"/>
          </p:cNvSpPr>
          <p:nvPr/>
        </p:nvSpPr>
        <p:spPr bwMode="auto">
          <a:xfrm>
            <a:off x="3618396" y="139530"/>
            <a:ext cx="4955204" cy="523220"/>
          </a:xfrm>
          <a:prstGeom prst="rect">
            <a:avLst/>
          </a:prstGeom>
          <a:solidFill>
            <a:srgbClr val="FFFF00"/>
          </a:solidFill>
          <a:ln w="38100">
            <a:solidFill>
              <a:schemeClr val="tx1"/>
            </a:solidFill>
          </a:ln>
          <a:effec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he-IL" altLang="he-IL" sz="2800" b="1" dirty="0">
                <a:solidFill>
                  <a:srgbClr val="0000FF"/>
                </a:solidFill>
              </a:rPr>
              <a:t>הרב אברהם יצחק הכהן קוק זצ"ל</a:t>
            </a:r>
            <a:endParaRPr lang="en-US" altLang="he-IL" sz="2800" b="1" dirty="0">
              <a:solidFill>
                <a:srgbClr val="0000FF"/>
              </a:solidFill>
            </a:endParaRPr>
          </a:p>
        </p:txBody>
      </p:sp>
      <p:sp>
        <p:nvSpPr>
          <p:cNvPr id="3" name="מלבן 2"/>
          <p:cNvSpPr/>
          <p:nvPr/>
        </p:nvSpPr>
        <p:spPr>
          <a:xfrm>
            <a:off x="2897844" y="5588553"/>
            <a:ext cx="6396303" cy="461665"/>
          </a:xfrm>
          <a:prstGeom prst="rect">
            <a:avLst/>
          </a:prstGeom>
          <a:solidFill>
            <a:srgbClr val="FF00FF"/>
          </a:solidFill>
          <a:ln>
            <a:solidFill>
              <a:schemeClr val="tx1"/>
            </a:solidFill>
          </a:ln>
        </p:spPr>
        <p:txBody>
          <a:bodyPr wrap="none">
            <a:spAutoFit/>
          </a:bodyPr>
          <a:lstStyle/>
          <a:p>
            <a:r>
              <a:rPr lang="he-IL" sz="2400" b="1" dirty="0">
                <a:latin typeface="Calibri" panose="020F0502020204030204" pitchFamily="34" charset="0"/>
                <a:ea typeface="Calibri" panose="020F0502020204030204" pitchFamily="34" charset="0"/>
              </a:rPr>
              <a:t>ט"ז אלול תרכ"ה (1865)  </a:t>
            </a:r>
            <a:r>
              <a:rPr lang="he-IL" sz="2400" b="1" dirty="0"/>
              <a:t>– ג' אלול תרצ"ה (1935)</a:t>
            </a:r>
          </a:p>
        </p:txBody>
      </p:sp>
      <p:pic>
        <p:nvPicPr>
          <p:cNvPr id="10" name="Picture 11" descr="659C99E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8337" y="2929228"/>
            <a:ext cx="2134545" cy="3190545"/>
          </a:xfrm>
          <a:prstGeom prst="rect">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711897" y="6406215"/>
            <a:ext cx="6768199" cy="369332"/>
          </a:xfrm>
          <a:prstGeom prst="rect">
            <a:avLst/>
          </a:prstGeom>
          <a:solidFill>
            <a:srgbClr val="FFFF00"/>
          </a:solidFill>
          <a:ln>
            <a:solidFill>
              <a:schemeClr val="tx1"/>
            </a:solidFill>
          </a:ln>
        </p:spPr>
        <p:txBody>
          <a:bodyPr wrap="none" rtlCol="1">
            <a:spAutoFit/>
          </a:bodyPr>
          <a:lstStyle/>
          <a:p>
            <a:r>
              <a:rPr lang="he-IL" b="1" dirty="0"/>
              <a:t>ערך: שמואל </a:t>
            </a:r>
            <a:r>
              <a:rPr lang="he-IL" b="1" dirty="0" err="1"/>
              <a:t>כ"ץ</a:t>
            </a:r>
            <a:r>
              <a:rPr lang="he-IL" b="1" dirty="0"/>
              <a:t>, רב בתי ספר בירושלים וחוקר תולדות הרבנות הראשית</a:t>
            </a:r>
          </a:p>
        </p:txBody>
      </p:sp>
      <p:sp>
        <p:nvSpPr>
          <p:cNvPr id="5" name="TextBox 4"/>
          <p:cNvSpPr txBox="1"/>
          <p:nvPr/>
        </p:nvSpPr>
        <p:spPr>
          <a:xfrm>
            <a:off x="1573413" y="2091725"/>
            <a:ext cx="9045163" cy="584775"/>
          </a:xfrm>
          <a:prstGeom prst="rect">
            <a:avLst/>
          </a:prstGeom>
          <a:solidFill>
            <a:schemeClr val="tx1"/>
          </a:solidFill>
        </p:spPr>
        <p:txBody>
          <a:bodyPr wrap="square" rtlCol="1">
            <a:spAutoFit/>
          </a:bodyPr>
          <a:lstStyle/>
          <a:p>
            <a:r>
              <a:rPr lang="he-IL" sz="3200" b="1" dirty="0">
                <a:solidFill>
                  <a:schemeClr val="bg1"/>
                </a:solidFill>
              </a:rPr>
              <a:t>ספרים, תולדות חיים, תפילות, אמרות, שירים, הפעלות </a:t>
            </a:r>
          </a:p>
        </p:txBody>
      </p:sp>
      <p:pic>
        <p:nvPicPr>
          <p:cNvPr id="16" name="Picture 2" descr="http://upload-community.kipa.co.il/magazine/111920151096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15819" y="2996252"/>
            <a:ext cx="2375922" cy="315268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17" name="תמונה 16"/>
          <p:cNvPicPr>
            <a:picLocks noChangeAspect="1"/>
          </p:cNvPicPr>
          <p:nvPr/>
        </p:nvPicPr>
        <p:blipFill rotWithShape="1">
          <a:blip r:embed="rId4" cstate="print">
            <a:extLst>
              <a:ext uri="{28A0092B-C50C-407E-A947-70E740481C1C}">
                <a14:useLocalDpi xmlns:a14="http://schemas.microsoft.com/office/drawing/2010/main" val="0"/>
              </a:ext>
            </a:extLst>
          </a:blip>
          <a:srcRect l="32311" t="9884" r="13160" b="72511"/>
          <a:stretch/>
        </p:blipFill>
        <p:spPr>
          <a:xfrm rot="10800000">
            <a:off x="9908292" y="256464"/>
            <a:ext cx="1983449" cy="905198"/>
          </a:xfrm>
          <a:prstGeom prst="rect">
            <a:avLst/>
          </a:prstGeom>
          <a:ln w="38100">
            <a:solidFill>
              <a:srgbClr val="FF0000"/>
            </a:solidFill>
          </a:ln>
        </p:spPr>
      </p:pic>
      <p:pic>
        <p:nvPicPr>
          <p:cNvPr id="18"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81600" y="2929228"/>
            <a:ext cx="1675501" cy="2397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495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p:nvPr/>
        </p:nvPicPr>
        <p:blipFill>
          <a:blip r:embed="rId2">
            <a:extLst>
              <a:ext uri="{28A0092B-C50C-407E-A947-70E740481C1C}">
                <a14:useLocalDpi xmlns:a14="http://schemas.microsoft.com/office/drawing/2010/main" val="0"/>
              </a:ext>
            </a:extLst>
          </a:blip>
          <a:stretch>
            <a:fillRect/>
          </a:stretch>
        </p:blipFill>
        <p:spPr>
          <a:xfrm>
            <a:off x="7217546" y="142043"/>
            <a:ext cx="4572000" cy="6649374"/>
          </a:xfrm>
          <a:prstGeom prst="rect">
            <a:avLst/>
          </a:prstGeom>
          <a:ln>
            <a:solidFill>
              <a:schemeClr val="tx1"/>
            </a:solidFill>
          </a:ln>
        </p:spPr>
      </p:pic>
      <p:pic>
        <p:nvPicPr>
          <p:cNvPr id="4" name="תמונה 3"/>
          <p:cNvPicPr/>
          <p:nvPr/>
        </p:nvPicPr>
        <p:blipFill>
          <a:blip r:embed="rId3">
            <a:extLst>
              <a:ext uri="{28A0092B-C50C-407E-A947-70E740481C1C}">
                <a14:useLocalDpi xmlns:a14="http://schemas.microsoft.com/office/drawing/2010/main" val="0"/>
              </a:ext>
            </a:extLst>
          </a:blip>
          <a:stretch>
            <a:fillRect/>
          </a:stretch>
        </p:blipFill>
        <p:spPr>
          <a:xfrm>
            <a:off x="212663" y="142043"/>
            <a:ext cx="4745983" cy="6649374"/>
          </a:xfrm>
          <a:prstGeom prst="rect">
            <a:avLst/>
          </a:prstGeom>
          <a:ln>
            <a:solidFill>
              <a:schemeClr val="tx1"/>
            </a:solidFill>
          </a:ln>
        </p:spPr>
      </p:pic>
      <p:sp>
        <p:nvSpPr>
          <p:cNvPr id="3" name="TextBox 2"/>
          <p:cNvSpPr txBox="1"/>
          <p:nvPr/>
        </p:nvSpPr>
        <p:spPr>
          <a:xfrm>
            <a:off x="5421086" y="43934"/>
            <a:ext cx="1334020" cy="369332"/>
          </a:xfrm>
          <a:prstGeom prst="rect">
            <a:avLst/>
          </a:prstGeom>
          <a:solidFill>
            <a:srgbClr val="FFFF00"/>
          </a:solidFill>
          <a:ln>
            <a:solidFill>
              <a:schemeClr val="tx1"/>
            </a:solidFill>
          </a:ln>
        </p:spPr>
        <p:txBody>
          <a:bodyPr wrap="none" rtlCol="1">
            <a:spAutoFit/>
          </a:bodyPr>
          <a:lstStyle/>
          <a:p>
            <a:r>
              <a:rPr lang="he-IL" b="1" dirty="0"/>
              <a:t>תולדות חיים</a:t>
            </a:r>
          </a:p>
        </p:txBody>
      </p:sp>
    </p:spTree>
    <p:extLst>
      <p:ext uri="{BB962C8B-B14F-4D97-AF65-F5344CB8AC3E}">
        <p14:creationId xmlns:p14="http://schemas.microsoft.com/office/powerpoint/2010/main" val="447131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p:nvPr/>
        </p:nvPicPr>
        <p:blipFill rotWithShape="1">
          <a:blip r:embed="rId2">
            <a:extLst>
              <a:ext uri="{28A0092B-C50C-407E-A947-70E740481C1C}">
                <a14:useLocalDpi xmlns:a14="http://schemas.microsoft.com/office/drawing/2010/main" val="0"/>
              </a:ext>
            </a:extLst>
          </a:blip>
          <a:srcRect l="3208" t="5217" r="2184" b="5709"/>
          <a:stretch/>
        </p:blipFill>
        <p:spPr>
          <a:xfrm>
            <a:off x="6096000" y="247650"/>
            <a:ext cx="5819775" cy="1419226"/>
          </a:xfrm>
          <a:prstGeom prst="rect">
            <a:avLst/>
          </a:prstGeom>
          <a:ln>
            <a:solidFill>
              <a:schemeClr val="tx1"/>
            </a:solidFill>
          </a:ln>
        </p:spPr>
      </p:pic>
      <p:pic>
        <p:nvPicPr>
          <p:cNvPr id="3" name="תמונה 2"/>
          <p:cNvPicPr/>
          <p:nvPr/>
        </p:nvPicPr>
        <p:blipFill rotWithShape="1">
          <a:blip r:embed="rId3">
            <a:extLst>
              <a:ext uri="{28A0092B-C50C-407E-A947-70E740481C1C}">
                <a14:useLocalDpi xmlns:a14="http://schemas.microsoft.com/office/drawing/2010/main" val="0"/>
              </a:ext>
            </a:extLst>
          </a:blip>
          <a:srcRect l="11216" t="3242" r="11411" b="6770"/>
          <a:stretch/>
        </p:blipFill>
        <p:spPr bwMode="auto">
          <a:xfrm>
            <a:off x="1381125" y="133350"/>
            <a:ext cx="3943351" cy="6610350"/>
          </a:xfrm>
          <a:prstGeom prst="rect">
            <a:avLst/>
          </a:prstGeom>
          <a:noFill/>
          <a:ln w="19050">
            <a:solidFill>
              <a:schemeClr val="tx1"/>
            </a:solidFill>
          </a:ln>
        </p:spPr>
      </p:pic>
    </p:spTree>
    <p:extLst>
      <p:ext uri="{BB962C8B-B14F-4D97-AF65-F5344CB8AC3E}">
        <p14:creationId xmlns:p14="http://schemas.microsoft.com/office/powerpoint/2010/main" val="3831069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p:nvPr/>
        </p:nvPicPr>
        <p:blipFill>
          <a:blip r:embed="rId2">
            <a:extLst>
              <a:ext uri="{28A0092B-C50C-407E-A947-70E740481C1C}">
                <a14:useLocalDpi xmlns:a14="http://schemas.microsoft.com/office/drawing/2010/main" val="0"/>
              </a:ext>
            </a:extLst>
          </a:blip>
          <a:stretch>
            <a:fillRect/>
          </a:stretch>
        </p:blipFill>
        <p:spPr>
          <a:xfrm>
            <a:off x="6772275" y="132714"/>
            <a:ext cx="4533900" cy="6439535"/>
          </a:xfrm>
          <a:prstGeom prst="rect">
            <a:avLst/>
          </a:prstGeom>
        </p:spPr>
      </p:pic>
      <p:pic>
        <p:nvPicPr>
          <p:cNvPr id="3" name="תמונה 2" descr="http://www.jerusalem-old-city.org/image/users/164218/ftp/my_files/g-elul/%D7%94%D7%A8%D7%91%20%D7%A7%D7%95%D7%A7.jpg?id=871352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0457" y="772286"/>
            <a:ext cx="597535" cy="841375"/>
          </a:xfrm>
          <a:prstGeom prst="rect">
            <a:avLst/>
          </a:prstGeom>
          <a:noFill/>
          <a:ln>
            <a:solidFill>
              <a:schemeClr val="tx1"/>
            </a:solidFill>
          </a:ln>
        </p:spPr>
      </p:pic>
      <p:pic>
        <p:nvPicPr>
          <p:cNvPr id="4" name="תמונה 3"/>
          <p:cNvPicPr/>
          <p:nvPr/>
        </p:nvPicPr>
        <p:blipFill>
          <a:blip r:embed="rId4">
            <a:extLst>
              <a:ext uri="{28A0092B-C50C-407E-A947-70E740481C1C}">
                <a14:useLocalDpi xmlns:a14="http://schemas.microsoft.com/office/drawing/2010/main" val="0"/>
              </a:ext>
            </a:extLst>
          </a:blip>
          <a:stretch>
            <a:fillRect/>
          </a:stretch>
        </p:blipFill>
        <p:spPr>
          <a:xfrm>
            <a:off x="998379" y="131762"/>
            <a:ext cx="4394200" cy="6594475"/>
          </a:xfrm>
          <a:prstGeom prst="rect">
            <a:avLst/>
          </a:prstGeom>
        </p:spPr>
      </p:pic>
      <p:sp>
        <p:nvSpPr>
          <p:cNvPr id="6" name="תיבת טקסט 5">
            <a:extLst>
              <a:ext uri="{FF2B5EF4-FFF2-40B4-BE49-F238E27FC236}">
                <a16:creationId xmlns:a16="http://schemas.microsoft.com/office/drawing/2014/main" id="{828F99C7-F056-4625-A813-B18443F11328}"/>
              </a:ext>
            </a:extLst>
          </p:cNvPr>
          <p:cNvSpPr txBox="1"/>
          <p:nvPr/>
        </p:nvSpPr>
        <p:spPr>
          <a:xfrm>
            <a:off x="7776839" y="363984"/>
            <a:ext cx="2467991" cy="284086"/>
          </a:xfrm>
          <a:prstGeom prst="rect">
            <a:avLst/>
          </a:prstGeom>
          <a:solidFill>
            <a:schemeClr val="bg1"/>
          </a:solidFill>
        </p:spPr>
        <p:txBody>
          <a:bodyPr wrap="square" rtlCol="1">
            <a:spAutoFit/>
          </a:bodyPr>
          <a:lstStyle/>
          <a:p>
            <a:endParaRPr lang="he-IL" dirty="0"/>
          </a:p>
        </p:txBody>
      </p:sp>
    </p:spTree>
    <p:extLst>
      <p:ext uri="{BB962C8B-B14F-4D97-AF65-F5344CB8AC3E}">
        <p14:creationId xmlns:p14="http://schemas.microsoft.com/office/powerpoint/2010/main" val="264998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main product pho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7521" y="1039784"/>
            <a:ext cx="5210095" cy="52100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982182" y="214442"/>
            <a:ext cx="2109873" cy="369332"/>
          </a:xfrm>
          <a:prstGeom prst="rect">
            <a:avLst/>
          </a:prstGeom>
          <a:solidFill>
            <a:srgbClr val="FFFF00"/>
          </a:solidFill>
          <a:ln>
            <a:solidFill>
              <a:schemeClr val="tx1"/>
            </a:solidFill>
          </a:ln>
        </p:spPr>
        <p:txBody>
          <a:bodyPr wrap="none" rtlCol="1">
            <a:spAutoFit/>
          </a:bodyPr>
          <a:lstStyle/>
          <a:p>
            <a:r>
              <a:rPr lang="he-IL" b="1" dirty="0"/>
              <a:t>ספרים על חייו ופועלו</a:t>
            </a:r>
          </a:p>
        </p:txBody>
      </p:sp>
      <p:pic>
        <p:nvPicPr>
          <p:cNvPr id="2052" name="Picture 4" descr="אגרות הראיה חלק ה תרפ&quot;&quot;ב | דברי שיר"/>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9155" y="1191637"/>
            <a:ext cx="3076529" cy="4932269"/>
          </a:xfrm>
          <a:prstGeom prst="rect">
            <a:avLst/>
          </a:prstGeom>
          <a:noFill/>
          <a:extLst>
            <a:ext uri="{909E8E84-426E-40DD-AFC4-6F175D3DCCD1}">
              <a14:hiddenFill xmlns:a14="http://schemas.microsoft.com/office/drawing/2010/main">
                <a:solidFill>
                  <a:srgbClr val="FFFFFF"/>
                </a:solidFill>
              </a14:hiddenFill>
            </a:ext>
          </a:extLst>
        </p:spPr>
      </p:pic>
      <p:pic>
        <p:nvPicPr>
          <p:cNvPr id="5" name="תמונה 4"/>
          <p:cNvPicPr>
            <a:picLocks noChangeAspect="1"/>
          </p:cNvPicPr>
          <p:nvPr/>
        </p:nvPicPr>
        <p:blipFill rotWithShape="1">
          <a:blip r:embed="rId4"/>
          <a:srcRect l="2161" t="-1" r="5841" b="598"/>
          <a:stretch/>
        </p:blipFill>
        <p:spPr>
          <a:xfrm>
            <a:off x="568171" y="1260605"/>
            <a:ext cx="3116062" cy="4863301"/>
          </a:xfrm>
          <a:prstGeom prst="rect">
            <a:avLst/>
          </a:prstGeom>
        </p:spPr>
      </p:pic>
      <p:sp>
        <p:nvSpPr>
          <p:cNvPr id="6" name="TextBox 5"/>
          <p:cNvSpPr txBox="1"/>
          <p:nvPr/>
        </p:nvSpPr>
        <p:spPr>
          <a:xfrm>
            <a:off x="1991301" y="6249879"/>
            <a:ext cx="3385863" cy="369332"/>
          </a:xfrm>
          <a:prstGeom prst="rect">
            <a:avLst/>
          </a:prstGeom>
          <a:noFill/>
        </p:spPr>
        <p:txBody>
          <a:bodyPr wrap="none" rtlCol="1">
            <a:spAutoFit/>
          </a:bodyPr>
          <a:lstStyle/>
          <a:p>
            <a:r>
              <a:rPr lang="he-IL" b="1" dirty="0"/>
              <a:t>מהדורה חדשה עם הוספות והערות</a:t>
            </a:r>
          </a:p>
        </p:txBody>
      </p:sp>
    </p:spTree>
    <p:extLst>
      <p:ext uri="{BB962C8B-B14F-4D97-AF65-F5344CB8AC3E}">
        <p14:creationId xmlns:p14="http://schemas.microsoft.com/office/powerpoint/2010/main" val="696453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נפש הראי&quot;ה לשלושה באלול - נפש הראי&quot;ה לשלושה באלול למכירה"/>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7978" y="544867"/>
            <a:ext cx="4065845" cy="5767156"/>
          </a:xfrm>
          <a:prstGeom prst="rect">
            <a:avLst/>
          </a:prstGeom>
          <a:noFill/>
          <a:extLst>
            <a:ext uri="{909E8E84-426E-40DD-AFC4-6F175D3DCCD1}">
              <a14:hiddenFill xmlns:a14="http://schemas.microsoft.com/office/drawing/2010/main">
                <a:solidFill>
                  <a:srgbClr val="FFFFFF"/>
                </a:solidFill>
              </a14:hiddenFill>
            </a:ext>
          </a:extLst>
        </p:spPr>
      </p:pic>
      <p:pic>
        <p:nvPicPr>
          <p:cNvPr id="2" name="תמונה 1"/>
          <p:cNvPicPr>
            <a:picLocks noChangeAspect="1"/>
          </p:cNvPicPr>
          <p:nvPr/>
        </p:nvPicPr>
        <p:blipFill>
          <a:blip r:embed="rId3"/>
          <a:stretch>
            <a:fillRect/>
          </a:stretch>
        </p:blipFill>
        <p:spPr>
          <a:xfrm>
            <a:off x="402454" y="1161495"/>
            <a:ext cx="6096000" cy="3505200"/>
          </a:xfrm>
          <a:prstGeom prst="rect">
            <a:avLst/>
          </a:prstGeom>
          <a:ln>
            <a:solidFill>
              <a:schemeClr val="tx1"/>
            </a:solidFill>
          </a:ln>
        </p:spPr>
      </p:pic>
    </p:spTree>
    <p:extLst>
      <p:ext uri="{BB962C8B-B14F-4D97-AF65-F5344CB8AC3E}">
        <p14:creationId xmlns:p14="http://schemas.microsoft.com/office/powerpoint/2010/main" val="3673790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4277" y="428624"/>
            <a:ext cx="5293396" cy="610776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5" name="Picture 2" descr="מלאכים כבני אדם - הרב אברהם יצחק הכהן קוק / שמחה רז"/>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145" y="346675"/>
            <a:ext cx="4390255" cy="61646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8608168" y="5969458"/>
            <a:ext cx="984565" cy="338554"/>
          </a:xfrm>
          <a:prstGeom prst="rect">
            <a:avLst/>
          </a:prstGeom>
          <a:solidFill>
            <a:srgbClr val="FFFF00"/>
          </a:solidFill>
          <a:ln>
            <a:solidFill>
              <a:schemeClr val="tx1"/>
            </a:solidFill>
          </a:ln>
        </p:spPr>
        <p:txBody>
          <a:bodyPr wrap="none" rtlCol="1">
            <a:spAutoFit/>
          </a:bodyPr>
          <a:lstStyle/>
          <a:p>
            <a:r>
              <a:rPr lang="he-IL" sz="1600" b="1" dirty="0"/>
              <a:t>על החגים</a:t>
            </a:r>
          </a:p>
        </p:txBody>
      </p:sp>
    </p:spTree>
    <p:extLst>
      <p:ext uri="{BB962C8B-B14F-4D97-AF65-F5344CB8AC3E}">
        <p14:creationId xmlns:p14="http://schemas.microsoft.com/office/powerpoint/2010/main" val="1611158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l="18405" r="6207" b="22718"/>
          <a:stretch/>
        </p:blipFill>
        <p:spPr>
          <a:xfrm>
            <a:off x="6853938" y="539537"/>
            <a:ext cx="4003453" cy="5801120"/>
          </a:xfrm>
          <a:prstGeom prst="rect">
            <a:avLst/>
          </a:prstGeom>
          <a:ln>
            <a:solidFill>
              <a:schemeClr val="tx1"/>
            </a:solidFill>
          </a:ln>
        </p:spPr>
      </p:pic>
      <p:pic>
        <p:nvPicPr>
          <p:cNvPr id="3" name="תמונה 2"/>
          <p:cNvPicPr>
            <a:picLocks noChangeAspect="1"/>
          </p:cNvPicPr>
          <p:nvPr/>
        </p:nvPicPr>
        <p:blipFill rotWithShape="1">
          <a:blip r:embed="rId3" cstate="print">
            <a:extLst>
              <a:ext uri="{28A0092B-C50C-407E-A947-70E740481C1C}">
                <a14:useLocalDpi xmlns:a14="http://schemas.microsoft.com/office/drawing/2010/main" val="0"/>
              </a:ext>
            </a:extLst>
          </a:blip>
          <a:srcRect l="12367" r="4376" b="19094"/>
          <a:stretch/>
        </p:blipFill>
        <p:spPr>
          <a:xfrm>
            <a:off x="1147775" y="539537"/>
            <a:ext cx="4223215" cy="5801120"/>
          </a:xfrm>
          <a:prstGeom prst="rect">
            <a:avLst/>
          </a:prstGeom>
          <a:ln>
            <a:solidFill>
              <a:schemeClr val="tx1"/>
            </a:solidFill>
          </a:ln>
        </p:spPr>
      </p:pic>
    </p:spTree>
    <p:extLst>
      <p:ext uri="{BB962C8B-B14F-4D97-AF65-F5344CB8AC3E}">
        <p14:creationId xmlns:p14="http://schemas.microsoft.com/office/powerpoint/2010/main" val="1240424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מציאות קטן , ספר מציאות קטן , הרב קוק"/>
          <p:cNvPicPr>
            <a:picLocks noChangeAspect="1" noChangeArrowheads="1"/>
          </p:cNvPicPr>
          <p:nvPr/>
        </p:nvPicPr>
        <p:blipFill rotWithShape="1">
          <a:blip r:embed="rId2">
            <a:extLst>
              <a:ext uri="{28A0092B-C50C-407E-A947-70E740481C1C}">
                <a14:useLocalDpi xmlns:a14="http://schemas.microsoft.com/office/drawing/2010/main" val="0"/>
              </a:ext>
            </a:extLst>
          </a:blip>
          <a:srcRect r="2078"/>
          <a:stretch/>
        </p:blipFill>
        <p:spPr bwMode="auto">
          <a:xfrm>
            <a:off x="6850488" y="575824"/>
            <a:ext cx="4195703" cy="570635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 name="Picture 2" descr="במחיצתו - זכרונות על מרן הראי"/>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603" y="575824"/>
            <a:ext cx="4129429" cy="57684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2741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האיש נגד הזרם / שמואל הרב אבידור הכהן"/>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7306" y="549867"/>
            <a:ext cx="3864781" cy="575826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שבחי הראי&quot;ה - הרב קוק זצ&quot;ל (הראי&quot;ה)"/>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0051" y="549867"/>
            <a:ext cx="4033785" cy="5758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878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a:blip r:embed="rId2"/>
          <a:stretch>
            <a:fillRect/>
          </a:stretch>
        </p:blipFill>
        <p:spPr>
          <a:xfrm>
            <a:off x="6869327" y="485775"/>
            <a:ext cx="4543425" cy="5886450"/>
          </a:xfrm>
          <a:prstGeom prst="rect">
            <a:avLst/>
          </a:prstGeom>
        </p:spPr>
      </p:pic>
      <p:sp>
        <p:nvSpPr>
          <p:cNvPr id="3" name="AutoShape 2" descr="רב ומנהיג - הרב אברהם יצחק הכוהן קוק"/>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4" name="תמונה 3"/>
          <p:cNvPicPr>
            <a:picLocks noChangeAspect="1"/>
          </p:cNvPicPr>
          <p:nvPr/>
        </p:nvPicPr>
        <p:blipFill>
          <a:blip r:embed="rId3"/>
          <a:stretch>
            <a:fillRect/>
          </a:stretch>
        </p:blipFill>
        <p:spPr>
          <a:xfrm>
            <a:off x="1550436" y="485775"/>
            <a:ext cx="3784146" cy="5886450"/>
          </a:xfrm>
          <a:prstGeom prst="rect">
            <a:avLst/>
          </a:prstGeom>
          <a:ln>
            <a:solidFill>
              <a:schemeClr val="tx1"/>
            </a:solidFill>
          </a:ln>
        </p:spPr>
      </p:pic>
    </p:spTree>
    <p:extLst>
      <p:ext uri="{BB962C8B-B14F-4D97-AF65-F5344CB8AC3E}">
        <p14:creationId xmlns:p14="http://schemas.microsoft.com/office/powerpoint/2010/main" val="3926933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אוצרות הראי&quot;ה הרב משה צוריא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3" name="תמונה 2"/>
          <p:cNvPicPr>
            <a:picLocks noChangeAspect="1"/>
          </p:cNvPicPr>
          <p:nvPr/>
        </p:nvPicPr>
        <p:blipFill>
          <a:blip r:embed="rId2"/>
          <a:stretch>
            <a:fillRect/>
          </a:stretch>
        </p:blipFill>
        <p:spPr>
          <a:xfrm>
            <a:off x="337351" y="307944"/>
            <a:ext cx="5758649" cy="5758649"/>
          </a:xfrm>
          <a:prstGeom prst="rect">
            <a:avLst/>
          </a:prstGeom>
        </p:spPr>
      </p:pic>
      <p:pic>
        <p:nvPicPr>
          <p:cNvPr id="5124" name="Picture 4" descr="חנות הספרים של סבתא חיה | Facebook"/>
          <p:cNvPicPr>
            <a:picLocks noChangeAspect="1" noChangeArrowheads="1"/>
          </p:cNvPicPr>
          <p:nvPr/>
        </p:nvPicPr>
        <p:blipFill rotWithShape="1">
          <a:blip r:embed="rId3">
            <a:extLst>
              <a:ext uri="{28A0092B-C50C-407E-A947-70E740481C1C}">
                <a14:useLocalDpi xmlns:a14="http://schemas.microsoft.com/office/drawing/2010/main" val="0"/>
              </a:ext>
            </a:extLst>
          </a:blip>
          <a:srcRect b="16618"/>
          <a:stretch/>
        </p:blipFill>
        <p:spPr bwMode="auto">
          <a:xfrm rot="16200000">
            <a:off x="6873068" y="1491510"/>
            <a:ext cx="5145545" cy="321371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4991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אלה מסעי - מסע המושבות - אלה מסעי - מסע המושבות למכירה"/>
          <p:cNvPicPr>
            <a:picLocks noChangeAspect="1" noChangeArrowheads="1"/>
          </p:cNvPicPr>
          <p:nvPr/>
        </p:nvPicPr>
        <p:blipFill rotWithShape="1">
          <a:blip r:embed="rId2">
            <a:extLst>
              <a:ext uri="{28A0092B-C50C-407E-A947-70E740481C1C}">
                <a14:useLocalDpi xmlns:a14="http://schemas.microsoft.com/office/drawing/2010/main" val="0"/>
              </a:ext>
            </a:extLst>
          </a:blip>
          <a:srcRect l="4952" t="7611" r="11539" b="6330"/>
          <a:stretch/>
        </p:blipFill>
        <p:spPr bwMode="auto">
          <a:xfrm>
            <a:off x="7501632" y="548137"/>
            <a:ext cx="4083728" cy="5969355"/>
          </a:xfrm>
          <a:prstGeom prst="rect">
            <a:avLst/>
          </a:prstGeom>
          <a:noFill/>
          <a:extLst>
            <a:ext uri="{909E8E84-426E-40DD-AFC4-6F175D3DCCD1}">
              <a14:hiddenFill xmlns:a14="http://schemas.microsoft.com/office/drawing/2010/main">
                <a:solidFill>
                  <a:srgbClr val="FFFFFF"/>
                </a:solidFill>
              </a14:hiddenFill>
            </a:ext>
          </a:extLst>
        </p:spPr>
      </p:pic>
      <p:pic>
        <p:nvPicPr>
          <p:cNvPr id="2" name="תמונה 1"/>
          <p:cNvPicPr>
            <a:picLocks noChangeAspect="1"/>
          </p:cNvPicPr>
          <p:nvPr/>
        </p:nvPicPr>
        <p:blipFill rotWithShape="1">
          <a:blip r:embed="rId3"/>
          <a:srcRect l="2940" t="2803" r="5546" b="1294"/>
          <a:stretch/>
        </p:blipFill>
        <p:spPr>
          <a:xfrm>
            <a:off x="1109389" y="548136"/>
            <a:ext cx="4279357" cy="5969355"/>
          </a:xfrm>
          <a:prstGeom prst="rect">
            <a:avLst/>
          </a:prstGeom>
          <a:ln>
            <a:solidFill>
              <a:schemeClr val="tx1"/>
            </a:solidFill>
          </a:ln>
        </p:spPr>
      </p:pic>
    </p:spTree>
    <p:extLst>
      <p:ext uri="{BB962C8B-B14F-4D97-AF65-F5344CB8AC3E}">
        <p14:creationId xmlns:p14="http://schemas.microsoft.com/office/powerpoint/2010/main" val="3337052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להכות שורש"/>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9172" y="511282"/>
            <a:ext cx="4180397" cy="583543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 name="AutoShape 2" descr="קורא לדג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1030" name="Picture 6" descr="https://yhb.org.il/wp-content/uploads/2020/02/%D7%94%D7%93%D7%9E%D7%99%D7%94-%D7%A7%D7%95%D7%A8%D7%90-%D7%9C%D7%93%D7%92%D7%9C-%D7%A2%D7%9D-%D7%A8%D7%A7%D7%A2-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356377"/>
            <a:ext cx="5940425" cy="6768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181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773F6ACB-13AF-AEE5-5DC1-41C3EB81D0DD}"/>
              </a:ext>
            </a:extLst>
          </p:cNvPr>
          <p:cNvPicPr>
            <a:picLocks noChangeAspect="1"/>
          </p:cNvPicPr>
          <p:nvPr/>
        </p:nvPicPr>
        <p:blipFill>
          <a:blip r:embed="rId2"/>
          <a:stretch>
            <a:fillRect/>
          </a:stretch>
        </p:blipFill>
        <p:spPr>
          <a:xfrm>
            <a:off x="7495310" y="509731"/>
            <a:ext cx="3819525" cy="5739183"/>
          </a:xfrm>
          <a:prstGeom prst="rect">
            <a:avLst/>
          </a:prstGeom>
        </p:spPr>
      </p:pic>
      <p:pic>
        <p:nvPicPr>
          <p:cNvPr id="5" name="תמונה 4">
            <a:extLst>
              <a:ext uri="{FF2B5EF4-FFF2-40B4-BE49-F238E27FC236}">
                <a16:creationId xmlns:a16="http://schemas.microsoft.com/office/drawing/2014/main" id="{BFBE518F-5EE4-A836-263D-CED862A5827F}"/>
              </a:ext>
            </a:extLst>
          </p:cNvPr>
          <p:cNvPicPr>
            <a:picLocks noChangeAspect="1"/>
          </p:cNvPicPr>
          <p:nvPr/>
        </p:nvPicPr>
        <p:blipFill>
          <a:blip r:embed="rId3"/>
          <a:stretch>
            <a:fillRect/>
          </a:stretch>
        </p:blipFill>
        <p:spPr>
          <a:xfrm>
            <a:off x="1221364" y="509732"/>
            <a:ext cx="3819525" cy="5715000"/>
          </a:xfrm>
          <a:prstGeom prst="rect">
            <a:avLst/>
          </a:prstGeom>
        </p:spPr>
      </p:pic>
    </p:spTree>
    <p:extLst>
      <p:ext uri="{BB962C8B-B14F-4D97-AF65-F5344CB8AC3E}">
        <p14:creationId xmlns:p14="http://schemas.microsoft.com/office/powerpoint/2010/main" val="499048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כותלנו: הרב קוק והמאבק על הכותל - דברי שיר"/>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807" y="523043"/>
            <a:ext cx="4105004" cy="5823110"/>
          </a:xfrm>
          <a:prstGeom prst="rect">
            <a:avLst/>
          </a:prstGeom>
          <a:noFill/>
          <a:extLst>
            <a:ext uri="{909E8E84-426E-40DD-AFC4-6F175D3DCCD1}">
              <a14:hiddenFill xmlns:a14="http://schemas.microsoft.com/office/drawing/2010/main">
                <a:solidFill>
                  <a:srgbClr val="FFFFFF"/>
                </a:solidFill>
              </a14:hiddenFill>
            </a:ext>
          </a:extLst>
        </p:spPr>
      </p:pic>
      <p:pic>
        <p:nvPicPr>
          <p:cNvPr id="2" name="תמונה 1"/>
          <p:cNvPicPr>
            <a:picLocks noChangeAspect="1"/>
          </p:cNvPicPr>
          <p:nvPr/>
        </p:nvPicPr>
        <p:blipFill rotWithShape="1">
          <a:blip r:embed="rId3" cstate="print">
            <a:extLst>
              <a:ext uri="{28A0092B-C50C-407E-A947-70E740481C1C}">
                <a14:useLocalDpi xmlns:a14="http://schemas.microsoft.com/office/drawing/2010/main" val="0"/>
              </a:ext>
            </a:extLst>
          </a:blip>
          <a:srcRect l="4498" b="9207"/>
          <a:stretch/>
        </p:blipFill>
        <p:spPr>
          <a:xfrm>
            <a:off x="1020933" y="523043"/>
            <a:ext cx="4350057" cy="5845796"/>
          </a:xfrm>
          <a:prstGeom prst="rect">
            <a:avLst/>
          </a:prstGeom>
        </p:spPr>
      </p:pic>
    </p:spTree>
    <p:extLst>
      <p:ext uri="{BB962C8B-B14F-4D97-AF65-F5344CB8AC3E}">
        <p14:creationId xmlns:p14="http://schemas.microsoft.com/office/powerpoint/2010/main" val="3734805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ow does one replace the irreplaceable? - Israel National News"/>
          <p:cNvPicPr>
            <a:picLocks noChangeAspect="1" noChangeArrowheads="1"/>
          </p:cNvPicPr>
          <p:nvPr/>
        </p:nvPicPr>
        <p:blipFill rotWithShape="1">
          <a:blip r:embed="rId2">
            <a:extLst>
              <a:ext uri="{28A0092B-C50C-407E-A947-70E740481C1C}">
                <a14:useLocalDpi xmlns:a14="http://schemas.microsoft.com/office/drawing/2010/main" val="0"/>
              </a:ext>
            </a:extLst>
          </a:blip>
          <a:srcRect r="47453"/>
          <a:stretch/>
        </p:blipFill>
        <p:spPr bwMode="auto">
          <a:xfrm>
            <a:off x="6848744" y="538377"/>
            <a:ext cx="5082844" cy="575736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8196" name="Picture 4" descr="http://www.aron-hasfarim.co.il/uploadimages/180/937207.JPG"/>
          <p:cNvPicPr>
            <a:picLocks noChangeAspect="1" noChangeArrowheads="1"/>
          </p:cNvPicPr>
          <p:nvPr/>
        </p:nvPicPr>
        <p:blipFill rotWithShape="1">
          <a:blip r:embed="rId3">
            <a:extLst>
              <a:ext uri="{28A0092B-C50C-407E-A947-70E740481C1C}">
                <a14:useLocalDpi xmlns:a14="http://schemas.microsoft.com/office/drawing/2010/main" val="0"/>
              </a:ext>
            </a:extLst>
          </a:blip>
          <a:srcRect l="18055" t="2701" r="18518" b="2938"/>
          <a:stretch/>
        </p:blipFill>
        <p:spPr bwMode="auto">
          <a:xfrm>
            <a:off x="1509205" y="550416"/>
            <a:ext cx="3861786" cy="5745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832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l="14928" r="16819" b="27767"/>
          <a:stretch/>
        </p:blipFill>
        <p:spPr>
          <a:xfrm>
            <a:off x="6826929" y="553706"/>
            <a:ext cx="3844031" cy="5750588"/>
          </a:xfrm>
          <a:prstGeom prst="rect">
            <a:avLst/>
          </a:prstGeom>
        </p:spPr>
      </p:pic>
      <p:pic>
        <p:nvPicPr>
          <p:cNvPr id="3" name="תמונה 2"/>
          <p:cNvPicPr>
            <a:picLocks noChangeAspect="1"/>
          </p:cNvPicPr>
          <p:nvPr/>
        </p:nvPicPr>
        <p:blipFill rotWithShape="1">
          <a:blip r:embed="rId3" cstate="print">
            <a:extLst>
              <a:ext uri="{28A0092B-C50C-407E-A947-70E740481C1C}">
                <a14:useLocalDpi xmlns:a14="http://schemas.microsoft.com/office/drawing/2010/main" val="0"/>
              </a:ext>
            </a:extLst>
          </a:blip>
          <a:srcRect l="8234" t="906" r="6892" b="16894"/>
          <a:stretch/>
        </p:blipFill>
        <p:spPr>
          <a:xfrm>
            <a:off x="1104628" y="553706"/>
            <a:ext cx="4239730" cy="5804313"/>
          </a:xfrm>
          <a:prstGeom prst="rect">
            <a:avLst/>
          </a:prstGeom>
        </p:spPr>
      </p:pic>
      <p:sp>
        <p:nvSpPr>
          <p:cNvPr id="4" name="TextBox 3"/>
          <p:cNvSpPr txBox="1"/>
          <p:nvPr/>
        </p:nvSpPr>
        <p:spPr>
          <a:xfrm>
            <a:off x="5383905" y="84667"/>
            <a:ext cx="1443024" cy="369332"/>
          </a:xfrm>
          <a:prstGeom prst="rect">
            <a:avLst/>
          </a:prstGeom>
          <a:solidFill>
            <a:srgbClr val="FFFF00"/>
          </a:solidFill>
          <a:ln>
            <a:solidFill>
              <a:schemeClr val="tx1"/>
            </a:solidFill>
          </a:ln>
        </p:spPr>
        <p:txBody>
          <a:bodyPr wrap="none" rtlCol="1">
            <a:spAutoFit/>
          </a:bodyPr>
          <a:lstStyle/>
          <a:p>
            <a:r>
              <a:rPr lang="he-IL" b="1" dirty="0"/>
              <a:t>לנוער ולילדים</a:t>
            </a:r>
          </a:p>
        </p:txBody>
      </p:sp>
    </p:spTree>
    <p:extLst>
      <p:ext uri="{BB962C8B-B14F-4D97-AF65-F5344CB8AC3E}">
        <p14:creationId xmlns:p14="http://schemas.microsoft.com/office/powerpoint/2010/main" val="452198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גדולי האומה לילדי ישראל- רועה ישראל הרב קוק"/>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4040" y="281574"/>
            <a:ext cx="4566992" cy="637951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 name="Picture 2" descr="גדולי האומה - רועה ישראל 2 - הרב קוק"/>
          <p:cNvPicPr>
            <a:picLocks noChangeAspect="1" noChangeArrowheads="1"/>
          </p:cNvPicPr>
          <p:nvPr/>
        </p:nvPicPr>
        <p:blipFill rotWithShape="1">
          <a:blip r:embed="rId3">
            <a:extLst>
              <a:ext uri="{28A0092B-C50C-407E-A947-70E740481C1C}">
                <a14:useLocalDpi xmlns:a14="http://schemas.microsoft.com/office/drawing/2010/main" val="0"/>
              </a:ext>
            </a:extLst>
          </a:blip>
          <a:srcRect l="2244" t="1460" r="2467" b="1016"/>
          <a:stretch/>
        </p:blipFill>
        <p:spPr bwMode="auto">
          <a:xfrm>
            <a:off x="1159933" y="220133"/>
            <a:ext cx="4538134" cy="65024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478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a:blip r:embed="rId2"/>
          <a:stretch>
            <a:fillRect/>
          </a:stretch>
        </p:blipFill>
        <p:spPr>
          <a:xfrm>
            <a:off x="7442622" y="514691"/>
            <a:ext cx="4329344" cy="5810687"/>
          </a:xfrm>
          <a:prstGeom prst="rect">
            <a:avLst/>
          </a:prstGeom>
          <a:ln>
            <a:solidFill>
              <a:schemeClr val="tx1"/>
            </a:solidFill>
          </a:ln>
        </p:spPr>
      </p:pic>
      <p:sp>
        <p:nvSpPr>
          <p:cNvPr id="3" name="TextBox 2"/>
          <p:cNvSpPr txBox="1"/>
          <p:nvPr/>
        </p:nvSpPr>
        <p:spPr>
          <a:xfrm>
            <a:off x="7373298" y="6348568"/>
            <a:ext cx="939681" cy="369332"/>
          </a:xfrm>
          <a:prstGeom prst="rect">
            <a:avLst/>
          </a:prstGeom>
          <a:noFill/>
          <a:ln>
            <a:noFill/>
          </a:ln>
        </p:spPr>
        <p:txBody>
          <a:bodyPr wrap="none" rtlCol="1">
            <a:spAutoFit/>
          </a:bodyPr>
          <a:lstStyle/>
          <a:p>
            <a:r>
              <a:rPr lang="he-IL" b="1" dirty="0"/>
              <a:t>'אל עמי'</a:t>
            </a:r>
          </a:p>
        </p:txBody>
      </p:sp>
      <p:pic>
        <p:nvPicPr>
          <p:cNvPr id="4" name="תמונה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1906" y="514691"/>
            <a:ext cx="4322004" cy="6109339"/>
          </a:xfrm>
          <a:prstGeom prst="rect">
            <a:avLst/>
          </a:prstGeom>
          <a:ln>
            <a:solidFill>
              <a:schemeClr val="tx1"/>
            </a:solidFill>
          </a:ln>
        </p:spPr>
      </p:pic>
    </p:spTree>
    <p:extLst>
      <p:ext uri="{BB962C8B-B14F-4D97-AF65-F5344CB8AC3E}">
        <p14:creationId xmlns:p14="http://schemas.microsoft.com/office/powerpoint/2010/main" val="3155772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אורות בשביל הארץ"/>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8668" y="208121"/>
            <a:ext cx="4641665" cy="644175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descr="הרב קוק יוצא למסע בארץ ישראל (איור: עדי דוד) (איור: עדי דוד)"/>
          <p:cNvPicPr>
            <a:picLocks noChangeAspect="1" noChangeArrowheads="1"/>
          </p:cNvPicPr>
          <p:nvPr/>
        </p:nvPicPr>
        <p:blipFill rotWithShape="1">
          <a:blip r:embed="rId3">
            <a:extLst>
              <a:ext uri="{28A0092B-C50C-407E-A947-70E740481C1C}">
                <a14:useLocalDpi xmlns:a14="http://schemas.microsoft.com/office/drawing/2010/main" val="0"/>
              </a:ext>
            </a:extLst>
          </a:blip>
          <a:srcRect l="1479" t="1264" r="5089"/>
          <a:stretch/>
        </p:blipFill>
        <p:spPr bwMode="auto">
          <a:xfrm>
            <a:off x="346230" y="208121"/>
            <a:ext cx="6542842" cy="569408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435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לרגל 80 שנה לפטירת מרן הרב קוק זצ&quot;ל - מחירים מיוחדים לספריו"/>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8672" y="533528"/>
            <a:ext cx="3476160" cy="57830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6" name="Picture 2" descr="עם ישראל פסקאות מכתבי הרב קוק"/>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135" y="537466"/>
            <a:ext cx="4142481" cy="57830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585176" y="164196"/>
            <a:ext cx="1074333" cy="369332"/>
          </a:xfrm>
          <a:prstGeom prst="rect">
            <a:avLst/>
          </a:prstGeom>
          <a:solidFill>
            <a:srgbClr val="FFFF00"/>
          </a:solidFill>
          <a:ln>
            <a:solidFill>
              <a:schemeClr val="tx1"/>
            </a:solidFill>
          </a:ln>
        </p:spPr>
        <p:txBody>
          <a:bodyPr wrap="none" rtlCol="1">
            <a:spAutoFit/>
          </a:bodyPr>
          <a:lstStyle/>
          <a:p>
            <a:r>
              <a:rPr lang="he-IL" b="1" dirty="0"/>
              <a:t>מאמרותיו</a:t>
            </a:r>
          </a:p>
        </p:txBody>
      </p:sp>
      <p:sp>
        <p:nvSpPr>
          <p:cNvPr id="3" name="TextBox 2"/>
          <p:cNvSpPr txBox="1"/>
          <p:nvPr/>
        </p:nvSpPr>
        <p:spPr>
          <a:xfrm>
            <a:off x="8248178" y="6374166"/>
            <a:ext cx="1561646" cy="338554"/>
          </a:xfrm>
          <a:prstGeom prst="rect">
            <a:avLst/>
          </a:prstGeom>
          <a:noFill/>
        </p:spPr>
        <p:txBody>
          <a:bodyPr wrap="none" rtlCol="1">
            <a:spAutoFit/>
          </a:bodyPr>
          <a:lstStyle/>
          <a:p>
            <a:r>
              <a:rPr lang="he-IL" sz="1600" b="1" dirty="0"/>
              <a:t>הרב יעקב </a:t>
            </a:r>
            <a:r>
              <a:rPr lang="he-IL" sz="1600" b="1" dirty="0" err="1"/>
              <a:t>פילבר</a:t>
            </a:r>
            <a:endParaRPr lang="he-IL" sz="1600" b="1" dirty="0"/>
          </a:p>
        </p:txBody>
      </p:sp>
      <p:sp>
        <p:nvSpPr>
          <p:cNvPr id="4" name="TextBox 3"/>
          <p:cNvSpPr txBox="1"/>
          <p:nvPr/>
        </p:nvSpPr>
        <p:spPr>
          <a:xfrm>
            <a:off x="445590" y="6348735"/>
            <a:ext cx="1223412" cy="338554"/>
          </a:xfrm>
          <a:prstGeom prst="rect">
            <a:avLst/>
          </a:prstGeom>
          <a:noFill/>
        </p:spPr>
        <p:txBody>
          <a:bodyPr wrap="none" rtlCol="1">
            <a:spAutoFit/>
          </a:bodyPr>
          <a:lstStyle/>
          <a:p>
            <a:r>
              <a:rPr lang="he-IL" sz="1600" b="1" dirty="0"/>
              <a:t>ערן טננבאום</a:t>
            </a:r>
          </a:p>
        </p:txBody>
      </p:sp>
      <p:pic>
        <p:nvPicPr>
          <p:cNvPr id="4098" name="Picture 2" descr="חדריו - פרקים אישיים / הרב קוק"/>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320722"/>
            <a:ext cx="2286000" cy="35623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827191" y="4960408"/>
            <a:ext cx="829073" cy="338554"/>
          </a:xfrm>
          <a:prstGeom prst="rect">
            <a:avLst/>
          </a:prstGeom>
          <a:noFill/>
        </p:spPr>
        <p:txBody>
          <a:bodyPr wrap="none" rtlCol="1">
            <a:spAutoFit/>
          </a:bodyPr>
          <a:lstStyle/>
          <a:p>
            <a:r>
              <a:rPr lang="he-IL" sz="1600" b="1" dirty="0"/>
              <a:t>רן שריד</a:t>
            </a:r>
          </a:p>
        </p:txBody>
      </p:sp>
    </p:spTree>
    <p:extLst>
      <p:ext uri="{BB962C8B-B14F-4D97-AF65-F5344CB8AC3E}">
        <p14:creationId xmlns:p14="http://schemas.microsoft.com/office/powerpoint/2010/main" val="4209750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ניצוצות / הארות עצות ותובנות על פי משנתו של הראי&amp;q | "/>
          <p:cNvPicPr>
            <a:picLocks noChangeAspect="1" noChangeArrowheads="1"/>
          </p:cNvPicPr>
          <p:nvPr/>
        </p:nvPicPr>
        <p:blipFill rotWithShape="1">
          <a:blip r:embed="rId2">
            <a:extLst>
              <a:ext uri="{28A0092B-C50C-407E-A947-70E740481C1C}">
                <a14:useLocalDpi xmlns:a14="http://schemas.microsoft.com/office/drawing/2010/main" val="0"/>
              </a:ext>
            </a:extLst>
          </a:blip>
          <a:srcRect r="5724"/>
          <a:stretch/>
        </p:blipFill>
        <p:spPr bwMode="auto">
          <a:xfrm>
            <a:off x="8360594" y="594803"/>
            <a:ext cx="3602976" cy="53504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 name="תמונה 1"/>
          <p:cNvPicPr>
            <a:picLocks noChangeAspect="1"/>
          </p:cNvPicPr>
          <p:nvPr/>
        </p:nvPicPr>
        <p:blipFill>
          <a:blip r:embed="rId3"/>
          <a:stretch>
            <a:fillRect/>
          </a:stretch>
        </p:blipFill>
        <p:spPr>
          <a:xfrm>
            <a:off x="4394446" y="594803"/>
            <a:ext cx="3718865" cy="5362408"/>
          </a:xfrm>
          <a:prstGeom prst="rect">
            <a:avLst/>
          </a:prstGeom>
          <a:ln>
            <a:solidFill>
              <a:schemeClr val="tx1"/>
            </a:solidFill>
          </a:ln>
        </p:spPr>
      </p:pic>
      <p:pic>
        <p:nvPicPr>
          <p:cNvPr id="7172" name="Picture 4" descr="כריכת הספר משפטי הרב קוק"/>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660" y="594803"/>
            <a:ext cx="3531309" cy="53504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40657" y="5985047"/>
            <a:ext cx="1034257" cy="338554"/>
          </a:xfrm>
          <a:prstGeom prst="rect">
            <a:avLst/>
          </a:prstGeom>
          <a:noFill/>
        </p:spPr>
        <p:txBody>
          <a:bodyPr wrap="none" rtlCol="1">
            <a:spAutoFit/>
          </a:bodyPr>
          <a:lstStyle/>
          <a:p>
            <a:r>
              <a:rPr lang="he-IL" sz="1600" b="1" dirty="0"/>
              <a:t>אסף </a:t>
            </a:r>
            <a:r>
              <a:rPr lang="he-IL" sz="1600" b="1" dirty="0" err="1"/>
              <a:t>פאסי</a:t>
            </a:r>
            <a:endParaRPr lang="he-IL" sz="1600" b="1" dirty="0"/>
          </a:p>
        </p:txBody>
      </p:sp>
      <p:sp>
        <p:nvSpPr>
          <p:cNvPr id="5" name="TextBox 4"/>
          <p:cNvSpPr txBox="1"/>
          <p:nvPr/>
        </p:nvSpPr>
        <p:spPr>
          <a:xfrm>
            <a:off x="4298111" y="5981985"/>
            <a:ext cx="1516762" cy="338554"/>
          </a:xfrm>
          <a:prstGeom prst="rect">
            <a:avLst/>
          </a:prstGeom>
          <a:noFill/>
        </p:spPr>
        <p:txBody>
          <a:bodyPr wrap="none" rtlCol="1">
            <a:spAutoFit/>
          </a:bodyPr>
          <a:lstStyle/>
          <a:p>
            <a:r>
              <a:rPr lang="he-IL" sz="1600" b="1" dirty="0"/>
              <a:t>הרב יובל </a:t>
            </a:r>
            <a:r>
              <a:rPr lang="he-IL" sz="1600" b="1" dirty="0" err="1"/>
              <a:t>פרוינד</a:t>
            </a:r>
            <a:endParaRPr lang="he-IL" sz="1600" b="1" dirty="0"/>
          </a:p>
        </p:txBody>
      </p:sp>
      <p:sp>
        <p:nvSpPr>
          <p:cNvPr id="8" name="TextBox 7"/>
          <p:cNvSpPr txBox="1"/>
          <p:nvPr/>
        </p:nvSpPr>
        <p:spPr>
          <a:xfrm>
            <a:off x="8241276" y="6045694"/>
            <a:ext cx="1516762" cy="338554"/>
          </a:xfrm>
          <a:prstGeom prst="rect">
            <a:avLst/>
          </a:prstGeom>
          <a:noFill/>
        </p:spPr>
        <p:txBody>
          <a:bodyPr wrap="none" rtlCol="1">
            <a:spAutoFit/>
          </a:bodyPr>
          <a:lstStyle/>
          <a:p>
            <a:r>
              <a:rPr lang="he-IL" sz="1600" b="1" dirty="0"/>
              <a:t>הרב יובל </a:t>
            </a:r>
            <a:r>
              <a:rPr lang="he-IL" sz="1600" b="1" dirty="0" err="1"/>
              <a:t>פרוינד</a:t>
            </a:r>
            <a:endParaRPr lang="he-IL" sz="1600" b="1" dirty="0"/>
          </a:p>
        </p:txBody>
      </p:sp>
    </p:spTree>
    <p:extLst>
      <p:ext uri="{BB962C8B-B14F-4D97-AF65-F5344CB8AC3E}">
        <p14:creationId xmlns:p14="http://schemas.microsoft.com/office/powerpoint/2010/main" val="619046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15415" y="230511"/>
            <a:ext cx="2161169" cy="369332"/>
          </a:xfrm>
          <a:prstGeom prst="rect">
            <a:avLst/>
          </a:prstGeom>
          <a:solidFill>
            <a:srgbClr val="FFFF00"/>
          </a:solidFill>
          <a:ln>
            <a:solidFill>
              <a:schemeClr val="tx1"/>
            </a:solidFill>
          </a:ln>
        </p:spPr>
        <p:txBody>
          <a:bodyPr wrap="none" rtlCol="1">
            <a:spAutoFit/>
          </a:bodyPr>
          <a:lstStyle/>
          <a:p>
            <a:r>
              <a:rPr lang="he-IL" b="1" dirty="0"/>
              <a:t>על הרבנות הראשית  </a:t>
            </a:r>
          </a:p>
        </p:txBody>
      </p:sp>
      <p:sp>
        <p:nvSpPr>
          <p:cNvPr id="5" name="מלבן 4"/>
          <p:cNvSpPr/>
          <p:nvPr/>
        </p:nvSpPr>
        <p:spPr>
          <a:xfrm>
            <a:off x="400974" y="845975"/>
            <a:ext cx="11390051" cy="3693319"/>
          </a:xfrm>
          <a:prstGeom prst="rect">
            <a:avLst/>
          </a:prstGeom>
          <a:ln w="38100">
            <a:solidFill>
              <a:srgbClr val="FF0000"/>
            </a:solidFill>
          </a:ln>
        </p:spPr>
        <p:txBody>
          <a:bodyPr wrap="square">
            <a:spAutoFit/>
          </a:bodyPr>
          <a:lstStyle/>
          <a:p>
            <a:pPr algn="ctr">
              <a:lnSpc>
                <a:spcPct val="107000"/>
              </a:lnSpc>
              <a:spcAft>
                <a:spcPts val="800"/>
              </a:spcAft>
            </a:pPr>
            <a:r>
              <a:rPr lang="he-IL" sz="2000" b="1" dirty="0">
                <a:latin typeface="Calibri" panose="020F0502020204030204" pitchFamily="34" charset="0"/>
                <a:ea typeface="Calibri" panose="020F0502020204030204" pitchFamily="34" charset="0"/>
                <a:cs typeface="David" panose="020E0502060401010101" pitchFamily="34" charset="-79"/>
              </a:rPr>
              <a:t>'כבוד הרבנות'</a:t>
            </a:r>
            <a:endParaRPr lang="en-US" sz="1400"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800"/>
              </a:spcAft>
            </a:pPr>
            <a:r>
              <a:rPr lang="he-IL" sz="2000" b="1" dirty="0">
                <a:latin typeface="Calibri" panose="020F0502020204030204" pitchFamily="34" charset="0"/>
                <a:ea typeface="Calibri" panose="020F0502020204030204" pitchFamily="34" charset="0"/>
                <a:cs typeface="David" panose="020E0502060401010101" pitchFamily="34" charset="-79"/>
              </a:rPr>
              <a:t>אם שאלת כבוד הרבנות היא שאלה חשובה בחיינו הכלליים, גם בארצות הגולה ובכל הזמנים, על אחת כמה וכמה כי שאלה זו דורשת תשומת לב מיוחדת פה בארצנו ובימינו. בזמננו זה ובתקופה זו שאנו חיים בה, ימי התסיסה של התחיה הלאומית, הרי שאלת הרבנות היא ממש שאלת החיים לאומתנו. אין אנו יכולים לצייר לנו אופן של תחיה לאומית גמורה ומתוקנת בארצנו, אם זה החלק החשוב של העבודה הלאומית המסור בידי הרבנות לא ישוכלל ולא ישופר על ידי תחיה מכרת. </a:t>
            </a:r>
            <a:r>
              <a:rPr lang="he-IL" sz="2000" b="1" dirty="0" err="1">
                <a:latin typeface="Calibri" panose="020F0502020204030204" pitchFamily="34" charset="0"/>
                <a:ea typeface="Calibri" panose="020F0502020204030204" pitchFamily="34" charset="0"/>
                <a:cs typeface="David" panose="020E0502060401010101" pitchFamily="34" charset="-79"/>
              </a:rPr>
              <a:t>ותחית</a:t>
            </a:r>
            <a:r>
              <a:rPr lang="he-IL" sz="2000" b="1" dirty="0">
                <a:latin typeface="Calibri" panose="020F0502020204030204" pitchFamily="34" charset="0"/>
                <a:ea typeface="Calibri" panose="020F0502020204030204" pitchFamily="34" charset="0"/>
                <a:cs typeface="David" panose="020E0502060401010101" pitchFamily="34" charset="-79"/>
              </a:rPr>
              <a:t> הרבנות, זאת אומרת: החזרת כבוד הרבנות, הלא זהו הד קול הנבואה המובטחת: "ואשיבה שופטיך כבראשונה ויועציך </a:t>
            </a:r>
            <a:r>
              <a:rPr lang="he-IL" sz="2000" b="1" dirty="0" err="1">
                <a:latin typeface="Calibri" panose="020F0502020204030204" pitchFamily="34" charset="0"/>
                <a:ea typeface="Calibri" panose="020F0502020204030204" pitchFamily="34" charset="0"/>
                <a:cs typeface="David" panose="020E0502060401010101" pitchFamily="34" charset="-79"/>
              </a:rPr>
              <a:t>כבתחלה</a:t>
            </a:r>
            <a:r>
              <a:rPr lang="he-IL" sz="2000" b="1" dirty="0">
                <a:latin typeface="Calibri" panose="020F0502020204030204" pitchFamily="34" charset="0"/>
                <a:ea typeface="Calibri" panose="020F0502020204030204" pitchFamily="34" charset="0"/>
                <a:cs typeface="David" panose="020E0502060401010101" pitchFamily="34" charset="-79"/>
              </a:rPr>
              <a:t>" </a:t>
            </a:r>
            <a:r>
              <a:rPr lang="he-IL" sz="1600" b="1" dirty="0">
                <a:latin typeface="Calibri" panose="020F0502020204030204" pitchFamily="34" charset="0"/>
                <a:ea typeface="Calibri" panose="020F0502020204030204" pitchFamily="34" charset="0"/>
                <a:cs typeface="David" panose="020E0502060401010101" pitchFamily="34" charset="-79"/>
              </a:rPr>
              <a:t>(ישעיה א, כ"ו)...</a:t>
            </a:r>
          </a:p>
          <a:p>
            <a:pPr algn="just">
              <a:lnSpc>
                <a:spcPct val="107000"/>
              </a:lnSpc>
              <a:spcAft>
                <a:spcPts val="800"/>
              </a:spcAft>
            </a:pPr>
            <a:r>
              <a:rPr lang="he-IL" sz="2000" b="1" dirty="0">
                <a:latin typeface="Calibri" panose="020F0502020204030204" pitchFamily="34" charset="0"/>
                <a:ea typeface="Calibri" panose="020F0502020204030204" pitchFamily="34" charset="0"/>
                <a:cs typeface="David" panose="020E0502060401010101" pitchFamily="34" charset="-79"/>
              </a:rPr>
              <a:t> הרבנות תשפיע על ידי השתדלות מתמדת לקרב את הלבבות ולהכניס רוח של שלום בין כל הסיעות והמפלגות ולחיזוק התורה וכבודה על אדמת הקודש ובכל העולם כולו.                                                    </a:t>
            </a:r>
          </a:p>
          <a:p>
            <a:pPr algn="just">
              <a:lnSpc>
                <a:spcPct val="107000"/>
              </a:lnSpc>
              <a:spcAft>
                <a:spcPts val="800"/>
              </a:spcAft>
            </a:pPr>
            <a:r>
              <a:rPr lang="he-IL" sz="2000" b="1" dirty="0">
                <a:latin typeface="Calibri" panose="020F0502020204030204" pitchFamily="34" charset="0"/>
                <a:ea typeface="Calibri" panose="020F0502020204030204" pitchFamily="34" charset="0"/>
                <a:cs typeface="David" panose="020E0502060401010101" pitchFamily="34" charset="-79"/>
              </a:rPr>
              <a:t>                                                             </a:t>
            </a:r>
            <a:r>
              <a:rPr lang="he-IL" sz="1600" b="1" dirty="0">
                <a:latin typeface="Calibri" panose="020F0502020204030204" pitchFamily="34" charset="0"/>
                <a:ea typeface="Calibri" panose="020F0502020204030204" pitchFamily="34" charset="0"/>
                <a:cs typeface="David" panose="020E0502060401010101" pitchFamily="34" charset="-79"/>
              </a:rPr>
              <a:t>[התור, כ (י"ד אדר א' תרפ"א), פתיחת מאמרו שהתפרסם ביום פתיחת ועידת היסוד של הרבנות הראשית]</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מלבן 6"/>
          <p:cNvSpPr/>
          <p:nvPr/>
        </p:nvSpPr>
        <p:spPr>
          <a:xfrm>
            <a:off x="400975" y="4714405"/>
            <a:ext cx="11390050" cy="1938992"/>
          </a:xfrm>
          <a:prstGeom prst="rect">
            <a:avLst/>
          </a:prstGeom>
          <a:ln w="38100">
            <a:solidFill>
              <a:srgbClr val="FF0000"/>
            </a:solidFill>
          </a:ln>
        </p:spPr>
        <p:txBody>
          <a:bodyPr wrap="square">
            <a:spAutoFit/>
          </a:bodyPr>
          <a:lstStyle/>
          <a:p>
            <a:pPr algn="just"/>
            <a:r>
              <a:rPr lang="he-IL" sz="2000" b="1" dirty="0">
                <a:latin typeface="David" panose="020E0502060401010101" pitchFamily="34" charset="-79"/>
                <a:cs typeface="David" panose="020E0502060401010101" pitchFamily="34" charset="-79"/>
              </a:rPr>
              <a:t>אנחנו נקראים עכשיו לבנות את בנין האומה, לנטוע נטיעת-חיים שתישא פירות לחיי עמנו לדורות… עכשיו אנו באים לנטוע כרם ד' בירושלים. הכרם נטע לפעמים מגרעינים ולפעמים משתילים ומנצרים. חושבני שאנו צריכים עכשיו לנטוע את השתילה הראשונה, הגרעינים, כדי שיצמחו לנו נצרים שעל ידיהם יוכלו הדורות הבאים לנטוע כרם. אשר יהיה "נצר מטעי מעשי ידי להתפאר </a:t>
            </a:r>
            <a:r>
              <a:rPr lang="he-IL" sz="1600" b="1" dirty="0">
                <a:latin typeface="David" panose="020E0502060401010101" pitchFamily="34" charset="-79"/>
                <a:cs typeface="David" panose="020E0502060401010101" pitchFamily="34" charset="-79"/>
              </a:rPr>
              <a:t>(ישעיה ס, </a:t>
            </a:r>
            <a:r>
              <a:rPr lang="he-IL" sz="1600" b="1" dirty="0" err="1">
                <a:latin typeface="David" panose="020E0502060401010101" pitchFamily="34" charset="-79"/>
                <a:cs typeface="David" panose="020E0502060401010101" pitchFamily="34" charset="-79"/>
              </a:rPr>
              <a:t>כא</a:t>
            </a:r>
            <a:r>
              <a:rPr lang="he-IL" sz="2000" b="1" dirty="0">
                <a:latin typeface="David" panose="020E0502060401010101" pitchFamily="34" charset="-79"/>
                <a:cs typeface="David" panose="020E0502060401010101" pitchFamily="34" charset="-79"/>
              </a:rPr>
              <a:t>)... בחיינו הלאומיים החדשים בארץ-ישראל יהיה לנו בוודאי לפעמים צורך גדול לתקן תקנות גדולות, שכל זמן שתהיינה מוסכמות מרוב חכמי ישראל המומחים לרבים ומקובלים אחר-כך על הקהל, יהיה להם כוח של דין תורה</a:t>
            </a:r>
            <a:r>
              <a:rPr lang="he-IL" sz="1600" b="1" dirty="0">
                <a:latin typeface="David" panose="020E0502060401010101" pitchFamily="34" charset="-79"/>
                <a:cs typeface="David" panose="020E0502060401010101" pitchFamily="34" charset="-79"/>
              </a:rPr>
              <a:t>.                      [התור, </a:t>
            </a:r>
            <a:r>
              <a:rPr lang="he-IL" sz="1600" b="1" dirty="0" err="1">
                <a:latin typeface="David" panose="020E0502060401010101" pitchFamily="34" charset="-79"/>
                <a:cs typeface="David" panose="020E0502060401010101" pitchFamily="34" charset="-79"/>
              </a:rPr>
              <a:t>כא-כב</a:t>
            </a:r>
            <a:r>
              <a:rPr lang="he-IL" sz="1600" b="1" dirty="0">
                <a:latin typeface="David" panose="020E0502060401010101" pitchFamily="34" charset="-79"/>
                <a:cs typeface="David" panose="020E0502060401010101" pitchFamily="34" charset="-79"/>
              </a:rPr>
              <a:t> (כ"ד אדר א' תרפ"א), מנאומו בפתיחת ועידת היסוד של הרבנות הראשית, י"ד באדר א' תרפ"א]</a:t>
            </a:r>
          </a:p>
        </p:txBody>
      </p:sp>
    </p:spTree>
    <p:extLst>
      <p:ext uri="{BB962C8B-B14F-4D97-AF65-F5344CB8AC3E}">
        <p14:creationId xmlns:p14="http://schemas.microsoft.com/office/powerpoint/2010/main" val="2340866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לבן 4"/>
          <p:cNvSpPr/>
          <p:nvPr/>
        </p:nvSpPr>
        <p:spPr>
          <a:xfrm>
            <a:off x="290003" y="593428"/>
            <a:ext cx="11390051" cy="1200329"/>
          </a:xfrm>
          <a:prstGeom prst="rect">
            <a:avLst/>
          </a:prstGeom>
          <a:ln w="38100">
            <a:solidFill>
              <a:srgbClr val="FF0000"/>
            </a:solidFill>
          </a:ln>
        </p:spPr>
        <p:txBody>
          <a:bodyPr wrap="square">
            <a:spAutoFit/>
          </a:bodyPr>
          <a:lstStyle/>
          <a:p>
            <a:pPr algn="just"/>
            <a:r>
              <a:rPr lang="he-IL" sz="2400" b="1" dirty="0">
                <a:latin typeface="David" panose="020E0502060401010101" pitchFamily="34" charset="-79"/>
                <a:cs typeface="David" panose="020E0502060401010101" pitchFamily="34" charset="-79"/>
              </a:rPr>
              <a:t>הכח הרבני הראשי שבארץ יהיה המרכז הדתי-רוחני העליון של כל העולם היהודי, אליו יפנו ועם דעתו יתחשבו בכל דבר דת ודין... יבוא יום והעם לא יקבל שום ספר דתי אשר לא תבוא עליו הסכמת משרד הרבנות הראשית שבארץ-ישראל.</a:t>
            </a:r>
          </a:p>
        </p:txBody>
      </p:sp>
      <p:sp>
        <p:nvSpPr>
          <p:cNvPr id="6" name="מלבן 5"/>
          <p:cNvSpPr/>
          <p:nvPr/>
        </p:nvSpPr>
        <p:spPr>
          <a:xfrm>
            <a:off x="223420" y="2129624"/>
            <a:ext cx="6205545" cy="338554"/>
          </a:xfrm>
          <a:prstGeom prst="rect">
            <a:avLst/>
          </a:prstGeom>
        </p:spPr>
        <p:txBody>
          <a:bodyPr wrap="none">
            <a:spAutoFit/>
          </a:bodyPr>
          <a:lstStyle/>
          <a:p>
            <a:pPr algn="just"/>
            <a:r>
              <a:rPr lang="he-IL" sz="1600" b="1" dirty="0">
                <a:latin typeface="David" panose="020E0502060401010101" pitchFamily="34" charset="-79"/>
                <a:cs typeface="David" panose="020E0502060401010101" pitchFamily="34" charset="-79"/>
              </a:rPr>
              <a:t>[התור, </a:t>
            </a:r>
            <a:r>
              <a:rPr lang="he-IL" sz="1600" b="1" dirty="0" err="1">
                <a:latin typeface="David" panose="020E0502060401010101" pitchFamily="34" charset="-79"/>
                <a:cs typeface="David" panose="020E0502060401010101" pitchFamily="34" charset="-79"/>
              </a:rPr>
              <a:t>כא-כב</a:t>
            </a:r>
            <a:r>
              <a:rPr lang="he-IL" sz="1600" b="1" dirty="0">
                <a:latin typeface="David" panose="020E0502060401010101" pitchFamily="34" charset="-79"/>
                <a:cs typeface="David" panose="020E0502060401010101" pitchFamily="34" charset="-79"/>
              </a:rPr>
              <a:t> (כ"ד אדר א' תרפ"א), מנאומו </a:t>
            </a:r>
            <a:r>
              <a:rPr lang="he-IL" sz="1600" b="1" dirty="0" err="1">
                <a:latin typeface="David" panose="020E0502060401010101" pitchFamily="34" charset="-79"/>
                <a:cs typeface="David" panose="020E0502060401010101" pitchFamily="34" charset="-79"/>
              </a:rPr>
              <a:t>בועידת</a:t>
            </a:r>
            <a:r>
              <a:rPr lang="he-IL" sz="1600" b="1" dirty="0">
                <a:latin typeface="David" panose="020E0502060401010101" pitchFamily="34" charset="-79"/>
                <a:cs typeface="David" panose="020E0502060401010101" pitchFamily="34" charset="-79"/>
              </a:rPr>
              <a:t> היסוד של הרבנות הראשית]</a:t>
            </a:r>
          </a:p>
        </p:txBody>
      </p:sp>
      <p:sp>
        <p:nvSpPr>
          <p:cNvPr id="9" name="מלבן 8"/>
          <p:cNvSpPr/>
          <p:nvPr/>
        </p:nvSpPr>
        <p:spPr>
          <a:xfrm>
            <a:off x="290003" y="2804045"/>
            <a:ext cx="11611993" cy="3416320"/>
          </a:xfrm>
          <a:prstGeom prst="rect">
            <a:avLst/>
          </a:prstGeom>
          <a:ln w="38100">
            <a:solidFill>
              <a:srgbClr val="FF0000"/>
            </a:solidFill>
          </a:ln>
        </p:spPr>
        <p:txBody>
          <a:bodyPr wrap="square">
            <a:spAutoFit/>
          </a:bodyPr>
          <a:lstStyle/>
          <a:p>
            <a:pPr algn="just"/>
            <a:r>
              <a:rPr lang="he-IL" sz="2400" b="1" dirty="0">
                <a:latin typeface="David" panose="020E0502060401010101" pitchFamily="34" charset="-79"/>
                <a:cs typeface="David" panose="020E0502060401010101" pitchFamily="34" charset="-79"/>
              </a:rPr>
              <a:t>המוסד הזה שאנו יסדנו כאן היום, מוסד הרבנות הראשית לארץ ישראל, הוא לפי שעה בבחינת גרעין שנזרע ורק בבוא היום </a:t>
            </a:r>
            <a:r>
              <a:rPr lang="he-IL" sz="2400" b="1" dirty="0" err="1">
                <a:latin typeface="David" panose="020E0502060401010101" pitchFamily="34" charset="-79"/>
                <a:cs typeface="David" panose="020E0502060401010101" pitchFamily="34" charset="-79"/>
              </a:rPr>
              <a:t>יתן</a:t>
            </a:r>
            <a:r>
              <a:rPr lang="he-IL" sz="2400" b="1" dirty="0">
                <a:latin typeface="David" panose="020E0502060401010101" pitchFamily="34" charset="-79"/>
                <a:cs typeface="David" panose="020E0502060401010101" pitchFamily="34" charset="-79"/>
              </a:rPr>
              <a:t> פירותיו. אבל, כבר מעתה בל נשכח, כי הרבנות הראשית לאחד מסביבה את    כל הכוחות העובדים והפועלים אשר ביהדות, למן עובדי האדמה בזעת אפיים וביגע כפיים עד עובדי ה' בקדושה ובטהרה. למן 'הפועל הצעיר' ועד החסידים יראי ה' אשר בישיבת 'בית אל' בעיר העתיקה בירושלים, המתפללים '</a:t>
            </a:r>
            <a:r>
              <a:rPr lang="he-IL" sz="2400" b="1" dirty="0" err="1">
                <a:latin typeface="David" panose="020E0502060401010101" pitchFamily="34" charset="-79"/>
                <a:cs typeface="David" panose="020E0502060401010101" pitchFamily="34" charset="-79"/>
              </a:rPr>
              <a:t>ותיקין</a:t>
            </a:r>
            <a:r>
              <a:rPr lang="he-IL" sz="2400" b="1" dirty="0">
                <a:latin typeface="David" panose="020E0502060401010101" pitchFamily="34" charset="-79"/>
                <a:cs typeface="David" panose="020E0502060401010101" pitchFamily="34" charset="-79"/>
              </a:rPr>
              <a:t>' עם הנץ החמה. גם לאנשי דגניה ובלפוריה וגם לחכמי התורה אשר בירושלים, יש אוצרות של ברכה, </a:t>
            </a:r>
            <a:r>
              <a:rPr lang="he-IL" sz="2400" b="1" dirty="0" err="1">
                <a:latin typeface="David" panose="020E0502060401010101" pitchFamily="34" charset="-79"/>
                <a:cs typeface="David" panose="020E0502060401010101" pitchFamily="34" charset="-79"/>
              </a:rPr>
              <a:t>וכח</a:t>
            </a:r>
            <a:r>
              <a:rPr lang="he-IL" sz="2400" b="1" dirty="0">
                <a:latin typeface="David" panose="020E0502060401010101" pitchFamily="34" charset="-79"/>
                <a:cs typeface="David" panose="020E0502060401010101" pitchFamily="34" charset="-79"/>
              </a:rPr>
              <a:t> אחד מתמלא מחברו. וכולם כאחד צריכים להיות מכוונים לעבוד את ה' וישראל עמו. כל מיני שיתוף בעבודת </a:t>
            </a:r>
            <a:r>
              <a:rPr lang="he-IL" sz="2400" b="1" dirty="0" err="1">
                <a:latin typeface="David" panose="020E0502060401010101" pitchFamily="34" charset="-79"/>
                <a:cs typeface="David" panose="020E0502060401010101" pitchFamily="34" charset="-79"/>
              </a:rPr>
              <a:t>אלקים</a:t>
            </a:r>
            <a:r>
              <a:rPr lang="he-IL" sz="2400" b="1" dirty="0">
                <a:latin typeface="David" panose="020E0502060401010101" pitchFamily="34" charset="-79"/>
                <a:cs typeface="David" panose="020E0502060401010101" pitchFamily="34" charset="-79"/>
              </a:rPr>
              <a:t> אסורים לנו, רק שיתוף אחד הותר לנו והוא: "עבדו את ה' ואת ישראל עמו"! כל הכוחות בעמנו צריכים להתאחד למען ביסוס הקיים ובניית הנהרסות. </a:t>
            </a:r>
          </a:p>
          <a:p>
            <a:pPr algn="just"/>
            <a:r>
              <a:rPr lang="he-IL" sz="2400" b="1" dirty="0">
                <a:latin typeface="David" panose="020E0502060401010101" pitchFamily="34" charset="-79"/>
                <a:cs typeface="David" panose="020E0502060401010101" pitchFamily="34" charset="-79"/>
              </a:rPr>
              <a:t>                                                                                 [</a:t>
            </a:r>
            <a:r>
              <a:rPr lang="he-IL" sz="1600" b="1" dirty="0">
                <a:latin typeface="David" panose="020E0502060401010101" pitchFamily="34" charset="-79"/>
                <a:cs typeface="David" panose="020E0502060401010101" pitchFamily="34" charset="-79"/>
              </a:rPr>
              <a:t>הארץ, י"ט, באדר א' תרפ"א, מנאומו בסיום ועידת היסוד של הרבנות הראשית]</a:t>
            </a:r>
          </a:p>
        </p:txBody>
      </p:sp>
    </p:spTree>
    <p:extLst>
      <p:ext uri="{BB962C8B-B14F-4D97-AF65-F5344CB8AC3E}">
        <p14:creationId xmlns:p14="http://schemas.microsoft.com/office/powerpoint/2010/main" val="404413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477174" y="1267746"/>
            <a:ext cx="11237652" cy="2677656"/>
          </a:xfrm>
          <a:prstGeom prst="rect">
            <a:avLst/>
          </a:prstGeom>
          <a:ln w="38100">
            <a:solidFill>
              <a:srgbClr val="FF0000"/>
            </a:solidFill>
          </a:ln>
        </p:spPr>
        <p:txBody>
          <a:bodyPr wrap="square">
            <a:spAutoFit/>
          </a:bodyPr>
          <a:lstStyle/>
          <a:p>
            <a:pPr algn="just"/>
            <a:r>
              <a:rPr lang="he-IL" sz="2400" b="1" dirty="0">
                <a:latin typeface="David" panose="020E0502060401010101" pitchFamily="34" charset="-79"/>
                <a:cs typeface="David" panose="020E0502060401010101" pitchFamily="34" charset="-79"/>
              </a:rPr>
              <a:t>הרבנות המסודרת בארץ-ישראל יודעת שהיא הולכת להיות </a:t>
            </a:r>
            <a:r>
              <a:rPr lang="he-IL" sz="2400" b="1" dirty="0" err="1">
                <a:latin typeface="David" panose="020E0502060401010101" pitchFamily="34" charset="-79"/>
                <a:cs typeface="David" panose="020E0502060401010101" pitchFamily="34" charset="-79"/>
              </a:rPr>
              <a:t>כח</a:t>
            </a:r>
            <a:r>
              <a:rPr lang="he-IL" sz="2400" b="1" dirty="0">
                <a:latin typeface="David" panose="020E0502060401010101" pitchFamily="34" charset="-79"/>
                <a:cs typeface="David" panose="020E0502060401010101" pitchFamily="34" charset="-79"/>
              </a:rPr>
              <a:t> בונה את הארץ, </a:t>
            </a:r>
            <a:r>
              <a:rPr lang="he-IL" sz="2400" b="1" dirty="0" err="1">
                <a:latin typeface="David" panose="020E0502060401010101" pitchFamily="34" charset="-79"/>
                <a:cs typeface="David" panose="020E0502060401010101" pitchFamily="34" charset="-79"/>
              </a:rPr>
              <a:t>כח</a:t>
            </a:r>
            <a:r>
              <a:rPr lang="he-IL" sz="2400" b="1" dirty="0">
                <a:latin typeface="David" panose="020E0502060401010101" pitchFamily="34" charset="-79"/>
                <a:cs typeface="David" panose="020E0502060401010101" pitchFamily="34" charset="-79"/>
              </a:rPr>
              <a:t> מאחד את הפזור והנפרד בכל סיעותינו ומפלגותינו, </a:t>
            </a:r>
            <a:r>
              <a:rPr lang="he-IL" sz="2400" b="1" dirty="0" err="1">
                <a:latin typeface="David" panose="020E0502060401010101" pitchFamily="34" charset="-79"/>
                <a:cs typeface="David" panose="020E0502060401010101" pitchFamily="34" charset="-79"/>
              </a:rPr>
              <a:t>כח</a:t>
            </a:r>
            <a:r>
              <a:rPr lang="he-IL" sz="2400" b="1" dirty="0">
                <a:latin typeface="David" panose="020E0502060401010101" pitchFamily="34" charset="-79"/>
                <a:cs typeface="David" panose="020E0502060401010101" pitchFamily="34" charset="-79"/>
              </a:rPr>
              <a:t> מקרב ומלבב, </a:t>
            </a:r>
            <a:r>
              <a:rPr lang="he-IL" sz="2400" b="1" dirty="0" err="1">
                <a:latin typeface="David" panose="020E0502060401010101" pitchFamily="34" charset="-79"/>
                <a:cs typeface="David" panose="020E0502060401010101" pitchFamily="34" charset="-79"/>
              </a:rPr>
              <a:t>כח</a:t>
            </a:r>
            <a:r>
              <a:rPr lang="he-IL" sz="2400" b="1" dirty="0">
                <a:latin typeface="David" panose="020E0502060401010101" pitchFamily="34" charset="-79"/>
                <a:cs typeface="David" panose="020E0502060401010101" pitchFamily="34" charset="-79"/>
              </a:rPr>
              <a:t> תומך וסועד סעד רוחני ומוסרי, </a:t>
            </a:r>
            <a:r>
              <a:rPr lang="he-IL" sz="2400" b="1" dirty="0" err="1">
                <a:latin typeface="David" panose="020E0502060401010101" pitchFamily="34" charset="-79"/>
                <a:cs typeface="David" panose="020E0502060401010101" pitchFamily="34" charset="-79"/>
              </a:rPr>
              <a:t>כח</a:t>
            </a:r>
            <a:r>
              <a:rPr lang="he-IL" sz="2400" b="1" dirty="0">
                <a:latin typeface="David" panose="020E0502060401010101" pitchFamily="34" charset="-79"/>
                <a:cs typeface="David" panose="020E0502060401010101" pitchFamily="34" charset="-79"/>
              </a:rPr>
              <a:t> מעודד את כל כושל ומחזק כל יד רפה לאחוז בכל האמצעים היותר אפשריים להגדיל את </a:t>
            </a:r>
            <a:r>
              <a:rPr lang="he-IL" sz="2400" b="1" dirty="0" err="1">
                <a:latin typeface="David" panose="020E0502060401010101" pitchFamily="34" charset="-79"/>
                <a:cs typeface="David" panose="020E0502060401010101" pitchFamily="34" charset="-79"/>
              </a:rPr>
              <a:t>כח</a:t>
            </a:r>
            <a:r>
              <a:rPr lang="he-IL" sz="2400" b="1" dirty="0">
                <a:latin typeface="David" panose="020E0502060401010101" pitchFamily="34" charset="-79"/>
                <a:cs typeface="David" panose="020E0502060401010101" pitchFamily="34" charset="-79"/>
              </a:rPr>
              <a:t> בנין האומה בארץ במובן הרוחני ובמובן </a:t>
            </a:r>
            <a:r>
              <a:rPr lang="he-IL" sz="2400" b="1" dirty="0" err="1">
                <a:latin typeface="David" panose="020E0502060401010101" pitchFamily="34" charset="-79"/>
                <a:cs typeface="David" panose="020E0502060401010101" pitchFamily="34" charset="-79"/>
              </a:rPr>
              <a:t>החמרי</a:t>
            </a:r>
            <a:r>
              <a:rPr lang="he-IL" sz="2400" b="1" dirty="0">
                <a:latin typeface="David" panose="020E0502060401010101" pitchFamily="34" charset="-79"/>
                <a:cs typeface="David" panose="020E0502060401010101" pitchFamily="34" charset="-79"/>
              </a:rPr>
              <a:t>, ודואגת היא הרבנות הראשית, לסדר את כל הכח הרבני שבארץ-ישראל בצורה הגונה נאה והדורה, בצורה הראויה להיות </a:t>
            </a:r>
            <a:r>
              <a:rPr lang="he-IL" sz="2400" b="1" dirty="0" err="1">
                <a:latin typeface="David" panose="020E0502060401010101" pitchFamily="34" charset="-79"/>
                <a:cs typeface="David" panose="020E0502060401010101" pitchFamily="34" charset="-79"/>
              </a:rPr>
              <a:t>כח</a:t>
            </a:r>
            <a:r>
              <a:rPr lang="he-IL" sz="2400" b="1" dirty="0">
                <a:latin typeface="David" panose="020E0502060401010101" pitchFamily="34" charset="-79"/>
                <a:cs typeface="David" panose="020E0502060401010101" pitchFamily="34" charset="-79"/>
              </a:rPr>
              <a:t> פועל ובונה, לאחד ולקרב את כל מפלגותינו, לרומם את רוחם, לאחד את </a:t>
            </a:r>
            <a:r>
              <a:rPr lang="he-IL" sz="2400" b="1" dirty="0" err="1">
                <a:latin typeface="David" panose="020E0502060401010101" pitchFamily="34" charset="-79"/>
                <a:cs typeface="David" panose="020E0502060401010101" pitchFamily="34" charset="-79"/>
              </a:rPr>
              <a:t>לבותיהם</a:t>
            </a:r>
            <a:r>
              <a:rPr lang="he-IL" sz="2400" b="1" dirty="0">
                <a:latin typeface="David" panose="020E0502060401010101" pitchFamily="34" charset="-79"/>
                <a:cs typeface="David" panose="020E0502060401010101" pitchFamily="34" charset="-79"/>
              </a:rPr>
              <a:t>, ולקרב לבם של ישראל לאביהם שבשמים ולתורתנו הקדושה והנצחית.                                              </a:t>
            </a:r>
            <a:r>
              <a:rPr lang="he-IL" sz="1600" b="1" dirty="0">
                <a:latin typeface="David" panose="020E0502060401010101" pitchFamily="34" charset="-79"/>
                <a:cs typeface="David" panose="020E0502060401010101" pitchFamily="34" charset="-79"/>
              </a:rPr>
              <a:t> [אגרות הראיה, ד (הרב זאב נוימן, עורך), אגרת שנח; אגרת, 'אל הקהל', שכתב לאחר הועידה]</a:t>
            </a:r>
            <a:endParaRPr lang="he-IL" sz="2400" b="1"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2730251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p:cNvPicPr>
            <a:picLocks noChangeAspect="1"/>
          </p:cNvPicPr>
          <p:nvPr/>
        </p:nvPicPr>
        <p:blipFill rotWithShape="1">
          <a:blip r:embed="rId2"/>
          <a:srcRect l="4096" t="28604" r="66314" b="21721"/>
          <a:stretch/>
        </p:blipFill>
        <p:spPr>
          <a:xfrm>
            <a:off x="6279974" y="490720"/>
            <a:ext cx="5383613" cy="6056562"/>
          </a:xfrm>
          <a:prstGeom prst="rect">
            <a:avLst/>
          </a:prstGeom>
          <a:ln w="38100">
            <a:solidFill>
              <a:srgbClr val="FF0000"/>
            </a:solidFill>
          </a:ln>
        </p:spPr>
      </p:pic>
      <p:pic>
        <p:nvPicPr>
          <p:cNvPr id="7" name="תמונה 6"/>
          <p:cNvPicPr>
            <a:picLocks noChangeAspect="1"/>
          </p:cNvPicPr>
          <p:nvPr/>
        </p:nvPicPr>
        <p:blipFill rotWithShape="1">
          <a:blip r:embed="rId3" cstate="print">
            <a:extLst>
              <a:ext uri="{28A0092B-C50C-407E-A947-70E740481C1C}">
                <a14:useLocalDpi xmlns:a14="http://schemas.microsoft.com/office/drawing/2010/main" val="0"/>
              </a:ext>
            </a:extLst>
          </a:blip>
          <a:srcRect l="18265" r="56671" b="73826"/>
          <a:stretch/>
        </p:blipFill>
        <p:spPr>
          <a:xfrm rot="5400000">
            <a:off x="1107913" y="472392"/>
            <a:ext cx="3440779" cy="5078949"/>
          </a:xfrm>
          <a:prstGeom prst="rect">
            <a:avLst/>
          </a:prstGeom>
          <a:ln w="38100">
            <a:solidFill>
              <a:srgbClr val="FF0000"/>
            </a:solidFill>
          </a:ln>
        </p:spPr>
      </p:pic>
      <p:sp>
        <p:nvSpPr>
          <p:cNvPr id="2" name="מלבן 1"/>
          <p:cNvSpPr/>
          <p:nvPr/>
        </p:nvSpPr>
        <p:spPr>
          <a:xfrm>
            <a:off x="193960" y="4732256"/>
            <a:ext cx="4932761" cy="388696"/>
          </a:xfrm>
          <a:prstGeom prst="rect">
            <a:avLst/>
          </a:prstGeom>
        </p:spPr>
        <p:txBody>
          <a:bodyPr wrap="none">
            <a:spAutoFit/>
          </a:bodyPr>
          <a:lstStyle/>
          <a:p>
            <a:pPr algn="just">
              <a:lnSpc>
                <a:spcPct val="107000"/>
              </a:lnSpc>
              <a:spcAft>
                <a:spcPts val="800"/>
              </a:spcAft>
            </a:pPr>
            <a:r>
              <a:rPr lang="he-IL" b="1" dirty="0">
                <a:latin typeface="Calibri" panose="020F0502020204030204" pitchFamily="34" charset="0"/>
                <a:ea typeface="Calibri" panose="020F0502020204030204" pitchFamily="34" charset="0"/>
                <a:cs typeface="David" panose="020E0502060401010101" pitchFamily="34" charset="-79"/>
              </a:rPr>
              <a:t>.                                                    </a:t>
            </a:r>
            <a:r>
              <a:rPr lang="he-IL" sz="1400" b="1" dirty="0">
                <a:latin typeface="Calibri" panose="020F0502020204030204" pitchFamily="34" charset="0"/>
                <a:ea typeface="Calibri" panose="020F0502020204030204" pitchFamily="34" charset="0"/>
                <a:cs typeface="David" panose="020E0502060401010101" pitchFamily="34" charset="-79"/>
              </a:rPr>
              <a:t>[התור, כ (י"ד אדר א' תרפ"א)]</a:t>
            </a:r>
            <a:endParaRPr lang="en-US" sz="12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43984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l="32293" t="15395" r="15341" b="15327"/>
          <a:stretch/>
        </p:blipFill>
        <p:spPr>
          <a:xfrm>
            <a:off x="8379837" y="594690"/>
            <a:ext cx="3232856" cy="5882165"/>
          </a:xfrm>
          <a:prstGeom prst="rect">
            <a:avLst/>
          </a:prstGeom>
          <a:ln w="38100">
            <a:solidFill>
              <a:srgbClr val="FF0000"/>
            </a:solidFill>
          </a:ln>
        </p:spPr>
      </p:pic>
      <p:pic>
        <p:nvPicPr>
          <p:cNvPr id="3" name="תמונה 2"/>
          <p:cNvPicPr>
            <a:picLocks noChangeAspect="1"/>
          </p:cNvPicPr>
          <p:nvPr/>
        </p:nvPicPr>
        <p:blipFill rotWithShape="1">
          <a:blip r:embed="rId3" cstate="print">
            <a:extLst>
              <a:ext uri="{28A0092B-C50C-407E-A947-70E740481C1C}">
                <a14:useLocalDpi xmlns:a14="http://schemas.microsoft.com/office/drawing/2010/main" val="0"/>
              </a:ext>
            </a:extLst>
          </a:blip>
          <a:srcRect l="58003" t="50997" r="20446" b="29897"/>
          <a:stretch/>
        </p:blipFill>
        <p:spPr>
          <a:xfrm>
            <a:off x="5099528" y="594690"/>
            <a:ext cx="2443105" cy="2978871"/>
          </a:xfrm>
          <a:prstGeom prst="rect">
            <a:avLst/>
          </a:prstGeom>
          <a:ln w="38100">
            <a:solidFill>
              <a:srgbClr val="FF0000"/>
            </a:solidFill>
          </a:ln>
        </p:spPr>
      </p:pic>
      <p:pic>
        <p:nvPicPr>
          <p:cNvPr id="4" name="תמונה 3"/>
          <p:cNvPicPr>
            <a:picLocks noChangeAspect="1"/>
          </p:cNvPicPr>
          <p:nvPr/>
        </p:nvPicPr>
        <p:blipFill rotWithShape="1">
          <a:blip r:embed="rId4" cstate="print">
            <a:extLst>
              <a:ext uri="{28A0092B-C50C-407E-A947-70E740481C1C}">
                <a14:useLocalDpi xmlns:a14="http://schemas.microsoft.com/office/drawing/2010/main" val="0"/>
              </a:ext>
            </a:extLst>
          </a:blip>
          <a:srcRect l="19627" t="51685" r="30655" b="10102"/>
          <a:stretch/>
        </p:blipFill>
        <p:spPr>
          <a:xfrm>
            <a:off x="674795" y="594690"/>
            <a:ext cx="3003866" cy="3175190"/>
          </a:xfrm>
          <a:prstGeom prst="rect">
            <a:avLst/>
          </a:prstGeom>
          <a:ln w="38100">
            <a:solidFill>
              <a:srgbClr val="FF0000"/>
            </a:solidFill>
          </a:ln>
        </p:spPr>
      </p:pic>
      <p:sp>
        <p:nvSpPr>
          <p:cNvPr id="5" name="TextBox 4"/>
          <p:cNvSpPr txBox="1"/>
          <p:nvPr/>
        </p:nvSpPr>
        <p:spPr>
          <a:xfrm>
            <a:off x="644196" y="3769880"/>
            <a:ext cx="2598789" cy="338554"/>
          </a:xfrm>
          <a:prstGeom prst="rect">
            <a:avLst/>
          </a:prstGeom>
          <a:noFill/>
        </p:spPr>
        <p:txBody>
          <a:bodyPr wrap="none" rtlCol="1">
            <a:spAutoFit/>
          </a:bodyPr>
          <a:lstStyle/>
          <a:p>
            <a:r>
              <a:rPr lang="he-IL" sz="1600" b="1" dirty="0"/>
              <a:t>הרב יעקב </a:t>
            </a:r>
            <a:r>
              <a:rPr lang="he-IL" sz="1600" b="1" dirty="0" err="1"/>
              <a:t>פילבר</a:t>
            </a:r>
            <a:r>
              <a:rPr lang="he-IL" sz="1600" b="1" dirty="0"/>
              <a:t>, 'מראה כהן'</a:t>
            </a:r>
          </a:p>
        </p:txBody>
      </p:sp>
      <p:pic>
        <p:nvPicPr>
          <p:cNvPr id="6" name="תמונה 5"/>
          <p:cNvPicPr>
            <a:picLocks noChangeAspect="1"/>
          </p:cNvPicPr>
          <p:nvPr/>
        </p:nvPicPr>
        <p:blipFill rotWithShape="1">
          <a:blip r:embed="rId5"/>
          <a:srcRect b="43935"/>
          <a:stretch/>
        </p:blipFill>
        <p:spPr>
          <a:xfrm>
            <a:off x="3408783" y="5203101"/>
            <a:ext cx="4133850" cy="389832"/>
          </a:xfrm>
          <a:prstGeom prst="rect">
            <a:avLst/>
          </a:prstGeom>
          <a:ln w="38100">
            <a:solidFill>
              <a:srgbClr val="FF0000"/>
            </a:solidFill>
          </a:ln>
        </p:spPr>
      </p:pic>
      <p:sp>
        <p:nvSpPr>
          <p:cNvPr id="7" name="TextBox 6"/>
          <p:cNvSpPr txBox="1"/>
          <p:nvPr/>
        </p:nvSpPr>
        <p:spPr>
          <a:xfrm>
            <a:off x="5681509" y="87076"/>
            <a:ext cx="867545" cy="369332"/>
          </a:xfrm>
          <a:prstGeom prst="rect">
            <a:avLst/>
          </a:prstGeom>
          <a:solidFill>
            <a:srgbClr val="FFFF00"/>
          </a:solidFill>
          <a:ln>
            <a:solidFill>
              <a:schemeClr val="tx1"/>
            </a:solidFill>
          </a:ln>
        </p:spPr>
        <p:txBody>
          <a:bodyPr wrap="none" rtlCol="1">
            <a:spAutoFit/>
          </a:bodyPr>
          <a:lstStyle/>
          <a:p>
            <a:r>
              <a:rPr lang="he-IL" b="1" dirty="0"/>
              <a:t>אמרות </a:t>
            </a:r>
          </a:p>
        </p:txBody>
      </p:sp>
    </p:spTree>
    <p:extLst>
      <p:ext uri="{BB962C8B-B14F-4D97-AF65-F5344CB8AC3E}">
        <p14:creationId xmlns:p14="http://schemas.microsoft.com/office/powerpoint/2010/main" val="1691628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יש לך כנפי רוח-ביני לנדאו.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455078" y="5320701"/>
            <a:ext cx="609600" cy="609600"/>
          </a:xfrm>
          <a:prstGeom prst="rect">
            <a:avLst/>
          </a:prstGeom>
        </p:spPr>
      </p:pic>
      <p:pic>
        <p:nvPicPr>
          <p:cNvPr id="6146"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12884" r="11962"/>
          <a:stretch/>
        </p:blipFill>
        <p:spPr bwMode="auto">
          <a:xfrm>
            <a:off x="2976306" y="718793"/>
            <a:ext cx="6239388" cy="4669971"/>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5" name="TextBox 4"/>
          <p:cNvSpPr txBox="1"/>
          <p:nvPr/>
        </p:nvSpPr>
        <p:spPr>
          <a:xfrm>
            <a:off x="2893478" y="5538498"/>
            <a:ext cx="1811713" cy="338554"/>
          </a:xfrm>
          <a:prstGeom prst="rect">
            <a:avLst/>
          </a:prstGeom>
          <a:noFill/>
        </p:spPr>
        <p:txBody>
          <a:bodyPr wrap="none" rtlCol="1">
            <a:spAutoFit/>
          </a:bodyPr>
          <a:lstStyle/>
          <a:p>
            <a:r>
              <a:rPr lang="he-IL" sz="1600" b="1" dirty="0"/>
              <a:t>אורות הקודש א, סד</a:t>
            </a:r>
          </a:p>
        </p:txBody>
      </p:sp>
    </p:spTree>
    <p:extLst>
      <p:ext uri="{BB962C8B-B14F-4D97-AF65-F5344CB8AC3E}">
        <p14:creationId xmlns:p14="http://schemas.microsoft.com/office/powerpoint/2010/main" val="4211690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504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92424">
                <p:cTn id="7" fill="hold" display="0">
                  <p:stCondLst>
                    <p:cond delay="indefinite"/>
                  </p:stCondLst>
                  <p:endCondLst>
                    <p:cond evt="onStopAudio" delay="0">
                      <p:tgtEl>
                        <p:sldTgt/>
                      </p:tgtEl>
                    </p:cond>
                  </p:endCondLst>
                </p:cTn>
                <p:tgtEl>
                  <p:spTgt spid="2"/>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ChangeArrowheads="1"/>
          </p:cNvSpPr>
          <p:nvPr/>
        </p:nvSpPr>
        <p:spPr bwMode="auto">
          <a:xfrm>
            <a:off x="1750616" y="5303927"/>
            <a:ext cx="8690767" cy="830997"/>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None/>
            </a:pPr>
            <a:r>
              <a:rPr lang="he-IL" altLang="he-IL" sz="2400" b="1" dirty="0">
                <a:latin typeface="David" panose="020E0502060401010101" pitchFamily="34" charset="-79"/>
                <a:cs typeface="David" panose="020E0502060401010101" pitchFamily="34" charset="-79"/>
              </a:rPr>
              <a:t>כשמסתכלים באמת בצד הטוב של כל אחד, מתאהב האדם על הבריות בחיבה פנימית, ואינו זקוק לשום אבק של חנופה.                      </a:t>
            </a:r>
            <a:r>
              <a:rPr lang="he-IL" altLang="he-IL" sz="1800" b="1" dirty="0">
                <a:latin typeface="David" panose="020E0502060401010101" pitchFamily="34" charset="-79"/>
                <a:cs typeface="David" panose="020E0502060401010101" pitchFamily="34" charset="-79"/>
              </a:rPr>
              <a:t>(אורות הקודש, ג, עמ' שכד) </a:t>
            </a:r>
            <a:r>
              <a:rPr lang="he-IL" altLang="he-IL" sz="1600" b="1" dirty="0">
                <a:latin typeface="David" panose="020E0502060401010101" pitchFamily="34" charset="-79"/>
                <a:cs typeface="David" panose="020E0502060401010101" pitchFamily="34" charset="-79"/>
              </a:rPr>
              <a:t>                           </a:t>
            </a:r>
          </a:p>
        </p:txBody>
      </p:sp>
      <p:sp>
        <p:nvSpPr>
          <p:cNvPr id="23555" name="Rectangle 5"/>
          <p:cNvSpPr>
            <a:spLocks noChangeArrowheads="1"/>
          </p:cNvSpPr>
          <p:nvPr/>
        </p:nvSpPr>
        <p:spPr bwMode="auto">
          <a:xfrm>
            <a:off x="3566930" y="506479"/>
            <a:ext cx="5058140" cy="707886"/>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he-IL" altLang="he-IL" sz="2400" b="1" dirty="0">
                <a:latin typeface="David" panose="020E0502060401010101" pitchFamily="34" charset="-79"/>
                <a:cs typeface="David" panose="020E0502060401010101" pitchFamily="34" charset="-79"/>
              </a:rPr>
              <a:t>התשובה הראשית - שישוב האדם אל עצמו.</a:t>
            </a:r>
            <a:r>
              <a:rPr lang="he-IL" altLang="he-IL" sz="2400" dirty="0">
                <a:latin typeface="David" panose="020E0502060401010101" pitchFamily="34" charset="-79"/>
                <a:cs typeface="David" panose="020E0502060401010101" pitchFamily="34" charset="-79"/>
              </a:rPr>
              <a:t> </a:t>
            </a:r>
          </a:p>
          <a:p>
            <a:pPr eaLnBrk="1" hangingPunct="1">
              <a:spcBef>
                <a:spcPct val="0"/>
              </a:spcBef>
              <a:buFontTx/>
              <a:buNone/>
            </a:pPr>
            <a:r>
              <a:rPr lang="he-IL" altLang="he-IL" sz="1600" b="1" dirty="0">
                <a:latin typeface="David" panose="020E0502060401010101" pitchFamily="34" charset="-79"/>
                <a:cs typeface="David" panose="020E0502060401010101" pitchFamily="34" charset="-79"/>
              </a:rPr>
              <a:t>                                                                       (אורות התשובה טו, י)</a:t>
            </a:r>
          </a:p>
        </p:txBody>
      </p:sp>
      <p:sp>
        <p:nvSpPr>
          <p:cNvPr id="7" name="TextBox 6"/>
          <p:cNvSpPr txBox="1"/>
          <p:nvPr/>
        </p:nvSpPr>
        <p:spPr>
          <a:xfrm>
            <a:off x="3042064" y="1722196"/>
            <a:ext cx="5905783" cy="461665"/>
          </a:xfrm>
          <a:prstGeom prst="rect">
            <a:avLst/>
          </a:prstGeom>
          <a:noFill/>
          <a:ln w="38100">
            <a:solidFill>
              <a:srgbClr val="FF0000"/>
            </a:solidFill>
          </a:ln>
        </p:spPr>
        <p:txBody>
          <a:bodyPr wrap="none" rtlCol="1">
            <a:spAutoFit/>
          </a:bodyPr>
          <a:lstStyle/>
          <a:p>
            <a:r>
              <a:rPr lang="he-IL" sz="2400" b="1" dirty="0">
                <a:latin typeface="David" panose="020E0502060401010101" pitchFamily="34" charset="-79"/>
                <a:cs typeface="David" panose="020E0502060401010101" pitchFamily="34" charset="-79"/>
              </a:rPr>
              <a:t>הישן יתחדש, והחדש יתקדש! </a:t>
            </a:r>
            <a:r>
              <a:rPr lang="he-IL" sz="1600" b="1" dirty="0">
                <a:latin typeface="David" panose="020E0502060401010101" pitchFamily="34" charset="-79"/>
                <a:cs typeface="David" panose="020E0502060401010101" pitchFamily="34" charset="-79"/>
              </a:rPr>
              <a:t>(אגרות הראיה, א, אגרת </a:t>
            </a:r>
            <a:r>
              <a:rPr lang="he-IL" sz="1600" b="1" dirty="0" err="1">
                <a:latin typeface="David" panose="020E0502060401010101" pitchFamily="34" charset="-79"/>
                <a:cs typeface="David" panose="020E0502060401010101" pitchFamily="34" charset="-79"/>
              </a:rPr>
              <a:t>קסד</a:t>
            </a:r>
            <a:r>
              <a:rPr lang="he-IL" sz="1600" b="1" dirty="0">
                <a:latin typeface="David" panose="020E0502060401010101" pitchFamily="34" charset="-79"/>
                <a:cs typeface="David" panose="020E0502060401010101" pitchFamily="34" charset="-79"/>
              </a:rPr>
              <a:t>)</a:t>
            </a:r>
          </a:p>
        </p:txBody>
      </p:sp>
      <p:sp>
        <p:nvSpPr>
          <p:cNvPr id="8" name="Rectangle 6"/>
          <p:cNvSpPr>
            <a:spLocks noChangeArrowheads="1"/>
          </p:cNvSpPr>
          <p:nvPr/>
        </p:nvSpPr>
        <p:spPr bwMode="auto">
          <a:xfrm>
            <a:off x="3164254" y="2774398"/>
            <a:ext cx="5703694" cy="193899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he-IL" altLang="he-IL" sz="2400" b="1" dirty="0">
                <a:latin typeface="David" panose="020E0502060401010101" pitchFamily="34" charset="-79"/>
                <a:cs typeface="David" panose="020E0502060401010101" pitchFamily="34" charset="-79"/>
              </a:rPr>
              <a:t>הצדיקים הטהורים:</a:t>
            </a:r>
          </a:p>
          <a:p>
            <a:pPr eaLnBrk="1" hangingPunct="1">
              <a:spcBef>
                <a:spcPct val="0"/>
              </a:spcBef>
              <a:buFontTx/>
              <a:buNone/>
            </a:pPr>
            <a:r>
              <a:rPr lang="he-IL" altLang="he-IL" sz="2400" b="1" dirty="0">
                <a:latin typeface="David" panose="020E0502060401010101" pitchFamily="34" charset="-79"/>
                <a:cs typeface="David" panose="020E0502060401010101" pitchFamily="34" charset="-79"/>
              </a:rPr>
              <a:t>אינם קובלים על הרשעה - אלא מוסיפים צדק,</a:t>
            </a:r>
          </a:p>
          <a:p>
            <a:pPr eaLnBrk="1" hangingPunct="1">
              <a:spcBef>
                <a:spcPct val="0"/>
              </a:spcBef>
              <a:buFontTx/>
              <a:buNone/>
            </a:pPr>
            <a:r>
              <a:rPr lang="he-IL" altLang="he-IL" sz="2400" b="1" dirty="0">
                <a:latin typeface="David" panose="020E0502060401010101" pitchFamily="34" charset="-79"/>
                <a:cs typeface="David" panose="020E0502060401010101" pitchFamily="34" charset="-79"/>
              </a:rPr>
              <a:t>אינם קובלים על הכפירה - אלא מוסיפים אמונה, </a:t>
            </a:r>
          </a:p>
          <a:p>
            <a:pPr eaLnBrk="1" hangingPunct="1">
              <a:spcBef>
                <a:spcPct val="0"/>
              </a:spcBef>
              <a:buFontTx/>
              <a:buNone/>
            </a:pPr>
            <a:r>
              <a:rPr lang="he-IL" altLang="he-IL" sz="2400" b="1" dirty="0">
                <a:latin typeface="David" panose="020E0502060401010101" pitchFamily="34" charset="-79"/>
                <a:cs typeface="David" panose="020E0502060401010101" pitchFamily="34" charset="-79"/>
              </a:rPr>
              <a:t>אינם קובלים על הבערות - אלא מוסיפים חוכמה.</a:t>
            </a:r>
          </a:p>
          <a:p>
            <a:pPr eaLnBrk="1" hangingPunct="1">
              <a:spcBef>
                <a:spcPct val="0"/>
              </a:spcBef>
              <a:buFontTx/>
              <a:buNone/>
            </a:pPr>
            <a:r>
              <a:rPr lang="he-IL" altLang="he-IL" sz="2400" b="1" dirty="0">
                <a:latin typeface="David" panose="020E0502060401010101" pitchFamily="34" charset="-79"/>
                <a:cs typeface="David" panose="020E0502060401010101" pitchFamily="34" charset="-79"/>
              </a:rPr>
              <a:t>                                                         </a:t>
            </a:r>
            <a:r>
              <a:rPr lang="he-IL" altLang="he-IL" sz="1600" b="1" dirty="0">
                <a:latin typeface="David" panose="020E0502060401010101" pitchFamily="34" charset="-79"/>
                <a:cs typeface="David" panose="020E0502060401010101" pitchFamily="34" charset="-79"/>
              </a:rPr>
              <a:t>(ערפלי טוהר</a:t>
            </a:r>
            <a:r>
              <a:rPr lang="he-IL" altLang="he-IL" sz="1600" b="1">
                <a:latin typeface="David" panose="020E0502060401010101" pitchFamily="34" charset="-79"/>
                <a:cs typeface="David" panose="020E0502060401010101" pitchFamily="34" charset="-79"/>
              </a:rPr>
              <a:t>, עמ' </a:t>
            </a:r>
            <a:r>
              <a:rPr lang="he-IL" altLang="he-IL" sz="1600" b="1" dirty="0">
                <a:latin typeface="David" panose="020E0502060401010101" pitchFamily="34" charset="-79"/>
                <a:cs typeface="David" panose="020E0502060401010101" pitchFamily="34" charset="-79"/>
              </a:rPr>
              <a:t>לט) </a:t>
            </a:r>
          </a:p>
        </p:txBody>
      </p:sp>
    </p:spTree>
    <p:extLst>
      <p:ext uri="{BB962C8B-B14F-4D97-AF65-F5344CB8AC3E}">
        <p14:creationId xmlns:p14="http://schemas.microsoft.com/office/powerpoint/2010/main" val="1158614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2491721" y="568303"/>
            <a:ext cx="7208557" cy="1477328"/>
          </a:xfrm>
          <a:prstGeom prst="rect">
            <a:avLst/>
          </a:prstGeom>
          <a:ln w="38100">
            <a:solidFill>
              <a:srgbClr val="FF0000"/>
            </a:solidFill>
          </a:ln>
        </p:spPr>
        <p:txBody>
          <a:bodyPr wrap="square">
            <a:spAutoFit/>
          </a:bodyPr>
          <a:lstStyle/>
          <a:p>
            <a:pPr algn="just"/>
            <a:r>
              <a:rPr lang="he-IL" sz="2400" b="1" dirty="0">
                <a:solidFill>
                  <a:srgbClr val="333333"/>
                </a:solidFill>
                <a:latin typeface="David" panose="020E0502060401010101" pitchFamily="34" charset="-79"/>
                <a:cs typeface="David" panose="020E0502060401010101" pitchFamily="34" charset="-79"/>
              </a:rPr>
              <a:t>האהבה הגדולה שאנו אוהבים את אומתנו, לא תסמא את עיננו מלראות את כל מומיה, אך גם אחרי הביקורת היותר חופשית נקייה היא מכל מום. כולך יפה רעייתי ומום אין בך!</a:t>
            </a:r>
          </a:p>
          <a:p>
            <a:pPr algn="l"/>
            <a:r>
              <a:rPr lang="he-IL" dirty="0">
                <a:solidFill>
                  <a:srgbClr val="333333"/>
                </a:solidFill>
                <a:latin typeface="David" panose="020E0502060401010101" pitchFamily="34" charset="-79"/>
                <a:cs typeface="David" panose="020E0502060401010101" pitchFamily="34" charset="-79"/>
              </a:rPr>
              <a:t> </a:t>
            </a:r>
            <a:r>
              <a:rPr lang="he-IL" sz="1600" dirty="0">
                <a:solidFill>
                  <a:srgbClr val="333333"/>
                </a:solidFill>
                <a:latin typeface="David" panose="020E0502060401010101" pitchFamily="34" charset="-79"/>
                <a:cs typeface="David" panose="020E0502060401010101" pitchFamily="34" charset="-79"/>
              </a:rPr>
              <a:t>(</a:t>
            </a:r>
            <a:r>
              <a:rPr lang="he-IL" sz="1600" b="1" dirty="0">
                <a:solidFill>
                  <a:srgbClr val="333333"/>
                </a:solidFill>
                <a:latin typeface="David" panose="020E0502060401010101" pitchFamily="34" charset="-79"/>
                <a:cs typeface="David" panose="020E0502060401010101" pitchFamily="34" charset="-79"/>
              </a:rPr>
              <a:t>אורות, אורות ישראל פרק ד, פסקה ג)</a:t>
            </a:r>
            <a:endParaRPr lang="he-IL" sz="1600" b="0" i="0" dirty="0">
              <a:solidFill>
                <a:srgbClr val="333333"/>
              </a:solidFill>
              <a:effectLst/>
              <a:latin typeface="David" panose="020E0502060401010101" pitchFamily="34" charset="-79"/>
              <a:cs typeface="David" panose="020E0502060401010101" pitchFamily="34" charset="-79"/>
            </a:endParaRPr>
          </a:p>
        </p:txBody>
      </p:sp>
      <p:sp>
        <p:nvSpPr>
          <p:cNvPr id="4" name="מלבן 3"/>
          <p:cNvSpPr/>
          <p:nvPr/>
        </p:nvSpPr>
        <p:spPr>
          <a:xfrm>
            <a:off x="2522792" y="3788137"/>
            <a:ext cx="7208557" cy="1200329"/>
          </a:xfrm>
          <a:prstGeom prst="rect">
            <a:avLst/>
          </a:prstGeom>
          <a:ln w="38100">
            <a:solidFill>
              <a:srgbClr val="FF0000"/>
            </a:solidFill>
          </a:ln>
        </p:spPr>
        <p:txBody>
          <a:bodyPr wrap="square">
            <a:spAutoFit/>
          </a:bodyPr>
          <a:lstStyle/>
          <a:p>
            <a:pPr algn="just"/>
            <a:r>
              <a:rPr lang="he-IL" sz="2400" b="1" dirty="0">
                <a:solidFill>
                  <a:srgbClr val="333333"/>
                </a:solidFill>
                <a:latin typeface="David" panose="020E0502060401010101" pitchFamily="34" charset="-79"/>
                <a:cs typeface="David" panose="020E0502060401010101" pitchFamily="34" charset="-79"/>
              </a:rPr>
              <a:t>יש בן חורין שרוחו רוח של עבד, ויש עבד שרוחו מלאה חירות; הנאמן לעצמיותו - בן חורין הוא, ומי שכל חייו הם רק במה שטוב ויפה בעיני אחרים - הוא עבד.            </a:t>
            </a:r>
            <a:r>
              <a:rPr lang="he-IL" b="1" dirty="0">
                <a:solidFill>
                  <a:srgbClr val="333333"/>
                </a:solidFill>
                <a:latin typeface="David" panose="020E0502060401010101" pitchFamily="34" charset="-79"/>
                <a:cs typeface="David" panose="020E0502060401010101" pitchFamily="34" charset="-79"/>
              </a:rPr>
              <a:t>(עולת </a:t>
            </a:r>
            <a:r>
              <a:rPr lang="he-IL" b="1" dirty="0" err="1">
                <a:solidFill>
                  <a:srgbClr val="333333"/>
                </a:solidFill>
                <a:latin typeface="David" panose="020E0502060401010101" pitchFamily="34" charset="-79"/>
                <a:cs typeface="David" panose="020E0502060401010101" pitchFamily="34" charset="-79"/>
              </a:rPr>
              <a:t>ראי"ה</a:t>
            </a:r>
            <a:r>
              <a:rPr lang="he-IL" b="1" dirty="0">
                <a:solidFill>
                  <a:srgbClr val="333333"/>
                </a:solidFill>
                <a:latin typeface="David" panose="020E0502060401010101" pitchFamily="34" charset="-79"/>
                <a:cs typeface="David" panose="020E0502060401010101" pitchFamily="34" charset="-79"/>
              </a:rPr>
              <a:t>, ב, עמ' רמה)</a:t>
            </a:r>
            <a:endParaRPr lang="he-IL" b="1" dirty="0">
              <a:latin typeface="David" panose="020E0502060401010101" pitchFamily="34" charset="-79"/>
              <a:cs typeface="David" panose="020E0502060401010101" pitchFamily="34" charset="-79"/>
            </a:endParaRPr>
          </a:p>
        </p:txBody>
      </p:sp>
      <p:sp>
        <p:nvSpPr>
          <p:cNvPr id="5" name="מלבן 4"/>
          <p:cNvSpPr/>
          <p:nvPr/>
        </p:nvSpPr>
        <p:spPr>
          <a:xfrm>
            <a:off x="2553864" y="2475507"/>
            <a:ext cx="7146414" cy="707886"/>
          </a:xfrm>
          <a:prstGeom prst="rect">
            <a:avLst/>
          </a:prstGeom>
          <a:ln w="38100">
            <a:solidFill>
              <a:srgbClr val="FF0000"/>
            </a:solidFill>
          </a:ln>
        </p:spPr>
        <p:txBody>
          <a:bodyPr wrap="square">
            <a:spAutoFit/>
          </a:bodyPr>
          <a:lstStyle/>
          <a:p>
            <a:pPr algn="just"/>
            <a:r>
              <a:rPr lang="he-IL" sz="2000" b="1" dirty="0">
                <a:solidFill>
                  <a:srgbClr val="333333"/>
                </a:solidFill>
                <a:latin typeface="David" panose="020E0502060401010101" pitchFamily="34" charset="-79"/>
                <a:cs typeface="David" panose="020E0502060401010101" pitchFamily="34" charset="-79"/>
              </a:rPr>
              <a:t>גדולים אנו, וגדולות הן משוגותינו, ומפני כך גדולות הן צרותינו, אך גדולות יהיו גם </a:t>
            </a:r>
            <a:r>
              <a:rPr lang="he-IL" sz="2000" b="1" dirty="0" err="1">
                <a:solidFill>
                  <a:srgbClr val="333333"/>
                </a:solidFill>
                <a:latin typeface="David" panose="020E0502060401010101" pitchFamily="34" charset="-79"/>
                <a:cs typeface="David" panose="020E0502060401010101" pitchFamily="34" charset="-79"/>
              </a:rPr>
              <a:t>תנחומותינו</a:t>
            </a:r>
            <a:r>
              <a:rPr lang="he-IL" sz="2000" b="1" dirty="0">
                <a:solidFill>
                  <a:srgbClr val="333333"/>
                </a:solidFill>
                <a:latin typeface="David" panose="020E0502060401010101" pitchFamily="34" charset="-79"/>
                <a:cs typeface="David" panose="020E0502060401010101" pitchFamily="34" charset="-79"/>
              </a:rPr>
              <a:t>.                                                    </a:t>
            </a:r>
            <a:r>
              <a:rPr lang="he-IL" b="1" dirty="0">
                <a:solidFill>
                  <a:srgbClr val="333333"/>
                </a:solidFill>
                <a:latin typeface="David" panose="020E0502060401010101" pitchFamily="34" charset="-79"/>
                <a:cs typeface="David" panose="020E0502060401010101" pitchFamily="34" charset="-79"/>
              </a:rPr>
              <a:t> (אורות, אורות התחיה, ה)</a:t>
            </a:r>
            <a:endParaRPr lang="he-IL" b="1" i="0" dirty="0">
              <a:solidFill>
                <a:srgbClr val="333333"/>
              </a:solidFill>
              <a:effectLst/>
              <a:latin typeface="David" panose="020E0502060401010101" pitchFamily="34" charset="-79"/>
              <a:cs typeface="David" panose="020E0502060401010101" pitchFamily="34" charset="-79"/>
            </a:endParaRPr>
          </a:p>
        </p:txBody>
      </p:sp>
      <p:sp>
        <p:nvSpPr>
          <p:cNvPr id="6" name="מלבן 5"/>
          <p:cNvSpPr/>
          <p:nvPr/>
        </p:nvSpPr>
        <p:spPr>
          <a:xfrm>
            <a:off x="2451178" y="5692385"/>
            <a:ext cx="7249100" cy="461665"/>
          </a:xfrm>
          <a:prstGeom prst="rect">
            <a:avLst/>
          </a:prstGeom>
          <a:ln w="38100">
            <a:solidFill>
              <a:srgbClr val="FF0000"/>
            </a:solidFill>
          </a:ln>
        </p:spPr>
        <p:txBody>
          <a:bodyPr wrap="none">
            <a:spAutoFit/>
          </a:bodyPr>
          <a:lstStyle/>
          <a:p>
            <a:r>
              <a:rPr lang="he-IL" sz="2400" b="1" dirty="0">
                <a:solidFill>
                  <a:srgbClr val="333333"/>
                </a:solidFill>
                <a:latin typeface="David" panose="020E0502060401010101" pitchFamily="34" charset="-79"/>
                <a:cs typeface="David" panose="020E0502060401010101" pitchFamily="34" charset="-79"/>
              </a:rPr>
              <a:t>אינני מדבר כי יש לי כוח לדבר; אני מדבר כי אין לי כוח לשתוק.</a:t>
            </a:r>
            <a:endParaRPr lang="he-IL" sz="2400" b="1"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716303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779401" y="5043340"/>
            <a:ext cx="184731" cy="369332"/>
          </a:xfrm>
          <a:prstGeom prst="rect">
            <a:avLst/>
          </a:prstGeom>
          <a:noFill/>
        </p:spPr>
        <p:txBody>
          <a:bodyPr wrap="none" rtlCol="1">
            <a:spAutoFit/>
          </a:bodyPr>
          <a:lstStyle/>
          <a:p>
            <a:endParaRPr lang="he-IL" dirty="0"/>
          </a:p>
        </p:txBody>
      </p:sp>
      <p:sp>
        <p:nvSpPr>
          <p:cNvPr id="7" name="TextBox 6"/>
          <p:cNvSpPr txBox="1"/>
          <p:nvPr/>
        </p:nvSpPr>
        <p:spPr>
          <a:xfrm>
            <a:off x="319189" y="2418256"/>
            <a:ext cx="2872902" cy="369332"/>
          </a:xfrm>
          <a:prstGeom prst="rect">
            <a:avLst/>
          </a:prstGeom>
          <a:noFill/>
        </p:spPr>
        <p:txBody>
          <a:bodyPr wrap="none" rtlCol="1">
            <a:spAutoFit/>
          </a:bodyPr>
          <a:lstStyle/>
          <a:p>
            <a:r>
              <a:rPr lang="he-IL" b="1" dirty="0"/>
              <a:t>(אגרות הראיה, א, אגרת </a:t>
            </a:r>
            <a:r>
              <a:rPr lang="he-IL" b="1" dirty="0" err="1"/>
              <a:t>קע</a:t>
            </a:r>
            <a:r>
              <a:rPr lang="he-IL" b="1" dirty="0"/>
              <a:t>) </a:t>
            </a:r>
          </a:p>
        </p:txBody>
      </p:sp>
      <p:sp>
        <p:nvSpPr>
          <p:cNvPr id="10" name="TextBox 9"/>
          <p:cNvSpPr txBox="1"/>
          <p:nvPr/>
        </p:nvSpPr>
        <p:spPr>
          <a:xfrm>
            <a:off x="4199138" y="2787588"/>
            <a:ext cx="1896862" cy="488272"/>
          </a:xfrm>
          <a:prstGeom prst="rect">
            <a:avLst/>
          </a:prstGeom>
          <a:solidFill>
            <a:schemeClr val="bg1"/>
          </a:solidFill>
        </p:spPr>
        <p:txBody>
          <a:bodyPr wrap="square" rtlCol="1">
            <a:spAutoFit/>
          </a:bodyPr>
          <a:lstStyle/>
          <a:p>
            <a:endParaRPr lang="he-IL" dirty="0"/>
          </a:p>
        </p:txBody>
      </p:sp>
      <p:sp>
        <p:nvSpPr>
          <p:cNvPr id="4" name="מלבן 3"/>
          <p:cNvSpPr/>
          <p:nvPr/>
        </p:nvSpPr>
        <p:spPr>
          <a:xfrm>
            <a:off x="383309" y="840594"/>
            <a:ext cx="11425381" cy="1938992"/>
          </a:xfrm>
          <a:prstGeom prst="rect">
            <a:avLst/>
          </a:prstGeom>
          <a:ln w="38100">
            <a:solidFill>
              <a:srgbClr val="FF0000"/>
            </a:solidFill>
          </a:ln>
        </p:spPr>
        <p:txBody>
          <a:bodyPr wrap="square">
            <a:spAutoFit/>
          </a:bodyPr>
          <a:lstStyle/>
          <a:p>
            <a:pPr algn="just"/>
            <a:r>
              <a:rPr lang="he-IL" sz="2400" b="1" dirty="0">
                <a:latin typeface="David" panose="020E0502060401010101" pitchFamily="34" charset="-79"/>
                <a:cs typeface="David" panose="020E0502060401010101" pitchFamily="34" charset="-79"/>
              </a:rPr>
              <a:t>מטרת החינוך היא - להכשיר את האדם לצורתו המתוקנת. שהנקודה המרכזית שבה היא לעשותו טוב וישר. מאז אשר החל אברהם אבינו לקרוא בשם ה' </a:t>
            </a:r>
            <a:r>
              <a:rPr lang="he-IL" sz="2400" b="1" dirty="0" err="1">
                <a:latin typeface="David" panose="020E0502060401010101" pitchFamily="34" charset="-79"/>
                <a:cs typeface="David" panose="020E0502060401010101" pitchFamily="34" charset="-79"/>
              </a:rPr>
              <a:t>היתה</a:t>
            </a:r>
            <a:r>
              <a:rPr lang="he-IL" sz="2400" b="1" dirty="0">
                <a:latin typeface="David" panose="020E0502060401010101" pitchFamily="34" charset="-79"/>
                <a:cs typeface="David" panose="020E0502060401010101" pitchFamily="34" charset="-79"/>
              </a:rPr>
              <a:t> לנו לנחלה, כי כל מה שתהיה מושרשת בליבו של אדם יותר הקריאה בשם ה', כן יגדל טובו וישרו, ויהיה יותר מאושר לעצמו ולחברה כולה... דרוש תלמוד קבוע משחר טל הילדות של האדם, על כן לקח מקום בראש החינוך הישראלי תלמוד תורה. </a:t>
            </a:r>
          </a:p>
          <a:p>
            <a:pPr algn="just"/>
            <a:r>
              <a:rPr lang="he-IL" sz="2400" b="1" dirty="0">
                <a:latin typeface="David" panose="020E0502060401010101" pitchFamily="34" charset="-79"/>
                <a:cs typeface="David" panose="020E0502060401010101" pitchFamily="34" charset="-79"/>
              </a:rPr>
              <a:t> </a:t>
            </a:r>
          </a:p>
        </p:txBody>
      </p:sp>
      <p:sp>
        <p:nvSpPr>
          <p:cNvPr id="11" name="מלבן 10"/>
          <p:cNvSpPr/>
          <p:nvPr/>
        </p:nvSpPr>
        <p:spPr>
          <a:xfrm>
            <a:off x="3502372" y="3429000"/>
            <a:ext cx="5187256" cy="3046988"/>
          </a:xfrm>
          <a:prstGeom prst="rect">
            <a:avLst/>
          </a:prstGeom>
          <a:ln w="38100">
            <a:solidFill>
              <a:srgbClr val="FF0000"/>
            </a:solidFill>
          </a:ln>
        </p:spPr>
        <p:txBody>
          <a:bodyPr wrap="square">
            <a:spAutoFit/>
          </a:bodyPr>
          <a:lstStyle/>
          <a:p>
            <a:pPr algn="just"/>
            <a:r>
              <a:rPr lang="he-IL" sz="2400" b="1" dirty="0">
                <a:solidFill>
                  <a:srgbClr val="311E0A"/>
                </a:solidFill>
                <a:latin typeface="David" panose="020E0502060401010101" pitchFamily="34" charset="-79"/>
                <a:cs typeface="David" panose="020E0502060401010101" pitchFamily="34" charset="-79"/>
              </a:rPr>
              <a:t>יסוד האושר הוא:</a:t>
            </a:r>
          </a:p>
          <a:p>
            <a:pPr algn="just"/>
            <a:r>
              <a:rPr lang="he-IL" sz="2400" b="1" dirty="0">
                <a:solidFill>
                  <a:srgbClr val="311E0A"/>
                </a:solidFill>
                <a:latin typeface="David" panose="020E0502060401010101" pitchFamily="34" charset="-79"/>
                <a:cs typeface="David" panose="020E0502060401010101" pitchFamily="34" charset="-79"/>
              </a:rPr>
              <a:t>אהבת האמת בשכל, </a:t>
            </a:r>
          </a:p>
          <a:p>
            <a:pPr algn="just"/>
            <a:r>
              <a:rPr lang="he-IL" sz="2400" b="1" dirty="0">
                <a:solidFill>
                  <a:srgbClr val="311E0A"/>
                </a:solidFill>
                <a:latin typeface="David" panose="020E0502060401010101" pitchFamily="34" charset="-79"/>
                <a:cs typeface="David" panose="020E0502060401010101" pitchFamily="34" charset="-79"/>
              </a:rPr>
              <a:t>אהבת היושר בחיים, </a:t>
            </a:r>
          </a:p>
          <a:p>
            <a:pPr algn="just"/>
            <a:r>
              <a:rPr lang="he-IL" sz="2400" b="1" dirty="0">
                <a:solidFill>
                  <a:srgbClr val="311E0A"/>
                </a:solidFill>
                <a:latin typeface="David" panose="020E0502060401010101" pitchFamily="34" charset="-79"/>
                <a:cs typeface="David" panose="020E0502060401010101" pitchFamily="34" charset="-79"/>
              </a:rPr>
              <a:t>אהבת היופי ברגש, </a:t>
            </a:r>
          </a:p>
          <a:p>
            <a:pPr algn="just"/>
            <a:r>
              <a:rPr lang="he-IL" sz="2400" b="1" dirty="0">
                <a:solidFill>
                  <a:srgbClr val="311E0A"/>
                </a:solidFill>
                <a:latin typeface="David" panose="020E0502060401010101" pitchFamily="34" charset="-79"/>
                <a:cs typeface="David" panose="020E0502060401010101" pitchFamily="34" charset="-79"/>
              </a:rPr>
              <a:t>אהבת הטוב במעשה. </a:t>
            </a:r>
          </a:p>
          <a:p>
            <a:pPr algn="just"/>
            <a:r>
              <a:rPr lang="he-IL" sz="2400" b="1" dirty="0">
                <a:solidFill>
                  <a:srgbClr val="311E0A"/>
                </a:solidFill>
                <a:latin typeface="David" panose="020E0502060401010101" pitchFamily="34" charset="-79"/>
                <a:cs typeface="David" panose="020E0502060401010101" pitchFamily="34" charset="-79"/>
              </a:rPr>
              <a:t>ובכל הערכים כולם, כל אדם בונה לו </a:t>
            </a:r>
          </a:p>
          <a:p>
            <a:pPr algn="just"/>
            <a:r>
              <a:rPr lang="he-IL" sz="2400" b="1" dirty="0">
                <a:solidFill>
                  <a:srgbClr val="311E0A"/>
                </a:solidFill>
                <a:latin typeface="David" panose="020E0502060401010101" pitchFamily="34" charset="-79"/>
                <a:cs typeface="David" panose="020E0502060401010101" pitchFamily="34" charset="-79"/>
              </a:rPr>
              <a:t>אמת, יושר, יופי וטוב בפני עצמו כפי מידתו. </a:t>
            </a:r>
          </a:p>
          <a:p>
            <a:pPr algn="just"/>
            <a:r>
              <a:rPr lang="he-IL" sz="2400" b="1" dirty="0">
                <a:solidFill>
                  <a:srgbClr val="311E0A"/>
                </a:solidFill>
                <a:latin typeface="David" panose="020E0502060401010101" pitchFamily="34" charset="-79"/>
                <a:cs typeface="David" panose="020E0502060401010101" pitchFamily="34" charset="-79"/>
              </a:rPr>
              <a:t>                      </a:t>
            </a:r>
            <a:endParaRPr lang="he-IL" sz="2400" b="1" dirty="0">
              <a:latin typeface="David" panose="020E0502060401010101" pitchFamily="34" charset="-79"/>
              <a:cs typeface="David" panose="020E0502060401010101" pitchFamily="34" charset="-79"/>
            </a:endParaRPr>
          </a:p>
        </p:txBody>
      </p:sp>
      <p:pic>
        <p:nvPicPr>
          <p:cNvPr id="5" name="תמונה 4"/>
          <p:cNvPicPr>
            <a:picLocks noChangeAspect="1"/>
          </p:cNvPicPr>
          <p:nvPr/>
        </p:nvPicPr>
        <p:blipFill>
          <a:blip r:embed="rId2"/>
          <a:stretch>
            <a:fillRect/>
          </a:stretch>
        </p:blipFill>
        <p:spPr>
          <a:xfrm>
            <a:off x="3670630" y="6043134"/>
            <a:ext cx="1987468" cy="432854"/>
          </a:xfrm>
          <a:prstGeom prst="rect">
            <a:avLst/>
          </a:prstGeom>
        </p:spPr>
      </p:pic>
    </p:spTree>
    <p:extLst>
      <p:ext uri="{BB962C8B-B14F-4D97-AF65-F5344CB8AC3E}">
        <p14:creationId xmlns:p14="http://schemas.microsoft.com/office/powerpoint/2010/main" val="2356047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p:cNvSpPr/>
          <p:nvPr/>
        </p:nvSpPr>
        <p:spPr>
          <a:xfrm>
            <a:off x="10202772" y="2152381"/>
            <a:ext cx="184730" cy="369332"/>
          </a:xfrm>
          <a:prstGeom prst="rect">
            <a:avLst/>
          </a:prstGeom>
        </p:spPr>
        <p:txBody>
          <a:bodyPr wrap="none">
            <a:spAutoFit/>
          </a:bodyPr>
          <a:lstStyle/>
          <a:p>
            <a:pPr algn="ctr"/>
            <a:endParaRPr lang="he-IL" b="0" i="0" dirty="0">
              <a:solidFill>
                <a:srgbClr val="333333"/>
              </a:solidFill>
              <a:effectLst/>
              <a:latin typeface="Helvetica Neue"/>
            </a:endParaRPr>
          </a:p>
        </p:txBody>
      </p:sp>
      <p:sp>
        <p:nvSpPr>
          <p:cNvPr id="4" name="מלבן 3"/>
          <p:cNvSpPr/>
          <p:nvPr/>
        </p:nvSpPr>
        <p:spPr>
          <a:xfrm>
            <a:off x="574766" y="403227"/>
            <a:ext cx="10816045" cy="3785652"/>
          </a:xfrm>
          <a:prstGeom prst="rect">
            <a:avLst/>
          </a:prstGeom>
          <a:ln w="38100">
            <a:solidFill>
              <a:srgbClr val="FF0000"/>
            </a:solidFill>
          </a:ln>
        </p:spPr>
        <p:txBody>
          <a:bodyPr wrap="square">
            <a:spAutoFit/>
          </a:bodyPr>
          <a:lstStyle/>
          <a:p>
            <a:pPr algn="just"/>
            <a:r>
              <a:rPr lang="he-IL" sz="2400" b="1" dirty="0"/>
              <a:t>"ואני בתוך הגולה", האני הפנימי אינו מתגלה לאדם, רק לפי מדת הטהרה והקדושה שלו, לפי המידה שבה הנשמה מאירה באדם. חטא האדם הראשון בכך שהתנכר לעצמו, בכך שהקשיב לדעתו של הנחש ואיבד את קולו הפנימי. חטא כשלא ידע להשיב תשובה ברורה לשאלה "איכה!?". חטא עם ישראל כשהלך אחרי אל זר מפני ששכח את עצמיותו. חטאה הלבנה כשקנאה בשמש איבדה את שמחת חלקה כשהשוותה את עצמה אל זולתה. וכה הולך העולם וצולל באובדן האני של כל אחד, של הפרט ושל הכלל. באים מחנכים מלומדים מסתכלים בחיצוניות, מסיחים דעה גם הם מן האני, ומוסיפים תבן על המדורה, משקים את הצמאים בחומץ, מפטמים את המוחות ואת הלבבות בכל מה שהוא חוץ מהם, והאני הולך ומשתכח. וכיוון שאין אני, אין הוא, וודאי </a:t>
            </a:r>
            <a:r>
              <a:rPr lang="he-IL" sz="2400" b="1" dirty="0" err="1"/>
              <a:t>וודאי</a:t>
            </a:r>
            <a:r>
              <a:rPr lang="he-IL" sz="2400" b="1" dirty="0"/>
              <a:t> שאין אתה. </a:t>
            </a:r>
          </a:p>
          <a:p>
            <a:pPr algn="just"/>
            <a:r>
              <a:rPr lang="he-IL" sz="2400" b="1" dirty="0"/>
              <a:t>                                                                </a:t>
            </a:r>
            <a:r>
              <a:rPr lang="he-IL" sz="1600" b="1" dirty="0"/>
              <a:t>(אורות הקודש, ג, עמ' </a:t>
            </a:r>
            <a:r>
              <a:rPr lang="he-IL" sz="1600" b="1" dirty="0" err="1"/>
              <a:t>קמ</a:t>
            </a:r>
            <a:r>
              <a:rPr lang="he-IL" sz="1600" b="1" dirty="0"/>
              <a:t>)       </a:t>
            </a:r>
          </a:p>
        </p:txBody>
      </p:sp>
      <p:pic>
        <p:nvPicPr>
          <p:cNvPr id="2" name="תמונה 1"/>
          <p:cNvPicPr>
            <a:picLocks noChangeAspect="1"/>
          </p:cNvPicPr>
          <p:nvPr/>
        </p:nvPicPr>
        <p:blipFill>
          <a:blip r:embed="rId2"/>
          <a:stretch>
            <a:fillRect/>
          </a:stretch>
        </p:blipFill>
        <p:spPr>
          <a:xfrm>
            <a:off x="905011" y="5061449"/>
            <a:ext cx="9058275" cy="1228725"/>
          </a:xfrm>
          <a:prstGeom prst="rect">
            <a:avLst/>
          </a:prstGeom>
        </p:spPr>
      </p:pic>
    </p:spTree>
    <p:extLst>
      <p:ext uri="{BB962C8B-B14F-4D97-AF65-F5344CB8AC3E}">
        <p14:creationId xmlns:p14="http://schemas.microsoft.com/office/powerpoint/2010/main" val="1303825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2544932" y="1995660"/>
            <a:ext cx="7102135" cy="830997"/>
          </a:xfrm>
          <a:prstGeom prst="rect">
            <a:avLst/>
          </a:prstGeom>
          <a:ln w="38100">
            <a:solidFill>
              <a:srgbClr val="FF0000"/>
            </a:solidFill>
          </a:ln>
        </p:spPr>
        <p:txBody>
          <a:bodyPr wrap="square">
            <a:spAutoFit/>
          </a:bodyPr>
          <a:lstStyle/>
          <a:p>
            <a:r>
              <a:rPr lang="he-IL" sz="2400" b="1" dirty="0">
                <a:solidFill>
                  <a:srgbClr val="5F6368"/>
                </a:solidFill>
                <a:latin typeface="David" panose="020E0502060401010101" pitchFamily="34" charset="-79"/>
                <a:cs typeface="David" panose="020E0502060401010101" pitchFamily="34" charset="-79"/>
              </a:rPr>
              <a:t>חשק נטיעת אילנות</a:t>
            </a:r>
            <a:r>
              <a:rPr lang="he-IL" sz="2400" b="1" dirty="0">
                <a:solidFill>
                  <a:srgbClr val="4D5156"/>
                </a:solidFill>
                <a:latin typeface="David" panose="020E0502060401010101" pitchFamily="34" charset="-79"/>
                <a:cs typeface="David" panose="020E0502060401010101" pitchFamily="34" charset="-79"/>
              </a:rPr>
              <a:t> נובע מחפץ הטבת הדורות הבאים, שעיקר תוקפו מובלט בעץ החרוב                        </a:t>
            </a:r>
            <a:r>
              <a:rPr lang="he-IL" sz="1600" b="1" dirty="0">
                <a:solidFill>
                  <a:srgbClr val="4D5156"/>
                </a:solidFill>
                <a:latin typeface="David" panose="020E0502060401010101" pitchFamily="34" charset="-79"/>
                <a:cs typeface="David" panose="020E0502060401010101" pitchFamily="34" charset="-79"/>
              </a:rPr>
              <a:t>(מגד ירחים, חודש שבט, תרע"ד)</a:t>
            </a:r>
            <a:endParaRPr lang="he-IL" sz="1600" b="1" dirty="0">
              <a:latin typeface="David" panose="020E0502060401010101" pitchFamily="34" charset="-79"/>
              <a:cs typeface="David" panose="020E0502060401010101" pitchFamily="34" charset="-79"/>
            </a:endParaRPr>
          </a:p>
        </p:txBody>
      </p:sp>
      <p:sp>
        <p:nvSpPr>
          <p:cNvPr id="3" name="מלבן 2"/>
          <p:cNvSpPr/>
          <p:nvPr/>
        </p:nvSpPr>
        <p:spPr>
          <a:xfrm>
            <a:off x="4003829" y="545498"/>
            <a:ext cx="5643238" cy="830997"/>
          </a:xfrm>
          <a:prstGeom prst="rect">
            <a:avLst/>
          </a:prstGeom>
          <a:ln w="38100">
            <a:solidFill>
              <a:srgbClr val="FF0000"/>
            </a:solidFill>
          </a:ln>
        </p:spPr>
        <p:txBody>
          <a:bodyPr wrap="square">
            <a:spAutoFit/>
          </a:bodyPr>
          <a:lstStyle/>
          <a:p>
            <a:r>
              <a:rPr lang="he-IL" sz="2400" b="1" dirty="0">
                <a:solidFill>
                  <a:srgbClr val="1D2129"/>
                </a:solidFill>
                <a:latin typeface="David" panose="020E0502060401010101" pitchFamily="34" charset="-79"/>
                <a:cs typeface="David" panose="020E0502060401010101" pitchFamily="34" charset="-79"/>
              </a:rPr>
              <a:t>כשהנשמה מאירה גם שמים עוטי ערפל מפיקים אור נעים.                                </a:t>
            </a:r>
            <a:r>
              <a:rPr lang="he-IL" sz="1600" b="1" dirty="0">
                <a:solidFill>
                  <a:srgbClr val="1D2129"/>
                </a:solidFill>
                <a:latin typeface="David" panose="020E0502060401010101" pitchFamily="34" charset="-79"/>
                <a:cs typeface="David" panose="020E0502060401010101" pitchFamily="34" charset="-79"/>
              </a:rPr>
              <a:t>(מגד ירחים, חודש </a:t>
            </a:r>
            <a:r>
              <a:rPr lang="he-IL" sz="1600" b="1" dirty="0" err="1">
                <a:solidFill>
                  <a:srgbClr val="1D2129"/>
                </a:solidFill>
                <a:latin typeface="David" panose="020E0502060401010101" pitchFamily="34" charset="-79"/>
                <a:cs typeface="David" panose="020E0502060401010101" pitchFamily="34" charset="-79"/>
              </a:rPr>
              <a:t>מרחשון</a:t>
            </a:r>
            <a:r>
              <a:rPr lang="he-IL" sz="1600" b="1" dirty="0">
                <a:solidFill>
                  <a:srgbClr val="1D2129"/>
                </a:solidFill>
                <a:latin typeface="David" panose="020E0502060401010101" pitchFamily="34" charset="-79"/>
                <a:cs typeface="David" panose="020E0502060401010101" pitchFamily="34" charset="-79"/>
              </a:rPr>
              <a:t>)</a:t>
            </a:r>
            <a:endParaRPr lang="he-IL" sz="1600" b="1" dirty="0">
              <a:latin typeface="David" panose="020E0502060401010101" pitchFamily="34" charset="-79"/>
              <a:cs typeface="David" panose="020E0502060401010101" pitchFamily="34" charset="-79"/>
            </a:endParaRPr>
          </a:p>
        </p:txBody>
      </p:sp>
      <p:sp>
        <p:nvSpPr>
          <p:cNvPr id="4" name="מלבן 3"/>
          <p:cNvSpPr/>
          <p:nvPr/>
        </p:nvSpPr>
        <p:spPr>
          <a:xfrm>
            <a:off x="1985638" y="3445822"/>
            <a:ext cx="7661429" cy="830997"/>
          </a:xfrm>
          <a:prstGeom prst="rect">
            <a:avLst/>
          </a:prstGeom>
          <a:ln w="38100">
            <a:solidFill>
              <a:srgbClr val="FF0000"/>
            </a:solidFill>
          </a:ln>
        </p:spPr>
        <p:txBody>
          <a:bodyPr wrap="square">
            <a:spAutoFit/>
          </a:bodyPr>
          <a:lstStyle/>
          <a:p>
            <a:r>
              <a:rPr lang="he-IL" sz="2400" b="1" dirty="0">
                <a:solidFill>
                  <a:srgbClr val="202122"/>
                </a:solidFill>
                <a:latin typeface="David" panose="020E0502060401010101" pitchFamily="34" charset="-79"/>
                <a:cs typeface="David" panose="020E0502060401010101" pitchFamily="34" charset="-79"/>
              </a:rPr>
              <a:t>המזכירים כרכים המוקפים מימות יהושע בן נון,</a:t>
            </a:r>
            <a:r>
              <a:rPr lang="he-IL" sz="2400" b="1" dirty="0">
                <a:latin typeface="David" panose="020E0502060401010101" pitchFamily="34" charset="-79"/>
                <a:cs typeface="David" panose="020E0502060401010101" pitchFamily="34" charset="-79"/>
              </a:rPr>
              <a:t> </a:t>
            </a:r>
            <a:r>
              <a:rPr lang="he-IL" sz="2400" b="1" dirty="0">
                <a:solidFill>
                  <a:srgbClr val="202122"/>
                </a:solidFill>
                <a:latin typeface="David" panose="020E0502060401010101" pitchFamily="34" charset="-79"/>
                <a:cs typeface="David" panose="020E0502060401010101" pitchFamily="34" charset="-79"/>
              </a:rPr>
              <a:t>לא יוכלו להישאר עבדי </a:t>
            </a:r>
            <a:r>
              <a:rPr lang="he-IL" sz="2400" b="1" dirty="0" err="1">
                <a:solidFill>
                  <a:srgbClr val="202122"/>
                </a:solidFill>
                <a:latin typeface="David" panose="020E0502060401010101" pitchFamily="34" charset="-79"/>
                <a:cs typeface="David" panose="020E0502060401010101" pitchFamily="34" charset="-79"/>
              </a:rPr>
              <a:t>אחשורוש</a:t>
            </a:r>
            <a:r>
              <a:rPr lang="he-IL" sz="2400" b="1" dirty="0">
                <a:solidFill>
                  <a:srgbClr val="202122"/>
                </a:solidFill>
                <a:latin typeface="David" panose="020E0502060401010101" pitchFamily="34" charset="-79"/>
                <a:cs typeface="David" panose="020E0502060401010101" pitchFamily="34" charset="-79"/>
              </a:rPr>
              <a:t>.</a:t>
            </a:r>
            <a:r>
              <a:rPr lang="he-IL" sz="2400" b="1" dirty="0">
                <a:solidFill>
                  <a:srgbClr val="4D5156"/>
                </a:solidFill>
                <a:latin typeface="David" panose="020E0502060401010101" pitchFamily="34" charset="-79"/>
                <a:cs typeface="David" panose="020E0502060401010101" pitchFamily="34" charset="-79"/>
              </a:rPr>
              <a:t>                                            </a:t>
            </a:r>
            <a:r>
              <a:rPr lang="he-IL" sz="1600" b="1" dirty="0">
                <a:solidFill>
                  <a:srgbClr val="4D5156"/>
                </a:solidFill>
                <a:latin typeface="David" panose="020E0502060401010101" pitchFamily="34" charset="-79"/>
                <a:cs typeface="David" panose="020E0502060401010101" pitchFamily="34" charset="-79"/>
              </a:rPr>
              <a:t>(מגד ירחים, חודש אדר א', תרע"ד)</a:t>
            </a:r>
            <a:endParaRPr lang="he-IL" sz="1600" b="1" dirty="0">
              <a:latin typeface="David" panose="020E0502060401010101" pitchFamily="34" charset="-79"/>
              <a:cs typeface="David" panose="020E0502060401010101" pitchFamily="34" charset="-79"/>
            </a:endParaRPr>
          </a:p>
        </p:txBody>
      </p:sp>
      <p:sp>
        <p:nvSpPr>
          <p:cNvPr id="5" name="מלבן 4"/>
          <p:cNvSpPr/>
          <p:nvPr/>
        </p:nvSpPr>
        <p:spPr>
          <a:xfrm>
            <a:off x="3706428" y="5108645"/>
            <a:ext cx="5940639" cy="461665"/>
          </a:xfrm>
          <a:prstGeom prst="rect">
            <a:avLst/>
          </a:prstGeom>
          <a:ln w="38100">
            <a:solidFill>
              <a:srgbClr val="FF0000"/>
            </a:solidFill>
          </a:ln>
        </p:spPr>
        <p:txBody>
          <a:bodyPr wrap="square">
            <a:spAutoFit/>
          </a:bodyPr>
          <a:lstStyle/>
          <a:p>
            <a:r>
              <a:rPr lang="he-IL" sz="2400" dirty="0">
                <a:solidFill>
                  <a:srgbClr val="000000"/>
                </a:solidFill>
                <a:latin typeface="arial" panose="020B0604020202020204" pitchFamily="34" charset="0"/>
              </a:rPr>
              <a:t> </a:t>
            </a:r>
            <a:r>
              <a:rPr lang="he-IL" sz="2400" b="1" dirty="0">
                <a:solidFill>
                  <a:srgbClr val="000000"/>
                </a:solidFill>
                <a:latin typeface="arial" panose="020B0604020202020204" pitchFamily="34" charset="0"/>
              </a:rPr>
              <a:t>כי כל זמן מאיר בתכונתו.... </a:t>
            </a:r>
            <a:r>
              <a:rPr lang="he-IL" b="1" dirty="0">
                <a:solidFill>
                  <a:srgbClr val="000000"/>
                </a:solidFill>
                <a:latin typeface="arial" panose="020B0604020202020204" pitchFamily="34" charset="0"/>
              </a:rPr>
              <a:t>אגרות הראיה אגרת </a:t>
            </a:r>
            <a:r>
              <a:rPr lang="he-IL" b="1" dirty="0" err="1">
                <a:solidFill>
                  <a:srgbClr val="000000"/>
                </a:solidFill>
                <a:latin typeface="arial" panose="020B0604020202020204" pitchFamily="34" charset="0"/>
              </a:rPr>
              <a:t>שעח</a:t>
            </a:r>
            <a:endParaRPr lang="he-IL" dirty="0"/>
          </a:p>
        </p:txBody>
      </p:sp>
    </p:spTree>
    <p:extLst>
      <p:ext uri="{BB962C8B-B14F-4D97-AF65-F5344CB8AC3E}">
        <p14:creationId xmlns:p14="http://schemas.microsoft.com/office/powerpoint/2010/main" val="41132692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a:blip r:embed="rId2"/>
          <a:stretch>
            <a:fillRect/>
          </a:stretch>
        </p:blipFill>
        <p:spPr>
          <a:xfrm>
            <a:off x="1169732" y="747188"/>
            <a:ext cx="9852536" cy="4313548"/>
          </a:xfrm>
          <a:prstGeom prst="rect">
            <a:avLst/>
          </a:prstGeom>
          <a:ln w="38100">
            <a:solidFill>
              <a:srgbClr val="FF0000"/>
            </a:solidFill>
          </a:ln>
        </p:spPr>
      </p:pic>
      <p:sp>
        <p:nvSpPr>
          <p:cNvPr id="4" name="TextBox 3"/>
          <p:cNvSpPr txBox="1"/>
          <p:nvPr/>
        </p:nvSpPr>
        <p:spPr>
          <a:xfrm>
            <a:off x="983956" y="5424622"/>
            <a:ext cx="3180678" cy="338554"/>
          </a:xfrm>
          <a:prstGeom prst="rect">
            <a:avLst/>
          </a:prstGeom>
          <a:noFill/>
        </p:spPr>
        <p:txBody>
          <a:bodyPr wrap="none" rtlCol="1">
            <a:spAutoFit/>
          </a:bodyPr>
          <a:lstStyle/>
          <a:p>
            <a:r>
              <a:rPr lang="he-IL" sz="1600" b="1" dirty="0">
                <a:latin typeface="David" panose="020E0502060401010101" pitchFamily="34" charset="-79"/>
                <a:cs typeface="David" panose="020E0502060401010101" pitchFamily="34" charset="-79"/>
              </a:rPr>
              <a:t>(בית הרב, מגד ירחים, 17 אייר תשס"א)</a:t>
            </a:r>
          </a:p>
        </p:txBody>
      </p:sp>
    </p:spTree>
    <p:extLst>
      <p:ext uri="{BB962C8B-B14F-4D97-AF65-F5344CB8AC3E}">
        <p14:creationId xmlns:p14="http://schemas.microsoft.com/office/powerpoint/2010/main" val="98685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תוצאת תמונה עבור הרב קוק "/>
          <p:cNvPicPr>
            <a:picLocks noChangeAspect="1" noChangeArrowheads="1"/>
          </p:cNvPicPr>
          <p:nvPr/>
        </p:nvPicPr>
        <p:blipFill rotWithShape="1">
          <a:blip r:embed="rId2">
            <a:extLst>
              <a:ext uri="{28A0092B-C50C-407E-A947-70E740481C1C}">
                <a14:useLocalDpi xmlns:a14="http://schemas.microsoft.com/office/drawing/2010/main" val="0"/>
              </a:ext>
            </a:extLst>
          </a:blip>
          <a:srcRect l="5655" t="3933" r="9883" b="4218"/>
          <a:stretch/>
        </p:blipFill>
        <p:spPr bwMode="auto">
          <a:xfrm>
            <a:off x="6782328" y="1075478"/>
            <a:ext cx="3252015" cy="563022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מלבן 4"/>
          <p:cNvSpPr/>
          <p:nvPr/>
        </p:nvSpPr>
        <p:spPr>
          <a:xfrm>
            <a:off x="4750005" y="6228718"/>
            <a:ext cx="2422459" cy="584775"/>
          </a:xfrm>
          <a:prstGeom prst="rect">
            <a:avLst/>
          </a:prstGeom>
        </p:spPr>
        <p:txBody>
          <a:bodyPr wrap="none">
            <a:spAutoFit/>
          </a:bodyPr>
          <a:lstStyle/>
          <a:p>
            <a:r>
              <a:rPr lang="he-IL" sz="1600" b="1" dirty="0"/>
              <a:t>            כ"ג בכסלו תרפ"א</a:t>
            </a:r>
          </a:p>
          <a:p>
            <a:r>
              <a:rPr lang="he-IL" sz="1600" b="1" dirty="0"/>
              <a:t>        [נחוג בתאריך העברי]</a:t>
            </a:r>
            <a:endParaRPr lang="he-IL" sz="1600" dirty="0"/>
          </a:p>
        </p:txBody>
      </p:sp>
      <p:sp>
        <p:nvSpPr>
          <p:cNvPr id="6" name="מלבן 5"/>
          <p:cNvSpPr/>
          <p:nvPr/>
        </p:nvSpPr>
        <p:spPr>
          <a:xfrm>
            <a:off x="2526524" y="657742"/>
            <a:ext cx="7191621" cy="338554"/>
          </a:xfrm>
          <a:prstGeom prst="rect">
            <a:avLst/>
          </a:prstGeom>
          <a:solidFill>
            <a:srgbClr val="FFFF00"/>
          </a:solidFill>
          <a:ln>
            <a:solidFill>
              <a:schemeClr val="tx1"/>
            </a:solidFill>
          </a:ln>
        </p:spPr>
        <p:txBody>
          <a:bodyPr wrap="square">
            <a:spAutoFit/>
          </a:bodyPr>
          <a:lstStyle/>
          <a:p>
            <a:pPr algn="ctr"/>
            <a:r>
              <a:rPr lang="he-IL" sz="1600" b="1" dirty="0"/>
              <a:t>תפילת הודיה ל'יום השנה' לכיבוש ירושלים [ע"י הגנרל א' אלנבי בכ"ד בכסלו תרע"ח]  </a:t>
            </a:r>
          </a:p>
        </p:txBody>
      </p:sp>
      <p:sp>
        <p:nvSpPr>
          <p:cNvPr id="3" name="TextBox 2"/>
          <p:cNvSpPr txBox="1"/>
          <p:nvPr/>
        </p:nvSpPr>
        <p:spPr>
          <a:xfrm>
            <a:off x="10034343" y="6383076"/>
            <a:ext cx="1829348" cy="338554"/>
          </a:xfrm>
          <a:prstGeom prst="rect">
            <a:avLst/>
          </a:prstGeom>
          <a:noFill/>
        </p:spPr>
        <p:txBody>
          <a:bodyPr wrap="none" rtlCol="1">
            <a:spAutoFit/>
          </a:bodyPr>
          <a:lstStyle/>
          <a:p>
            <a:r>
              <a:rPr lang="he-IL" sz="1600" b="1" dirty="0"/>
              <a:t>[הספרייה הלאומית]</a:t>
            </a:r>
          </a:p>
        </p:txBody>
      </p:sp>
      <p:pic>
        <p:nvPicPr>
          <p:cNvPr id="7" name="תמונה 6"/>
          <p:cNvPicPr>
            <a:picLocks noChangeAspect="1"/>
          </p:cNvPicPr>
          <p:nvPr/>
        </p:nvPicPr>
        <p:blipFill>
          <a:blip r:embed="rId3"/>
          <a:stretch>
            <a:fillRect/>
          </a:stretch>
        </p:blipFill>
        <p:spPr>
          <a:xfrm>
            <a:off x="1093787" y="1151678"/>
            <a:ext cx="3936189" cy="4926753"/>
          </a:xfrm>
          <a:prstGeom prst="rect">
            <a:avLst/>
          </a:prstGeom>
          <a:ln>
            <a:solidFill>
              <a:schemeClr val="tx1"/>
            </a:solidFill>
          </a:ln>
        </p:spPr>
      </p:pic>
      <p:sp>
        <p:nvSpPr>
          <p:cNvPr id="4" name="TextBox 3"/>
          <p:cNvSpPr txBox="1"/>
          <p:nvPr/>
        </p:nvSpPr>
        <p:spPr>
          <a:xfrm>
            <a:off x="825220" y="6136160"/>
            <a:ext cx="2364298" cy="338554"/>
          </a:xfrm>
          <a:prstGeom prst="rect">
            <a:avLst/>
          </a:prstGeom>
          <a:noFill/>
        </p:spPr>
        <p:txBody>
          <a:bodyPr wrap="square" rtlCol="1">
            <a:spAutoFit/>
          </a:bodyPr>
          <a:lstStyle/>
          <a:p>
            <a:r>
              <a:rPr lang="he-IL" sz="1600" b="1" dirty="0"/>
              <a:t>[ד"ר יעל לוין, אקדמות ט]</a:t>
            </a:r>
          </a:p>
        </p:txBody>
      </p:sp>
      <p:cxnSp>
        <p:nvCxnSpPr>
          <p:cNvPr id="9" name="מחבר חץ ישר 8"/>
          <p:cNvCxnSpPr/>
          <p:nvPr/>
        </p:nvCxnSpPr>
        <p:spPr>
          <a:xfrm flipH="1" flipV="1">
            <a:off x="4935123" y="1363133"/>
            <a:ext cx="2828810" cy="10498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686958" y="161701"/>
            <a:ext cx="870752" cy="369332"/>
          </a:xfrm>
          <a:prstGeom prst="rect">
            <a:avLst/>
          </a:prstGeom>
          <a:solidFill>
            <a:srgbClr val="FFFF00"/>
          </a:solidFill>
          <a:ln>
            <a:solidFill>
              <a:schemeClr val="tx1"/>
            </a:solidFill>
          </a:ln>
        </p:spPr>
        <p:txBody>
          <a:bodyPr wrap="none" rtlCol="1">
            <a:spAutoFit/>
          </a:bodyPr>
          <a:lstStyle/>
          <a:p>
            <a:r>
              <a:rPr lang="he-IL" b="1" dirty="0"/>
              <a:t>תפילות</a:t>
            </a:r>
          </a:p>
        </p:txBody>
      </p:sp>
    </p:spTree>
    <p:extLst>
      <p:ext uri="{BB962C8B-B14F-4D97-AF65-F5344CB8AC3E}">
        <p14:creationId xmlns:p14="http://schemas.microsoft.com/office/powerpoint/2010/main" val="36811762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l="6221" t="51640" r="14547" b="3183"/>
          <a:stretch/>
        </p:blipFill>
        <p:spPr>
          <a:xfrm rot="5400000">
            <a:off x="824930" y="1095276"/>
            <a:ext cx="5668501" cy="4568838"/>
          </a:xfrm>
          <a:prstGeom prst="rect">
            <a:avLst/>
          </a:prstGeom>
          <a:ln>
            <a:solidFill>
              <a:schemeClr val="tx1"/>
            </a:solidFill>
          </a:ln>
        </p:spPr>
      </p:pic>
      <p:pic>
        <p:nvPicPr>
          <p:cNvPr id="3" name="תמונה 2"/>
          <p:cNvPicPr>
            <a:picLocks noChangeAspect="1"/>
          </p:cNvPicPr>
          <p:nvPr/>
        </p:nvPicPr>
        <p:blipFill rotWithShape="1">
          <a:blip r:embed="rId2" cstate="print">
            <a:extLst>
              <a:ext uri="{28A0092B-C50C-407E-A947-70E740481C1C}">
                <a14:useLocalDpi xmlns:a14="http://schemas.microsoft.com/office/drawing/2010/main" val="0"/>
              </a:ext>
            </a:extLst>
          </a:blip>
          <a:srcRect l="5825" t="4867" r="15492" b="51704"/>
          <a:stretch/>
        </p:blipFill>
        <p:spPr>
          <a:xfrm rot="5400000">
            <a:off x="5466106" y="1166263"/>
            <a:ext cx="5648739" cy="4407100"/>
          </a:xfrm>
          <a:prstGeom prst="rect">
            <a:avLst/>
          </a:prstGeom>
          <a:ln>
            <a:solidFill>
              <a:schemeClr val="tx1"/>
            </a:solidFill>
          </a:ln>
        </p:spPr>
      </p:pic>
      <p:sp>
        <p:nvSpPr>
          <p:cNvPr id="4" name="TextBox 3"/>
          <p:cNvSpPr txBox="1"/>
          <p:nvPr/>
        </p:nvSpPr>
        <p:spPr>
          <a:xfrm>
            <a:off x="1281539" y="6296925"/>
            <a:ext cx="1665842" cy="338554"/>
          </a:xfrm>
          <a:prstGeom prst="rect">
            <a:avLst/>
          </a:prstGeom>
          <a:noFill/>
        </p:spPr>
        <p:txBody>
          <a:bodyPr wrap="none" rtlCol="1">
            <a:spAutoFit/>
          </a:bodyPr>
          <a:lstStyle/>
          <a:p>
            <a:r>
              <a:rPr lang="he-IL" sz="1600" b="1" dirty="0"/>
              <a:t>כ"ה באדר תרפ"ב</a:t>
            </a:r>
          </a:p>
        </p:txBody>
      </p:sp>
      <p:sp>
        <p:nvSpPr>
          <p:cNvPr id="5" name="TextBox 4"/>
          <p:cNvSpPr txBox="1"/>
          <p:nvPr/>
        </p:nvSpPr>
        <p:spPr>
          <a:xfrm>
            <a:off x="3768822" y="123910"/>
            <a:ext cx="4636206" cy="338554"/>
          </a:xfrm>
          <a:prstGeom prst="rect">
            <a:avLst/>
          </a:prstGeom>
          <a:solidFill>
            <a:srgbClr val="FFFF00"/>
          </a:solidFill>
          <a:ln>
            <a:solidFill>
              <a:schemeClr val="tx1"/>
            </a:solidFill>
          </a:ln>
        </p:spPr>
        <p:txBody>
          <a:bodyPr wrap="none" rtlCol="1">
            <a:spAutoFit/>
          </a:bodyPr>
          <a:lstStyle/>
          <a:p>
            <a:r>
              <a:rPr lang="he-IL" sz="1600" b="1" dirty="0"/>
              <a:t>תפילת הודיה על החלמת הנציב העליון, הרברט סמואל</a:t>
            </a:r>
          </a:p>
        </p:txBody>
      </p:sp>
    </p:spTree>
    <p:extLst>
      <p:ext uri="{BB962C8B-B14F-4D97-AF65-F5344CB8AC3E}">
        <p14:creationId xmlns:p14="http://schemas.microsoft.com/office/powerpoint/2010/main" val="786926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p:cNvSpPr/>
          <p:nvPr/>
        </p:nvSpPr>
        <p:spPr>
          <a:xfrm>
            <a:off x="3324225" y="143775"/>
            <a:ext cx="5536133" cy="338554"/>
          </a:xfrm>
          <a:prstGeom prst="rect">
            <a:avLst/>
          </a:prstGeom>
          <a:solidFill>
            <a:srgbClr val="FFFF00"/>
          </a:solidFill>
          <a:ln>
            <a:solidFill>
              <a:schemeClr val="tx1"/>
            </a:solidFill>
          </a:ln>
        </p:spPr>
        <p:txBody>
          <a:bodyPr wrap="square">
            <a:spAutoFit/>
          </a:bodyPr>
          <a:lstStyle/>
          <a:p>
            <a:pPr algn="just"/>
            <a:r>
              <a:rPr lang="he-IL" sz="1600" b="1" dirty="0">
                <a:solidFill>
                  <a:srgbClr val="000000"/>
                </a:solidFill>
                <a:latin typeface="Times New Roman" panose="02020603050405020304" pitchFamily="18" charset="0"/>
                <a:ea typeface="Calibri" panose="020F0502020204030204" pitchFamily="34" charset="0"/>
              </a:rPr>
              <a:t>תפילת הודיה לכבוד יום ההולדת של מלך בריטניה, ג'ורג' החמישי</a:t>
            </a:r>
          </a:p>
        </p:txBody>
      </p:sp>
      <p:sp>
        <p:nvSpPr>
          <p:cNvPr id="6" name="מלבן 5"/>
          <p:cNvSpPr/>
          <p:nvPr/>
        </p:nvSpPr>
        <p:spPr>
          <a:xfrm>
            <a:off x="6892293" y="6513028"/>
            <a:ext cx="3282021" cy="338554"/>
          </a:xfrm>
          <a:prstGeom prst="rect">
            <a:avLst/>
          </a:prstGeom>
        </p:spPr>
        <p:txBody>
          <a:bodyPr wrap="square">
            <a:spAutoFit/>
          </a:bodyPr>
          <a:lstStyle/>
          <a:p>
            <a:r>
              <a:rPr lang="he-IL" sz="1600" b="1" dirty="0">
                <a:solidFill>
                  <a:srgbClr val="000000"/>
                </a:solidFill>
                <a:latin typeface="Times New Roman" panose="02020603050405020304" pitchFamily="18" charset="0"/>
                <a:ea typeface="Calibri" panose="020F0502020204030204" pitchFamily="34" charset="0"/>
                <a:cs typeface="David" panose="020E0502060401010101" pitchFamily="34" charset="-79"/>
              </a:rPr>
              <a:t>שבת פרשת 'בהעלותך', י"ח בסיון תרפ"ג</a:t>
            </a:r>
          </a:p>
        </p:txBody>
      </p:sp>
      <p:pic>
        <p:nvPicPr>
          <p:cNvPr id="10"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8197" t="8475" r="9056" b="4750"/>
          <a:stretch/>
        </p:blipFill>
        <p:spPr bwMode="auto">
          <a:xfrm>
            <a:off x="7028534" y="581612"/>
            <a:ext cx="3334118" cy="600141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2" name="TextBox 11"/>
          <p:cNvSpPr txBox="1"/>
          <p:nvPr/>
        </p:nvSpPr>
        <p:spPr>
          <a:xfrm>
            <a:off x="10310555" y="6244468"/>
            <a:ext cx="1829348" cy="338554"/>
          </a:xfrm>
          <a:prstGeom prst="rect">
            <a:avLst/>
          </a:prstGeom>
          <a:noFill/>
        </p:spPr>
        <p:txBody>
          <a:bodyPr wrap="none" rtlCol="1">
            <a:spAutoFit/>
          </a:bodyPr>
          <a:lstStyle/>
          <a:p>
            <a:r>
              <a:rPr lang="he-IL" sz="1600" b="1" dirty="0"/>
              <a:t>[הספרייה הלאומית]</a:t>
            </a:r>
          </a:p>
        </p:txBody>
      </p:sp>
      <p:pic>
        <p:nvPicPr>
          <p:cNvPr id="7" name="תמונה 6"/>
          <p:cNvPicPr>
            <a:picLocks noChangeAspect="1"/>
          </p:cNvPicPr>
          <p:nvPr/>
        </p:nvPicPr>
        <p:blipFill rotWithShape="1">
          <a:blip r:embed="rId3"/>
          <a:srcRect r="3069"/>
          <a:stretch/>
        </p:blipFill>
        <p:spPr>
          <a:xfrm>
            <a:off x="990601" y="666556"/>
            <a:ext cx="4605866" cy="629430"/>
          </a:xfrm>
          <a:prstGeom prst="rect">
            <a:avLst/>
          </a:prstGeom>
          <a:ln>
            <a:solidFill>
              <a:schemeClr val="tx1"/>
            </a:solidFill>
          </a:ln>
        </p:spPr>
      </p:pic>
      <p:pic>
        <p:nvPicPr>
          <p:cNvPr id="8" name="תמונה 7"/>
          <p:cNvPicPr>
            <a:picLocks noChangeAspect="1"/>
          </p:cNvPicPr>
          <p:nvPr/>
        </p:nvPicPr>
        <p:blipFill rotWithShape="1">
          <a:blip r:embed="rId4"/>
          <a:srcRect l="2353" t="1645"/>
          <a:stretch/>
        </p:blipFill>
        <p:spPr>
          <a:xfrm>
            <a:off x="982133" y="1295986"/>
            <a:ext cx="4614334" cy="5029758"/>
          </a:xfrm>
          <a:prstGeom prst="rect">
            <a:avLst/>
          </a:prstGeom>
          <a:ln>
            <a:solidFill>
              <a:schemeClr val="tx1"/>
            </a:solidFill>
          </a:ln>
        </p:spPr>
      </p:pic>
      <p:sp>
        <p:nvSpPr>
          <p:cNvPr id="11" name="TextBox 10"/>
          <p:cNvSpPr txBox="1"/>
          <p:nvPr/>
        </p:nvSpPr>
        <p:spPr>
          <a:xfrm>
            <a:off x="647420" y="6343751"/>
            <a:ext cx="2364298" cy="338554"/>
          </a:xfrm>
          <a:prstGeom prst="rect">
            <a:avLst/>
          </a:prstGeom>
          <a:noFill/>
        </p:spPr>
        <p:txBody>
          <a:bodyPr wrap="square" rtlCol="1">
            <a:spAutoFit/>
          </a:bodyPr>
          <a:lstStyle/>
          <a:p>
            <a:r>
              <a:rPr lang="he-IL" sz="1600" b="1" dirty="0"/>
              <a:t>[ד"ר יעל לוין, אקדמות ט]</a:t>
            </a:r>
          </a:p>
        </p:txBody>
      </p:sp>
    </p:spTree>
    <p:extLst>
      <p:ext uri="{BB962C8B-B14F-4D97-AF65-F5344CB8AC3E}">
        <p14:creationId xmlns:p14="http://schemas.microsoft.com/office/powerpoint/2010/main" val="1067453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a:srcRect l="1700" t="6978" r="3274"/>
          <a:stretch/>
        </p:blipFill>
        <p:spPr>
          <a:xfrm>
            <a:off x="3927217" y="668672"/>
            <a:ext cx="4361649" cy="6036928"/>
          </a:xfrm>
          <a:prstGeom prst="rect">
            <a:avLst/>
          </a:prstGeom>
          <a:ln>
            <a:solidFill>
              <a:schemeClr val="tx1"/>
            </a:solidFill>
          </a:ln>
        </p:spPr>
      </p:pic>
      <p:sp>
        <p:nvSpPr>
          <p:cNvPr id="3" name="מלבן 2"/>
          <p:cNvSpPr/>
          <p:nvPr/>
        </p:nvSpPr>
        <p:spPr>
          <a:xfrm>
            <a:off x="3238799" y="152865"/>
            <a:ext cx="5738483" cy="338554"/>
          </a:xfrm>
          <a:prstGeom prst="rect">
            <a:avLst/>
          </a:prstGeom>
          <a:solidFill>
            <a:srgbClr val="FFFF00"/>
          </a:solidFill>
          <a:ln>
            <a:solidFill>
              <a:schemeClr val="tx1"/>
            </a:solidFill>
          </a:ln>
        </p:spPr>
        <p:txBody>
          <a:bodyPr wrap="square">
            <a:spAutoFit/>
          </a:bodyPr>
          <a:lstStyle/>
          <a:p>
            <a:r>
              <a:rPr lang="he-IL" altLang="he-IL" sz="1600" b="1" dirty="0"/>
              <a:t>תפילה בטקס חנוכת האוניברסיטה העברית על הר הצופים בירושלים </a:t>
            </a:r>
            <a:endParaRPr lang="he-IL" sz="1600" dirty="0"/>
          </a:p>
        </p:txBody>
      </p:sp>
      <p:sp>
        <p:nvSpPr>
          <p:cNvPr id="4" name="מלבן 3"/>
          <p:cNvSpPr/>
          <p:nvPr/>
        </p:nvSpPr>
        <p:spPr>
          <a:xfrm>
            <a:off x="1417051" y="6383979"/>
            <a:ext cx="2435282" cy="338554"/>
          </a:xfrm>
          <a:prstGeom prst="rect">
            <a:avLst/>
          </a:prstGeom>
        </p:spPr>
        <p:txBody>
          <a:bodyPr wrap="none">
            <a:spAutoFit/>
          </a:bodyPr>
          <a:lstStyle/>
          <a:p>
            <a:r>
              <a:rPr lang="he-IL" altLang="he-IL" sz="1600" b="1" dirty="0"/>
              <a:t>דאר היום, ח' בניסן תרפ"ה </a:t>
            </a:r>
            <a:endParaRPr lang="he-IL" sz="1600" dirty="0"/>
          </a:p>
        </p:txBody>
      </p:sp>
    </p:spTree>
    <p:extLst>
      <p:ext uri="{BB962C8B-B14F-4D97-AF65-F5344CB8AC3E}">
        <p14:creationId xmlns:p14="http://schemas.microsoft.com/office/powerpoint/2010/main" val="17297576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t="1207" b="5156"/>
          <a:stretch/>
        </p:blipFill>
        <p:spPr>
          <a:xfrm>
            <a:off x="6753717" y="726261"/>
            <a:ext cx="4523882" cy="5987805"/>
          </a:xfrm>
          <a:prstGeom prst="rect">
            <a:avLst/>
          </a:prstGeom>
          <a:ln>
            <a:solidFill>
              <a:schemeClr val="tx1"/>
            </a:solidFill>
          </a:ln>
        </p:spPr>
      </p:pic>
      <p:pic>
        <p:nvPicPr>
          <p:cNvPr id="3" name="תמונה 2"/>
          <p:cNvPicPr>
            <a:picLocks noChangeAspect="1"/>
          </p:cNvPicPr>
          <p:nvPr/>
        </p:nvPicPr>
        <p:blipFill rotWithShape="1">
          <a:blip r:embed="rId3" cstate="print">
            <a:extLst>
              <a:ext uri="{28A0092B-C50C-407E-A947-70E740481C1C}">
                <a14:useLocalDpi xmlns:a14="http://schemas.microsoft.com/office/drawing/2010/main" val="0"/>
              </a:ext>
            </a:extLst>
          </a:blip>
          <a:srcRect b="35649"/>
          <a:stretch/>
        </p:blipFill>
        <p:spPr>
          <a:xfrm>
            <a:off x="1059511" y="726262"/>
            <a:ext cx="4972420" cy="4523071"/>
          </a:xfrm>
          <a:prstGeom prst="rect">
            <a:avLst/>
          </a:prstGeom>
          <a:ln>
            <a:solidFill>
              <a:schemeClr val="tx1"/>
            </a:solidFill>
          </a:ln>
        </p:spPr>
      </p:pic>
      <p:sp>
        <p:nvSpPr>
          <p:cNvPr id="5" name="מלבן 4"/>
          <p:cNvSpPr/>
          <p:nvPr/>
        </p:nvSpPr>
        <p:spPr>
          <a:xfrm>
            <a:off x="900138" y="5249333"/>
            <a:ext cx="1516762" cy="338554"/>
          </a:xfrm>
          <a:prstGeom prst="rect">
            <a:avLst/>
          </a:prstGeom>
        </p:spPr>
        <p:txBody>
          <a:bodyPr wrap="none">
            <a:spAutoFit/>
          </a:bodyPr>
          <a:lstStyle/>
          <a:p>
            <a:r>
              <a:rPr lang="he-IL" altLang="he-IL" sz="1600" b="1" dirty="0"/>
              <a:t>ז' בניסן תרפ"ה </a:t>
            </a:r>
            <a:endParaRPr lang="he-IL" sz="1600" dirty="0"/>
          </a:p>
        </p:txBody>
      </p:sp>
      <p:sp>
        <p:nvSpPr>
          <p:cNvPr id="8" name="מלבן 7"/>
          <p:cNvSpPr/>
          <p:nvPr/>
        </p:nvSpPr>
        <p:spPr>
          <a:xfrm>
            <a:off x="3344333" y="229065"/>
            <a:ext cx="5587340" cy="338554"/>
          </a:xfrm>
          <a:prstGeom prst="rect">
            <a:avLst/>
          </a:prstGeom>
          <a:solidFill>
            <a:srgbClr val="FFFF00"/>
          </a:solidFill>
          <a:ln>
            <a:solidFill>
              <a:schemeClr val="tx1"/>
            </a:solidFill>
          </a:ln>
        </p:spPr>
        <p:txBody>
          <a:bodyPr wrap="square">
            <a:spAutoFit/>
          </a:bodyPr>
          <a:lstStyle/>
          <a:p>
            <a:r>
              <a:rPr lang="he-IL" altLang="he-IL" sz="1600" b="1" dirty="0"/>
              <a:t>תפילה ליום חנוכת האוניברסיטה העברית על הר הצופים בירושלים </a:t>
            </a:r>
            <a:endParaRPr lang="he-IL" sz="1600" dirty="0"/>
          </a:p>
        </p:txBody>
      </p:sp>
    </p:spTree>
    <p:extLst>
      <p:ext uri="{BB962C8B-B14F-4D97-AF65-F5344CB8AC3E}">
        <p14:creationId xmlns:p14="http://schemas.microsoft.com/office/powerpoint/2010/main" val="3982530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l="39628" t="12704" r="5253" b="28050"/>
          <a:stretch/>
        </p:blipFill>
        <p:spPr>
          <a:xfrm rot="10800000">
            <a:off x="4047983" y="531235"/>
            <a:ext cx="4118475" cy="6257431"/>
          </a:xfrm>
          <a:prstGeom prst="rect">
            <a:avLst/>
          </a:prstGeom>
          <a:ln>
            <a:solidFill>
              <a:schemeClr val="tx1"/>
            </a:solidFill>
          </a:ln>
        </p:spPr>
      </p:pic>
      <p:sp>
        <p:nvSpPr>
          <p:cNvPr id="3" name="מלבן 2"/>
          <p:cNvSpPr/>
          <p:nvPr/>
        </p:nvSpPr>
        <p:spPr>
          <a:xfrm>
            <a:off x="2006599" y="115737"/>
            <a:ext cx="8201241" cy="338554"/>
          </a:xfrm>
          <a:prstGeom prst="rect">
            <a:avLst/>
          </a:prstGeom>
          <a:solidFill>
            <a:srgbClr val="FFFF00"/>
          </a:solidFill>
          <a:ln>
            <a:solidFill>
              <a:schemeClr val="tx1"/>
            </a:solidFill>
          </a:ln>
        </p:spPr>
        <p:txBody>
          <a:bodyPr wrap="square">
            <a:spAutoFit/>
          </a:bodyPr>
          <a:lstStyle/>
          <a:p>
            <a:pPr algn="just"/>
            <a:r>
              <a:rPr lang="he-IL" sz="1600" b="1" dirty="0">
                <a:solidFill>
                  <a:srgbClr val="000000"/>
                </a:solidFill>
                <a:latin typeface="Times New Roman" panose="02020603050405020304" pitchFamily="18" charset="0"/>
                <a:ea typeface="Times New Roman" panose="02020603050405020304" pitchFamily="18" charset="0"/>
              </a:rPr>
              <a:t>תפילה לטקס הבאת דגל 'גדוד ה-40 לקלעי המלך' למשמרת בבית הכנסת 'החורבה' בעיר העתיקה</a:t>
            </a:r>
            <a:endParaRPr lang="en-US" sz="1600" dirty="0">
              <a:effectLst/>
              <a:latin typeface="Times New Roman" panose="02020603050405020304" pitchFamily="18" charset="0"/>
              <a:ea typeface="Times New Roman" panose="02020603050405020304" pitchFamily="18" charset="0"/>
            </a:endParaRPr>
          </a:p>
        </p:txBody>
      </p:sp>
      <p:sp>
        <p:nvSpPr>
          <p:cNvPr id="4" name="מלבן 3"/>
          <p:cNvSpPr/>
          <p:nvPr/>
        </p:nvSpPr>
        <p:spPr>
          <a:xfrm>
            <a:off x="3863252" y="6450112"/>
            <a:ext cx="184730" cy="584775"/>
          </a:xfrm>
          <a:prstGeom prst="rect">
            <a:avLst/>
          </a:prstGeom>
        </p:spPr>
        <p:txBody>
          <a:bodyPr wrap="none">
            <a:spAutoFit/>
          </a:bodyPr>
          <a:lstStyle/>
          <a:p>
            <a:endParaRPr lang="he-IL" sz="1600" b="1" dirty="0">
              <a:latin typeface="Times New Roman" panose="02020603050405020304" pitchFamily="18" charset="0"/>
              <a:ea typeface="Times New Roman" panose="02020603050405020304" pitchFamily="18" charset="0"/>
              <a:cs typeface="David" panose="020E0502060401010101" pitchFamily="34" charset="-79"/>
            </a:endParaRPr>
          </a:p>
          <a:p>
            <a:endParaRPr lang="he-IL" sz="1600" dirty="0"/>
          </a:p>
        </p:txBody>
      </p:sp>
      <p:sp>
        <p:nvSpPr>
          <p:cNvPr id="5" name="מלבן 4"/>
          <p:cNvSpPr/>
          <p:nvPr/>
        </p:nvSpPr>
        <p:spPr>
          <a:xfrm>
            <a:off x="2422825" y="6385726"/>
            <a:ext cx="1532792" cy="338554"/>
          </a:xfrm>
          <a:prstGeom prst="rect">
            <a:avLst/>
          </a:prstGeom>
        </p:spPr>
        <p:txBody>
          <a:bodyPr wrap="none">
            <a:spAutoFit/>
          </a:bodyPr>
          <a:lstStyle/>
          <a:p>
            <a:r>
              <a:rPr lang="he-IL" sz="1600" b="1" dirty="0">
                <a:latin typeface="Times New Roman" panose="02020603050405020304" pitchFamily="18" charset="0"/>
                <a:ea typeface="Times New Roman" panose="02020603050405020304" pitchFamily="18" charset="0"/>
              </a:rPr>
              <a:t>ל' בכסלו תרפ"ו </a:t>
            </a:r>
            <a:endParaRPr lang="he-IL" sz="1600" b="1" dirty="0"/>
          </a:p>
        </p:txBody>
      </p:sp>
    </p:spTree>
    <p:extLst>
      <p:ext uri="{BB962C8B-B14F-4D97-AF65-F5344CB8AC3E}">
        <p14:creationId xmlns:p14="http://schemas.microsoft.com/office/powerpoint/2010/main" val="17618849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08355" y="185198"/>
            <a:ext cx="7890778" cy="338554"/>
          </a:xfrm>
          <a:prstGeom prst="rect">
            <a:avLst/>
          </a:prstGeom>
          <a:solidFill>
            <a:srgbClr val="FFFF00"/>
          </a:solidFill>
          <a:ln>
            <a:solidFill>
              <a:schemeClr val="tx1"/>
            </a:solidFill>
          </a:ln>
        </p:spPr>
        <p:txBody>
          <a:bodyPr wrap="square" rtlCol="1">
            <a:spAutoFit/>
          </a:bodyPr>
          <a:lstStyle/>
          <a:p>
            <a:r>
              <a:rPr lang="he-IL" sz="1600" b="1" dirty="0"/>
              <a:t>תפילת הודיה בשנת העשור ל'יום שביתת הנשק' במלחמת העולם הראשונה, [ז' בכסלו תרע"ט]</a:t>
            </a:r>
            <a:endParaRPr lang="he-IL" sz="1600" b="1" dirty="0">
              <a:solidFill>
                <a:srgbClr val="F02EBD"/>
              </a:solidFill>
            </a:endParaRPr>
          </a:p>
        </p:txBody>
      </p:sp>
      <p:pic>
        <p:nvPicPr>
          <p:cNvPr id="7" name="תמונה 6"/>
          <p:cNvPicPr>
            <a:picLocks noChangeAspect="1"/>
          </p:cNvPicPr>
          <p:nvPr/>
        </p:nvPicPr>
        <p:blipFill rotWithShape="1">
          <a:blip r:embed="rId2" cstate="print">
            <a:extLst>
              <a:ext uri="{28A0092B-C50C-407E-A947-70E740481C1C}">
                <a14:useLocalDpi xmlns:a14="http://schemas.microsoft.com/office/drawing/2010/main" val="0"/>
              </a:ext>
            </a:extLst>
          </a:blip>
          <a:srcRect l="26978" t="906" r="26747" b="52181"/>
          <a:stretch/>
        </p:blipFill>
        <p:spPr>
          <a:xfrm>
            <a:off x="4660776" y="869520"/>
            <a:ext cx="3454399" cy="4950284"/>
          </a:xfrm>
          <a:prstGeom prst="rect">
            <a:avLst/>
          </a:prstGeom>
          <a:ln>
            <a:solidFill>
              <a:schemeClr val="tx1"/>
            </a:solidFill>
          </a:ln>
        </p:spPr>
      </p:pic>
      <p:pic>
        <p:nvPicPr>
          <p:cNvPr id="10" name="תמונה 9"/>
          <p:cNvPicPr>
            <a:picLocks noChangeAspect="1"/>
          </p:cNvPicPr>
          <p:nvPr/>
        </p:nvPicPr>
        <p:blipFill rotWithShape="1">
          <a:blip r:embed="rId3" cstate="print">
            <a:extLst>
              <a:ext uri="{28A0092B-C50C-407E-A947-70E740481C1C}">
                <a14:useLocalDpi xmlns:a14="http://schemas.microsoft.com/office/drawing/2010/main" val="0"/>
              </a:ext>
            </a:extLst>
          </a:blip>
          <a:srcRect l="32168" r="21839" b="51620"/>
          <a:stretch/>
        </p:blipFill>
        <p:spPr>
          <a:xfrm>
            <a:off x="618067" y="869520"/>
            <a:ext cx="3319244" cy="4935374"/>
          </a:xfrm>
          <a:prstGeom prst="rect">
            <a:avLst/>
          </a:prstGeom>
          <a:ln>
            <a:solidFill>
              <a:schemeClr val="tx1"/>
            </a:solidFill>
          </a:ln>
        </p:spPr>
      </p:pic>
      <p:pic>
        <p:nvPicPr>
          <p:cNvPr id="11" name="תמונה 10"/>
          <p:cNvPicPr>
            <a:picLocks noChangeAspect="1"/>
          </p:cNvPicPr>
          <p:nvPr/>
        </p:nvPicPr>
        <p:blipFill rotWithShape="1">
          <a:blip r:embed="rId2" cstate="print">
            <a:extLst>
              <a:ext uri="{28A0092B-C50C-407E-A947-70E740481C1C}">
                <a14:useLocalDpi xmlns:a14="http://schemas.microsoft.com/office/drawing/2010/main" val="0"/>
              </a:ext>
            </a:extLst>
          </a:blip>
          <a:srcRect l="902" t="66561" r="28454" b="3219"/>
          <a:stretch/>
        </p:blipFill>
        <p:spPr>
          <a:xfrm rot="5400000">
            <a:off x="7943366" y="1845084"/>
            <a:ext cx="4935374" cy="2984245"/>
          </a:xfrm>
          <a:prstGeom prst="rect">
            <a:avLst/>
          </a:prstGeom>
          <a:ln>
            <a:solidFill>
              <a:schemeClr val="tx1"/>
            </a:solidFill>
          </a:ln>
        </p:spPr>
      </p:pic>
      <p:sp>
        <p:nvSpPr>
          <p:cNvPr id="8" name="TextBox 7"/>
          <p:cNvSpPr txBox="1"/>
          <p:nvPr/>
        </p:nvSpPr>
        <p:spPr>
          <a:xfrm>
            <a:off x="444949" y="5908470"/>
            <a:ext cx="3496470" cy="830997"/>
          </a:xfrm>
          <a:prstGeom prst="rect">
            <a:avLst/>
          </a:prstGeom>
          <a:noFill/>
        </p:spPr>
        <p:txBody>
          <a:bodyPr wrap="none" rtlCol="1">
            <a:spAutoFit/>
          </a:bodyPr>
          <a:lstStyle/>
          <a:p>
            <a:r>
              <a:rPr lang="he-IL" sz="1600" b="1" dirty="0"/>
              <a:t>                              ט"ז בחשון תרפ"ח </a:t>
            </a:r>
          </a:p>
          <a:p>
            <a:r>
              <a:rPr lang="he-IL" sz="1600" b="1" dirty="0"/>
              <a:t>[נחוג בתאריך הלועזי של סיום המלחמה,</a:t>
            </a:r>
          </a:p>
          <a:p>
            <a:r>
              <a:rPr lang="he-IL" sz="1600" b="1" dirty="0"/>
              <a:t>11.11.1918]</a:t>
            </a:r>
          </a:p>
        </p:txBody>
      </p:sp>
    </p:spTree>
    <p:extLst>
      <p:ext uri="{BB962C8B-B14F-4D97-AF65-F5344CB8AC3E}">
        <p14:creationId xmlns:p14="http://schemas.microsoft.com/office/powerpoint/2010/main" val="22272290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1"/>
          <p:cNvPicPr>
            <a:picLocks noChangeAspect="1"/>
          </p:cNvPicPr>
          <p:nvPr/>
        </p:nvPicPr>
        <p:blipFill rotWithShape="1">
          <a:blip r:embed="rId2">
            <a:extLst>
              <a:ext uri="{28A0092B-C50C-407E-A947-70E740481C1C}">
                <a14:useLocalDpi xmlns:a14="http://schemas.microsoft.com/office/drawing/2010/main" val="0"/>
              </a:ext>
            </a:extLst>
          </a:blip>
          <a:srcRect t="36084" b="10993"/>
          <a:stretch/>
        </p:blipFill>
        <p:spPr bwMode="auto">
          <a:xfrm>
            <a:off x="1572992" y="1143001"/>
            <a:ext cx="9011082" cy="3505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 name="מלבן 2"/>
          <p:cNvSpPr/>
          <p:nvPr/>
        </p:nvSpPr>
        <p:spPr>
          <a:xfrm>
            <a:off x="1377215" y="4859189"/>
            <a:ext cx="4802918" cy="584775"/>
          </a:xfrm>
          <a:prstGeom prst="rect">
            <a:avLst/>
          </a:prstGeom>
        </p:spPr>
        <p:txBody>
          <a:bodyPr wrap="none">
            <a:spAutoFit/>
          </a:bodyPr>
          <a:lstStyle/>
          <a:p>
            <a:r>
              <a:rPr lang="he-IL" sz="1600" b="1" dirty="0"/>
              <a:t>                                                        י"ט באדר </a:t>
            </a:r>
            <a:r>
              <a:rPr lang="he-IL" sz="1600" b="1" dirty="0" err="1"/>
              <a:t>תר"ץ</a:t>
            </a:r>
            <a:endParaRPr lang="he-IL" sz="1600" b="1" dirty="0"/>
          </a:p>
          <a:p>
            <a:r>
              <a:rPr lang="he-IL" sz="1600" b="1" dirty="0"/>
              <a:t>הרב ארי שבט, בית הרב, 'מגד ירחים', 162 אדר תשע"ג </a:t>
            </a:r>
            <a:endParaRPr lang="he-IL" sz="1600" dirty="0"/>
          </a:p>
        </p:txBody>
      </p:sp>
      <p:sp>
        <p:nvSpPr>
          <p:cNvPr id="2" name="TextBox 1"/>
          <p:cNvSpPr txBox="1"/>
          <p:nvPr/>
        </p:nvSpPr>
        <p:spPr>
          <a:xfrm>
            <a:off x="3135870" y="301071"/>
            <a:ext cx="6088526" cy="338554"/>
          </a:xfrm>
          <a:prstGeom prst="rect">
            <a:avLst/>
          </a:prstGeom>
          <a:solidFill>
            <a:srgbClr val="FFFF00"/>
          </a:solidFill>
          <a:ln>
            <a:solidFill>
              <a:schemeClr val="tx1"/>
            </a:solidFill>
          </a:ln>
        </p:spPr>
        <p:txBody>
          <a:bodyPr wrap="none" rtlCol="1">
            <a:spAutoFit/>
          </a:bodyPr>
          <a:lstStyle/>
          <a:p>
            <a:r>
              <a:rPr lang="he-IL" sz="1600" b="1" dirty="0"/>
              <a:t>תפילת 'אל מלא רחמים' לעילוי נשמת השר הבריטי, ארתור ג'יימס בלפור</a:t>
            </a:r>
          </a:p>
        </p:txBody>
      </p:sp>
    </p:spTree>
    <p:extLst>
      <p:ext uri="{BB962C8B-B14F-4D97-AF65-F5344CB8AC3E}">
        <p14:creationId xmlns:p14="http://schemas.microsoft.com/office/powerpoint/2010/main" val="16167787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l="4316" t="1553" r="8402" b="2524"/>
          <a:stretch/>
        </p:blipFill>
        <p:spPr>
          <a:xfrm>
            <a:off x="6772904" y="914505"/>
            <a:ext cx="3737984" cy="5806805"/>
          </a:xfrm>
          <a:prstGeom prst="rect">
            <a:avLst/>
          </a:prstGeom>
          <a:ln>
            <a:solidFill>
              <a:schemeClr val="tx1"/>
            </a:solidFill>
          </a:ln>
        </p:spPr>
      </p:pic>
      <p:pic>
        <p:nvPicPr>
          <p:cNvPr id="3" name="תמונה 2"/>
          <p:cNvPicPr>
            <a:picLocks noChangeAspect="1"/>
          </p:cNvPicPr>
          <p:nvPr/>
        </p:nvPicPr>
        <p:blipFill rotWithShape="1">
          <a:blip r:embed="rId3" cstate="print">
            <a:extLst>
              <a:ext uri="{28A0092B-C50C-407E-A947-70E740481C1C}">
                <a14:useLocalDpi xmlns:a14="http://schemas.microsoft.com/office/drawing/2010/main" val="0"/>
              </a:ext>
            </a:extLst>
          </a:blip>
          <a:srcRect l="6877" t="8413" b="26991"/>
          <a:stretch/>
        </p:blipFill>
        <p:spPr>
          <a:xfrm>
            <a:off x="359488" y="914505"/>
            <a:ext cx="5374194" cy="5269479"/>
          </a:xfrm>
          <a:prstGeom prst="rect">
            <a:avLst/>
          </a:prstGeom>
          <a:ln>
            <a:solidFill>
              <a:schemeClr val="tx1"/>
            </a:solidFill>
          </a:ln>
        </p:spPr>
      </p:pic>
      <p:sp>
        <p:nvSpPr>
          <p:cNvPr id="4" name="TextBox 3"/>
          <p:cNvSpPr txBox="1"/>
          <p:nvPr/>
        </p:nvSpPr>
        <p:spPr>
          <a:xfrm>
            <a:off x="3114316" y="254631"/>
            <a:ext cx="6097417" cy="338554"/>
          </a:xfrm>
          <a:prstGeom prst="rect">
            <a:avLst/>
          </a:prstGeom>
          <a:solidFill>
            <a:srgbClr val="FFFF00"/>
          </a:solidFill>
          <a:ln>
            <a:solidFill>
              <a:schemeClr val="tx1"/>
            </a:solidFill>
          </a:ln>
        </p:spPr>
        <p:txBody>
          <a:bodyPr wrap="square" rtlCol="1">
            <a:spAutoFit/>
          </a:bodyPr>
          <a:lstStyle/>
          <a:p>
            <a:pPr algn="just"/>
            <a:r>
              <a:rPr lang="he-IL" sz="1600" b="1" dirty="0"/>
              <a:t>תפילת הודיה במלאת 25 שנה למלכותו של מלך בריטניה, ג'ורג' החמישי</a:t>
            </a:r>
          </a:p>
        </p:txBody>
      </p:sp>
      <p:sp>
        <p:nvSpPr>
          <p:cNvPr id="5" name="מלבן 4"/>
          <p:cNvSpPr/>
          <p:nvPr/>
        </p:nvSpPr>
        <p:spPr>
          <a:xfrm>
            <a:off x="151200" y="6233561"/>
            <a:ext cx="3417922" cy="338554"/>
          </a:xfrm>
          <a:prstGeom prst="rect">
            <a:avLst/>
          </a:prstGeom>
        </p:spPr>
        <p:txBody>
          <a:bodyPr wrap="none">
            <a:spAutoFit/>
          </a:bodyPr>
          <a:lstStyle/>
          <a:p>
            <a:r>
              <a:rPr lang="he-IL" sz="1600" b="1" dirty="0"/>
              <a:t>שבת פרשת 'קדושים', א' באייר תרצ"ה </a:t>
            </a:r>
            <a:endParaRPr lang="he-IL" sz="1600" dirty="0"/>
          </a:p>
        </p:txBody>
      </p:sp>
    </p:spTree>
    <p:extLst>
      <p:ext uri="{BB962C8B-B14F-4D97-AF65-F5344CB8AC3E}">
        <p14:creationId xmlns:p14="http://schemas.microsoft.com/office/powerpoint/2010/main" val="22895880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3274749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8268" y="856410"/>
            <a:ext cx="4710136" cy="3171824"/>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694287" y="208488"/>
            <a:ext cx="803426" cy="369332"/>
          </a:xfrm>
          <a:prstGeom prst="rect">
            <a:avLst/>
          </a:prstGeom>
          <a:solidFill>
            <a:srgbClr val="FFFF00"/>
          </a:solidFill>
          <a:ln>
            <a:solidFill>
              <a:schemeClr val="tx1"/>
            </a:solidFill>
          </a:ln>
        </p:spPr>
        <p:txBody>
          <a:bodyPr wrap="none" rtlCol="1">
            <a:spAutoFit/>
          </a:bodyPr>
          <a:lstStyle/>
          <a:p>
            <a:r>
              <a:rPr lang="he-IL" b="1" dirty="0"/>
              <a:t>משיריו</a:t>
            </a:r>
          </a:p>
        </p:txBody>
      </p:sp>
      <p:pic>
        <p:nvPicPr>
          <p:cNvPr id="2050" name="Picture 2" descr="ישמח ליבי&quot;: יוני גנוט ואילן דמרי בניגון מיוחד של הרב קוק"/>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825331"/>
            <a:ext cx="5715000" cy="4314826"/>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05159" y="5280549"/>
            <a:ext cx="2116285" cy="338554"/>
          </a:xfrm>
          <a:prstGeom prst="rect">
            <a:avLst/>
          </a:prstGeom>
          <a:noFill/>
        </p:spPr>
        <p:txBody>
          <a:bodyPr wrap="none" rtlCol="1">
            <a:spAutoFit/>
          </a:bodyPr>
          <a:lstStyle/>
          <a:p>
            <a:r>
              <a:rPr lang="he-IL" sz="1600" b="1" dirty="0"/>
              <a:t>המסילה, ניו יורק תרצ"ו</a:t>
            </a:r>
          </a:p>
        </p:txBody>
      </p:sp>
    </p:spTree>
    <p:extLst>
      <p:ext uri="{BB962C8B-B14F-4D97-AF65-F5344CB8AC3E}">
        <p14:creationId xmlns:p14="http://schemas.microsoft.com/office/powerpoint/2010/main" val="39647457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הרב קוק כמשורר / צבי קפלן"/>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6451" y="213222"/>
            <a:ext cx="2601798" cy="3473400"/>
          </a:xfrm>
          <a:prstGeom prst="rect">
            <a:avLst/>
          </a:prstGeom>
          <a:noFill/>
          <a:ln w="38100">
            <a:solidFill>
              <a:srgbClr val="3E25F9"/>
            </a:solidFill>
            <a:miter lim="800000"/>
            <a:headEnd/>
            <a:tailEnd/>
          </a:ln>
          <a:extLst>
            <a:ext uri="{909E8E84-426E-40DD-AFC4-6F175D3DCCD1}">
              <a14:hiddenFill xmlns:a14="http://schemas.microsoft.com/office/drawing/2010/main">
                <a:solidFill>
                  <a:schemeClr val="accent1"/>
                </a:solidFill>
              </a14:hiddenFill>
            </a:ext>
          </a:extLst>
        </p:spPr>
      </p:pic>
      <p:pic>
        <p:nvPicPr>
          <p:cNvPr id="1032" name="Picture 8" descr="הרב קוק כמשורר / צבי קפלן"/>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7008" y="213222"/>
            <a:ext cx="4245265" cy="3473400"/>
          </a:xfrm>
          <a:prstGeom prst="rect">
            <a:avLst/>
          </a:prstGeom>
          <a:noFill/>
          <a:ln w="38100">
            <a:solidFill>
              <a:srgbClr val="0000FF"/>
            </a:solidFill>
          </a:ln>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478217" y="3813895"/>
            <a:ext cx="2699778" cy="338554"/>
          </a:xfrm>
          <a:prstGeom prst="rect">
            <a:avLst/>
          </a:prstGeom>
          <a:noFill/>
        </p:spPr>
        <p:txBody>
          <a:bodyPr wrap="none" rtlCol="1">
            <a:spAutoFit/>
          </a:bodyPr>
          <a:lstStyle/>
          <a:p>
            <a:r>
              <a:rPr lang="he-IL" sz="1600" b="1" dirty="0"/>
              <a:t>הרב צבי קפלן, משירי הרב קוק</a:t>
            </a:r>
          </a:p>
        </p:txBody>
      </p:sp>
      <p:pic>
        <p:nvPicPr>
          <p:cNvPr id="8" name="תמונה 7"/>
          <p:cNvPicPr>
            <a:picLocks noChangeAspect="1"/>
          </p:cNvPicPr>
          <p:nvPr/>
        </p:nvPicPr>
        <p:blipFill>
          <a:blip r:embed="rId4"/>
          <a:stretch>
            <a:fillRect/>
          </a:stretch>
        </p:blipFill>
        <p:spPr>
          <a:xfrm>
            <a:off x="299151" y="213222"/>
            <a:ext cx="3616009" cy="5997983"/>
          </a:xfrm>
          <a:prstGeom prst="rect">
            <a:avLst/>
          </a:prstGeom>
          <a:ln w="38100">
            <a:solidFill>
              <a:srgbClr val="0000FF"/>
            </a:solidFill>
          </a:ln>
        </p:spPr>
      </p:pic>
    </p:spTree>
    <p:extLst>
      <p:ext uri="{BB962C8B-B14F-4D97-AF65-F5344CB8AC3E}">
        <p14:creationId xmlns:p14="http://schemas.microsoft.com/office/powerpoint/2010/main" val="2775285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a:srcRect l="-1" r="4364"/>
          <a:stretch/>
        </p:blipFill>
        <p:spPr>
          <a:xfrm>
            <a:off x="5941935" y="575430"/>
            <a:ext cx="2894121" cy="3547449"/>
          </a:xfrm>
          <a:prstGeom prst="rect">
            <a:avLst/>
          </a:prstGeom>
          <a:ln w="38100">
            <a:solidFill>
              <a:srgbClr val="0000FF"/>
            </a:solidFill>
          </a:ln>
        </p:spPr>
      </p:pic>
      <p:pic>
        <p:nvPicPr>
          <p:cNvPr id="3" name="תמונה 2"/>
          <p:cNvPicPr>
            <a:picLocks noChangeAspect="1"/>
          </p:cNvPicPr>
          <p:nvPr/>
        </p:nvPicPr>
        <p:blipFill rotWithShape="1">
          <a:blip r:embed="rId3"/>
          <a:srcRect r="4896"/>
          <a:stretch/>
        </p:blipFill>
        <p:spPr>
          <a:xfrm>
            <a:off x="8972105" y="591867"/>
            <a:ext cx="2476870" cy="5883005"/>
          </a:xfrm>
          <a:prstGeom prst="rect">
            <a:avLst/>
          </a:prstGeom>
          <a:ln w="38100">
            <a:solidFill>
              <a:srgbClr val="0000FF"/>
            </a:solidFill>
          </a:ln>
        </p:spPr>
      </p:pic>
      <p:pic>
        <p:nvPicPr>
          <p:cNvPr id="10" name="תמונה 9"/>
          <p:cNvPicPr>
            <a:picLocks noChangeAspect="1"/>
          </p:cNvPicPr>
          <p:nvPr/>
        </p:nvPicPr>
        <p:blipFill>
          <a:blip r:embed="rId4"/>
          <a:stretch>
            <a:fillRect/>
          </a:stretch>
        </p:blipFill>
        <p:spPr>
          <a:xfrm>
            <a:off x="1533312" y="575430"/>
            <a:ext cx="2770318" cy="5899442"/>
          </a:xfrm>
          <a:prstGeom prst="rect">
            <a:avLst/>
          </a:prstGeom>
          <a:ln w="38100">
            <a:solidFill>
              <a:srgbClr val="0000FF"/>
            </a:solidFill>
          </a:ln>
        </p:spPr>
      </p:pic>
    </p:spTree>
    <p:extLst>
      <p:ext uri="{BB962C8B-B14F-4D97-AF65-F5344CB8AC3E}">
        <p14:creationId xmlns:p14="http://schemas.microsoft.com/office/powerpoint/2010/main" val="14184506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a:blip r:embed="rId2"/>
          <a:stretch>
            <a:fillRect/>
          </a:stretch>
        </p:blipFill>
        <p:spPr>
          <a:xfrm>
            <a:off x="8341198" y="168675"/>
            <a:ext cx="2592875" cy="6389030"/>
          </a:xfrm>
          <a:prstGeom prst="rect">
            <a:avLst/>
          </a:prstGeom>
          <a:ln w="38100">
            <a:solidFill>
              <a:srgbClr val="0000FF"/>
            </a:solidFill>
          </a:ln>
        </p:spPr>
      </p:pic>
      <p:pic>
        <p:nvPicPr>
          <p:cNvPr id="3" name="תמונה 2"/>
          <p:cNvPicPr>
            <a:picLocks noChangeAspect="1"/>
          </p:cNvPicPr>
          <p:nvPr/>
        </p:nvPicPr>
        <p:blipFill rotWithShape="1">
          <a:blip r:embed="rId3"/>
          <a:srcRect r="5726"/>
          <a:stretch/>
        </p:blipFill>
        <p:spPr>
          <a:xfrm>
            <a:off x="1290914" y="319596"/>
            <a:ext cx="4373039" cy="4448175"/>
          </a:xfrm>
          <a:prstGeom prst="rect">
            <a:avLst/>
          </a:prstGeom>
          <a:ln w="38100">
            <a:solidFill>
              <a:srgbClr val="0000FF"/>
            </a:solidFill>
          </a:ln>
        </p:spPr>
      </p:pic>
      <p:sp>
        <p:nvSpPr>
          <p:cNvPr id="10" name="TextBox 9"/>
          <p:cNvSpPr txBox="1"/>
          <p:nvPr/>
        </p:nvSpPr>
        <p:spPr>
          <a:xfrm>
            <a:off x="1113461" y="4953739"/>
            <a:ext cx="3220754" cy="338554"/>
          </a:xfrm>
          <a:prstGeom prst="rect">
            <a:avLst/>
          </a:prstGeom>
          <a:noFill/>
        </p:spPr>
        <p:txBody>
          <a:bodyPr wrap="none" rtlCol="1">
            <a:spAutoFit/>
          </a:bodyPr>
          <a:lstStyle/>
          <a:p>
            <a:r>
              <a:rPr lang="he-IL" sz="1600" b="1" dirty="0" err="1"/>
              <a:t>א"מ</a:t>
            </a:r>
            <a:r>
              <a:rPr lang="he-IL" sz="1600" b="1" dirty="0"/>
              <a:t> הברמן, שירי הרב, סיני </a:t>
            </a:r>
            <a:r>
              <a:rPr lang="he-IL" sz="1600" b="1" dirty="0" err="1"/>
              <a:t>יז</a:t>
            </a:r>
            <a:r>
              <a:rPr lang="he-IL" sz="1600" b="1" dirty="0"/>
              <a:t> תש"ה</a:t>
            </a:r>
          </a:p>
        </p:txBody>
      </p:sp>
    </p:spTree>
    <p:extLst>
      <p:ext uri="{BB962C8B-B14F-4D97-AF65-F5344CB8AC3E}">
        <p14:creationId xmlns:p14="http://schemas.microsoft.com/office/powerpoint/2010/main" val="6567297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kodeshbook.co.il/uploadimages/1829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3087" y="580283"/>
            <a:ext cx="3389821" cy="5782636"/>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pic>
        <p:nvPicPr>
          <p:cNvPr id="3" name="Picture 2" descr="https://bidspirit-images.global.ssl.fastly.net/mountcarmel/cloned-images/auction_267/lots/import_0/263/1/a_ignore_q_80_w_1000_c_limit_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969" t="5428" r="3033" b="1085"/>
          <a:stretch/>
        </p:blipFill>
        <p:spPr bwMode="auto">
          <a:xfrm>
            <a:off x="7066625" y="580283"/>
            <a:ext cx="4165061" cy="5705314"/>
          </a:xfrm>
          <a:prstGeom prst="rect">
            <a:avLst/>
          </a:prstGeom>
          <a:noFill/>
          <a:ln w="38100">
            <a:solidFill>
              <a:srgbClr val="FF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3375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a:blip r:embed="rId2"/>
          <a:stretch>
            <a:fillRect/>
          </a:stretch>
        </p:blipFill>
        <p:spPr>
          <a:xfrm>
            <a:off x="900696" y="121733"/>
            <a:ext cx="3691357" cy="3676650"/>
          </a:xfrm>
          <a:prstGeom prst="rect">
            <a:avLst/>
          </a:prstGeom>
          <a:ln w="38100">
            <a:solidFill>
              <a:srgbClr val="FF0000"/>
            </a:solidFill>
          </a:ln>
        </p:spPr>
      </p:pic>
      <p:pic>
        <p:nvPicPr>
          <p:cNvPr id="5" name="תמונה 4"/>
          <p:cNvPicPr>
            <a:picLocks noChangeAspect="1"/>
          </p:cNvPicPr>
          <p:nvPr/>
        </p:nvPicPr>
        <p:blipFill rotWithShape="1">
          <a:blip r:embed="rId3"/>
          <a:srcRect l="9557" r="9526"/>
          <a:stretch/>
        </p:blipFill>
        <p:spPr>
          <a:xfrm>
            <a:off x="7593272" y="121733"/>
            <a:ext cx="4100052" cy="2842444"/>
          </a:xfrm>
          <a:prstGeom prst="rect">
            <a:avLst/>
          </a:prstGeom>
          <a:ln w="38100">
            <a:solidFill>
              <a:srgbClr val="FF0000"/>
            </a:solidFill>
          </a:ln>
        </p:spPr>
      </p:pic>
      <p:pic>
        <p:nvPicPr>
          <p:cNvPr id="6" name="תמונה 5"/>
          <p:cNvPicPr>
            <a:picLocks noChangeAspect="1"/>
          </p:cNvPicPr>
          <p:nvPr/>
        </p:nvPicPr>
        <p:blipFill rotWithShape="1">
          <a:blip r:embed="rId4"/>
          <a:srcRect t="13943" b="14373"/>
          <a:stretch/>
        </p:blipFill>
        <p:spPr>
          <a:xfrm>
            <a:off x="460375" y="4168876"/>
            <a:ext cx="4572000" cy="2458065"/>
          </a:xfrm>
          <a:prstGeom prst="rect">
            <a:avLst/>
          </a:prstGeom>
          <a:ln w="38100">
            <a:solidFill>
              <a:srgbClr val="FF0000"/>
            </a:solidFill>
          </a:ln>
        </p:spPr>
      </p:pic>
      <p:pic>
        <p:nvPicPr>
          <p:cNvPr id="7" name="תמונה 6"/>
          <p:cNvPicPr>
            <a:picLocks noChangeAspect="1"/>
          </p:cNvPicPr>
          <p:nvPr/>
        </p:nvPicPr>
        <p:blipFill rotWithShape="1">
          <a:blip r:embed="rId5"/>
          <a:srcRect l="28976" t="11782" r="10331" b="3042"/>
          <a:stretch/>
        </p:blipFill>
        <p:spPr>
          <a:xfrm>
            <a:off x="7892249" y="3540931"/>
            <a:ext cx="3415599" cy="2977018"/>
          </a:xfrm>
          <a:prstGeom prst="rect">
            <a:avLst/>
          </a:prstGeom>
          <a:ln w="38100">
            <a:solidFill>
              <a:srgbClr val="FF0000"/>
            </a:solidFill>
          </a:ln>
        </p:spPr>
      </p:pic>
    </p:spTree>
    <p:extLst>
      <p:ext uri="{BB962C8B-B14F-4D97-AF65-F5344CB8AC3E}">
        <p14:creationId xmlns:p14="http://schemas.microsoft.com/office/powerpoint/2010/main" val="2143013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a:srcRect l="16629" t="15835" r="14382" b="6255"/>
          <a:stretch/>
        </p:blipFill>
        <p:spPr>
          <a:xfrm>
            <a:off x="1704512" y="1290791"/>
            <a:ext cx="3090909" cy="5250851"/>
          </a:xfrm>
          <a:prstGeom prst="rect">
            <a:avLst/>
          </a:prstGeom>
          <a:ln>
            <a:solidFill>
              <a:schemeClr val="tx1"/>
            </a:solidFill>
          </a:ln>
        </p:spPr>
      </p:pic>
      <p:sp>
        <p:nvSpPr>
          <p:cNvPr id="4" name="TextBox 3"/>
          <p:cNvSpPr txBox="1"/>
          <p:nvPr/>
        </p:nvSpPr>
        <p:spPr>
          <a:xfrm>
            <a:off x="742027" y="786582"/>
            <a:ext cx="5186036" cy="369332"/>
          </a:xfrm>
          <a:prstGeom prst="rect">
            <a:avLst/>
          </a:prstGeom>
          <a:solidFill>
            <a:srgbClr val="FFFF00"/>
          </a:solidFill>
          <a:ln>
            <a:solidFill>
              <a:schemeClr val="tx1"/>
            </a:solidFill>
          </a:ln>
        </p:spPr>
        <p:txBody>
          <a:bodyPr wrap="none" rtlCol="1">
            <a:spAutoFit/>
          </a:bodyPr>
          <a:lstStyle/>
          <a:p>
            <a:r>
              <a:rPr lang="he-IL" b="1" dirty="0">
                <a:solidFill>
                  <a:prstClr val="black"/>
                </a:solidFill>
              </a:rPr>
              <a:t>הספר: הרבנות הראשית לישראל: שבעים שנה לייסודה</a:t>
            </a:r>
          </a:p>
        </p:txBody>
      </p:sp>
      <p:pic>
        <p:nvPicPr>
          <p:cNvPr id="6" name="תמונה 5"/>
          <p:cNvPicPr>
            <a:picLocks noChangeAspect="1"/>
          </p:cNvPicPr>
          <p:nvPr/>
        </p:nvPicPr>
        <p:blipFill rotWithShape="1">
          <a:blip r:embed="rId3" cstate="print">
            <a:extLst>
              <a:ext uri="{28A0092B-C50C-407E-A947-70E740481C1C}">
                <a14:useLocalDpi xmlns:a14="http://schemas.microsoft.com/office/drawing/2010/main" val="0"/>
              </a:ext>
            </a:extLst>
          </a:blip>
          <a:srcRect l="6511" t="3288" r="25969" b="25048"/>
          <a:stretch/>
        </p:blipFill>
        <p:spPr>
          <a:xfrm>
            <a:off x="7474998" y="692151"/>
            <a:ext cx="3994951" cy="5993535"/>
          </a:xfrm>
          <a:prstGeom prst="rect">
            <a:avLst/>
          </a:prstGeom>
          <a:ln>
            <a:solidFill>
              <a:schemeClr val="tx1"/>
            </a:solidFill>
          </a:ln>
        </p:spPr>
      </p:pic>
      <p:sp>
        <p:nvSpPr>
          <p:cNvPr id="7" name="TextBox 6"/>
          <p:cNvSpPr txBox="1"/>
          <p:nvPr/>
        </p:nvSpPr>
        <p:spPr>
          <a:xfrm>
            <a:off x="3533784" y="145009"/>
            <a:ext cx="5075428" cy="400110"/>
          </a:xfrm>
          <a:prstGeom prst="rect">
            <a:avLst/>
          </a:prstGeom>
          <a:solidFill>
            <a:srgbClr val="FFFF00"/>
          </a:solidFill>
          <a:ln>
            <a:solidFill>
              <a:schemeClr val="tx1"/>
            </a:solidFill>
          </a:ln>
        </p:spPr>
        <p:txBody>
          <a:bodyPr wrap="none" rtlCol="1">
            <a:spAutoFit/>
          </a:bodyPr>
          <a:lstStyle/>
          <a:p>
            <a:r>
              <a:rPr lang="he-IL" sz="2000" b="1" dirty="0">
                <a:solidFill>
                  <a:prstClr val="black"/>
                </a:solidFill>
              </a:rPr>
              <a:t>ספרים על הרבנות הראשית והרב קוק כרב ראשי</a:t>
            </a:r>
          </a:p>
        </p:txBody>
      </p:sp>
    </p:spTree>
    <p:extLst>
      <p:ext uri="{BB962C8B-B14F-4D97-AF65-F5344CB8AC3E}">
        <p14:creationId xmlns:p14="http://schemas.microsoft.com/office/powerpoint/2010/main" val="5215927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l="16759" r="5524" b="19224"/>
          <a:stretch/>
        </p:blipFill>
        <p:spPr>
          <a:xfrm>
            <a:off x="6809425" y="226277"/>
            <a:ext cx="4305419" cy="6325443"/>
          </a:xfrm>
          <a:prstGeom prst="rect">
            <a:avLst/>
          </a:prstGeom>
          <a:ln>
            <a:solidFill>
              <a:schemeClr val="tx1"/>
            </a:solidFill>
          </a:ln>
        </p:spPr>
      </p:pic>
      <p:pic>
        <p:nvPicPr>
          <p:cNvPr id="4" name="תמונה 3"/>
          <p:cNvPicPr>
            <a:picLocks noChangeAspect="1"/>
          </p:cNvPicPr>
          <p:nvPr/>
        </p:nvPicPr>
        <p:blipFill rotWithShape="1">
          <a:blip r:embed="rId3" cstate="print">
            <a:extLst>
              <a:ext uri="{28A0092B-C50C-407E-A947-70E740481C1C}">
                <a14:useLocalDpi xmlns:a14="http://schemas.microsoft.com/office/drawing/2010/main" val="0"/>
              </a:ext>
            </a:extLst>
          </a:blip>
          <a:srcRect l="13281" r="8036" b="18835"/>
          <a:stretch/>
        </p:blipFill>
        <p:spPr>
          <a:xfrm>
            <a:off x="1038688" y="226277"/>
            <a:ext cx="4367814" cy="6368881"/>
          </a:xfrm>
          <a:prstGeom prst="rect">
            <a:avLst/>
          </a:prstGeom>
          <a:ln>
            <a:solidFill>
              <a:schemeClr val="tx1"/>
            </a:solidFill>
          </a:ln>
        </p:spPr>
      </p:pic>
    </p:spTree>
    <p:extLst>
      <p:ext uri="{BB962C8B-B14F-4D97-AF65-F5344CB8AC3E}">
        <p14:creationId xmlns:p14="http://schemas.microsoft.com/office/powerpoint/2010/main" val="5980142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cstate="print">
            <a:extLst>
              <a:ext uri="{28A0092B-C50C-407E-A947-70E740481C1C}">
                <a14:useLocalDpi xmlns:a14="http://schemas.microsoft.com/office/drawing/2010/main" val="0"/>
              </a:ext>
            </a:extLst>
          </a:blip>
          <a:srcRect l="22248" r="13891" b="29457"/>
          <a:stretch/>
        </p:blipFill>
        <p:spPr>
          <a:xfrm>
            <a:off x="7084381" y="315319"/>
            <a:ext cx="3988190" cy="6227362"/>
          </a:xfrm>
          <a:prstGeom prst="rect">
            <a:avLst/>
          </a:prstGeom>
          <a:ln>
            <a:solidFill>
              <a:schemeClr val="tx1"/>
            </a:solidFill>
          </a:ln>
        </p:spPr>
      </p:pic>
      <p:pic>
        <p:nvPicPr>
          <p:cNvPr id="3" name="תמונה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74377" y="315319"/>
            <a:ext cx="4322004" cy="6109339"/>
          </a:xfrm>
          <a:prstGeom prst="rect">
            <a:avLst/>
          </a:prstGeom>
          <a:ln>
            <a:solidFill>
              <a:schemeClr val="tx1"/>
            </a:solidFill>
          </a:ln>
        </p:spPr>
      </p:pic>
    </p:spTree>
    <p:extLst>
      <p:ext uri="{BB962C8B-B14F-4D97-AF65-F5344CB8AC3E}">
        <p14:creationId xmlns:p14="http://schemas.microsoft.com/office/powerpoint/2010/main" val="6050734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180" y="97654"/>
            <a:ext cx="1701107" cy="615553"/>
          </a:xfrm>
          <a:prstGeom prst="rect">
            <a:avLst/>
          </a:prstGeom>
          <a:solidFill>
            <a:srgbClr val="FFFF00"/>
          </a:solidFill>
          <a:ln>
            <a:solidFill>
              <a:schemeClr val="tx1"/>
            </a:solidFill>
          </a:ln>
        </p:spPr>
        <p:txBody>
          <a:bodyPr wrap="none" rtlCol="1">
            <a:spAutoFit/>
          </a:bodyPr>
          <a:lstStyle/>
          <a:p>
            <a:pPr algn="ctr"/>
            <a:r>
              <a:rPr lang="he-IL" b="1" dirty="0"/>
              <a:t>ביבליוגרפיה </a:t>
            </a:r>
          </a:p>
          <a:p>
            <a:r>
              <a:rPr lang="he-IL" sz="1600" b="1" dirty="0"/>
              <a:t>תולדות חייו ופועלו</a:t>
            </a:r>
          </a:p>
        </p:txBody>
      </p:sp>
      <p:pic>
        <p:nvPicPr>
          <p:cNvPr id="3" name="תמונה 2"/>
          <p:cNvPicPr>
            <a:picLocks noChangeAspect="1"/>
          </p:cNvPicPr>
          <p:nvPr/>
        </p:nvPicPr>
        <p:blipFill rotWithShape="1">
          <a:blip r:embed="rId3"/>
          <a:srcRect l="2469" r="1497" b="210"/>
          <a:stretch/>
        </p:blipFill>
        <p:spPr>
          <a:xfrm>
            <a:off x="7310781" y="228155"/>
            <a:ext cx="4795483" cy="6389817"/>
          </a:xfrm>
          <a:prstGeom prst="rect">
            <a:avLst/>
          </a:prstGeom>
          <a:ln>
            <a:solidFill>
              <a:schemeClr val="tx1"/>
            </a:solidFill>
          </a:ln>
        </p:spPr>
      </p:pic>
      <p:pic>
        <p:nvPicPr>
          <p:cNvPr id="7" name="תמונה 6"/>
          <p:cNvPicPr>
            <a:picLocks noChangeAspect="1"/>
          </p:cNvPicPr>
          <p:nvPr/>
        </p:nvPicPr>
        <p:blipFill>
          <a:blip r:embed="rId4"/>
          <a:stretch>
            <a:fillRect/>
          </a:stretch>
        </p:blipFill>
        <p:spPr>
          <a:xfrm>
            <a:off x="923365" y="228155"/>
            <a:ext cx="4333101" cy="6491773"/>
          </a:xfrm>
          <a:prstGeom prst="rect">
            <a:avLst/>
          </a:prstGeom>
          <a:ln>
            <a:solidFill>
              <a:schemeClr val="tx1"/>
            </a:solidFill>
          </a:ln>
        </p:spPr>
      </p:pic>
    </p:spTree>
    <p:extLst>
      <p:ext uri="{BB962C8B-B14F-4D97-AF65-F5344CB8AC3E}">
        <p14:creationId xmlns:p14="http://schemas.microsoft.com/office/powerpoint/2010/main" val="30733455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6326769" y="797510"/>
            <a:ext cx="5737412" cy="5909310"/>
          </a:xfrm>
          <a:prstGeom prst="rect">
            <a:avLst/>
          </a:prstGeom>
          <a:ln>
            <a:solidFill>
              <a:schemeClr val="tx1"/>
            </a:solidFill>
          </a:ln>
        </p:spPr>
        <p:txBody>
          <a:bodyPr wrap="square">
            <a:spAutoFit/>
          </a:bodyPr>
          <a:lstStyle/>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1. </a:t>
            </a:r>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הכנת תכנית לימודים ופעילות לפי מקצועות.</a:t>
            </a:r>
          </a:p>
          <a:p>
            <a:pPr algn="just"/>
            <a:r>
              <a:rPr lang="he-IL" b="1" dirty="0">
                <a:solidFill>
                  <a:prstClr val="black"/>
                </a:solidFill>
                <a:latin typeface="David" panose="020E0502060401010101" pitchFamily="34" charset="-79"/>
                <a:cs typeface="David" panose="020E0502060401010101" pitchFamily="34" charset="-79"/>
              </a:rPr>
              <a:t>2. הכנת תכנית לימודים ופעילות לפי חודשים.</a:t>
            </a:r>
          </a:p>
          <a:p>
            <a:pPr algn="just"/>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3. הכנת חומרי עזר למורים ולתלמידים – תולדות חייו, סיפורים</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4. הכנת דפי לימוד ממשנתו, פרשת השבוע, על החגים </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5. הכנת נקודות ורעיונות לדיון והפעלה, דילמות, סדנאות. </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6. הכנת תערוכה - על חייו ופועלו, משנתו.</a:t>
            </a:r>
            <a:endParaRPr lang="en-US" b="1" dirty="0">
              <a:solidFill>
                <a:prstClr val="black"/>
              </a:solidFill>
              <a:latin typeface="David" panose="020E0502060401010101" pitchFamily="34" charset="-79"/>
              <a:ea typeface="Times New Roman" panose="02020603050405020304" pitchFamily="18" charset="0"/>
              <a:cs typeface="David" panose="020E0502060401010101" pitchFamily="34" charset="-79"/>
            </a:endParaRP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7. הכנת מרכז למידה - </a:t>
            </a:r>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כרטיסיות עבודה, משחקים, קלפים.</a:t>
            </a:r>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 </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8. קישוט בית הספר והכיתות – תמונות, אמרות, ציורים. </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9. לוח קיר (מתחלף) - תמונתו, הלכה שבועית, תשובות בהלכה, פרשת שבוע, על החגים, ממשנתם, אמרות, תמונות, סיפורים. </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10. לימוד תולדות חייו ופועלו - תמונות לכל תלמיד במחברת או קלסר, מילוי 'תעודת זהות'. </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11. לימוד מאמריו החשובים ביותר – באמונה, בהלכה, פרשת שבוע, על החגים, פתגמי הרב קוק מ'ממגד ירחים'. </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12. תפילות ושירי הרב קוק - לימוד, מקהלת בית הספר, הלחנה.</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13. ערבי לימוד הורים ותלמידים, פתיחת אסיפת הורים.</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14. חדר מורים לומד – ממשנתו.</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15. כתיבת סיפורים על מידותיו ופועלו, הצגתם בתערוכה. </a:t>
            </a:r>
          </a:p>
          <a:p>
            <a:pPr algn="just"/>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16. כתיבת עבודה שנתית על </a:t>
            </a:r>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תולדות חייו ופועלו או על </a:t>
            </a:r>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משנתו באמונה ובהלכה. הצגתם בתערוכה. </a:t>
            </a:r>
            <a:endPar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endParaRP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17. כתיבת נאומים ומכתב כרב הראשי. כתיבת מכתב אליו.</a:t>
            </a:r>
          </a:p>
        </p:txBody>
      </p:sp>
      <p:sp>
        <p:nvSpPr>
          <p:cNvPr id="5" name="TextBox 4"/>
          <p:cNvSpPr txBox="1"/>
          <p:nvPr/>
        </p:nvSpPr>
        <p:spPr>
          <a:xfrm>
            <a:off x="4732064" y="151180"/>
            <a:ext cx="2983509" cy="369332"/>
          </a:xfrm>
          <a:prstGeom prst="rect">
            <a:avLst/>
          </a:prstGeom>
          <a:solidFill>
            <a:srgbClr val="FFFF00"/>
          </a:solidFill>
          <a:ln>
            <a:solidFill>
              <a:schemeClr val="tx1"/>
            </a:solidFill>
          </a:ln>
        </p:spPr>
        <p:txBody>
          <a:bodyPr wrap="none" rtlCol="1">
            <a:spAutoFit/>
          </a:bodyPr>
          <a:lstStyle/>
          <a:p>
            <a:r>
              <a:rPr lang="he-IL" b="1" dirty="0">
                <a:solidFill>
                  <a:prstClr val="black"/>
                </a:solidFill>
              </a:rPr>
              <a:t>הצעות להכנת הנושא והפעלתו</a:t>
            </a:r>
          </a:p>
        </p:txBody>
      </p:sp>
      <p:sp>
        <p:nvSpPr>
          <p:cNvPr id="6" name="מלבן 5"/>
          <p:cNvSpPr/>
          <p:nvPr/>
        </p:nvSpPr>
        <p:spPr>
          <a:xfrm>
            <a:off x="127819" y="773231"/>
            <a:ext cx="6096000" cy="3970318"/>
          </a:xfrm>
          <a:prstGeom prst="rect">
            <a:avLst/>
          </a:prstGeom>
          <a:ln>
            <a:solidFill>
              <a:schemeClr val="tx1"/>
            </a:solidFill>
          </a:ln>
        </p:spPr>
        <p:txBody>
          <a:bodyPr>
            <a:spAutoFit/>
          </a:bodyPr>
          <a:lstStyle/>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18. תחרות חנוכיות על דמותו, תחפושות בפורים.</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19. הכנת סרט, מצגת – תחנות בחייו, ספריו, עם שאלות מנחות. </a:t>
            </a:r>
            <a:endParaRPr lang="en-US" b="1" dirty="0">
              <a:solidFill>
                <a:prstClr val="black"/>
              </a:solidFill>
              <a:latin typeface="David" panose="020E0502060401010101" pitchFamily="34" charset="-79"/>
              <a:ea typeface="Times New Roman" panose="02020603050405020304" pitchFamily="18" charset="0"/>
              <a:cs typeface="David" panose="020E0502060401010101" pitchFamily="34" charset="-79"/>
            </a:endParaRP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20. הכנת הצגה - לראש חודש, בת/בר-מצוה, סוף השנה.</a:t>
            </a:r>
            <a:endParaRPr lang="en-US" b="1" dirty="0">
              <a:solidFill>
                <a:prstClr val="black"/>
              </a:solidFill>
              <a:latin typeface="David" panose="020E0502060401010101" pitchFamily="34" charset="-79"/>
              <a:ea typeface="Times New Roman" panose="02020603050405020304" pitchFamily="18" charset="0"/>
              <a:cs typeface="David" panose="020E0502060401010101" pitchFamily="34" charset="-79"/>
            </a:endParaRP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21. הבאת הצגות ומרצים לבית הספר – על חייו ומשנתו.</a:t>
            </a: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22. עריכת חוברת בית ספרית - לקט מקורות ממשנתו ההלכתית-מחשבתית, לקט קצר מעבודות שהתלמידים כתבו ועוד. </a:t>
            </a:r>
            <a:endParaRPr lang="en-US" b="1" dirty="0">
              <a:solidFill>
                <a:prstClr val="black"/>
              </a:solidFill>
              <a:latin typeface="David" panose="020E0502060401010101" pitchFamily="34" charset="-79"/>
              <a:ea typeface="Times New Roman" panose="02020603050405020304" pitchFamily="18" charset="0"/>
              <a:cs typeface="David" panose="020E0502060401010101" pitchFamily="34" charset="-79"/>
            </a:endParaRPr>
          </a:p>
          <a:p>
            <a:pPr algn="just"/>
            <a:r>
              <a:rPr lang="he-IL" b="1" dirty="0">
                <a:solidFill>
                  <a:srgbClr val="000000"/>
                </a:solidFill>
                <a:latin typeface="David" panose="020E0502060401010101" pitchFamily="34" charset="-79"/>
                <a:ea typeface="Times New Roman" panose="02020603050405020304" pitchFamily="18" charset="0"/>
                <a:cs typeface="David" panose="020E0502060401010101" pitchFamily="34" charset="-79"/>
              </a:rPr>
              <a:t>23. חידון בית ספרי - על תולדות חייו ופועלו. </a:t>
            </a:r>
          </a:p>
          <a:p>
            <a:pPr algn="just"/>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24. סיכום בדף הקשר השבועי/חודשי של המחנך/ת, המנהל להורים – דמות מופת שלאורו נלך!</a:t>
            </a:r>
          </a:p>
          <a:p>
            <a:pPr algn="just"/>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25. ביקורים וסיורים: 'בית הרב' [קוק] ישיבת 'מרכז הרב' בירושלים, בעקבות 'מסע המושבות' של הרב קוק: במושבות בסביבת יפו, </a:t>
            </a:r>
            <a:r>
              <a:rPr lang="he-IL" b="1" dirty="0" err="1">
                <a:solidFill>
                  <a:prstClr val="black"/>
                </a:solidFill>
                <a:latin typeface="David" panose="020E0502060401010101" pitchFamily="34" charset="-79"/>
                <a:ea typeface="Times New Roman" panose="02020603050405020304" pitchFamily="18" charset="0"/>
                <a:cs typeface="David" panose="020E0502060401010101" pitchFamily="34" charset="-79"/>
              </a:rPr>
              <a:t>בתרע"ד</a:t>
            </a:r>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 - שומרון, עמק יזרעאל, גליל עליון, </a:t>
            </a:r>
            <a:r>
              <a:rPr lang="he-IL" b="1" dirty="0" err="1">
                <a:solidFill>
                  <a:prstClr val="black"/>
                </a:solidFill>
                <a:latin typeface="David" panose="020E0502060401010101" pitchFamily="34" charset="-79"/>
                <a:ea typeface="Times New Roman" panose="02020603050405020304" pitchFamily="18" charset="0"/>
                <a:cs typeface="David" panose="020E0502060401010101" pitchFamily="34" charset="-79"/>
              </a:rPr>
              <a:t>בתרפ"ד</a:t>
            </a:r>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 - ב-30 נקודות יישוב בשומרון ובגליל התחתון, </a:t>
            </a:r>
            <a:r>
              <a:rPr lang="he-IL" b="1" dirty="0" err="1">
                <a:solidFill>
                  <a:prstClr val="black"/>
                </a:solidFill>
                <a:latin typeface="David" panose="020E0502060401010101" pitchFamily="34" charset="-79"/>
                <a:ea typeface="Times New Roman" panose="02020603050405020304" pitchFamily="18" charset="0"/>
                <a:cs typeface="David" panose="020E0502060401010101" pitchFamily="34" charset="-79"/>
              </a:rPr>
              <a:t>בתרפ"ה</a:t>
            </a:r>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 - ב'מסע תשובה' בעמק יזרעאל ובגליל, </a:t>
            </a:r>
            <a:r>
              <a:rPr lang="he-IL" b="1" dirty="0" err="1">
                <a:solidFill>
                  <a:prstClr val="black"/>
                </a:solidFill>
                <a:latin typeface="David" panose="020E0502060401010101" pitchFamily="34" charset="-79"/>
                <a:ea typeface="Times New Roman" panose="02020603050405020304" pitchFamily="18" charset="0"/>
                <a:cs typeface="David" panose="020E0502060401010101" pitchFamily="34" charset="-79"/>
              </a:rPr>
              <a:t>ובתרפ"ז</a:t>
            </a:r>
            <a:r>
              <a:rPr lang="he-IL" b="1" dirty="0">
                <a:solidFill>
                  <a:prstClr val="black"/>
                </a:solidFill>
                <a:latin typeface="David" panose="020E0502060401010101" pitchFamily="34" charset="-79"/>
                <a:ea typeface="Times New Roman" panose="02020603050405020304" pitchFamily="18" charset="0"/>
                <a:cs typeface="David" panose="020E0502060401010101" pitchFamily="34" charset="-79"/>
              </a:rPr>
              <a:t> - בצפון. </a:t>
            </a:r>
          </a:p>
        </p:txBody>
      </p:sp>
      <p:pic>
        <p:nvPicPr>
          <p:cNvPr id="2052" name="Picture 4" descr="הרב אברהם יצחק הכהן קוק"/>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597" y="4880897"/>
            <a:ext cx="1180393" cy="17548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8110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p:nvPr/>
        </p:nvPicPr>
        <p:blipFill>
          <a:blip r:embed="rId2">
            <a:extLst>
              <a:ext uri="{28A0092B-C50C-407E-A947-70E740481C1C}">
                <a14:useLocalDpi xmlns:a14="http://schemas.microsoft.com/office/drawing/2010/main" val="0"/>
              </a:ext>
            </a:extLst>
          </a:blip>
          <a:stretch>
            <a:fillRect/>
          </a:stretch>
        </p:blipFill>
        <p:spPr>
          <a:xfrm>
            <a:off x="4329888" y="743410"/>
            <a:ext cx="3532215" cy="4351381"/>
          </a:xfrm>
          <a:prstGeom prst="rect">
            <a:avLst/>
          </a:prstGeom>
          <a:solidFill>
            <a:srgbClr val="FFFF00"/>
          </a:solidFill>
          <a:ln>
            <a:solidFill>
              <a:schemeClr val="tx1"/>
            </a:solidFill>
          </a:ln>
        </p:spPr>
      </p:pic>
      <p:pic>
        <p:nvPicPr>
          <p:cNvPr id="6" name="תמונה 5"/>
          <p:cNvPicPr>
            <a:picLocks noChangeAspect="1"/>
          </p:cNvPicPr>
          <p:nvPr/>
        </p:nvPicPr>
        <p:blipFill rotWithShape="1">
          <a:blip r:embed="rId3" cstate="print">
            <a:extLst>
              <a:ext uri="{28A0092B-C50C-407E-A947-70E740481C1C}">
                <a14:useLocalDpi xmlns:a14="http://schemas.microsoft.com/office/drawing/2010/main" val="0"/>
              </a:ext>
            </a:extLst>
          </a:blip>
          <a:srcRect l="72341" t="48245" b="21102"/>
          <a:stretch/>
        </p:blipFill>
        <p:spPr>
          <a:xfrm rot="5400000">
            <a:off x="2590610" y="5317298"/>
            <a:ext cx="797574" cy="1249438"/>
          </a:xfrm>
          <a:prstGeom prst="rect">
            <a:avLst/>
          </a:prstGeom>
          <a:solidFill>
            <a:srgbClr val="FFFF00"/>
          </a:solidFill>
          <a:ln>
            <a:solidFill>
              <a:schemeClr val="tx1"/>
            </a:solidFill>
          </a:ln>
        </p:spPr>
      </p:pic>
      <p:sp>
        <p:nvSpPr>
          <p:cNvPr id="11" name="מלבן 10"/>
          <p:cNvSpPr/>
          <p:nvPr/>
        </p:nvSpPr>
        <p:spPr>
          <a:xfrm>
            <a:off x="3926541" y="5509807"/>
            <a:ext cx="4204447" cy="830997"/>
          </a:xfrm>
          <a:prstGeom prst="rect">
            <a:avLst/>
          </a:prstGeom>
          <a:solidFill>
            <a:srgbClr val="FFFF00"/>
          </a:solidFill>
          <a:ln>
            <a:solidFill>
              <a:schemeClr val="tx1"/>
            </a:solidFill>
          </a:ln>
        </p:spPr>
        <p:txBody>
          <a:bodyPr wrap="square">
            <a:spAutoFit/>
          </a:bodyPr>
          <a:lstStyle/>
          <a:p>
            <a:pPr algn="ctr"/>
            <a:r>
              <a:rPr lang="he-IL" sz="1600" b="1" dirty="0"/>
              <a:t>הרב אברהם יצחק הכהן קוק זצ"ל </a:t>
            </a:r>
          </a:p>
          <a:p>
            <a:r>
              <a:rPr lang="he-IL" sz="1600" b="1" dirty="0"/>
              <a:t>נולד: ט"ז באלול תרכ"ה; נפטר: ג' באלול תרצ"ה</a:t>
            </a:r>
          </a:p>
          <a:p>
            <a:pPr algn="ctr"/>
            <a:r>
              <a:rPr lang="he-IL" sz="1600" b="1" dirty="0"/>
              <a:t>רב ראשי בשנים: תרפ"א-תרצ"ה </a:t>
            </a:r>
          </a:p>
        </p:txBody>
      </p:sp>
      <p:sp>
        <p:nvSpPr>
          <p:cNvPr id="13" name="TextBox 12"/>
          <p:cNvSpPr txBox="1"/>
          <p:nvPr/>
        </p:nvSpPr>
        <p:spPr>
          <a:xfrm>
            <a:off x="3194401" y="235181"/>
            <a:ext cx="5803191" cy="338554"/>
          </a:xfrm>
          <a:prstGeom prst="rect">
            <a:avLst/>
          </a:prstGeom>
          <a:solidFill>
            <a:srgbClr val="FFFF00"/>
          </a:solidFill>
          <a:ln>
            <a:solidFill>
              <a:schemeClr val="tx1"/>
            </a:solidFill>
          </a:ln>
        </p:spPr>
        <p:txBody>
          <a:bodyPr wrap="none" rtlCol="1">
            <a:spAutoFit/>
          </a:bodyPr>
          <a:lstStyle/>
          <a:p>
            <a:r>
              <a:rPr lang="he-IL" sz="1600" b="1" dirty="0"/>
              <a:t>תליית תמונו בכניסה לבית הספר, בכל כיתה ובמחברת של כל תלמיד</a:t>
            </a:r>
          </a:p>
        </p:txBody>
      </p:sp>
    </p:spTree>
    <p:extLst>
      <p:ext uri="{BB962C8B-B14F-4D97-AF65-F5344CB8AC3E}">
        <p14:creationId xmlns:p14="http://schemas.microsoft.com/office/powerpoint/2010/main" val="40037928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907D389C-12EA-6D39-C006-24CAAA8544FA}"/>
              </a:ext>
            </a:extLst>
          </p:cNvPr>
          <p:cNvPicPr>
            <a:picLocks noChangeAspect="1"/>
          </p:cNvPicPr>
          <p:nvPr/>
        </p:nvPicPr>
        <p:blipFill>
          <a:blip r:embed="rId2"/>
          <a:srcRect b="4084"/>
          <a:stretch/>
        </p:blipFill>
        <p:spPr>
          <a:xfrm>
            <a:off x="1672681" y="703115"/>
            <a:ext cx="3001150" cy="4867379"/>
          </a:xfrm>
          <a:prstGeom prst="rect">
            <a:avLst/>
          </a:prstGeom>
        </p:spPr>
      </p:pic>
      <p:pic>
        <p:nvPicPr>
          <p:cNvPr id="4" name="תמונה 3">
            <a:extLst>
              <a:ext uri="{FF2B5EF4-FFF2-40B4-BE49-F238E27FC236}">
                <a16:creationId xmlns:a16="http://schemas.microsoft.com/office/drawing/2014/main" id="{FCDA12E8-DA65-A119-EBB9-5AD8150472B3}"/>
              </a:ext>
            </a:extLst>
          </p:cNvPr>
          <p:cNvPicPr>
            <a:picLocks noChangeAspect="1"/>
          </p:cNvPicPr>
          <p:nvPr/>
        </p:nvPicPr>
        <p:blipFill rotWithShape="1">
          <a:blip r:embed="rId3"/>
          <a:srcRect l="13051" t="10209" r="11969" b="2909"/>
          <a:stretch/>
        </p:blipFill>
        <p:spPr>
          <a:xfrm>
            <a:off x="7475774" y="703114"/>
            <a:ext cx="3043547" cy="4901338"/>
          </a:xfrm>
          <a:prstGeom prst="rect">
            <a:avLst/>
          </a:prstGeom>
          <a:ln>
            <a:solidFill>
              <a:schemeClr val="tx1"/>
            </a:solidFill>
          </a:ln>
        </p:spPr>
      </p:pic>
      <p:pic>
        <p:nvPicPr>
          <p:cNvPr id="5" name="תמונה 4">
            <a:extLst>
              <a:ext uri="{FF2B5EF4-FFF2-40B4-BE49-F238E27FC236}">
                <a16:creationId xmlns:a16="http://schemas.microsoft.com/office/drawing/2014/main" id="{8809977D-6EAD-5334-DF56-F2E05B19A17D}"/>
              </a:ext>
            </a:extLst>
          </p:cNvPr>
          <p:cNvPicPr>
            <a:picLocks noChangeAspect="1"/>
          </p:cNvPicPr>
          <p:nvPr/>
        </p:nvPicPr>
        <p:blipFill>
          <a:blip r:embed="rId4"/>
          <a:stretch>
            <a:fillRect/>
          </a:stretch>
        </p:blipFill>
        <p:spPr>
          <a:xfrm>
            <a:off x="5691569" y="1268760"/>
            <a:ext cx="808862" cy="1071938"/>
          </a:xfrm>
          <a:prstGeom prst="rect">
            <a:avLst/>
          </a:prstGeom>
        </p:spPr>
      </p:pic>
      <p:pic>
        <p:nvPicPr>
          <p:cNvPr id="6" name="תמונה 5">
            <a:extLst>
              <a:ext uri="{FF2B5EF4-FFF2-40B4-BE49-F238E27FC236}">
                <a16:creationId xmlns:a16="http://schemas.microsoft.com/office/drawing/2014/main" id="{28087EBC-05B8-2AEB-F276-B1F19DE49FE8}"/>
              </a:ext>
            </a:extLst>
          </p:cNvPr>
          <p:cNvPicPr>
            <a:picLocks noChangeAspect="1"/>
          </p:cNvPicPr>
          <p:nvPr/>
        </p:nvPicPr>
        <p:blipFill>
          <a:blip r:embed="rId5"/>
          <a:stretch>
            <a:fillRect/>
          </a:stretch>
        </p:blipFill>
        <p:spPr>
          <a:xfrm>
            <a:off x="5488798" y="3124600"/>
            <a:ext cx="1214405" cy="793529"/>
          </a:xfrm>
          <a:prstGeom prst="rect">
            <a:avLst/>
          </a:prstGeom>
        </p:spPr>
      </p:pic>
      <p:sp>
        <p:nvSpPr>
          <p:cNvPr id="7" name="אליפסה 6">
            <a:extLst>
              <a:ext uri="{FF2B5EF4-FFF2-40B4-BE49-F238E27FC236}">
                <a16:creationId xmlns:a16="http://schemas.microsoft.com/office/drawing/2014/main" id="{F938327B-8676-72B0-0A60-086D8BB63FB8}"/>
              </a:ext>
            </a:extLst>
          </p:cNvPr>
          <p:cNvSpPr/>
          <p:nvPr/>
        </p:nvSpPr>
        <p:spPr>
          <a:xfrm>
            <a:off x="9302375" y="1088136"/>
            <a:ext cx="746882" cy="67985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1013"/>
          </a:p>
        </p:txBody>
      </p:sp>
      <p:pic>
        <p:nvPicPr>
          <p:cNvPr id="2" name="תמונה 1">
            <a:extLst>
              <a:ext uri="{FF2B5EF4-FFF2-40B4-BE49-F238E27FC236}">
                <a16:creationId xmlns:a16="http://schemas.microsoft.com/office/drawing/2014/main" id="{3BDB277F-DB20-5C08-3589-8B61525B7B89}"/>
              </a:ext>
            </a:extLst>
          </p:cNvPr>
          <p:cNvPicPr>
            <a:picLocks noChangeAspect="1"/>
          </p:cNvPicPr>
          <p:nvPr/>
        </p:nvPicPr>
        <p:blipFill>
          <a:blip r:embed="rId6"/>
          <a:stretch>
            <a:fillRect/>
          </a:stretch>
        </p:blipFill>
        <p:spPr>
          <a:xfrm>
            <a:off x="4601004" y="4293097"/>
            <a:ext cx="2917168" cy="1230595"/>
          </a:xfrm>
          <a:prstGeom prst="rect">
            <a:avLst/>
          </a:prstGeom>
        </p:spPr>
      </p:pic>
      <p:sp>
        <p:nvSpPr>
          <p:cNvPr id="9" name="TextBox 7">
            <a:extLst>
              <a:ext uri="{FF2B5EF4-FFF2-40B4-BE49-F238E27FC236}">
                <a16:creationId xmlns:a16="http://schemas.microsoft.com/office/drawing/2014/main" id="{35219F17-4106-2DF0-3FB1-38E6884B8C48}"/>
              </a:ext>
            </a:extLst>
          </p:cNvPr>
          <p:cNvSpPr txBox="1"/>
          <p:nvPr/>
        </p:nvSpPr>
        <p:spPr>
          <a:xfrm>
            <a:off x="5339909" y="332657"/>
            <a:ext cx="1486615" cy="276999"/>
          </a:xfrm>
          <a:prstGeom prst="rect">
            <a:avLst/>
          </a:prstGeom>
          <a:solidFill>
            <a:srgbClr val="FFFF00"/>
          </a:solidFill>
          <a:ln>
            <a:solidFill>
              <a:schemeClr val="tx1"/>
            </a:solidFill>
          </a:ln>
        </p:spPr>
        <p:txBody>
          <a:bodyPr wrap="square" rtlCol="1">
            <a:spAutoFit/>
          </a:bodyPr>
          <a:lstStyle/>
          <a:p>
            <a:r>
              <a:rPr lang="he-IL" sz="1200" b="1" dirty="0"/>
              <a:t>18 הרבנים הראשיים</a:t>
            </a:r>
          </a:p>
        </p:txBody>
      </p:sp>
      <p:pic>
        <p:nvPicPr>
          <p:cNvPr id="10" name="תמונה 9">
            <a:extLst>
              <a:ext uri="{FF2B5EF4-FFF2-40B4-BE49-F238E27FC236}">
                <a16:creationId xmlns:a16="http://schemas.microsoft.com/office/drawing/2014/main" id="{0B964C38-2C64-B044-7C6D-79F21B49F0C9}"/>
              </a:ext>
            </a:extLst>
          </p:cNvPr>
          <p:cNvPicPr>
            <a:picLocks noChangeAspect="1"/>
          </p:cNvPicPr>
          <p:nvPr/>
        </p:nvPicPr>
        <p:blipFill>
          <a:blip r:embed="rId7"/>
          <a:stretch>
            <a:fillRect/>
          </a:stretch>
        </p:blipFill>
        <p:spPr>
          <a:xfrm>
            <a:off x="5049679" y="4387132"/>
            <a:ext cx="409506" cy="554037"/>
          </a:xfrm>
          <a:prstGeom prst="rect">
            <a:avLst/>
          </a:prstGeom>
        </p:spPr>
      </p:pic>
    </p:spTree>
    <p:extLst>
      <p:ext uri="{BB962C8B-B14F-4D97-AF65-F5344CB8AC3E}">
        <p14:creationId xmlns:p14="http://schemas.microsoft.com/office/powerpoint/2010/main" val="27273601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1" name="Rectangle 5"/>
          <p:cNvSpPr>
            <a:spLocks noChangeArrowheads="1"/>
          </p:cNvSpPr>
          <p:nvPr/>
        </p:nvSpPr>
        <p:spPr bwMode="auto">
          <a:xfrm>
            <a:off x="4473942" y="283521"/>
            <a:ext cx="3244116" cy="769441"/>
          </a:xfrm>
          <a:prstGeom prst="rect">
            <a:avLst/>
          </a:prstGeom>
          <a:solidFill>
            <a:srgbClr val="0000FF"/>
          </a:solidFill>
          <a:ln>
            <a:noFill/>
          </a:ln>
        </p:spPr>
        <p:txBody>
          <a:bodyPr wrap="square" anchor="ctr">
            <a:spAutoFit/>
          </a:bodyPr>
          <a:lstStyle/>
          <a:p>
            <a:pPr algn="ctr">
              <a:defRPr/>
            </a:pPr>
            <a:r>
              <a:rPr lang="he-IL" sz="4400" b="1" dirty="0">
                <a:solidFill>
                  <a:srgbClr val="FFFF00"/>
                </a:solidFill>
                <a:effectLst>
                  <a:outerShdw blurRad="38100" dist="38100" dir="2700000" algn="tl">
                    <a:srgbClr val="000000"/>
                  </a:outerShdw>
                </a:effectLst>
                <a:cs typeface="Guttman Stam" pitchFamily="2" charset="-79"/>
              </a:rPr>
              <a:t>"לאורו נלך"</a:t>
            </a:r>
          </a:p>
        </p:txBody>
      </p:sp>
      <p:sp>
        <p:nvSpPr>
          <p:cNvPr id="80902" name="Rectangle 6"/>
          <p:cNvSpPr>
            <a:spLocks noChangeArrowheads="1"/>
          </p:cNvSpPr>
          <p:nvPr/>
        </p:nvSpPr>
        <p:spPr bwMode="auto">
          <a:xfrm>
            <a:off x="1467039" y="5296204"/>
            <a:ext cx="8748712" cy="1200329"/>
          </a:xfrm>
          <a:prstGeom prst="rect">
            <a:avLst/>
          </a:prstGeom>
          <a:solidFill>
            <a:srgbClr val="0000FF"/>
          </a:solidFill>
          <a:ln>
            <a:noFill/>
          </a:ln>
        </p:spPr>
        <p:txBody>
          <a:bodyPr anchor="ctr">
            <a:spAutoFit/>
          </a:bodyPr>
          <a:lstStyle/>
          <a:p>
            <a:pPr algn="ctr">
              <a:defRPr/>
            </a:pPr>
            <a:r>
              <a:rPr lang="he-IL" sz="36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"בנה ביתך כבתחילה וכונן מקדשך על מכונו, והראנו בבנינו ושמחנו </a:t>
            </a:r>
            <a:r>
              <a:rPr lang="he-IL" sz="3600" b="1" dirty="0" err="1">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בתקונו</a:t>
            </a:r>
            <a:r>
              <a:rPr lang="he-IL" sz="36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 </a:t>
            </a:r>
          </a:p>
        </p:txBody>
      </p:sp>
      <p:pic>
        <p:nvPicPr>
          <p:cNvPr id="114692" name="Picture 5" descr="degelisrael"/>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4280" y="2908371"/>
            <a:ext cx="1739960" cy="1304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3" name="Picture 6" descr="degelisrael"/>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0627" y="2870334"/>
            <a:ext cx="1630760" cy="1221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5" name="Picture 7" descr="jerusalem_temple_mod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1256" y="1854115"/>
            <a:ext cx="7389487" cy="3149769"/>
          </a:xfrm>
          <a:prstGeom prst="rect">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pic>
      <p:sp>
        <p:nvSpPr>
          <p:cNvPr id="83978" name="Text Box 10"/>
          <p:cNvSpPr txBox="1">
            <a:spLocks noChangeArrowheads="1"/>
          </p:cNvSpPr>
          <p:nvPr/>
        </p:nvSpPr>
        <p:spPr bwMode="auto">
          <a:xfrm>
            <a:off x="10309368" y="857252"/>
            <a:ext cx="280846" cy="507831"/>
          </a:xfrm>
          <a:prstGeom prst="rect">
            <a:avLst/>
          </a:prstGeom>
          <a:noFill/>
          <a:ln>
            <a:noFill/>
          </a:ln>
          <a:effectLst/>
        </p:spPr>
        <p:txBody>
          <a:bodyPr wrap="none">
            <a:spAutoFit/>
          </a:bodyPr>
          <a:lstStyle/>
          <a:p>
            <a:pPr>
              <a:defRPr/>
            </a:pPr>
            <a:r>
              <a:rPr lang="he-IL" sz="2700" b="1" dirty="0">
                <a:solidFill>
                  <a:schemeClr val="bg1"/>
                </a:solidFill>
                <a:effectLst>
                  <a:outerShdw blurRad="38100" dist="38100" dir="2700000" algn="tl">
                    <a:srgbClr val="C0C0C0"/>
                  </a:outerShdw>
                </a:effectLst>
              </a:rPr>
              <a:t> </a:t>
            </a:r>
            <a:endParaRPr lang="en-US" sz="2700" dirty="0">
              <a:solidFill>
                <a:schemeClr val="bg1"/>
              </a:solidFill>
            </a:endParaRPr>
          </a:p>
        </p:txBody>
      </p:sp>
      <p:sp>
        <p:nvSpPr>
          <p:cNvPr id="11" name="TextBox 10"/>
          <p:cNvSpPr txBox="1">
            <a:spLocks noChangeArrowheads="1"/>
          </p:cNvSpPr>
          <p:nvPr/>
        </p:nvSpPr>
        <p:spPr bwMode="auto">
          <a:xfrm>
            <a:off x="5255733" y="3690121"/>
            <a:ext cx="1680531" cy="523220"/>
          </a:xfrm>
          <a:prstGeom prst="rect">
            <a:avLst/>
          </a:prstGeom>
          <a:solidFill>
            <a:srgbClr val="FF0000"/>
          </a:solidFill>
          <a:ln w="28575">
            <a:solidFill>
              <a:schemeClr val="tx1"/>
            </a:solidFill>
            <a:miter lim="800000"/>
            <a:headEnd/>
            <a:tailEnd/>
          </a:ln>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FontTx/>
              <a:buNone/>
            </a:pPr>
            <a:r>
              <a:rPr lang="he-IL" altLang="he-IL" sz="2800" b="1" dirty="0">
                <a:solidFill>
                  <a:srgbClr val="FFFF00"/>
                </a:solidFill>
                <a:latin typeface="David" panose="020E0502060401010101" pitchFamily="34" charset="-79"/>
                <a:cs typeface="David" panose="020E0502060401010101" pitchFamily="34" charset="-79"/>
              </a:rPr>
              <a:t>בהצלחה!</a:t>
            </a:r>
          </a:p>
        </p:txBody>
      </p:sp>
    </p:spTree>
    <p:extLst>
      <p:ext uri="{BB962C8B-B14F-4D97-AF65-F5344CB8AC3E}">
        <p14:creationId xmlns:p14="http://schemas.microsoft.com/office/powerpoint/2010/main" val="1051565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83978">
                                            <p:txEl>
                                              <p:pRg st="0" end="0"/>
                                            </p:txEl>
                                          </p:spTgt>
                                        </p:tgtEl>
                                        <p:attrNameLst>
                                          <p:attrName>style.visibility</p:attrName>
                                        </p:attrNameLst>
                                      </p:cBhvr>
                                      <p:to>
                                        <p:strVal val="visible"/>
                                      </p:to>
                                    </p:set>
                                    <p:animEffect transition="in" filter="fade">
                                      <p:cBhvr>
                                        <p:cTn id="7" dur="5000"/>
                                        <p:tgtEl>
                                          <p:spTgt spid="83978">
                                            <p:txEl>
                                              <p:pRg st="0" end="0"/>
                                            </p:txEl>
                                          </p:spTgt>
                                        </p:tgtEl>
                                      </p:cBhvr>
                                    </p:animEffect>
                                    <p:anim calcmode="lin" valueType="num">
                                      <p:cBhvr>
                                        <p:cTn id="8" dur="5000" fill="hold"/>
                                        <p:tgtEl>
                                          <p:spTgt spid="83978">
                                            <p:txEl>
                                              <p:pRg st="0" end="0"/>
                                            </p:txEl>
                                          </p:spTgt>
                                        </p:tgtEl>
                                        <p:attrNameLst>
                                          <p:attrName>ppt_x</p:attrName>
                                        </p:attrNameLst>
                                      </p:cBhvr>
                                      <p:tavLst>
                                        <p:tav tm="0">
                                          <p:val>
                                            <p:strVal val="#ppt_x"/>
                                          </p:val>
                                        </p:tav>
                                        <p:tav tm="100000">
                                          <p:val>
                                            <p:strVal val="#ppt_x"/>
                                          </p:val>
                                        </p:tav>
                                      </p:tavLst>
                                    </p:anim>
                                    <p:anim calcmode="lin" valueType="num">
                                      <p:cBhvr>
                                        <p:cTn id="9" dur="5000" fill="hold"/>
                                        <p:tgtEl>
                                          <p:spTgt spid="8397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7" presetClass="entr" presetSubtype="4" fill="hold" nodeType="clickEffect">
                                  <p:stCondLst>
                                    <p:cond delay="0"/>
                                  </p:stCondLst>
                                  <p:childTnLst>
                                    <p:set>
                                      <p:cBhvr>
                                        <p:cTn id="13" dur="1" fill="hold">
                                          <p:stCondLst>
                                            <p:cond delay="0"/>
                                          </p:stCondLst>
                                        </p:cTn>
                                        <p:tgtEl>
                                          <p:spTgt spid="80901">
                                            <p:txEl>
                                              <p:pRg st="0" end="0"/>
                                            </p:txEl>
                                          </p:spTgt>
                                        </p:tgtEl>
                                        <p:attrNameLst>
                                          <p:attrName>style.visibility</p:attrName>
                                        </p:attrNameLst>
                                      </p:cBhvr>
                                      <p:to>
                                        <p:strVal val="visible"/>
                                      </p:to>
                                    </p:set>
                                    <p:anim calcmode="lin" valueType="num">
                                      <p:cBhvr additive="base">
                                        <p:cTn id="14" dur="5000" fill="hold"/>
                                        <p:tgtEl>
                                          <p:spTgt spid="80901">
                                            <p:txEl>
                                              <p:pRg st="0" end="0"/>
                                            </p:txEl>
                                          </p:spTgt>
                                        </p:tgtEl>
                                        <p:attrNameLst>
                                          <p:attrName>ppt_x</p:attrName>
                                        </p:attrNameLst>
                                      </p:cBhvr>
                                      <p:tavLst>
                                        <p:tav tm="0">
                                          <p:val>
                                            <p:strVal val="#ppt_x"/>
                                          </p:val>
                                        </p:tav>
                                        <p:tav tm="100000">
                                          <p:val>
                                            <p:strVal val="#ppt_x"/>
                                          </p:val>
                                        </p:tav>
                                      </p:tavLst>
                                    </p:anim>
                                    <p:anim calcmode="lin" valueType="num">
                                      <p:cBhvr additive="base">
                                        <p:cTn id="15" dur="5000" fill="hold"/>
                                        <p:tgtEl>
                                          <p:spTgt spid="809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nodeType="clickEffect">
                                  <p:stCondLst>
                                    <p:cond delay="0"/>
                                  </p:stCondLst>
                                  <p:childTnLst>
                                    <p:set>
                                      <p:cBhvr>
                                        <p:cTn id="19" dur="1" fill="hold">
                                          <p:stCondLst>
                                            <p:cond delay="0"/>
                                          </p:stCondLst>
                                        </p:cTn>
                                        <p:tgtEl>
                                          <p:spTgt spid="83975"/>
                                        </p:tgtEl>
                                        <p:attrNameLst>
                                          <p:attrName>style.visibility</p:attrName>
                                        </p:attrNameLst>
                                      </p:cBhvr>
                                      <p:to>
                                        <p:strVal val="visible"/>
                                      </p:to>
                                    </p:set>
                                    <p:anim calcmode="lin" valueType="num">
                                      <p:cBhvr>
                                        <p:cTn id="20" dur="5000" fill="hold"/>
                                        <p:tgtEl>
                                          <p:spTgt spid="83975"/>
                                        </p:tgtEl>
                                        <p:attrNameLst>
                                          <p:attrName>ppt_w</p:attrName>
                                        </p:attrNameLst>
                                      </p:cBhvr>
                                      <p:tavLst>
                                        <p:tav tm="0">
                                          <p:val>
                                            <p:fltVal val="0"/>
                                          </p:val>
                                        </p:tav>
                                        <p:tav tm="100000">
                                          <p:val>
                                            <p:strVal val="#ppt_w"/>
                                          </p:val>
                                        </p:tav>
                                      </p:tavLst>
                                    </p:anim>
                                    <p:anim calcmode="lin" valueType="num">
                                      <p:cBhvr>
                                        <p:cTn id="21" dur="5000" fill="hold"/>
                                        <p:tgtEl>
                                          <p:spTgt spid="83975"/>
                                        </p:tgtEl>
                                        <p:attrNameLst>
                                          <p:attrName>ppt_h</p:attrName>
                                        </p:attrNameLst>
                                      </p:cBhvr>
                                      <p:tavLst>
                                        <p:tav tm="0">
                                          <p:val>
                                            <p:fltVal val="0"/>
                                          </p:val>
                                        </p:tav>
                                        <p:tav tm="100000">
                                          <p:val>
                                            <p:strVal val="#ppt_h"/>
                                          </p:val>
                                        </p:tav>
                                      </p:tavLst>
                                    </p:anim>
                                    <p:animEffect transition="in" filter="fade">
                                      <p:cBhvr>
                                        <p:cTn id="22" dur="5000"/>
                                        <p:tgtEl>
                                          <p:spTgt spid="83975"/>
                                        </p:tgtEl>
                                      </p:cBhvr>
                                    </p:animEffect>
                                  </p:childTnLst>
                                </p:cTn>
                              </p:par>
                              <p:par>
                                <p:cTn id="23" presetID="15" presetClass="entr" presetSubtype="0" fill="hold" grpId="0" nodeType="withEffect">
                                  <p:stCondLst>
                                    <p:cond delay="0"/>
                                  </p:stCondLst>
                                  <p:childTnLst>
                                    <p:set>
                                      <p:cBhvr>
                                        <p:cTn id="24" dur="1" fill="hold">
                                          <p:stCondLst>
                                            <p:cond delay="0"/>
                                          </p:stCondLst>
                                        </p:cTn>
                                        <p:tgtEl>
                                          <p:spTgt spid="80902"/>
                                        </p:tgtEl>
                                        <p:attrNameLst>
                                          <p:attrName>style.visibility</p:attrName>
                                        </p:attrNameLst>
                                      </p:cBhvr>
                                      <p:to>
                                        <p:strVal val="visible"/>
                                      </p:to>
                                    </p:set>
                                    <p:anim calcmode="lin" valueType="num">
                                      <p:cBhvr>
                                        <p:cTn id="25" dur="5000" fill="hold"/>
                                        <p:tgtEl>
                                          <p:spTgt spid="80902"/>
                                        </p:tgtEl>
                                        <p:attrNameLst>
                                          <p:attrName>ppt_w</p:attrName>
                                        </p:attrNameLst>
                                      </p:cBhvr>
                                      <p:tavLst>
                                        <p:tav tm="0">
                                          <p:val>
                                            <p:fltVal val="0"/>
                                          </p:val>
                                        </p:tav>
                                        <p:tav tm="100000">
                                          <p:val>
                                            <p:strVal val="#ppt_w"/>
                                          </p:val>
                                        </p:tav>
                                      </p:tavLst>
                                    </p:anim>
                                    <p:anim calcmode="lin" valueType="num">
                                      <p:cBhvr>
                                        <p:cTn id="26" dur="5000" fill="hold"/>
                                        <p:tgtEl>
                                          <p:spTgt spid="80902"/>
                                        </p:tgtEl>
                                        <p:attrNameLst>
                                          <p:attrName>ppt_h</p:attrName>
                                        </p:attrNameLst>
                                      </p:cBhvr>
                                      <p:tavLst>
                                        <p:tav tm="0">
                                          <p:val>
                                            <p:fltVal val="0"/>
                                          </p:val>
                                        </p:tav>
                                        <p:tav tm="100000">
                                          <p:val>
                                            <p:strVal val="#ppt_h"/>
                                          </p:val>
                                        </p:tav>
                                      </p:tavLst>
                                    </p:anim>
                                    <p:anim calcmode="lin" valueType="num">
                                      <p:cBhvr>
                                        <p:cTn id="27" dur="5000" fill="hold"/>
                                        <p:tgtEl>
                                          <p:spTgt spid="80902"/>
                                        </p:tgtEl>
                                        <p:attrNameLst>
                                          <p:attrName>ppt_x</p:attrName>
                                        </p:attrNameLst>
                                      </p:cBhvr>
                                      <p:tavLst>
                                        <p:tav tm="0" fmla="#ppt_x+(cos(-2*pi*(1-$))*-#ppt_x-sin(-2*pi*(1-$))*(1-#ppt_y))*(1-$)">
                                          <p:val>
                                            <p:fltVal val="0"/>
                                          </p:val>
                                        </p:tav>
                                        <p:tav tm="100000">
                                          <p:val>
                                            <p:fltVal val="1"/>
                                          </p:val>
                                        </p:tav>
                                      </p:tavLst>
                                    </p:anim>
                                    <p:anim calcmode="lin" valueType="num">
                                      <p:cBhvr>
                                        <p:cTn id="28" dur="5000" fill="hold"/>
                                        <p:tgtEl>
                                          <p:spTgt spid="8090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0" fill="hold"/>
                                        <p:tgtEl>
                                          <p:spTgt spid="11"/>
                                        </p:tgtEl>
                                        <p:attrNameLst>
                                          <p:attrName>ppt_w</p:attrName>
                                        </p:attrNameLst>
                                      </p:cBhvr>
                                      <p:tavLst>
                                        <p:tav tm="0">
                                          <p:val>
                                            <p:fltVal val="0"/>
                                          </p:val>
                                        </p:tav>
                                        <p:tav tm="100000">
                                          <p:val>
                                            <p:strVal val="#ppt_w"/>
                                          </p:val>
                                        </p:tav>
                                      </p:tavLst>
                                    </p:anim>
                                    <p:anim calcmode="lin" valueType="num">
                                      <p:cBhvr>
                                        <p:cTn id="34" dur="50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2" grpId="0" animBg="1"/>
      <p:bldP spid="11" grpId="0" animBg="1"/>
    </p:bld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1386</TotalTime>
  <Words>2102</Words>
  <Application>Microsoft Office PowerPoint</Application>
  <PresentationFormat>מסך רחב</PresentationFormat>
  <Paragraphs>141</Paragraphs>
  <Slides>58</Slides>
  <Notes>2</Notes>
  <HiddenSlides>0</HiddenSlides>
  <MMClips>1</MMClips>
  <ScaleCrop>false</ScaleCrop>
  <HeadingPairs>
    <vt:vector size="6" baseType="variant">
      <vt:variant>
        <vt:lpstr>גופנים בשימוש</vt:lpstr>
      </vt:variant>
      <vt:variant>
        <vt:i4>8</vt:i4>
      </vt:variant>
      <vt:variant>
        <vt:lpstr>ערכת נושא</vt:lpstr>
      </vt:variant>
      <vt:variant>
        <vt:i4>1</vt:i4>
      </vt:variant>
      <vt:variant>
        <vt:lpstr>כותרות שקופיות</vt:lpstr>
      </vt:variant>
      <vt:variant>
        <vt:i4>58</vt:i4>
      </vt:variant>
    </vt:vector>
  </HeadingPairs>
  <TitlesOfParts>
    <vt:vector size="67" baseType="lpstr">
      <vt:lpstr>Arial</vt:lpstr>
      <vt:lpstr>Arial</vt:lpstr>
      <vt:lpstr>Calibri</vt:lpstr>
      <vt:lpstr>Calibri Light</vt:lpstr>
      <vt:lpstr>David</vt:lpstr>
      <vt:lpstr>Guttman Stam</vt:lpstr>
      <vt:lpstr>Helvetica Neue</vt:lpstr>
      <vt:lpstr>Times New Roman</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שמואל כץ</dc:creator>
  <cp:lastModifiedBy>שמואל כץ</cp:lastModifiedBy>
  <cp:revision>71</cp:revision>
  <dcterms:created xsi:type="dcterms:W3CDTF">2020-08-20T11:18:45Z</dcterms:created>
  <dcterms:modified xsi:type="dcterms:W3CDTF">2026-10-21T08:34:36Z</dcterms:modified>
</cp:coreProperties>
</file>