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 id="2147483655" r:id="rId2"/>
    <p:sldMasterId id="2147483680" r:id="rId3"/>
  </p:sldMasterIdLst>
  <p:notesMasterIdLst>
    <p:notesMasterId r:id="rId114"/>
  </p:notesMasterIdLst>
  <p:sldIdLst>
    <p:sldId id="520" r:id="rId4"/>
    <p:sldId id="368" r:id="rId5"/>
    <p:sldId id="571" r:id="rId6"/>
    <p:sldId id="558" r:id="rId7"/>
    <p:sldId id="559" r:id="rId8"/>
    <p:sldId id="560" r:id="rId9"/>
    <p:sldId id="561" r:id="rId10"/>
    <p:sldId id="562" r:id="rId11"/>
    <p:sldId id="470" r:id="rId12"/>
    <p:sldId id="693" r:id="rId13"/>
    <p:sldId id="553" r:id="rId14"/>
    <p:sldId id="519" r:id="rId15"/>
    <p:sldId id="526" r:id="rId16"/>
    <p:sldId id="530" r:id="rId17"/>
    <p:sldId id="419" r:id="rId18"/>
    <p:sldId id="453" r:id="rId19"/>
    <p:sldId id="454" r:id="rId20"/>
    <p:sldId id="392" r:id="rId21"/>
    <p:sldId id="513" r:id="rId22"/>
    <p:sldId id="424" r:id="rId23"/>
    <p:sldId id="444" r:id="rId24"/>
    <p:sldId id="426" r:id="rId25"/>
    <p:sldId id="449" r:id="rId26"/>
    <p:sldId id="451" r:id="rId27"/>
    <p:sldId id="514" r:id="rId28"/>
    <p:sldId id="427" r:id="rId29"/>
    <p:sldId id="428" r:id="rId30"/>
    <p:sldId id="450" r:id="rId31"/>
    <p:sldId id="442" r:id="rId32"/>
    <p:sldId id="455" r:id="rId33"/>
    <p:sldId id="503" r:id="rId34"/>
    <p:sldId id="422" r:id="rId35"/>
    <p:sldId id="698" r:id="rId36"/>
    <p:sldId id="504" r:id="rId37"/>
    <p:sldId id="456" r:id="rId38"/>
    <p:sldId id="505" r:id="rId39"/>
    <p:sldId id="430" r:id="rId40"/>
    <p:sldId id="432" r:id="rId41"/>
    <p:sldId id="487" r:id="rId42"/>
    <p:sldId id="388" r:id="rId43"/>
    <p:sldId id="538" r:id="rId44"/>
    <p:sldId id="433" r:id="rId45"/>
    <p:sldId id="431" r:id="rId46"/>
    <p:sldId id="506" r:id="rId47"/>
    <p:sldId id="507" r:id="rId48"/>
    <p:sldId id="460" r:id="rId49"/>
    <p:sldId id="462" r:id="rId50"/>
    <p:sldId id="490" r:id="rId51"/>
    <p:sldId id="466" r:id="rId52"/>
    <p:sldId id="509" r:id="rId53"/>
    <p:sldId id="464" r:id="rId54"/>
    <p:sldId id="465" r:id="rId55"/>
    <p:sldId id="467" r:id="rId56"/>
    <p:sldId id="469" r:id="rId57"/>
    <p:sldId id="436" r:id="rId58"/>
    <p:sldId id="435" r:id="rId59"/>
    <p:sldId id="437" r:id="rId60"/>
    <p:sldId id="409" r:id="rId61"/>
    <p:sldId id="534" r:id="rId62"/>
    <p:sldId id="510" r:id="rId63"/>
    <p:sldId id="472" r:id="rId64"/>
    <p:sldId id="511" r:id="rId65"/>
    <p:sldId id="474" r:id="rId66"/>
    <p:sldId id="475" r:id="rId67"/>
    <p:sldId id="482" r:id="rId68"/>
    <p:sldId id="484" r:id="rId69"/>
    <p:sldId id="512" r:id="rId70"/>
    <p:sldId id="499" r:id="rId71"/>
    <p:sldId id="483" r:id="rId72"/>
    <p:sldId id="410" r:id="rId73"/>
    <p:sldId id="476" r:id="rId74"/>
    <p:sldId id="477" r:id="rId75"/>
    <p:sldId id="491" r:id="rId76"/>
    <p:sldId id="413" r:id="rId77"/>
    <p:sldId id="411" r:id="rId78"/>
    <p:sldId id="479" r:id="rId79"/>
    <p:sldId id="412" r:id="rId80"/>
    <p:sldId id="494" r:id="rId81"/>
    <p:sldId id="414" r:id="rId82"/>
    <p:sldId id="481" r:id="rId83"/>
    <p:sldId id="415" r:id="rId84"/>
    <p:sldId id="492" r:id="rId85"/>
    <p:sldId id="493" r:id="rId86"/>
    <p:sldId id="441" r:id="rId87"/>
    <p:sldId id="527" r:id="rId88"/>
    <p:sldId id="525" r:id="rId89"/>
    <p:sldId id="542" r:id="rId90"/>
    <p:sldId id="566" r:id="rId91"/>
    <p:sldId id="532" r:id="rId92"/>
    <p:sldId id="563" r:id="rId93"/>
    <p:sldId id="756" r:id="rId94"/>
    <p:sldId id="757" r:id="rId95"/>
    <p:sldId id="758" r:id="rId96"/>
    <p:sldId id="567" r:id="rId97"/>
    <p:sldId id="389" r:id="rId98"/>
    <p:sldId id="543" r:id="rId99"/>
    <p:sldId id="544" r:id="rId100"/>
    <p:sldId id="531" r:id="rId101"/>
    <p:sldId id="535" r:id="rId102"/>
    <p:sldId id="533" r:id="rId103"/>
    <p:sldId id="696" r:id="rId104"/>
    <p:sldId id="694" r:id="rId105"/>
    <p:sldId id="695" r:id="rId106"/>
    <p:sldId id="697" r:id="rId107"/>
    <p:sldId id="539" r:id="rId108"/>
    <p:sldId id="570" r:id="rId109"/>
    <p:sldId id="564" r:id="rId110"/>
    <p:sldId id="565" r:id="rId111"/>
    <p:sldId id="537" r:id="rId112"/>
    <p:sldId id="568" r:id="rId113"/>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17F5"/>
    <a:srgbClr val="76E3FF"/>
    <a:srgbClr val="0096D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30" autoAdjust="0"/>
  </p:normalViewPr>
  <p:slideViewPr>
    <p:cSldViewPr>
      <p:cViewPr varScale="1">
        <p:scale>
          <a:sx n="100" d="100"/>
          <a:sy n="100" d="100"/>
        </p:scale>
        <p:origin x="191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theme" Target="theme/theme1.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tableStyles" Target="tableStyle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notesMaster" Target="notesMasters/notesMaster1.xml"/><Relationship Id="rId119"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אלעד סלע" userId="e258557df0731695" providerId="LiveId" clId="{62F202C2-D1B3-4E8A-9F8F-F6376ADD07FC}"/>
    <pc:docChg chg="addSld delSld modSld sldOrd">
      <pc:chgData name="אלעד סלע" userId="e258557df0731695" providerId="LiveId" clId="{62F202C2-D1B3-4E8A-9F8F-F6376ADD07FC}" dt="2023-11-02T20:11:15.039" v="109"/>
      <pc:docMkLst>
        <pc:docMk/>
      </pc:docMkLst>
      <pc:sldChg chg="add del">
        <pc:chgData name="אלעד סלע" userId="e258557df0731695" providerId="LiveId" clId="{62F202C2-D1B3-4E8A-9F8F-F6376ADD07FC}" dt="2023-11-02T20:09:03.409" v="105"/>
        <pc:sldMkLst>
          <pc:docMk/>
          <pc:sldMk cId="2119469220" sldId="368"/>
        </pc:sldMkLst>
      </pc:sldChg>
      <pc:sldChg chg="modSp mod">
        <pc:chgData name="אלעד סלע" userId="e258557df0731695" providerId="LiveId" clId="{62F202C2-D1B3-4E8A-9F8F-F6376ADD07FC}" dt="2023-10-31T20:38:54.871" v="49" actId="207"/>
        <pc:sldMkLst>
          <pc:docMk/>
          <pc:sldMk cId="3832799204" sldId="388"/>
        </pc:sldMkLst>
        <pc:spChg chg="mod">
          <ac:chgData name="אלעד סלע" userId="e258557df0731695" providerId="LiveId" clId="{62F202C2-D1B3-4E8A-9F8F-F6376ADD07FC}" dt="2023-10-31T20:38:54.871" v="49" actId="207"/>
          <ac:spMkLst>
            <pc:docMk/>
            <pc:sldMk cId="3832799204" sldId="388"/>
            <ac:spMk id="6" creationId="{00000000-0000-0000-0000-000000000000}"/>
          </ac:spMkLst>
        </pc:spChg>
        <pc:spChg chg="mod">
          <ac:chgData name="אלעד סלע" userId="e258557df0731695" providerId="LiveId" clId="{62F202C2-D1B3-4E8A-9F8F-F6376ADD07FC}" dt="2023-10-31T06:18:10.639" v="1" actId="20577"/>
          <ac:spMkLst>
            <pc:docMk/>
            <pc:sldMk cId="3832799204" sldId="388"/>
            <ac:spMk id="7" creationId="{00000000-0000-0000-0000-000000000000}"/>
          </ac:spMkLst>
        </pc:spChg>
      </pc:sldChg>
      <pc:sldChg chg="modSp mod">
        <pc:chgData name="אלעד סלע" userId="e258557df0731695" providerId="LiveId" clId="{62F202C2-D1B3-4E8A-9F8F-F6376ADD07FC}" dt="2023-10-31T20:14:20.121" v="4" actId="20577"/>
        <pc:sldMkLst>
          <pc:docMk/>
          <pc:sldMk cId="2979254939" sldId="392"/>
        </pc:sldMkLst>
        <pc:spChg chg="mod">
          <ac:chgData name="אלעד סלע" userId="e258557df0731695" providerId="LiveId" clId="{62F202C2-D1B3-4E8A-9F8F-F6376ADD07FC}" dt="2023-10-31T20:14:20.121" v="4" actId="20577"/>
          <ac:spMkLst>
            <pc:docMk/>
            <pc:sldMk cId="2979254939" sldId="392"/>
            <ac:spMk id="4" creationId="{00000000-0000-0000-0000-000000000000}"/>
          </ac:spMkLst>
        </pc:spChg>
        <pc:spChg chg="mod">
          <ac:chgData name="אלעד סלע" userId="e258557df0731695" providerId="LiveId" clId="{62F202C2-D1B3-4E8A-9F8F-F6376ADD07FC}" dt="2023-10-31T20:14:12.381" v="3" actId="20577"/>
          <ac:spMkLst>
            <pc:docMk/>
            <pc:sldMk cId="2979254939" sldId="392"/>
            <ac:spMk id="6" creationId="{00000000-0000-0000-0000-000000000000}"/>
          </ac:spMkLst>
        </pc:spChg>
      </pc:sldChg>
      <pc:sldChg chg="modSp mod">
        <pc:chgData name="אלעד סלע" userId="e258557df0731695" providerId="LiveId" clId="{62F202C2-D1B3-4E8A-9F8F-F6376ADD07FC}" dt="2023-10-31T21:07:46.223" v="86" actId="207"/>
        <pc:sldMkLst>
          <pc:docMk/>
          <pc:sldMk cId="3335227635" sldId="410"/>
        </pc:sldMkLst>
        <pc:spChg chg="mod">
          <ac:chgData name="אלעד סלע" userId="e258557df0731695" providerId="LiveId" clId="{62F202C2-D1B3-4E8A-9F8F-F6376ADD07FC}" dt="2023-10-31T21:07:42.151" v="85" actId="207"/>
          <ac:spMkLst>
            <pc:docMk/>
            <pc:sldMk cId="3335227635" sldId="410"/>
            <ac:spMk id="14" creationId="{00000000-0000-0000-0000-000000000000}"/>
          </ac:spMkLst>
        </pc:spChg>
        <pc:spChg chg="mod">
          <ac:chgData name="אלעד סלע" userId="e258557df0731695" providerId="LiveId" clId="{62F202C2-D1B3-4E8A-9F8F-F6376ADD07FC}" dt="2023-10-31T21:07:46.223" v="86" actId="207"/>
          <ac:spMkLst>
            <pc:docMk/>
            <pc:sldMk cId="3335227635" sldId="410"/>
            <ac:spMk id="16" creationId="{00000000-0000-0000-0000-000000000000}"/>
          </ac:spMkLst>
        </pc:spChg>
      </pc:sldChg>
      <pc:sldChg chg="modSp mod">
        <pc:chgData name="אלעד סלע" userId="e258557df0731695" providerId="LiveId" clId="{62F202C2-D1B3-4E8A-9F8F-F6376ADD07FC}" dt="2023-10-31T21:08:49.783" v="87" actId="207"/>
        <pc:sldMkLst>
          <pc:docMk/>
          <pc:sldMk cId="427336800" sldId="411"/>
        </pc:sldMkLst>
        <pc:spChg chg="mod">
          <ac:chgData name="אלעד סלע" userId="e258557df0731695" providerId="LiveId" clId="{62F202C2-D1B3-4E8A-9F8F-F6376ADD07FC}" dt="2023-10-31T21:08:49.783" v="87" actId="207"/>
          <ac:spMkLst>
            <pc:docMk/>
            <pc:sldMk cId="427336800" sldId="411"/>
            <ac:spMk id="11" creationId="{00000000-0000-0000-0000-000000000000}"/>
          </ac:spMkLst>
        </pc:spChg>
      </pc:sldChg>
      <pc:sldChg chg="modSp mod">
        <pc:chgData name="אלעד סלע" userId="e258557df0731695" providerId="LiveId" clId="{62F202C2-D1B3-4E8A-9F8F-F6376ADD07FC}" dt="2023-10-31T20:32:20.297" v="44" actId="1076"/>
        <pc:sldMkLst>
          <pc:docMk/>
          <pc:sldMk cId="0" sldId="422"/>
        </pc:sldMkLst>
        <pc:spChg chg="mod">
          <ac:chgData name="אלעד סלע" userId="e258557df0731695" providerId="LiveId" clId="{62F202C2-D1B3-4E8A-9F8F-F6376ADD07FC}" dt="2023-10-31T20:32:20.297" v="44" actId="1076"/>
          <ac:spMkLst>
            <pc:docMk/>
            <pc:sldMk cId="0" sldId="422"/>
            <ac:spMk id="4" creationId="{00000000-0000-0000-0000-000000000000}"/>
          </ac:spMkLst>
        </pc:spChg>
        <pc:spChg chg="mod">
          <ac:chgData name="אלעד סלע" userId="e258557df0731695" providerId="LiveId" clId="{62F202C2-D1B3-4E8A-9F8F-F6376ADD07FC}" dt="2023-10-31T20:31:50.939" v="43" actId="1076"/>
          <ac:spMkLst>
            <pc:docMk/>
            <pc:sldMk cId="0" sldId="422"/>
            <ac:spMk id="13" creationId="{00000000-0000-0000-0000-000000000000}"/>
          </ac:spMkLst>
        </pc:spChg>
      </pc:sldChg>
      <pc:sldChg chg="modSp mod">
        <pc:chgData name="אלעד סלע" userId="e258557df0731695" providerId="LiveId" clId="{62F202C2-D1B3-4E8A-9F8F-F6376ADD07FC}" dt="2023-10-31T20:18:46.415" v="7" actId="1076"/>
        <pc:sldMkLst>
          <pc:docMk/>
          <pc:sldMk cId="637463620" sldId="424"/>
        </pc:sldMkLst>
        <pc:spChg chg="mod">
          <ac:chgData name="אלעד סלע" userId="e258557df0731695" providerId="LiveId" clId="{62F202C2-D1B3-4E8A-9F8F-F6376ADD07FC}" dt="2023-10-31T20:18:40.368" v="6" actId="1076"/>
          <ac:spMkLst>
            <pc:docMk/>
            <pc:sldMk cId="637463620" sldId="424"/>
            <ac:spMk id="4" creationId="{00000000-0000-0000-0000-000000000000}"/>
          </ac:spMkLst>
        </pc:spChg>
        <pc:spChg chg="mod">
          <ac:chgData name="אלעד סלע" userId="e258557df0731695" providerId="LiveId" clId="{62F202C2-D1B3-4E8A-9F8F-F6376ADD07FC}" dt="2023-10-31T20:18:46.415" v="7" actId="1076"/>
          <ac:spMkLst>
            <pc:docMk/>
            <pc:sldMk cId="637463620" sldId="424"/>
            <ac:spMk id="10" creationId="{00000000-0000-0000-0000-000000000000}"/>
          </ac:spMkLst>
        </pc:spChg>
        <pc:picChg chg="mod">
          <ac:chgData name="אלעד סלע" userId="e258557df0731695" providerId="LiveId" clId="{62F202C2-D1B3-4E8A-9F8F-F6376ADD07FC}" dt="2023-10-31T20:18:36.026" v="5" actId="1076"/>
          <ac:picMkLst>
            <pc:docMk/>
            <pc:sldMk cId="637463620" sldId="424"/>
            <ac:picMk id="9" creationId="{00000000-0000-0000-0000-000000000000}"/>
          </ac:picMkLst>
        </pc:picChg>
      </pc:sldChg>
      <pc:sldChg chg="modSp mod">
        <pc:chgData name="אלעד סלע" userId="e258557df0731695" providerId="LiveId" clId="{62F202C2-D1B3-4E8A-9F8F-F6376ADD07FC}" dt="2023-10-31T20:22:16.330" v="11" actId="207"/>
        <pc:sldMkLst>
          <pc:docMk/>
          <pc:sldMk cId="954947374" sldId="426"/>
        </pc:sldMkLst>
        <pc:spChg chg="mod">
          <ac:chgData name="אלעד סלע" userId="e258557df0731695" providerId="LiveId" clId="{62F202C2-D1B3-4E8A-9F8F-F6376ADD07FC}" dt="2023-10-31T20:22:01.181" v="10" actId="20577"/>
          <ac:spMkLst>
            <pc:docMk/>
            <pc:sldMk cId="954947374" sldId="426"/>
            <ac:spMk id="3" creationId="{00000000-0000-0000-0000-000000000000}"/>
          </ac:spMkLst>
        </pc:spChg>
        <pc:spChg chg="mod">
          <ac:chgData name="אלעד סלע" userId="e258557df0731695" providerId="LiveId" clId="{62F202C2-D1B3-4E8A-9F8F-F6376ADD07FC}" dt="2023-10-31T20:22:16.330" v="11" actId="207"/>
          <ac:spMkLst>
            <pc:docMk/>
            <pc:sldMk cId="954947374" sldId="426"/>
            <ac:spMk id="8" creationId="{00000000-0000-0000-0000-000000000000}"/>
          </ac:spMkLst>
        </pc:spChg>
      </pc:sldChg>
      <pc:sldChg chg="modSp mod">
        <pc:chgData name="אלעד סלע" userId="e258557df0731695" providerId="LiveId" clId="{62F202C2-D1B3-4E8A-9F8F-F6376ADD07FC}" dt="2023-10-31T20:25:45.963" v="18" actId="1076"/>
        <pc:sldMkLst>
          <pc:docMk/>
          <pc:sldMk cId="2886694727" sldId="428"/>
        </pc:sldMkLst>
        <pc:spChg chg="mod">
          <ac:chgData name="אלעד סלע" userId="e258557df0731695" providerId="LiveId" clId="{62F202C2-D1B3-4E8A-9F8F-F6376ADD07FC}" dt="2023-10-31T20:25:45.963" v="18" actId="1076"/>
          <ac:spMkLst>
            <pc:docMk/>
            <pc:sldMk cId="2886694727" sldId="428"/>
            <ac:spMk id="8" creationId="{00000000-0000-0000-0000-000000000000}"/>
          </ac:spMkLst>
        </pc:spChg>
      </pc:sldChg>
      <pc:sldChg chg="modSp mod">
        <pc:chgData name="אלעד סלע" userId="e258557df0731695" providerId="LiveId" clId="{62F202C2-D1B3-4E8A-9F8F-F6376ADD07FC}" dt="2023-10-31T20:36:10.127" v="47" actId="207"/>
        <pc:sldMkLst>
          <pc:docMk/>
          <pc:sldMk cId="2855552537" sldId="430"/>
        </pc:sldMkLst>
        <pc:spChg chg="mod">
          <ac:chgData name="אלעד סלע" userId="e258557df0731695" providerId="LiveId" clId="{62F202C2-D1B3-4E8A-9F8F-F6376ADD07FC}" dt="2023-10-31T20:36:10.127" v="47" actId="207"/>
          <ac:spMkLst>
            <pc:docMk/>
            <pc:sldMk cId="2855552537" sldId="430"/>
            <ac:spMk id="5" creationId="{00000000-0000-0000-0000-000000000000}"/>
          </ac:spMkLst>
        </pc:spChg>
      </pc:sldChg>
      <pc:sldChg chg="modSp mod">
        <pc:chgData name="אלעד סלע" userId="e258557df0731695" providerId="LiveId" clId="{62F202C2-D1B3-4E8A-9F8F-F6376ADD07FC}" dt="2023-10-31T20:29:05.152" v="28" actId="1076"/>
        <pc:sldMkLst>
          <pc:docMk/>
          <pc:sldMk cId="0" sldId="442"/>
        </pc:sldMkLst>
        <pc:spChg chg="mod">
          <ac:chgData name="אלעד סלע" userId="e258557df0731695" providerId="LiveId" clId="{62F202C2-D1B3-4E8A-9F8F-F6376ADD07FC}" dt="2023-10-31T20:28:46.044" v="23" actId="1076"/>
          <ac:spMkLst>
            <pc:docMk/>
            <pc:sldMk cId="0" sldId="442"/>
            <ac:spMk id="2" creationId="{00000000-0000-0000-0000-000000000000}"/>
          </ac:spMkLst>
        </pc:spChg>
        <pc:spChg chg="mod">
          <ac:chgData name="אלעד סלע" userId="e258557df0731695" providerId="LiveId" clId="{62F202C2-D1B3-4E8A-9F8F-F6376ADD07FC}" dt="2023-10-31T20:28:40.508" v="22" actId="1076"/>
          <ac:spMkLst>
            <pc:docMk/>
            <pc:sldMk cId="0" sldId="442"/>
            <ac:spMk id="3" creationId="{00000000-0000-0000-0000-000000000000}"/>
          </ac:spMkLst>
        </pc:spChg>
        <pc:spChg chg="mod">
          <ac:chgData name="אלעד סלע" userId="e258557df0731695" providerId="LiveId" clId="{62F202C2-D1B3-4E8A-9F8F-F6376ADD07FC}" dt="2023-10-31T20:29:05.152" v="28" actId="1076"/>
          <ac:spMkLst>
            <pc:docMk/>
            <pc:sldMk cId="0" sldId="442"/>
            <ac:spMk id="5" creationId="{00000000-0000-0000-0000-000000000000}"/>
          </ac:spMkLst>
        </pc:spChg>
        <pc:picChg chg="mod">
          <ac:chgData name="אלעד סלע" userId="e258557df0731695" providerId="LiveId" clId="{62F202C2-D1B3-4E8A-9F8F-F6376ADD07FC}" dt="2023-10-31T20:29:00.532" v="27" actId="14100"/>
          <ac:picMkLst>
            <pc:docMk/>
            <pc:sldMk cId="0" sldId="442"/>
            <ac:picMk id="4" creationId="{00000000-0000-0000-0000-000000000000}"/>
          </ac:picMkLst>
        </pc:picChg>
        <pc:picChg chg="mod">
          <ac:chgData name="אלעד סלע" userId="e258557df0731695" providerId="LiveId" clId="{62F202C2-D1B3-4E8A-9F8F-F6376ADD07FC}" dt="2023-10-31T20:28:57.814" v="26" actId="14100"/>
          <ac:picMkLst>
            <pc:docMk/>
            <pc:sldMk cId="0" sldId="442"/>
            <ac:picMk id="11" creationId="{00000000-0000-0000-0000-000000000000}"/>
          </ac:picMkLst>
        </pc:picChg>
      </pc:sldChg>
      <pc:sldChg chg="modSp mod">
        <pc:chgData name="אלעד סלע" userId="e258557df0731695" providerId="LiveId" clId="{62F202C2-D1B3-4E8A-9F8F-F6376ADD07FC}" dt="2023-10-31T20:19:59.635" v="9" actId="1076"/>
        <pc:sldMkLst>
          <pc:docMk/>
          <pc:sldMk cId="0" sldId="444"/>
        </pc:sldMkLst>
        <pc:spChg chg="mod">
          <ac:chgData name="אלעד סלע" userId="e258557df0731695" providerId="LiveId" clId="{62F202C2-D1B3-4E8A-9F8F-F6376ADD07FC}" dt="2023-10-31T20:19:59.635" v="9" actId="1076"/>
          <ac:spMkLst>
            <pc:docMk/>
            <pc:sldMk cId="0" sldId="444"/>
            <ac:spMk id="4" creationId="{00000000-0000-0000-0000-000000000000}"/>
          </ac:spMkLst>
        </pc:spChg>
        <pc:spChg chg="mod">
          <ac:chgData name="אלעד סלע" userId="e258557df0731695" providerId="LiveId" clId="{62F202C2-D1B3-4E8A-9F8F-F6376ADD07FC}" dt="2023-10-31T20:19:32.420" v="8" actId="207"/>
          <ac:spMkLst>
            <pc:docMk/>
            <pc:sldMk cId="0" sldId="444"/>
            <ac:spMk id="9" creationId="{00000000-0000-0000-0000-000000000000}"/>
          </ac:spMkLst>
        </pc:spChg>
      </pc:sldChg>
      <pc:sldChg chg="modSp mod">
        <pc:chgData name="אלעד סלע" userId="e258557df0731695" providerId="LiveId" clId="{62F202C2-D1B3-4E8A-9F8F-F6376ADD07FC}" dt="2023-10-31T20:22:43.481" v="15" actId="1076"/>
        <pc:sldMkLst>
          <pc:docMk/>
          <pc:sldMk cId="0" sldId="449"/>
        </pc:sldMkLst>
        <pc:spChg chg="mod">
          <ac:chgData name="אלעד סלע" userId="e258557df0731695" providerId="LiveId" clId="{62F202C2-D1B3-4E8A-9F8F-F6376ADD07FC}" dt="2023-10-31T20:22:36.406" v="13" actId="1076"/>
          <ac:spMkLst>
            <pc:docMk/>
            <pc:sldMk cId="0" sldId="449"/>
            <ac:spMk id="2" creationId="{00000000-0000-0000-0000-000000000000}"/>
          </ac:spMkLst>
        </pc:spChg>
        <pc:spChg chg="mod">
          <ac:chgData name="אלעד סלע" userId="e258557df0731695" providerId="LiveId" clId="{62F202C2-D1B3-4E8A-9F8F-F6376ADD07FC}" dt="2023-10-31T20:22:43.481" v="15" actId="1076"/>
          <ac:spMkLst>
            <pc:docMk/>
            <pc:sldMk cId="0" sldId="449"/>
            <ac:spMk id="3" creationId="{00000000-0000-0000-0000-000000000000}"/>
          </ac:spMkLst>
        </pc:spChg>
        <pc:spChg chg="mod">
          <ac:chgData name="אלעד סלע" userId="e258557df0731695" providerId="LiveId" clId="{62F202C2-D1B3-4E8A-9F8F-F6376ADD07FC}" dt="2023-10-31T20:22:39.215" v="14" actId="1076"/>
          <ac:spMkLst>
            <pc:docMk/>
            <pc:sldMk cId="0" sldId="449"/>
            <ac:spMk id="8" creationId="{00000000-0000-0000-0000-000000000000}"/>
          </ac:spMkLst>
        </pc:spChg>
      </pc:sldChg>
      <pc:sldChg chg="modSp mod">
        <pc:chgData name="אלעד סלע" userId="e258557df0731695" providerId="LiveId" clId="{62F202C2-D1B3-4E8A-9F8F-F6376ADD07FC}" dt="2023-10-31T20:28:02.993" v="21" actId="20577"/>
        <pc:sldMkLst>
          <pc:docMk/>
          <pc:sldMk cId="0" sldId="450"/>
        </pc:sldMkLst>
        <pc:spChg chg="mod">
          <ac:chgData name="אלעד סלע" userId="e258557df0731695" providerId="LiveId" clId="{62F202C2-D1B3-4E8A-9F8F-F6376ADD07FC}" dt="2023-10-31T20:27:07.766" v="19" actId="1076"/>
          <ac:spMkLst>
            <pc:docMk/>
            <pc:sldMk cId="0" sldId="450"/>
            <ac:spMk id="7" creationId="{00000000-0000-0000-0000-000000000000}"/>
          </ac:spMkLst>
        </pc:spChg>
        <pc:spChg chg="mod">
          <ac:chgData name="אלעד סלע" userId="e258557df0731695" providerId="LiveId" clId="{62F202C2-D1B3-4E8A-9F8F-F6376ADD07FC}" dt="2023-10-31T20:28:02.993" v="21" actId="20577"/>
          <ac:spMkLst>
            <pc:docMk/>
            <pc:sldMk cId="0" sldId="450"/>
            <ac:spMk id="11" creationId="{00000000-0000-0000-0000-000000000000}"/>
          </ac:spMkLst>
        </pc:spChg>
      </pc:sldChg>
      <pc:sldChg chg="modSp mod">
        <pc:chgData name="אלעד סלע" userId="e258557df0731695" providerId="LiveId" clId="{62F202C2-D1B3-4E8A-9F8F-F6376ADD07FC}" dt="2023-10-31T20:30:37.733" v="42" actId="1076"/>
        <pc:sldMkLst>
          <pc:docMk/>
          <pc:sldMk cId="0" sldId="455"/>
        </pc:sldMkLst>
        <pc:spChg chg="mod">
          <ac:chgData name="אלעד סלע" userId="e258557df0731695" providerId="LiveId" clId="{62F202C2-D1B3-4E8A-9F8F-F6376ADD07FC}" dt="2023-10-31T20:30:29.394" v="39" actId="1076"/>
          <ac:spMkLst>
            <pc:docMk/>
            <pc:sldMk cId="0" sldId="455"/>
            <ac:spMk id="4" creationId="{00000000-0000-0000-0000-000000000000}"/>
          </ac:spMkLst>
        </pc:spChg>
        <pc:spChg chg="mod">
          <ac:chgData name="אלעד סלע" userId="e258557df0731695" providerId="LiveId" clId="{62F202C2-D1B3-4E8A-9F8F-F6376ADD07FC}" dt="2023-10-31T20:30:31.482" v="40" actId="1076"/>
          <ac:spMkLst>
            <pc:docMk/>
            <pc:sldMk cId="0" sldId="455"/>
            <ac:spMk id="13" creationId="{00000000-0000-0000-0000-000000000000}"/>
          </ac:spMkLst>
        </pc:spChg>
        <pc:picChg chg="mod">
          <ac:chgData name="אלעד סלע" userId="e258557df0731695" providerId="LiveId" clId="{62F202C2-D1B3-4E8A-9F8F-F6376ADD07FC}" dt="2023-10-31T20:30:13.663" v="35" actId="1076"/>
          <ac:picMkLst>
            <pc:docMk/>
            <pc:sldMk cId="0" sldId="455"/>
            <ac:picMk id="5" creationId="{00000000-0000-0000-0000-000000000000}"/>
          </ac:picMkLst>
        </pc:picChg>
        <pc:picChg chg="mod">
          <ac:chgData name="אלעד סלע" userId="e258557df0731695" providerId="LiveId" clId="{62F202C2-D1B3-4E8A-9F8F-F6376ADD07FC}" dt="2023-10-31T20:30:37.733" v="42" actId="1076"/>
          <ac:picMkLst>
            <pc:docMk/>
            <pc:sldMk cId="0" sldId="455"/>
            <ac:picMk id="4098" creationId="{00000000-0000-0000-0000-000000000000}"/>
          </ac:picMkLst>
        </pc:picChg>
        <pc:picChg chg="mod">
          <ac:chgData name="אלעד סלע" userId="e258557df0731695" providerId="LiveId" clId="{62F202C2-D1B3-4E8A-9F8F-F6376ADD07FC}" dt="2023-10-31T20:30:35.893" v="41" actId="1076"/>
          <ac:picMkLst>
            <pc:docMk/>
            <pc:sldMk cId="0" sldId="455"/>
            <ac:picMk id="7171" creationId="{00000000-0000-0000-0000-000000000000}"/>
          </ac:picMkLst>
        </pc:picChg>
      </pc:sldChg>
      <pc:sldChg chg="modSp mod">
        <pc:chgData name="אלעד סלע" userId="e258557df0731695" providerId="LiveId" clId="{62F202C2-D1B3-4E8A-9F8F-F6376ADD07FC}" dt="2023-10-31T20:35:22.074" v="46" actId="1076"/>
        <pc:sldMkLst>
          <pc:docMk/>
          <pc:sldMk cId="0" sldId="456"/>
        </pc:sldMkLst>
        <pc:spChg chg="mod">
          <ac:chgData name="אלעד סלע" userId="e258557df0731695" providerId="LiveId" clId="{62F202C2-D1B3-4E8A-9F8F-F6376ADD07FC}" dt="2023-10-31T20:35:22.074" v="46" actId="1076"/>
          <ac:spMkLst>
            <pc:docMk/>
            <pc:sldMk cId="0" sldId="456"/>
            <ac:spMk id="6" creationId="{00000000-0000-0000-0000-000000000000}"/>
          </ac:spMkLst>
        </pc:spChg>
        <pc:spChg chg="mod">
          <ac:chgData name="אלעד סלע" userId="e258557df0731695" providerId="LiveId" clId="{62F202C2-D1B3-4E8A-9F8F-F6376ADD07FC}" dt="2023-10-31T20:34:02.618" v="45" actId="1076"/>
          <ac:spMkLst>
            <pc:docMk/>
            <pc:sldMk cId="0" sldId="456"/>
            <ac:spMk id="12" creationId="{00000000-0000-0000-0000-000000000000}"/>
          </ac:spMkLst>
        </pc:spChg>
      </pc:sldChg>
      <pc:sldChg chg="modSp mod">
        <pc:chgData name="אלעד סלע" userId="e258557df0731695" providerId="LiveId" clId="{62F202C2-D1B3-4E8A-9F8F-F6376ADD07FC}" dt="2023-10-31T20:48:15.549" v="54" actId="1076"/>
        <pc:sldMkLst>
          <pc:docMk/>
          <pc:sldMk cId="0" sldId="462"/>
        </pc:sldMkLst>
        <pc:spChg chg="mod">
          <ac:chgData name="אלעד סלע" userId="e258557df0731695" providerId="LiveId" clId="{62F202C2-D1B3-4E8A-9F8F-F6376ADD07FC}" dt="2023-10-31T20:48:15.549" v="54" actId="1076"/>
          <ac:spMkLst>
            <pc:docMk/>
            <pc:sldMk cId="0" sldId="462"/>
            <ac:spMk id="4" creationId="{00000000-0000-0000-0000-000000000000}"/>
          </ac:spMkLst>
        </pc:spChg>
        <pc:spChg chg="mod">
          <ac:chgData name="אלעד סלע" userId="e258557df0731695" providerId="LiveId" clId="{62F202C2-D1B3-4E8A-9F8F-F6376ADD07FC}" dt="2023-10-31T20:48:06.699" v="53" actId="207"/>
          <ac:spMkLst>
            <pc:docMk/>
            <pc:sldMk cId="0" sldId="462"/>
            <ac:spMk id="7" creationId="{00000000-0000-0000-0000-000000000000}"/>
          </ac:spMkLst>
        </pc:spChg>
      </pc:sldChg>
      <pc:sldChg chg="modSp mod">
        <pc:chgData name="אלעד סלע" userId="e258557df0731695" providerId="LiveId" clId="{62F202C2-D1B3-4E8A-9F8F-F6376ADD07FC}" dt="2023-10-31T20:57:09.766" v="77" actId="207"/>
        <pc:sldMkLst>
          <pc:docMk/>
          <pc:sldMk cId="0" sldId="464"/>
        </pc:sldMkLst>
        <pc:spChg chg="mod">
          <ac:chgData name="אלעד סלע" userId="e258557df0731695" providerId="LiveId" clId="{62F202C2-D1B3-4E8A-9F8F-F6376ADD07FC}" dt="2023-10-31T20:52:32.185" v="73" actId="1076"/>
          <ac:spMkLst>
            <pc:docMk/>
            <pc:sldMk cId="0" sldId="464"/>
            <ac:spMk id="3" creationId="{00000000-0000-0000-0000-000000000000}"/>
          </ac:spMkLst>
        </pc:spChg>
        <pc:spChg chg="mod">
          <ac:chgData name="אלעד סלע" userId="e258557df0731695" providerId="LiveId" clId="{62F202C2-D1B3-4E8A-9F8F-F6376ADD07FC}" dt="2023-10-31T20:57:05.862" v="76" actId="207"/>
          <ac:spMkLst>
            <pc:docMk/>
            <pc:sldMk cId="0" sldId="464"/>
            <ac:spMk id="12" creationId="{00000000-0000-0000-0000-000000000000}"/>
          </ac:spMkLst>
        </pc:spChg>
        <pc:spChg chg="mod">
          <ac:chgData name="אלעד סלע" userId="e258557df0731695" providerId="LiveId" clId="{62F202C2-D1B3-4E8A-9F8F-F6376ADD07FC}" dt="2023-10-31T20:57:09.766" v="77" actId="207"/>
          <ac:spMkLst>
            <pc:docMk/>
            <pc:sldMk cId="0" sldId="464"/>
            <ac:spMk id="14" creationId="{00000000-0000-0000-0000-000000000000}"/>
          </ac:spMkLst>
        </pc:spChg>
        <pc:picChg chg="mod">
          <ac:chgData name="אלעד סלע" userId="e258557df0731695" providerId="LiveId" clId="{62F202C2-D1B3-4E8A-9F8F-F6376ADD07FC}" dt="2023-10-31T20:52:37.431" v="74" actId="1076"/>
          <ac:picMkLst>
            <pc:docMk/>
            <pc:sldMk cId="0" sldId="464"/>
            <ac:picMk id="1026" creationId="{00000000-0000-0000-0000-000000000000}"/>
          </ac:picMkLst>
        </pc:picChg>
      </pc:sldChg>
      <pc:sldChg chg="modSp mod">
        <pc:chgData name="אלעד סלע" userId="e258557df0731695" providerId="LiveId" clId="{62F202C2-D1B3-4E8A-9F8F-F6376ADD07FC}" dt="2023-10-31T20:57:50.387" v="80" actId="207"/>
        <pc:sldMkLst>
          <pc:docMk/>
          <pc:sldMk cId="0" sldId="465"/>
        </pc:sldMkLst>
        <pc:spChg chg="mod">
          <ac:chgData name="אלעד סלע" userId="e258557df0731695" providerId="LiveId" clId="{62F202C2-D1B3-4E8A-9F8F-F6376ADD07FC}" dt="2023-10-31T20:57:50.387" v="80" actId="207"/>
          <ac:spMkLst>
            <pc:docMk/>
            <pc:sldMk cId="0" sldId="465"/>
            <ac:spMk id="5" creationId="{00000000-0000-0000-0000-000000000000}"/>
          </ac:spMkLst>
        </pc:spChg>
      </pc:sldChg>
      <pc:sldChg chg="modSp mod">
        <pc:chgData name="אלעד סלע" userId="e258557df0731695" providerId="LiveId" clId="{62F202C2-D1B3-4E8A-9F8F-F6376ADD07FC}" dt="2023-10-31T20:49:53.165" v="56" actId="207"/>
        <pc:sldMkLst>
          <pc:docMk/>
          <pc:sldMk cId="0" sldId="466"/>
        </pc:sldMkLst>
        <pc:spChg chg="mod">
          <ac:chgData name="אלעד סלע" userId="e258557df0731695" providerId="LiveId" clId="{62F202C2-D1B3-4E8A-9F8F-F6376ADD07FC}" dt="2023-10-31T20:49:53.165" v="56" actId="207"/>
          <ac:spMkLst>
            <pc:docMk/>
            <pc:sldMk cId="0" sldId="466"/>
            <ac:spMk id="23" creationId="{00000000-0000-0000-0000-000000000000}"/>
          </ac:spMkLst>
        </pc:spChg>
      </pc:sldChg>
      <pc:sldChg chg="modSp mod">
        <pc:chgData name="אלעד סלע" userId="e258557df0731695" providerId="LiveId" clId="{62F202C2-D1B3-4E8A-9F8F-F6376ADD07FC}" dt="2023-10-31T20:58:31.365" v="82" actId="20577"/>
        <pc:sldMkLst>
          <pc:docMk/>
          <pc:sldMk cId="0" sldId="469"/>
        </pc:sldMkLst>
        <pc:spChg chg="mod">
          <ac:chgData name="אלעד סלע" userId="e258557df0731695" providerId="LiveId" clId="{62F202C2-D1B3-4E8A-9F8F-F6376ADD07FC}" dt="2023-10-31T20:58:31.365" v="82" actId="20577"/>
          <ac:spMkLst>
            <pc:docMk/>
            <pc:sldMk cId="0" sldId="469"/>
            <ac:spMk id="9" creationId="{00000000-0000-0000-0000-000000000000}"/>
          </ac:spMkLst>
        </pc:spChg>
      </pc:sldChg>
      <pc:sldChg chg="add del">
        <pc:chgData name="אלעד סלע" userId="e258557df0731695" providerId="LiveId" clId="{62F202C2-D1B3-4E8A-9F8F-F6376ADD07FC}" dt="2023-11-02T20:11:15.039" v="109"/>
        <pc:sldMkLst>
          <pc:docMk/>
          <pc:sldMk cId="2193449480" sldId="470"/>
        </pc:sldMkLst>
      </pc:sldChg>
      <pc:sldChg chg="modSp mod">
        <pc:chgData name="אלעד סלע" userId="e258557df0731695" providerId="LiveId" clId="{62F202C2-D1B3-4E8A-9F8F-F6376ADD07FC}" dt="2023-10-31T21:11:22.621" v="93" actId="207"/>
        <pc:sldMkLst>
          <pc:docMk/>
          <pc:sldMk cId="0" sldId="481"/>
        </pc:sldMkLst>
        <pc:spChg chg="mod">
          <ac:chgData name="אלעד סלע" userId="e258557df0731695" providerId="LiveId" clId="{62F202C2-D1B3-4E8A-9F8F-F6376ADD07FC}" dt="2023-10-31T21:11:22.621" v="93" actId="207"/>
          <ac:spMkLst>
            <pc:docMk/>
            <pc:sldMk cId="0" sldId="481"/>
            <ac:spMk id="5" creationId="{00000000-0000-0000-0000-000000000000}"/>
          </ac:spMkLst>
        </pc:spChg>
      </pc:sldChg>
      <pc:sldChg chg="modSp mod">
        <pc:chgData name="אלעד סלע" userId="e258557df0731695" providerId="LiveId" clId="{62F202C2-D1B3-4E8A-9F8F-F6376ADD07FC}" dt="2023-10-31T21:06:02.497" v="83" actId="207"/>
        <pc:sldMkLst>
          <pc:docMk/>
          <pc:sldMk cId="0" sldId="482"/>
        </pc:sldMkLst>
        <pc:spChg chg="mod">
          <ac:chgData name="אלעד סלע" userId="e258557df0731695" providerId="LiveId" clId="{62F202C2-D1B3-4E8A-9F8F-F6376ADD07FC}" dt="2023-10-31T21:06:02.497" v="83" actId="207"/>
          <ac:spMkLst>
            <pc:docMk/>
            <pc:sldMk cId="0" sldId="482"/>
            <ac:spMk id="14" creationId="{00000000-0000-0000-0000-000000000000}"/>
          </ac:spMkLst>
        </pc:spChg>
      </pc:sldChg>
      <pc:sldChg chg="modSp mod">
        <pc:chgData name="אלעד סלע" userId="e258557df0731695" providerId="LiveId" clId="{62F202C2-D1B3-4E8A-9F8F-F6376ADD07FC}" dt="2023-10-31T21:06:54.280" v="84" actId="207"/>
        <pc:sldMkLst>
          <pc:docMk/>
          <pc:sldMk cId="0" sldId="483"/>
        </pc:sldMkLst>
        <pc:spChg chg="mod">
          <ac:chgData name="אלעד סלע" userId="e258557df0731695" providerId="LiveId" clId="{62F202C2-D1B3-4E8A-9F8F-F6376ADD07FC}" dt="2023-10-31T21:06:54.280" v="84" actId="207"/>
          <ac:spMkLst>
            <pc:docMk/>
            <pc:sldMk cId="0" sldId="483"/>
            <ac:spMk id="17" creationId="{00000000-0000-0000-0000-000000000000}"/>
          </ac:spMkLst>
        </pc:spChg>
      </pc:sldChg>
      <pc:sldChg chg="modSp mod">
        <pc:chgData name="אלעד סלע" userId="e258557df0731695" providerId="LiveId" clId="{62F202C2-D1B3-4E8A-9F8F-F6376ADD07FC}" dt="2023-10-31T20:37:22.706" v="48" actId="207"/>
        <pc:sldMkLst>
          <pc:docMk/>
          <pc:sldMk cId="0" sldId="487"/>
        </pc:sldMkLst>
        <pc:spChg chg="mod">
          <ac:chgData name="אלעד סלע" userId="e258557df0731695" providerId="LiveId" clId="{62F202C2-D1B3-4E8A-9F8F-F6376ADD07FC}" dt="2023-10-31T20:37:22.706" v="48" actId="207"/>
          <ac:spMkLst>
            <pc:docMk/>
            <pc:sldMk cId="0" sldId="487"/>
            <ac:spMk id="11" creationId="{00000000-0000-0000-0000-000000000000}"/>
          </ac:spMkLst>
        </pc:spChg>
      </pc:sldChg>
      <pc:sldChg chg="modSp mod">
        <pc:chgData name="אלעד סלע" userId="e258557df0731695" providerId="LiveId" clId="{62F202C2-D1B3-4E8A-9F8F-F6376ADD07FC}" dt="2023-10-31T20:49:12.901" v="55" actId="207"/>
        <pc:sldMkLst>
          <pc:docMk/>
          <pc:sldMk cId="0" sldId="490"/>
        </pc:sldMkLst>
        <pc:spChg chg="mod">
          <ac:chgData name="אלעד סלע" userId="e258557df0731695" providerId="LiveId" clId="{62F202C2-D1B3-4E8A-9F8F-F6376ADD07FC}" dt="2023-10-31T20:49:12.901" v="55" actId="207"/>
          <ac:spMkLst>
            <pc:docMk/>
            <pc:sldMk cId="0" sldId="490"/>
            <ac:spMk id="20" creationId="{00000000-0000-0000-0000-000000000000}"/>
          </ac:spMkLst>
        </pc:spChg>
      </pc:sldChg>
      <pc:sldChg chg="modSp mod">
        <pc:chgData name="אלעד סלע" userId="e258557df0731695" providerId="LiveId" clId="{62F202C2-D1B3-4E8A-9F8F-F6376ADD07FC}" dt="2023-10-31T21:10:18.013" v="92" actId="207"/>
        <pc:sldMkLst>
          <pc:docMk/>
          <pc:sldMk cId="0" sldId="494"/>
        </pc:sldMkLst>
        <pc:spChg chg="mod">
          <ac:chgData name="אלעד סלע" userId="e258557df0731695" providerId="LiveId" clId="{62F202C2-D1B3-4E8A-9F8F-F6376ADD07FC}" dt="2023-10-31T21:10:18.013" v="92" actId="207"/>
          <ac:spMkLst>
            <pc:docMk/>
            <pc:sldMk cId="0" sldId="494"/>
            <ac:spMk id="4" creationId="{00000000-0000-0000-0000-000000000000}"/>
          </ac:spMkLst>
        </pc:spChg>
        <pc:spChg chg="mod">
          <ac:chgData name="אלעד סלע" userId="e258557df0731695" providerId="LiveId" clId="{62F202C2-D1B3-4E8A-9F8F-F6376ADD07FC}" dt="2023-10-31T21:09:25.460" v="90" actId="1076"/>
          <ac:spMkLst>
            <pc:docMk/>
            <pc:sldMk cId="0" sldId="494"/>
            <ac:spMk id="5" creationId="{00000000-0000-0000-0000-000000000000}"/>
          </ac:spMkLst>
        </pc:spChg>
        <pc:spChg chg="mod">
          <ac:chgData name="אלעד סלע" userId="e258557df0731695" providerId="LiveId" clId="{62F202C2-D1B3-4E8A-9F8F-F6376ADD07FC}" dt="2023-10-31T21:09:21.191" v="89" actId="208"/>
          <ac:spMkLst>
            <pc:docMk/>
            <pc:sldMk cId="0" sldId="494"/>
            <ac:spMk id="6" creationId="{00000000-0000-0000-0000-000000000000}"/>
          </ac:spMkLst>
        </pc:spChg>
        <pc:spChg chg="mod">
          <ac:chgData name="אלעד סלע" userId="e258557df0731695" providerId="LiveId" clId="{62F202C2-D1B3-4E8A-9F8F-F6376ADD07FC}" dt="2023-10-31T21:09:57.481" v="91" actId="207"/>
          <ac:spMkLst>
            <pc:docMk/>
            <pc:sldMk cId="0" sldId="494"/>
            <ac:spMk id="7" creationId="{00000000-0000-0000-0000-000000000000}"/>
          </ac:spMkLst>
        </pc:spChg>
      </pc:sldChg>
      <pc:sldChg chg="modSp mod">
        <pc:chgData name="אלעד סלע" userId="e258557df0731695" providerId="LiveId" clId="{62F202C2-D1B3-4E8A-9F8F-F6376ADD07FC}" dt="2023-10-31T20:39:45.894" v="51" actId="1076"/>
        <pc:sldMkLst>
          <pc:docMk/>
          <pc:sldMk cId="0" sldId="506"/>
        </pc:sldMkLst>
        <pc:spChg chg="mod">
          <ac:chgData name="אלעד סלע" userId="e258557df0731695" providerId="LiveId" clId="{62F202C2-D1B3-4E8A-9F8F-F6376ADD07FC}" dt="2023-10-31T20:39:45.894" v="51" actId="1076"/>
          <ac:spMkLst>
            <pc:docMk/>
            <pc:sldMk cId="0" sldId="506"/>
            <ac:spMk id="5" creationId="{00000000-0000-0000-0000-000000000000}"/>
          </ac:spMkLst>
        </pc:spChg>
      </pc:sldChg>
      <pc:sldChg chg="modSp mod">
        <pc:chgData name="אלעד סלע" userId="e258557df0731695" providerId="LiveId" clId="{62F202C2-D1B3-4E8A-9F8F-F6376ADD07FC}" dt="2023-10-31T20:40:55.353" v="52" actId="1076"/>
        <pc:sldMkLst>
          <pc:docMk/>
          <pc:sldMk cId="0" sldId="507"/>
        </pc:sldMkLst>
        <pc:spChg chg="mod">
          <ac:chgData name="אלעד סלע" userId="e258557df0731695" providerId="LiveId" clId="{62F202C2-D1B3-4E8A-9F8F-F6376ADD07FC}" dt="2023-10-31T20:40:55.353" v="52" actId="1076"/>
          <ac:spMkLst>
            <pc:docMk/>
            <pc:sldMk cId="0" sldId="507"/>
            <ac:spMk id="8" creationId="{00000000-0000-0000-0000-000000000000}"/>
          </ac:spMkLst>
        </pc:spChg>
      </pc:sldChg>
      <pc:sldChg chg="modSp mod">
        <pc:chgData name="אלעד סלע" userId="e258557df0731695" providerId="LiveId" clId="{62F202C2-D1B3-4E8A-9F8F-F6376ADD07FC}" dt="2023-10-31T20:51:48.087" v="71" actId="1076"/>
        <pc:sldMkLst>
          <pc:docMk/>
          <pc:sldMk cId="0" sldId="509"/>
        </pc:sldMkLst>
        <pc:spChg chg="mod">
          <ac:chgData name="אלעד סלע" userId="e258557df0731695" providerId="LiveId" clId="{62F202C2-D1B3-4E8A-9F8F-F6376ADD07FC}" dt="2023-10-31T20:51:43.775" v="70" actId="1076"/>
          <ac:spMkLst>
            <pc:docMk/>
            <pc:sldMk cId="0" sldId="509"/>
            <ac:spMk id="11" creationId="{00000000-0000-0000-0000-000000000000}"/>
          </ac:spMkLst>
        </pc:spChg>
        <pc:picChg chg="mod">
          <ac:chgData name="אלעד סלע" userId="e258557df0731695" providerId="LiveId" clId="{62F202C2-D1B3-4E8A-9F8F-F6376ADD07FC}" dt="2023-10-31T20:51:41.664" v="69" actId="1076"/>
          <ac:picMkLst>
            <pc:docMk/>
            <pc:sldMk cId="0" sldId="509"/>
            <ac:picMk id="8" creationId="{00000000-0000-0000-0000-000000000000}"/>
          </ac:picMkLst>
        </pc:picChg>
        <pc:picChg chg="mod">
          <ac:chgData name="אלעד סלע" userId="e258557df0731695" providerId="LiveId" clId="{62F202C2-D1B3-4E8A-9F8F-F6376ADD07FC}" dt="2023-10-31T20:51:48.087" v="71" actId="1076"/>
          <ac:picMkLst>
            <pc:docMk/>
            <pc:sldMk cId="0" sldId="509"/>
            <ac:picMk id="13" creationId="{00000000-0000-0000-0000-000000000000}"/>
          </ac:picMkLst>
        </pc:picChg>
      </pc:sldChg>
      <pc:sldChg chg="add del">
        <pc:chgData name="אלעד סלע" userId="e258557df0731695" providerId="LiveId" clId="{62F202C2-D1B3-4E8A-9F8F-F6376ADD07FC}" dt="2023-11-02T20:08:39.785" v="104"/>
        <pc:sldMkLst>
          <pc:docMk/>
          <pc:sldMk cId="3790127432" sldId="541"/>
        </pc:sldMkLst>
      </pc:sldChg>
      <pc:sldChg chg="modSp mod">
        <pc:chgData name="אלעד סלע" userId="e258557df0731695" providerId="LiveId" clId="{62F202C2-D1B3-4E8A-9F8F-F6376ADD07FC}" dt="2023-10-31T21:13:03.443" v="95" actId="207"/>
        <pc:sldMkLst>
          <pc:docMk/>
          <pc:sldMk cId="3304423674" sldId="563"/>
        </pc:sldMkLst>
        <pc:spChg chg="mod">
          <ac:chgData name="אלעד סלע" userId="e258557df0731695" providerId="LiveId" clId="{62F202C2-D1B3-4E8A-9F8F-F6376ADD07FC}" dt="2023-10-31T21:13:03.443" v="95" actId="207"/>
          <ac:spMkLst>
            <pc:docMk/>
            <pc:sldMk cId="3304423674" sldId="563"/>
            <ac:spMk id="5" creationId="{00000000-0000-0000-0000-000000000000}"/>
          </ac:spMkLst>
        </pc:spChg>
        <pc:spChg chg="mod">
          <ac:chgData name="אלעד סלע" userId="e258557df0731695" providerId="LiveId" clId="{62F202C2-D1B3-4E8A-9F8F-F6376ADD07FC}" dt="2023-10-31T21:12:57.074" v="94" actId="207"/>
          <ac:spMkLst>
            <pc:docMk/>
            <pc:sldMk cId="3304423674" sldId="563"/>
            <ac:spMk id="6" creationId="{00000000-0000-0000-0000-000000000000}"/>
          </ac:spMkLst>
        </pc:spChg>
      </pc:sldChg>
      <pc:sldChg chg="modSp mod">
        <pc:chgData name="אלעד סלע" userId="e258557df0731695" providerId="LiveId" clId="{62F202C2-D1B3-4E8A-9F8F-F6376ADD07FC}" dt="2023-10-31T21:14:01.115" v="98" actId="1076"/>
        <pc:sldMkLst>
          <pc:docMk/>
          <pc:sldMk cId="1334993611" sldId="570"/>
        </pc:sldMkLst>
        <pc:spChg chg="mod">
          <ac:chgData name="אלעד סלע" userId="e258557df0731695" providerId="LiveId" clId="{62F202C2-D1B3-4E8A-9F8F-F6376ADD07FC}" dt="2023-10-31T21:14:01.115" v="98" actId="1076"/>
          <ac:spMkLst>
            <pc:docMk/>
            <pc:sldMk cId="1334993611" sldId="570"/>
            <ac:spMk id="4" creationId="{00000000-0000-0000-0000-000000000000}"/>
          </ac:spMkLst>
        </pc:spChg>
      </pc:sldChg>
      <pc:sldChg chg="add del">
        <pc:chgData name="אלעד סלע" userId="e258557df0731695" providerId="LiveId" clId="{62F202C2-D1B3-4E8A-9F8F-F6376ADD07FC}" dt="2023-11-02T20:09:03.409" v="105"/>
        <pc:sldMkLst>
          <pc:docMk/>
          <pc:sldMk cId="25064998" sldId="571"/>
        </pc:sldMkLst>
      </pc:sldChg>
      <pc:sldChg chg="new del">
        <pc:chgData name="אלעד סלע" userId="e258557df0731695" providerId="LiveId" clId="{62F202C2-D1B3-4E8A-9F8F-F6376ADD07FC}" dt="2023-11-02T20:06:53.960" v="102" actId="2696"/>
        <pc:sldMkLst>
          <pc:docMk/>
          <pc:sldMk cId="4066135439" sldId="571"/>
        </pc:sldMkLst>
      </pc:sldChg>
      <pc:sldChg chg="add del">
        <pc:chgData name="אלעד סלע" userId="e258557df0731695" providerId="LiveId" clId="{62F202C2-D1B3-4E8A-9F8F-F6376ADD07FC}" dt="2023-11-02T20:06:41.130" v="101"/>
        <pc:sldMkLst>
          <pc:docMk/>
          <pc:sldMk cId="25064998" sldId="572"/>
        </pc:sldMkLst>
      </pc:sldChg>
      <pc:sldChg chg="add del ord">
        <pc:chgData name="אלעד סלע" userId="e258557df0731695" providerId="LiveId" clId="{62F202C2-D1B3-4E8A-9F8F-F6376ADD07FC}" dt="2023-11-02T20:10:32.855" v="108"/>
        <pc:sldMkLst>
          <pc:docMk/>
          <pc:sldMk cId="284764310" sldId="693"/>
        </pc:sldMkLst>
      </pc:sldChg>
      <pc:sldChg chg="add del">
        <pc:chgData name="אלעד סלע" userId="e258557df0731695" providerId="LiveId" clId="{62F202C2-D1B3-4E8A-9F8F-F6376ADD07FC}" dt="2023-11-02T20:08:39.785" v="104"/>
        <pc:sldMkLst>
          <pc:docMk/>
          <pc:sldMk cId="3863204876" sldId="694"/>
        </pc:sldMkLst>
      </pc:sldChg>
      <pc:sldChg chg="add del">
        <pc:chgData name="אלעד סלע" userId="e258557df0731695" providerId="LiveId" clId="{62F202C2-D1B3-4E8A-9F8F-F6376ADD07FC}" dt="2023-11-02T20:08:39.785" v="104"/>
        <pc:sldMkLst>
          <pc:docMk/>
          <pc:sldMk cId="2287848510" sldId="695"/>
        </pc:sldMkLst>
      </pc:sldChg>
      <pc:sldChg chg="add del">
        <pc:chgData name="אלעד סלע" userId="e258557df0731695" providerId="LiveId" clId="{62F202C2-D1B3-4E8A-9F8F-F6376ADD07FC}" dt="2023-11-02T20:08:39.785" v="104"/>
        <pc:sldMkLst>
          <pc:docMk/>
          <pc:sldMk cId="256502708" sldId="696"/>
        </pc:sldMkLst>
      </pc:sldChg>
      <pc:sldChg chg="add del">
        <pc:chgData name="אלעד סלע" userId="e258557df0731695" providerId="LiveId" clId="{62F202C2-D1B3-4E8A-9F8F-F6376ADD07FC}" dt="2023-11-02T20:08:39.785" v="104"/>
        <pc:sldMkLst>
          <pc:docMk/>
          <pc:sldMk cId="2909306994" sldId="6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685800" y="4343400"/>
            <a:ext cx="5486399" cy="4114800"/>
          </a:xfrm>
          <a:prstGeom prst="rect">
            <a:avLst/>
          </a:prstGeom>
        </p:spPr>
        <p:txBody>
          <a:bodyPr lIns="91425" tIns="91425" rIns="91425" bIns="91425" anchor="t" anchorCtr="0"/>
          <a:lstStyle>
            <a:lvl1pPr>
              <a:defRPr sz="1100"/>
            </a:lvl1pPr>
            <a:lvl2pPr>
              <a:defRPr sz="1100"/>
            </a:lvl2pPr>
            <a:lvl3pPr>
              <a:defRPr sz="1100"/>
            </a:lvl3pPr>
            <a:lvl4pPr>
              <a:defRPr sz="1100"/>
            </a:lvl4pPr>
            <a:lvl5pPr>
              <a:defRPr sz="1100"/>
            </a:lvl5pPr>
            <a:lvl6pPr>
              <a:defRPr sz="1100"/>
            </a:lvl6pPr>
            <a:lvl7pPr>
              <a:defRPr sz="1100"/>
            </a:lvl7pPr>
            <a:lvl8pPr>
              <a:defRPr sz="1100"/>
            </a:lvl8pPr>
            <a:lvl9pPr>
              <a:defRPr sz="1100"/>
            </a:lvl9pPr>
          </a:lstStyle>
          <a:p>
            <a:endParaRPr/>
          </a:p>
        </p:txBody>
      </p:sp>
    </p:spTree>
    <p:extLst>
      <p:ext uri="{BB962C8B-B14F-4D97-AF65-F5344CB8AC3E}">
        <p14:creationId xmlns:p14="http://schemas.microsoft.com/office/powerpoint/2010/main" val="3035988185"/>
      </p:ext>
    </p:extLst>
  </p:cSld>
  <p:clrMap bg1="lt1" tx1="dk1" bg2="dk2" tx2="lt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950574F7-130F-44F5-A167-BA0BF0F79DD2}" type="slidenum">
              <a:rPr lang="he-IL" altLang="he-IL" sz="1200"/>
              <a:pPr algn="l" eaLnBrk="1" hangingPunct="1"/>
              <a:t>110</a:t>
            </a:fld>
            <a:endParaRPr lang="en-US" altLang="he-IL" sz="1200"/>
          </a:p>
        </p:txBody>
      </p:sp>
      <p:sp>
        <p:nvSpPr>
          <p:cNvPr id="118787"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2F8EAD5E-D70A-4E0E-ACD2-635B83C51F02}" type="slidenum">
              <a:rPr lang="he-IL" altLang="he-IL" sz="1200"/>
              <a:pPr algn="l" eaLnBrk="1" hangingPunct="1"/>
              <a:t>110</a:t>
            </a:fld>
            <a:endParaRPr lang="en-US" altLang="he-IL" sz="1200"/>
          </a:p>
        </p:txBody>
      </p:sp>
      <p:sp>
        <p:nvSpPr>
          <p:cNvPr id="118788"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55F71058-3EBA-40BA-8A4B-A1F371F7B858}" type="slidenum">
              <a:rPr lang="he-IL" altLang="he-IL" sz="1200"/>
              <a:pPr algn="l" eaLnBrk="1" hangingPunct="1"/>
              <a:t>110</a:t>
            </a:fld>
            <a:endParaRPr lang="en-US" altLang="he-IL" sz="1200"/>
          </a:p>
        </p:txBody>
      </p:sp>
      <p:sp>
        <p:nvSpPr>
          <p:cNvPr id="118789" name="Rectangle 2"/>
          <p:cNvSpPr>
            <a:spLocks noGrp="1" noRot="1" noChangeAspect="1" noChangeArrowheads="1" noTextEdit="1"/>
          </p:cNvSpPr>
          <p:nvPr>
            <p:ph type="sldImg"/>
          </p:nvPr>
        </p:nvSpPr>
        <p:spPr>
          <a:ln/>
        </p:spPr>
      </p:sp>
      <p:sp>
        <p:nvSpPr>
          <p:cNvPr id="11879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he-IL" altLang="he-IL"/>
              <a:t>הילד</a:t>
            </a:r>
          </a:p>
        </p:txBody>
      </p:sp>
    </p:spTree>
    <p:extLst>
      <p:ext uri="{BB962C8B-B14F-4D97-AF65-F5344CB8AC3E}">
        <p14:creationId xmlns:p14="http://schemas.microsoft.com/office/powerpoint/2010/main" val="1888785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a:xfrm>
            <a:off x="6553200" y="6356354"/>
            <a:ext cx="2133600" cy="365125"/>
          </a:xfrm>
          <a:prstGeom prst="rect">
            <a:avLst/>
          </a:prstGeom>
        </p:spPr>
        <p:txBody>
          <a:bodyPr/>
          <a:lstStyle/>
          <a:p>
            <a:fld id="{39E93088-C549-40BC-B451-C4B15D9DD2D0}" type="datetimeFigureOut">
              <a:rPr lang="he-IL" smtClean="0"/>
              <a:pPr/>
              <a:t>י'/חשון/תשפ"ז</a:t>
            </a:fld>
            <a:endParaRPr lang="he-IL"/>
          </a:p>
        </p:txBody>
      </p:sp>
      <p:sp>
        <p:nvSpPr>
          <p:cNvPr id="3" name="מציין מיקום של כותרת תחתונה 2"/>
          <p:cNvSpPr>
            <a:spLocks noGrp="1"/>
          </p:cNvSpPr>
          <p:nvPr>
            <p:ph type="ftr" sz="quarter" idx="11"/>
          </p:nvPr>
        </p:nvSpPr>
        <p:spPr>
          <a:xfrm>
            <a:off x="3124200" y="6356354"/>
            <a:ext cx="2895600" cy="365125"/>
          </a:xfrm>
          <a:prstGeom prst="rect">
            <a:avLst/>
          </a:prstGeom>
        </p:spPr>
        <p:txBody>
          <a:bodyPr/>
          <a:lstStyle/>
          <a:p>
            <a:endParaRPr lang="he-IL"/>
          </a:p>
        </p:txBody>
      </p:sp>
      <p:sp>
        <p:nvSpPr>
          <p:cNvPr id="4" name="מציין מיקום של מספר שקופית 3"/>
          <p:cNvSpPr>
            <a:spLocks noGrp="1"/>
          </p:cNvSpPr>
          <p:nvPr>
            <p:ph type="sldNum" sz="quarter" idx="12"/>
          </p:nvPr>
        </p:nvSpPr>
        <p:spPr>
          <a:xfrm>
            <a:off x="457200" y="6356354"/>
            <a:ext cx="2133600" cy="365125"/>
          </a:xfrm>
          <a:prstGeom prst="rect">
            <a:avLst/>
          </a:prstGeom>
        </p:spPr>
        <p:txBody>
          <a:bodyPr/>
          <a:lstStyle/>
          <a:p>
            <a:fld id="{28D5D100-7850-4447-A29D-DED2804352D2}" type="slidenum">
              <a:rPr lang="he-IL" smtClean="0"/>
              <a:pPr/>
              <a:t>‹#›</a:t>
            </a:fld>
            <a:endParaRPr lang="he-IL"/>
          </a:p>
        </p:txBody>
      </p:sp>
    </p:spTree>
    <p:extLst>
      <p:ext uri="{BB962C8B-B14F-4D97-AF65-F5344CB8AC3E}">
        <p14:creationId xmlns:p14="http://schemas.microsoft.com/office/powerpoint/2010/main" val="400280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9"/>
            <a:ext cx="77724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047062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86676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4"/>
            <a:ext cx="77724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638848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533581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endParaRPr lang="he-IL">
              <a:solidFill>
                <a:prstClr val="black">
                  <a:tint val="75000"/>
                </a:prstClr>
              </a:solidFill>
            </a:endParaRPr>
          </a:p>
        </p:txBody>
      </p:sp>
      <p:sp>
        <p:nvSpPr>
          <p:cNvPr id="9" name="מציין מיקום של מספר שקופית 8"/>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42277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endParaRPr lang="he-IL">
              <a:solidFill>
                <a:prstClr val="black">
                  <a:tint val="75000"/>
                </a:prstClr>
              </a:solidFill>
            </a:endParaRPr>
          </a:p>
        </p:txBody>
      </p:sp>
      <p:sp>
        <p:nvSpPr>
          <p:cNvPr id="5" name="מציין מיקום של מספר שקופית 4"/>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96004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endParaRPr lang="he-IL">
              <a:solidFill>
                <a:prstClr val="black">
                  <a:tint val="75000"/>
                </a:prstClr>
              </a:solidFill>
            </a:endParaRPr>
          </a:p>
        </p:txBody>
      </p:sp>
      <p:sp>
        <p:nvSpPr>
          <p:cNvPr id="4" name="מציין מיקום של מספר שקופית 3"/>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366787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2" y="273050"/>
            <a:ext cx="3008313"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125609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82456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270240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42"/>
            <a:ext cx="20574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457200" y="274642"/>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39E93088-C549-40BC-B451-C4B15D9DD2D0}"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28D5D100-7850-4447-A29D-DED2804352D2}"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859179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143000" y="1122363"/>
            <a:ext cx="6858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79917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328721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623888" y="1709739"/>
            <a:ext cx="78867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134636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6286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291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62295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365126"/>
            <a:ext cx="78867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629842" y="2505075"/>
            <a:ext cx="3868340"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29150" y="2505075"/>
            <a:ext cx="3887391"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endParaRPr lang="he-IL">
              <a:solidFill>
                <a:prstClr val="black">
                  <a:tint val="75000"/>
                </a:prstClr>
              </a:solidFill>
            </a:endParaRPr>
          </a:p>
        </p:txBody>
      </p:sp>
      <p:sp>
        <p:nvSpPr>
          <p:cNvPr id="9" name="מציין מיקום של מספר שקופית 8"/>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024414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endParaRPr lang="he-IL">
              <a:solidFill>
                <a:prstClr val="black">
                  <a:tint val="75000"/>
                </a:prstClr>
              </a:solidFill>
            </a:endParaRPr>
          </a:p>
        </p:txBody>
      </p:sp>
      <p:sp>
        <p:nvSpPr>
          <p:cNvPr id="5" name="מציין מיקום של מספר שקופית 4"/>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9046696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endParaRPr lang="he-IL">
              <a:solidFill>
                <a:prstClr val="black">
                  <a:tint val="75000"/>
                </a:prstClr>
              </a:solidFill>
            </a:endParaRPr>
          </a:p>
        </p:txBody>
      </p:sp>
      <p:sp>
        <p:nvSpPr>
          <p:cNvPr id="4" name="מציין מיקום של מספר שקופית 3"/>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3269237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0745374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1773558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027924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543675" y="365125"/>
            <a:ext cx="1971675"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628650" y="365125"/>
            <a:ext cx="5800725"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0CB24792-927E-47F8-AB0C-70CDF057DB2C}" type="datetimeFigureOut">
              <a:rPr lang="he-IL" smtClean="0">
                <a:solidFill>
                  <a:prstClr val="black">
                    <a:tint val="75000"/>
                  </a:prstClr>
                </a:solidFill>
              </a:rPr>
              <a:pPr/>
              <a:t>י'/חשון/תשפ"ז</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7022749-3E53-45FA-99C5-8FB85853D8C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11474092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1pPr>
            <a:lvl2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2pPr>
            <a:lvl3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3pPr>
            <a:lvl4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4pPr>
            <a:lvl5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5pPr>
            <a:lvl6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6pPr>
            <a:lvl7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7pPr>
            <a:lvl8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8pPr>
            <a:lvl9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9pPr>
          </a:lstStyle>
          <a:p>
            <a:endParaRPr/>
          </a:p>
        </p:txBody>
      </p:sp>
      <p:sp>
        <p:nvSpPr>
          <p:cNvPr id="6" name="Shape 6"/>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marL="342900" indent="-342900" algn="l" rtl="0">
              <a:spcBef>
                <a:spcPts val="600"/>
              </a:spcBef>
              <a:buClr>
                <a:schemeClr val="dk1"/>
              </a:buClr>
              <a:buSzPct val="166666"/>
              <a:buFont typeface="Arial"/>
              <a:buChar char="•"/>
              <a:defRPr sz="3000" b="0" i="0" u="none" strike="noStrike" cap="none" baseline="0">
                <a:solidFill>
                  <a:schemeClr val="dk1"/>
                </a:solidFill>
                <a:latin typeface="Arial"/>
                <a:ea typeface="Arial"/>
                <a:cs typeface="Arial"/>
                <a:sym typeface="Arial"/>
              </a:defRPr>
            </a:lvl1pPr>
            <a:lvl2pPr marL="742950" indent="-285750" algn="l" rtl="0">
              <a:spcBef>
                <a:spcPts val="480"/>
              </a:spcBef>
              <a:buClr>
                <a:schemeClr val="dk1"/>
              </a:buClr>
              <a:buSzPct val="100000"/>
              <a:buFont typeface="Courier New"/>
              <a:buChar char="o"/>
              <a:defRPr sz="2400" b="0" i="0" u="none" strike="noStrike" cap="none" baseline="0">
                <a:solidFill>
                  <a:schemeClr val="dk1"/>
                </a:solidFill>
                <a:latin typeface="Arial"/>
                <a:ea typeface="Arial"/>
                <a:cs typeface="Arial"/>
                <a:sym typeface="Arial"/>
              </a:defRPr>
            </a:lvl2pPr>
            <a:lvl3pPr marL="1143000" indent="-228600" algn="l" rtl="0">
              <a:spcBef>
                <a:spcPts val="480"/>
              </a:spcBef>
              <a:buClr>
                <a:schemeClr val="dk1"/>
              </a:buClr>
              <a:buSzPct val="100000"/>
              <a:buFont typeface="Wingdings"/>
              <a:buChar char="§"/>
              <a:defRPr sz="2400" b="0" i="0" u="none" strike="noStrike" cap="none" baseline="0">
                <a:solidFill>
                  <a:schemeClr val="dk1"/>
                </a:solidFill>
                <a:latin typeface="Arial"/>
                <a:ea typeface="Arial"/>
                <a:cs typeface="Arial"/>
                <a:sym typeface="Arial"/>
              </a:defRPr>
            </a:lvl3pPr>
            <a:lvl4pPr marL="16002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4pPr>
            <a:lvl5pPr marL="20574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5pPr>
            <a:lvl6pPr marL="25146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6pPr>
            <a:lvl7pPr marL="29718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7pPr>
            <a:lvl8pPr marL="34290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8pPr>
            <a:lvl9pPr marL="38862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7" r:id="rId1"/>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600204"/>
            <a:ext cx="8229600" cy="4525963"/>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553200" y="6356354"/>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rtl="1"/>
            <a:fld id="{39E93088-C549-40BC-B451-C4B15D9DD2D0}" type="datetimeFigureOut">
              <a:rPr lang="he-IL" kern="1200" smtClean="0">
                <a:solidFill>
                  <a:prstClr val="black">
                    <a:tint val="75000"/>
                  </a:prstClr>
                </a:solidFill>
                <a:latin typeface="Calibri"/>
                <a:ea typeface="+mn-ea"/>
              </a:rPr>
              <a:pPr rtl="1"/>
              <a:t>י'/חשון/תשפ"ז</a:t>
            </a:fld>
            <a:endParaRPr lang="he-IL" kern="1200">
              <a:solidFill>
                <a:prstClr val="black">
                  <a:tint val="75000"/>
                </a:prstClr>
              </a:solidFill>
              <a:latin typeface="Calibri"/>
              <a:ea typeface="+mn-ea"/>
            </a:endParaRPr>
          </a:p>
        </p:txBody>
      </p:sp>
      <p:sp>
        <p:nvSpPr>
          <p:cNvPr id="5" name="מציין מיקום של כותרת תחתונה 4"/>
          <p:cNvSpPr>
            <a:spLocks noGrp="1"/>
          </p:cNvSpPr>
          <p:nvPr>
            <p:ph type="ftr" sz="quarter" idx="3"/>
          </p:nvPr>
        </p:nvSpPr>
        <p:spPr>
          <a:xfrm>
            <a:off x="3124200" y="6356354"/>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rtl="1"/>
            <a:endParaRPr lang="he-IL" kern="1200">
              <a:solidFill>
                <a:prstClr val="black">
                  <a:tint val="75000"/>
                </a:prstClr>
              </a:solidFill>
              <a:latin typeface="Calibri"/>
              <a:ea typeface="+mn-ea"/>
            </a:endParaRPr>
          </a:p>
        </p:txBody>
      </p:sp>
      <p:sp>
        <p:nvSpPr>
          <p:cNvPr id="6" name="מציין מיקום של מספר שקופית 5"/>
          <p:cNvSpPr>
            <a:spLocks noGrp="1"/>
          </p:cNvSpPr>
          <p:nvPr>
            <p:ph type="sldNum" sz="quarter" idx="4"/>
          </p:nvPr>
        </p:nvSpPr>
        <p:spPr>
          <a:xfrm>
            <a:off x="457200" y="6356354"/>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rtl="1"/>
            <a:fld id="{28D5D100-7850-4447-A29D-DED2804352D2}" type="slidenum">
              <a:rPr lang="he-IL" kern="1200" smtClean="0">
                <a:solidFill>
                  <a:prstClr val="black">
                    <a:tint val="75000"/>
                  </a:prstClr>
                </a:solidFill>
                <a:latin typeface="Calibri"/>
                <a:ea typeface="+mn-ea"/>
              </a:rPr>
              <a:pPr rtl="1"/>
              <a:t>‹#›</a:t>
            </a:fld>
            <a:endParaRPr lang="he-IL" kern="1200">
              <a:solidFill>
                <a:prstClr val="black">
                  <a:tint val="75000"/>
                </a:prstClr>
              </a:solidFill>
              <a:latin typeface="Calibri"/>
              <a:ea typeface="+mn-ea"/>
            </a:endParaRPr>
          </a:p>
        </p:txBody>
      </p:sp>
    </p:spTree>
    <p:extLst>
      <p:ext uri="{BB962C8B-B14F-4D97-AF65-F5344CB8AC3E}">
        <p14:creationId xmlns:p14="http://schemas.microsoft.com/office/powerpoint/2010/main" val="2383004409"/>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628650" y="365126"/>
            <a:ext cx="78867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8650" y="1825625"/>
            <a:ext cx="78867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457950" y="6356351"/>
            <a:ext cx="20574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rtl="1"/>
            <a:fld id="{0CB24792-927E-47F8-AB0C-70CDF057DB2C}" type="datetimeFigureOut">
              <a:rPr lang="he-IL" kern="1200" smtClean="0">
                <a:solidFill>
                  <a:prstClr val="black">
                    <a:tint val="75000"/>
                  </a:prstClr>
                </a:solidFill>
                <a:latin typeface="Calibri" panose="020F0502020204030204"/>
                <a:ea typeface="+mn-ea"/>
              </a:rPr>
              <a:pPr rtl="1"/>
              <a:t>י'/חשון/תשפ"ז</a:t>
            </a:fld>
            <a:endParaRPr lang="he-IL" kern="1200">
              <a:solidFill>
                <a:prstClr val="black">
                  <a:tint val="75000"/>
                </a:prstClr>
              </a:solidFill>
              <a:latin typeface="Calibri" panose="020F0502020204030204"/>
              <a:ea typeface="+mn-ea"/>
            </a:endParaRPr>
          </a:p>
        </p:txBody>
      </p:sp>
      <p:sp>
        <p:nvSpPr>
          <p:cNvPr id="5" name="מציין מיקום של כותרת תחתונה 4"/>
          <p:cNvSpPr>
            <a:spLocks noGrp="1"/>
          </p:cNvSpPr>
          <p:nvPr>
            <p:ph type="ftr" sz="quarter" idx="3"/>
          </p:nvPr>
        </p:nvSpPr>
        <p:spPr>
          <a:xfrm>
            <a:off x="3028950" y="6356351"/>
            <a:ext cx="30861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rtl="1"/>
            <a:endParaRPr lang="he-IL" kern="1200">
              <a:solidFill>
                <a:prstClr val="black">
                  <a:tint val="75000"/>
                </a:prstClr>
              </a:solidFill>
              <a:latin typeface="Calibri" panose="020F0502020204030204"/>
              <a:ea typeface="+mn-ea"/>
            </a:endParaRPr>
          </a:p>
        </p:txBody>
      </p:sp>
      <p:sp>
        <p:nvSpPr>
          <p:cNvPr id="6" name="מציין מיקום של מספר שקופית 5"/>
          <p:cNvSpPr>
            <a:spLocks noGrp="1"/>
          </p:cNvSpPr>
          <p:nvPr>
            <p:ph type="sldNum" sz="quarter" idx="4"/>
          </p:nvPr>
        </p:nvSpPr>
        <p:spPr>
          <a:xfrm>
            <a:off x="628650" y="6356351"/>
            <a:ext cx="20574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rtl="1"/>
            <a:fld id="{67022749-3E53-45FA-99C5-8FB85853D8C8}" type="slidenum">
              <a:rPr lang="he-IL" kern="1200" smtClean="0">
                <a:solidFill>
                  <a:prstClr val="black">
                    <a:tint val="75000"/>
                  </a:prstClr>
                </a:solidFill>
                <a:latin typeface="Calibri" panose="020F0502020204030204"/>
                <a:ea typeface="+mn-ea"/>
              </a:rPr>
              <a:pPr rtl="1"/>
              <a:t>‹#›</a:t>
            </a:fld>
            <a:endParaRPr lang="he-IL" kern="1200">
              <a:solidFill>
                <a:prstClr val="black">
                  <a:tint val="75000"/>
                </a:prstClr>
              </a:solidFill>
              <a:latin typeface="Calibri" panose="020F0502020204030204"/>
              <a:ea typeface="+mn-ea"/>
            </a:endParaRPr>
          </a:p>
        </p:txBody>
      </p:sp>
    </p:spTree>
    <p:extLst>
      <p:ext uri="{BB962C8B-B14F-4D97-AF65-F5344CB8AC3E}">
        <p14:creationId xmlns:p14="http://schemas.microsoft.com/office/powerpoint/2010/main" val="321503589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8.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8.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8.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image" Target="../media/image18.png"/><Relationship Id="rId1" Type="http://schemas.openxmlformats.org/officeDocument/2006/relationships/slideLayout" Target="../slideLayouts/slideLayout19.xml"/><Relationship Id="rId6" Type="http://schemas.openxmlformats.org/officeDocument/2006/relationships/image" Target="../media/image22.jpeg"/><Relationship Id="rId5" Type="http://schemas.openxmlformats.org/officeDocument/2006/relationships/image" Target="../media/image21.jpe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19.xml"/><Relationship Id="rId5" Type="http://schemas.openxmlformats.org/officeDocument/2006/relationships/image" Target="../media/image30.png"/><Relationship Id="rId4" Type="http://schemas.openxmlformats.org/officeDocument/2006/relationships/image" Target="../media/image29.jpeg"/></Relationships>
</file>

<file path=ppt/slides/_rels/slide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19.xml"/><Relationship Id="rId4" Type="http://schemas.openxmlformats.org/officeDocument/2006/relationships/image" Target="../media/image33.jpe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19.xml"/><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image" Target="../media/image38.jpeg"/><Relationship Id="rId1" Type="http://schemas.openxmlformats.org/officeDocument/2006/relationships/slideLayout" Target="../slideLayouts/slideLayout19.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8.jpg"/><Relationship Id="rId2" Type="http://schemas.openxmlformats.org/officeDocument/2006/relationships/image" Target="../media/image44.png"/><Relationship Id="rId1" Type="http://schemas.openxmlformats.org/officeDocument/2006/relationships/slideLayout" Target="../slideLayouts/slideLayout19.xml"/><Relationship Id="rId6" Type="http://schemas.openxmlformats.org/officeDocument/2006/relationships/image" Target="../media/image47.png"/><Relationship Id="rId5" Type="http://schemas.openxmlformats.org/officeDocument/2006/relationships/image" Target="../media/image22.jpeg"/><Relationship Id="rId4" Type="http://schemas.openxmlformats.org/officeDocument/2006/relationships/image" Target="../media/image46.jpeg"/></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g"/><Relationship Id="rId1" Type="http://schemas.openxmlformats.org/officeDocument/2006/relationships/slideLayout" Target="../slideLayouts/slideLayout1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jpe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8.xml"/><Relationship Id="rId6" Type="http://schemas.openxmlformats.org/officeDocument/2006/relationships/image" Target="../media/image57.jpeg"/><Relationship Id="rId5" Type="http://schemas.openxmlformats.org/officeDocument/2006/relationships/image" Target="../media/image3.jpeg"/><Relationship Id="rId4" Type="http://schemas.openxmlformats.org/officeDocument/2006/relationships/image" Target="../media/image56.jpeg"/></Relationships>
</file>

<file path=ppt/slides/_rels/slide12.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2.jpeg"/><Relationship Id="rId2" Type="http://schemas.openxmlformats.org/officeDocument/2006/relationships/image" Target="../media/image2.jpeg"/><Relationship Id="rId1" Type="http://schemas.openxmlformats.org/officeDocument/2006/relationships/slideLayout" Target="../slideLayouts/slideLayout8.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68.jpeg"/><Relationship Id="rId3" Type="http://schemas.openxmlformats.org/officeDocument/2006/relationships/image" Target="../media/image64.jpeg"/><Relationship Id="rId7" Type="http://schemas.openxmlformats.org/officeDocument/2006/relationships/image" Target="../media/image67.jpe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66.jpeg"/><Relationship Id="rId4" Type="http://schemas.openxmlformats.org/officeDocument/2006/relationships/image" Target="../media/image65.jpeg"/><Relationship Id="rId9" Type="http://schemas.openxmlformats.org/officeDocument/2006/relationships/image" Target="../media/image69.jpe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73.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70.jpeg"/></Relationships>
</file>

<file path=ppt/slides/_rels/slide1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1.xml"/><Relationship Id="rId5" Type="http://schemas.openxmlformats.org/officeDocument/2006/relationships/image" Target="../media/image77.jpeg"/><Relationship Id="rId4" Type="http://schemas.openxmlformats.org/officeDocument/2006/relationships/image" Target="../media/image76.jpeg"/></Relationships>
</file>

<file path=ppt/slides/_rels/slide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8.xml"/><Relationship Id="rId5" Type="http://schemas.openxmlformats.org/officeDocument/2006/relationships/image" Target="../media/image5.jpeg"/><Relationship Id="rId4" Type="http://schemas.openxmlformats.org/officeDocument/2006/relationships/image" Target="../media/image59.jpeg"/></Relationships>
</file>

<file path=ppt/slides/_rels/slide20.xml.rels><?xml version="1.0" encoding="UTF-8" standalone="yes"?>
<Relationships xmlns="http://schemas.openxmlformats.org/package/2006/relationships"><Relationship Id="rId3" Type="http://schemas.openxmlformats.org/officeDocument/2006/relationships/image" Target="../media/image82.jpeg"/><Relationship Id="rId7" Type="http://schemas.openxmlformats.org/officeDocument/2006/relationships/image" Target="../media/image85.jpeg"/><Relationship Id="rId2" Type="http://schemas.openxmlformats.org/officeDocument/2006/relationships/hyperlink" Target="http://www.google.co.il/url?sa=i&amp;source=images&amp;cd=&amp;cad=rja&amp;docid=h4k_3XbHUgCdkM&amp;tbnid=6E_H0F3HsTDCaM:&amp;ved=0CAgQjRwwAA&amp;url=http://tags.walla.co.il/?w=///1361303/5/@@/media&amp;ei=O6oZUoeVNYjRtQbJ3oCgDA&amp;psig=AFQjCNHy0VvyYKwybJJu9zs9Xf6XGTHKZA&amp;ust=1377500091998428" TargetMode="External"/><Relationship Id="rId1" Type="http://schemas.openxmlformats.org/officeDocument/2006/relationships/slideLayout" Target="../slideLayouts/slideLayout1.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hyperlink" Target="http://www.google.co.il/url?sa=i&amp;source=images&amp;cd=&amp;cad=rja&amp;docid=t_lMWroNCZVJOM&amp;tbnid=v3iwsp3p5Sp2CM:&amp;ved=0CAUQjRw&amp;url=http://israblog.nana10.co.il/blogread.asp?blog=706261&amp;blogcode=12741578&amp;ei=5qoZUvKWMsyGswa7oIDQAQ&amp;psig=AFQjCNF7vMkMfycjqFSkmLT8wcDdVUPgSA&amp;ust=1377500171910934"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hyperlink" Target="http://shvilimba.co.il/%d7%91%d7%99%d7%a6%d7%95%d7%aa-%d7%9e%d7%9c%d7%a8%d7%99%d7%94-%d7%95%d7%9e%d7%99%d7%aa%d7%95%d7%9c%d7%95%d7%92%d7%99%d7%94-%d7%91%d7%97%d7%93%d7%a8%d7%94-%d7%a9%d7%9c-%d7%a4%d7%a2%d7%9d/pikiwiki_israel_6320_hadera_forest%d7%99%d7%a2%d7%a8-%d7%97%d7%93%d7%a8%d7%94/" TargetMode="Externa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jpeg"/><Relationship Id="rId4" Type="http://schemas.openxmlformats.org/officeDocument/2006/relationships/hyperlink" Target="http://shvilimba.co.il/%d7%91%d7%99%d7%a6%d7%95%d7%aa-%d7%9e%d7%9c%d7%a8%d7%99%d7%94-%d7%95%d7%9e%d7%99%d7%aa%d7%95%d7%9c%d7%95%d7%92%d7%99%d7%94-%d7%91%d7%97%d7%93%d7%a8%d7%94-%d7%a9%d7%9c-%d7%a4%d7%a2%d7%9d/pikiwiki_israel_8564_hadera_drainage%d7%97%d7%93%d7%a8%d7%94/"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png"/><Relationship Id="rId1" Type="http://schemas.openxmlformats.org/officeDocument/2006/relationships/slideLayout" Target="../slideLayouts/slideLayout8.xml"/><Relationship Id="rId4" Type="http://schemas.openxmlformats.org/officeDocument/2006/relationships/image" Target="../media/image93.jpeg"/></Relationships>
</file>

<file path=ppt/slides/_rels/slide2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1.xml"/><Relationship Id="rId5" Type="http://schemas.openxmlformats.org/officeDocument/2006/relationships/image" Target="../media/image97.png"/><Relationship Id="rId4" Type="http://schemas.openxmlformats.org/officeDocument/2006/relationships/image" Target="../media/image96.jpeg"/></Relationships>
</file>

<file path=ppt/slides/_rels/slide25.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hyperlink" Target="http://www.google.co.il/url?sa=i&amp;rct=j&amp;q=&amp;esrc=s&amp;frm=1&amp;source=images&amp;cd=&amp;cad=rja&amp;docid=UY0TYIady1UOJM&amp;tbnid=z_mS6HPaHIIzSM:&amp;ved=0CAUQjRw&amp;url=http://www.nrg.co.il/online/55/ART2/174/726.html&amp;ei=1LUZUpLwFozasgaO_IGgBg&amp;psig=AFQjCNHB8ziodU4lfV_374qPGIjcrTiniw&amp;ust=1377503024311814" TargetMode="External"/><Relationship Id="rId1" Type="http://schemas.openxmlformats.org/officeDocument/2006/relationships/slideLayout" Target="../slideLayouts/slideLayout1.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jpeg"/></Relationships>
</file>

<file path=ppt/slides/_rels/slide26.xml.rels><?xml version="1.0" encoding="UTF-8" standalone="yes"?>
<Relationships xmlns="http://schemas.openxmlformats.org/package/2006/relationships"><Relationship Id="rId8" Type="http://schemas.openxmlformats.org/officeDocument/2006/relationships/image" Target="../media/image105.jpeg"/><Relationship Id="rId3" Type="http://schemas.openxmlformats.org/officeDocument/2006/relationships/image" Target="../media/image102.jpeg"/><Relationship Id="rId7" Type="http://schemas.openxmlformats.org/officeDocument/2006/relationships/image" Target="../media/image104.jpeg"/><Relationship Id="rId2" Type="http://schemas.openxmlformats.org/officeDocument/2006/relationships/hyperlink" Target="http://www.google.co.il/url?sa=i&amp;rct=j&amp;q=&amp;esrc=s&amp;frm=1&amp;source=images&amp;cd=&amp;cad=rja&amp;docid=e1DTja8wUwBV7M&amp;tbnid=nVkXs1MH-p0icM:&amp;ved=0CAUQjRw&amp;url=http://www.inature.info/wiki/%D7%90%D7%AA%D7%A8_%D7%9C%D7%90%D7%95%D7%9E%D7%99_%D7%91%D7%99%D7%AA_%D7%94%D7%9B%D7%A0%D7%A1%D7%AA_%D7%90%D7%95%D7%94%D7%9C_%D7%99%D7%A2%D7%A7%D7%91&amp;ei=F7QZUpudNI7bsgbP14H4Dw&amp;bvm=bv.51156542,d.Yms&amp;psig=AFQjCNFqNlq14V6t9azx0ZNzq4vuquLOLw&amp;ust=1377502570122226" TargetMode="External"/><Relationship Id="rId1" Type="http://schemas.openxmlformats.org/officeDocument/2006/relationships/slideLayout" Target="../slideLayouts/slideLayout1.xml"/><Relationship Id="rId6" Type="http://schemas.openxmlformats.org/officeDocument/2006/relationships/hyperlink" Target="http://www.google.co.il/url?sa=i&amp;rct=j&amp;q=&amp;esrc=s&amp;frm=1&amp;source=images&amp;cd=&amp;cad=rja&amp;docid=n9gqT9LqrnvIBM&amp;tbnid=_N8AEt60PrkdwM:&amp;ved=0CAUQjRw&amp;url=http://www.30900.com/heb/gallery/35/732.html&amp;ei=h7UZUq6WMsTFtAaz1YCAAw&amp;bvm=bv.51156542,d.Yms&amp;psig=AFQjCNFqNlq14V6t9azx0ZNzq4vuquLOLw&amp;ust=1377502570122226" TargetMode="External"/><Relationship Id="rId5" Type="http://schemas.openxmlformats.org/officeDocument/2006/relationships/image" Target="../media/image103.jpeg"/><Relationship Id="rId4" Type="http://schemas.openxmlformats.org/officeDocument/2006/relationships/hyperlink" Target="http://www.google.co.il/url?sa=i&amp;rct=j&amp;q=&amp;esrc=s&amp;frm=1&amp;source=images&amp;cd=&amp;cad=rja&amp;docid=hIja3q2TmfRrMM&amp;tbnid=9wT93DnOImkQfM:&amp;ved=0CAUQjRw&amp;url=http://www.berger-sisters.co.il/farmers/index.asp?num=49&amp;ei=mLQZUrCmAoTHsgaqu4DwDw&amp;bvm=bv.51156542,d.Yms&amp;psig=AFQjCNFqNlq14V6t9azx0ZNzq4vuquLOLw&amp;ust=1377502570122226"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www.google.co.il/url?sa=i&amp;rct=j&amp;q=&amp;esrc=s&amp;frm=1&amp;source=images&amp;cd=&amp;cad=rja&amp;docid=WIpXjbAG_L9CvM&amp;tbnid=Uf4zQts5oNgYXM:&amp;ved=0CAUQjRw&amp;url=http://myzy1882.wordpress.com/%D7%91%D7%99%D7%AA-%D7%94%D7%9B%D7%A0%D7%A1%D7%AA/%D7%94%D7%9E%D7%A6%D7%91-%D7%9C%D7%A4%D7%A0%D7%99-%D7%94%D7%A9%D7%99%D7%A4%D7%95%D7%A5-%D7%94%D7%90%D7%97%D7%A8%D7%95%D7%9F-%D7%A8%D7%A6%D7%A4%D7%AA-%D7%94%D7%A9%D7%99%D7%A9-%D7%95%D7%94%D7%A0%D7%91/&amp;ei=QLUZUoOtKMjKswbU0YGoDw&amp;bvm=bv.51156542,d.Yms&amp;psig=AFQjCNFqNlq14V6t9azx0ZNzq4vuquLOLw&amp;ust=1377502570122226" TargetMode="External"/><Relationship Id="rId2" Type="http://schemas.openxmlformats.org/officeDocument/2006/relationships/image" Target="../media/image106.jpeg"/><Relationship Id="rId1" Type="http://schemas.openxmlformats.org/officeDocument/2006/relationships/slideLayout" Target="../slideLayouts/slideLayout1.xml"/><Relationship Id="rId6" Type="http://schemas.openxmlformats.org/officeDocument/2006/relationships/image" Target="../media/image108.jpeg"/><Relationship Id="rId5" Type="http://schemas.openxmlformats.org/officeDocument/2006/relationships/hyperlink" Target="http://www.google.co.il/url?sa=i&amp;rct=j&amp;q=&amp;esrc=s&amp;frm=1&amp;source=images&amp;cd=&amp;cad=rja&amp;docid=dDrVh_nF-u2jlM&amp;tbnid=styhukzsXucAbM:&amp;ved=0CAUQjRw&amp;url=http://www.ynet.co.il/articles/0,7340,L-3438536,00.html&amp;ei=_rMZUsWBCoGCtAaszYCgAg&amp;bvm=bv.51156542,d.Yms&amp;psig=AFQjCNFqNlq14V6t9azx0ZNzq4vuquLOLw&amp;ust=1377502570122226" TargetMode="External"/><Relationship Id="rId4" Type="http://schemas.openxmlformats.org/officeDocument/2006/relationships/image" Target="../media/image107.jpeg"/></Relationships>
</file>

<file path=ppt/slides/_rels/slide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jpeg"/><Relationship Id="rId1" Type="http://schemas.openxmlformats.org/officeDocument/2006/relationships/slideLayout" Target="../slideLayouts/slideLayout8.xml"/><Relationship Id="rId5" Type="http://schemas.openxmlformats.org/officeDocument/2006/relationships/image" Target="../media/image112.jpeg"/><Relationship Id="rId4" Type="http://schemas.openxmlformats.org/officeDocument/2006/relationships/image" Target="../media/image111.png"/></Relationships>
</file>

<file path=ppt/slides/_rels/slide2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jpeg"/><Relationship Id="rId1" Type="http://schemas.openxmlformats.org/officeDocument/2006/relationships/slideLayout" Target="../slideLayouts/slideLayout1.xml"/><Relationship Id="rId4" Type="http://schemas.openxmlformats.org/officeDocument/2006/relationships/image" Target="../media/image115.png"/></Relationships>
</file>

<file path=ppt/slides/_rels/slide3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jpeg"/><Relationship Id="rId1" Type="http://schemas.openxmlformats.org/officeDocument/2006/relationships/slideLayout" Target="../slideLayouts/slideLayout1.xml"/><Relationship Id="rId4" Type="http://schemas.openxmlformats.org/officeDocument/2006/relationships/image" Target="../media/image118.png"/></Relationships>
</file>

<file path=ppt/slides/_rels/slide3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1.xml"/><Relationship Id="rId5" Type="http://schemas.openxmlformats.org/officeDocument/2006/relationships/image" Target="../media/image124.png"/><Relationship Id="rId4" Type="http://schemas.openxmlformats.org/officeDocument/2006/relationships/image" Target="../media/image123.png"/></Relationships>
</file>

<file path=ppt/slides/_rels/slide33.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8.xml"/><Relationship Id="rId5" Type="http://schemas.openxmlformats.org/officeDocument/2006/relationships/image" Target="../media/image129.png"/><Relationship Id="rId4" Type="http://schemas.openxmlformats.org/officeDocument/2006/relationships/image" Target="../media/image128.png"/></Relationships>
</file>

<file path=ppt/slides/_rels/slide3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130.jpeg"/><Relationship Id="rId1" Type="http://schemas.openxmlformats.org/officeDocument/2006/relationships/slideLayout" Target="../slideLayouts/slideLayout1.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3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8.xml"/><Relationship Id="rId4" Type="http://schemas.openxmlformats.org/officeDocument/2006/relationships/image" Target="../media/image136.png"/></Relationships>
</file>

<file path=ppt/slides/_rels/slide37.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image" Target="../media/image137.jpeg"/><Relationship Id="rId1" Type="http://schemas.openxmlformats.org/officeDocument/2006/relationships/slideLayout" Target="../slideLayouts/slideLayout1.xml"/><Relationship Id="rId5" Type="http://schemas.openxmlformats.org/officeDocument/2006/relationships/image" Target="../media/image140.png"/><Relationship Id="rId4" Type="http://schemas.openxmlformats.org/officeDocument/2006/relationships/image" Target="../media/image139.jpeg"/></Relationships>
</file>

<file path=ppt/slides/_rels/slide38.xml.rels><?xml version="1.0" encoding="UTF-8" standalone="yes"?>
<Relationships xmlns="http://schemas.openxmlformats.org/package/2006/relationships"><Relationship Id="rId3" Type="http://schemas.openxmlformats.org/officeDocument/2006/relationships/hyperlink" Target="http://www.google.co.il/url?sa=i&amp;rct=j&amp;q=&amp;esrc=s&amp;frm=1&amp;source=images&amp;cd=&amp;cad=rja&amp;docid=v2hF5U8EIpWWHM&amp;tbnid=vI0gQKq6nkipPM:&amp;ved=0CAUQjRw&amp;url=http://www.bet-alon.co.il/info/city_details.php?city_id=333&amp;ei=e8AZUpyOA8nEsgbTooGgDQ&amp;bvm=bv.51156542,d.Yms&amp;psig=AFQjCNE06DBSc4uQn8iLRWoCoIeM_QV6xQ&amp;ust=1377505241474047" TargetMode="External"/><Relationship Id="rId7" Type="http://schemas.openxmlformats.org/officeDocument/2006/relationships/image" Target="../media/image144.jpeg"/><Relationship Id="rId2" Type="http://schemas.openxmlformats.org/officeDocument/2006/relationships/image" Target="../media/image141.jpeg"/><Relationship Id="rId1" Type="http://schemas.openxmlformats.org/officeDocument/2006/relationships/slideLayout" Target="../slideLayouts/slideLayout1.xml"/><Relationship Id="rId6" Type="http://schemas.openxmlformats.org/officeDocument/2006/relationships/image" Target="../media/image143.jpeg"/><Relationship Id="rId5" Type="http://schemas.openxmlformats.org/officeDocument/2006/relationships/hyperlink" Target="http://www.google.co.il/url?sa=i&amp;rct=j&amp;q=&amp;esrc=s&amp;frm=1&amp;source=images&amp;cd=&amp;cad=rja&amp;docid=s9sR_hKFwehwSM&amp;tbnid=Onz7tzCP2yArZM:&amp;ved=0CAUQjRw&amp;url=http://no666.wordpress.com/2010/08/22/%D7%94%D7%A7%D7%91%D7%A8-%D7%94%D7%A8%D7%90%D7%A9%D7%95%D7%9F-%D7%91%D7%9E%D7%A8%D7%97%D7%91%D7%99%D7%94-%D7%A2%D7%9C-%D7%99%D7%A6%D7%97%D7%A7-%D7%90%D7%97%D7%93%D7%95%D7%AA%D7%99/&amp;ei=fcEZUvWdHMeWtAb-8YCABg&amp;bvm=bv.51156542,d.Yms&amp;psig=AFQjCNE06DBSc4uQn8iLRWoCoIeM_QV6xQ&amp;ust=1377505241474047" TargetMode="External"/><Relationship Id="rId4" Type="http://schemas.openxmlformats.org/officeDocument/2006/relationships/image" Target="../media/image142.jpeg"/></Relationships>
</file>

<file path=ppt/slides/_rels/slide39.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image" Target="../media/image145.jpeg"/><Relationship Id="rId1" Type="http://schemas.openxmlformats.org/officeDocument/2006/relationships/slideLayout" Target="../slideLayouts/slideLayout1.xml"/><Relationship Id="rId4" Type="http://schemas.openxmlformats.org/officeDocument/2006/relationships/image" Target="../media/image64.jpeg"/></Relationships>
</file>

<file path=ppt/slides/_rels/slide40.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image" Target="../media/image147.jpeg"/><Relationship Id="rId1" Type="http://schemas.openxmlformats.org/officeDocument/2006/relationships/slideLayout" Target="../slideLayouts/slideLayout1.xml"/><Relationship Id="rId4" Type="http://schemas.openxmlformats.org/officeDocument/2006/relationships/image" Target="../media/image149.jpeg"/></Relationships>
</file>

<file path=ppt/slides/_rels/slide41.xml.rels><?xml version="1.0" encoding="UTF-8" standalone="yes"?>
<Relationships xmlns="http://schemas.openxmlformats.org/package/2006/relationships"><Relationship Id="rId2" Type="http://schemas.openxmlformats.org/officeDocument/2006/relationships/image" Target="../media/image150.jpe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8" Type="http://schemas.openxmlformats.org/officeDocument/2006/relationships/image" Target="../media/image155.jpeg"/><Relationship Id="rId3" Type="http://schemas.openxmlformats.org/officeDocument/2006/relationships/image" Target="../media/image151.jpeg"/><Relationship Id="rId7" Type="http://schemas.openxmlformats.org/officeDocument/2006/relationships/image" Target="../media/image154.jpeg"/><Relationship Id="rId2" Type="http://schemas.openxmlformats.org/officeDocument/2006/relationships/hyperlink" Target="http://www.google.co.il/url?sa=i&amp;rct=j&amp;q=&amp;esrc=s&amp;frm=1&amp;source=images&amp;cd=&amp;cad=rja&amp;docid=WRFoyQ0STVlwkM&amp;tbnid=8cbSf0aANrxShM:&amp;ved=0CAUQjRw&amp;url=http://www.ynet.co.il/articles/0,7340,L-3548416,00.html&amp;ei=lMEZUuDLO8HStAaKy4DYDg&amp;bvm=bv.51156542,d.Yms&amp;psig=AFQjCNE06DBSc4uQn8iLRWoCoIeM_QV6xQ&amp;ust=1377505241474047" TargetMode="External"/><Relationship Id="rId1" Type="http://schemas.openxmlformats.org/officeDocument/2006/relationships/slideLayout" Target="../slideLayouts/slideLayout1.xml"/><Relationship Id="rId6" Type="http://schemas.openxmlformats.org/officeDocument/2006/relationships/image" Target="../media/image153.jpeg"/><Relationship Id="rId11" Type="http://schemas.openxmlformats.org/officeDocument/2006/relationships/image" Target="../media/image158.png"/><Relationship Id="rId5" Type="http://schemas.openxmlformats.org/officeDocument/2006/relationships/image" Target="../media/image152.jpeg"/><Relationship Id="rId10" Type="http://schemas.openxmlformats.org/officeDocument/2006/relationships/image" Target="../media/image157.png"/><Relationship Id="rId4" Type="http://schemas.openxmlformats.org/officeDocument/2006/relationships/hyperlink" Target="http://www.google.co.il/url?sa=i&amp;rct=j&amp;q=&amp;esrc=s&amp;frm=1&amp;source=images&amp;cd=&amp;cad=rja&amp;docid=BaK7Iq68GhALLM&amp;tbnid=zpNDaEaIPKv22M:&amp;ved=0CAUQjRw&amp;url=http://www.emek-tour.org.il/Tayran.asp?id=35&amp;city=40&amp;ei=vMEZUr2JL47Msgb5m4G4BQ&amp;bvm=bv.51156542,d.Yms&amp;psig=AFQjCNHkpVHnfYO0M5922uYP9bMSzVNGww&amp;ust=1377506097278672" TargetMode="External"/><Relationship Id="rId9" Type="http://schemas.openxmlformats.org/officeDocument/2006/relationships/image" Target="../media/image156.jpeg"/></Relationships>
</file>

<file path=ppt/slides/_rels/slide43.xml.rels><?xml version="1.0" encoding="UTF-8" standalone="yes"?>
<Relationships xmlns="http://schemas.openxmlformats.org/package/2006/relationships"><Relationship Id="rId3" Type="http://schemas.openxmlformats.org/officeDocument/2006/relationships/hyperlink" Target="http://www.kehilanet.co.il/mainsite.asp" TargetMode="External"/><Relationship Id="rId2" Type="http://schemas.openxmlformats.org/officeDocument/2006/relationships/image" Target="../media/image159.jpeg"/><Relationship Id="rId1" Type="http://schemas.openxmlformats.org/officeDocument/2006/relationships/slideLayout" Target="../slideLayouts/slideLayout1.xml"/><Relationship Id="rId6" Type="http://schemas.openxmlformats.org/officeDocument/2006/relationships/image" Target="../media/image161.jpeg"/><Relationship Id="rId5" Type="http://schemas.openxmlformats.org/officeDocument/2006/relationships/hyperlink" Target="http://www.google.co.il/url?sa=i&amp;rct=j&amp;q=&amp;esrc=s&amp;frm=1&amp;source=images&amp;cd=&amp;cad=rja&amp;docid=GOxLIy0qZjUZ0M&amp;tbnid=rk6G0NOVz1c1XM:&amp;ved=0CAUQjRw&amp;url=http://www.pikiwiki.org.il/?action=gallery&amp;img_id=7620&amp;ei=0L4ZUpjnH8mGswbBwoHQAQ&amp;bvm=bv.51156542,d.Yms&amp;psig=AFQjCNE06DBSc4uQn8iLRWoCoIeM_QV6xQ&amp;ust=1377505241474047" TargetMode="External"/><Relationship Id="rId4" Type="http://schemas.openxmlformats.org/officeDocument/2006/relationships/image" Target="../media/image160.png"/></Relationships>
</file>

<file path=ppt/slides/_rels/slide44.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62.png"/><Relationship Id="rId7" Type="http://schemas.openxmlformats.org/officeDocument/2006/relationships/image" Target="../media/image165.jpeg"/><Relationship Id="rId2" Type="http://schemas.openxmlformats.org/officeDocument/2006/relationships/audio" Target="../media/audio1.wav"/><Relationship Id="rId1" Type="http://schemas.openxmlformats.org/officeDocument/2006/relationships/slideLayout" Target="../slideLayouts/slideLayout8.xml"/><Relationship Id="rId6" Type="http://schemas.openxmlformats.org/officeDocument/2006/relationships/image" Target="../media/image164.jpeg"/><Relationship Id="rId5" Type="http://schemas.openxmlformats.org/officeDocument/2006/relationships/hyperlink" Target="http://www.google.co.il/imgres?imgurl=http://www.guns.co.il/images/stories/sniper/Rusia/KSBK/ksvk.jpg&amp;imgrefurl=http://www.guns.co.il/sniper/ksbk.html&amp;usg=__8goTz2jyRG9XNeaUOFay45QFAqI=&amp;h=425&amp;w=625&amp;sz=21&amp;hl=iw&amp;start=110&amp;sig2=KQXH-7qyunnW3KoerqxmJg&amp;zoom=1&amp;tbnid=lL9ON_tZoaSBdM:&amp;tbnh=92&amp;tbnw=136&amp;ei=aWo3TaKFEcOh4Qailom_Ag&amp;prev=/images?q=%D7%A8%D7%95%D7%91%D7%94&amp;start=100&amp;hl=iw&amp;safe=active&amp;sa=N&amp;gbv=2&amp;ie=UTF-8&amp;tbs=isch:1&amp;itbs=1" TargetMode="External"/><Relationship Id="rId4" Type="http://schemas.openxmlformats.org/officeDocument/2006/relationships/image" Target="../media/image163.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7.jpeg"/><Relationship Id="rId1" Type="http://schemas.openxmlformats.org/officeDocument/2006/relationships/slideLayout" Target="../slideLayouts/slideLayout8.xml"/><Relationship Id="rId5" Type="http://schemas.openxmlformats.org/officeDocument/2006/relationships/image" Target="../media/image169.png"/><Relationship Id="rId4" Type="http://schemas.openxmlformats.org/officeDocument/2006/relationships/image" Target="../media/image168.jpeg"/></Relationships>
</file>

<file path=ppt/slides/_rels/slide46.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image" Target="../media/image170.jpeg"/><Relationship Id="rId1" Type="http://schemas.openxmlformats.org/officeDocument/2006/relationships/slideLayout" Target="../slideLayouts/slideLayout1.xml"/><Relationship Id="rId5" Type="http://schemas.openxmlformats.org/officeDocument/2006/relationships/image" Target="../media/image173.png"/><Relationship Id="rId4" Type="http://schemas.openxmlformats.org/officeDocument/2006/relationships/image" Target="../media/image172.jpeg"/></Relationships>
</file>

<file path=ppt/slides/_rels/slide47.xml.rels><?xml version="1.0" encoding="UTF-8" standalone="yes"?>
<Relationships xmlns="http://schemas.openxmlformats.org/package/2006/relationships"><Relationship Id="rId8" Type="http://schemas.openxmlformats.org/officeDocument/2006/relationships/image" Target="../media/image164.jpeg"/><Relationship Id="rId3" Type="http://schemas.openxmlformats.org/officeDocument/2006/relationships/image" Target="../media/image174.jpeg"/><Relationship Id="rId7" Type="http://schemas.openxmlformats.org/officeDocument/2006/relationships/hyperlink" Target="http://www.google.co.il/imgres?imgurl=http://www.guns.co.il/images/stories/sniper/Rusia/KSBK/ksvk.jpg&amp;imgrefurl=http://www.guns.co.il/sniper/ksbk.html&amp;usg=__8goTz2jyRG9XNeaUOFay45QFAqI=&amp;h=425&amp;w=625&amp;sz=21&amp;hl=iw&amp;start=110&amp;sig2=KQXH-7qyunnW3KoerqxmJg&amp;zoom=1&amp;tbnid=lL9ON_tZoaSBdM:&amp;tbnh=92&amp;tbnw=136&amp;ei=aWo3TaKFEcOh4Qailom_Ag&amp;prev=/images?q=%D7%A8%D7%95%D7%91%D7%94&amp;start=100&amp;hl=iw&amp;safe=active&amp;sa=N&amp;gbv=2&amp;ie=UTF-8&amp;tbs=isch:1&amp;itbs=1" TargetMode="External"/><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jpeg"/></Relationships>
</file>

<file path=ppt/slides/_rels/slide48.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1.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s>
</file>

<file path=ppt/slides/_rels/slide49.xml.rels><?xml version="1.0" encoding="UTF-8" standalone="yes"?>
<Relationships xmlns="http://schemas.openxmlformats.org/package/2006/relationships"><Relationship Id="rId3" Type="http://schemas.openxmlformats.org/officeDocument/2006/relationships/image" Target="../media/image184.jpeg"/><Relationship Id="rId7" Type="http://schemas.openxmlformats.org/officeDocument/2006/relationships/image" Target="../media/image188.png"/><Relationship Id="rId2" Type="http://schemas.openxmlformats.org/officeDocument/2006/relationships/image" Target="../media/image183.jpeg"/><Relationship Id="rId1" Type="http://schemas.openxmlformats.org/officeDocument/2006/relationships/slideLayout" Target="../slideLayouts/slideLayout1.xm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jpeg"/></Relationships>
</file>

<file path=ppt/slides/_rels/slide50.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image" Target="../media/image189.jpeg"/><Relationship Id="rId1" Type="http://schemas.openxmlformats.org/officeDocument/2006/relationships/slideLayout" Target="../slideLayouts/slideLayout8.xml"/><Relationship Id="rId6" Type="http://schemas.openxmlformats.org/officeDocument/2006/relationships/image" Target="../media/image193.jpeg"/><Relationship Id="rId5" Type="http://schemas.openxmlformats.org/officeDocument/2006/relationships/image" Target="../media/image192.jpeg"/><Relationship Id="rId4" Type="http://schemas.openxmlformats.org/officeDocument/2006/relationships/image" Target="../media/image191.jpeg"/></Relationships>
</file>

<file path=ppt/slides/_rels/slide51.xml.rels><?xml version="1.0" encoding="UTF-8" standalone="yes"?>
<Relationships xmlns="http://schemas.openxmlformats.org/package/2006/relationships"><Relationship Id="rId8" Type="http://schemas.openxmlformats.org/officeDocument/2006/relationships/image" Target="../media/image164.jpeg"/><Relationship Id="rId3" Type="http://schemas.openxmlformats.org/officeDocument/2006/relationships/image" Target="../media/image194.jpeg"/><Relationship Id="rId7" Type="http://schemas.openxmlformats.org/officeDocument/2006/relationships/hyperlink" Target="http://www.google.co.il/imgres?imgurl=http://www.guns.co.il/images/stories/sniper/Rusia/KSBK/ksvk.jpg&amp;imgrefurl=http://www.guns.co.il/sniper/ksbk.html&amp;usg=__8goTz2jyRG9XNeaUOFay45QFAqI=&amp;h=425&amp;w=625&amp;sz=21&amp;hl=iw&amp;start=110&amp;sig2=KQXH-7qyunnW3KoerqxmJg&amp;zoom=1&amp;tbnid=lL9ON_tZoaSBdM:&amp;tbnh=92&amp;tbnw=136&amp;ei=aWo3TaKFEcOh4Qailom_Ag&amp;prev=/images?q=%D7%A8%D7%95%D7%91%D7%94&amp;start=100&amp;hl=iw&amp;safe=active&amp;sa=N&amp;gbv=2&amp;ie=UTF-8&amp;tbs=isch:1&amp;itbs=1" TargetMode="External"/><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197.png"/><Relationship Id="rId5" Type="http://schemas.openxmlformats.org/officeDocument/2006/relationships/image" Target="../media/image196.png"/><Relationship Id="rId4" Type="http://schemas.openxmlformats.org/officeDocument/2006/relationships/image" Target="../media/image195.png"/><Relationship Id="rId9" Type="http://schemas.openxmlformats.org/officeDocument/2006/relationships/image" Target="../media/image198.jpeg"/></Relationships>
</file>

<file path=ppt/slides/_rels/slide5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jpeg"/><Relationship Id="rId1" Type="http://schemas.openxmlformats.org/officeDocument/2006/relationships/slideLayout" Target="../slideLayouts/slideLayout1.xml"/><Relationship Id="rId5" Type="http://schemas.openxmlformats.org/officeDocument/2006/relationships/image" Target="../media/image202.png"/><Relationship Id="rId4" Type="http://schemas.openxmlformats.org/officeDocument/2006/relationships/image" Target="../media/image201.jpeg"/></Relationships>
</file>

<file path=ppt/slides/_rels/slide53.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jpeg"/><Relationship Id="rId1" Type="http://schemas.openxmlformats.org/officeDocument/2006/relationships/slideLayout" Target="../slideLayouts/slideLayout1.xml"/><Relationship Id="rId4" Type="http://schemas.openxmlformats.org/officeDocument/2006/relationships/image" Target="../media/image205.png"/></Relationships>
</file>

<file path=ppt/slides/_rels/slide54.xml.rels><?xml version="1.0" encoding="UTF-8" standalone="yes"?>
<Relationships xmlns="http://schemas.openxmlformats.org/package/2006/relationships"><Relationship Id="rId3" Type="http://schemas.openxmlformats.org/officeDocument/2006/relationships/image" Target="../media/image207.jpeg"/><Relationship Id="rId2" Type="http://schemas.openxmlformats.org/officeDocument/2006/relationships/image" Target="../media/image206.jpeg"/><Relationship Id="rId1" Type="http://schemas.openxmlformats.org/officeDocument/2006/relationships/slideLayout" Target="../slideLayouts/slideLayout1.xml"/><Relationship Id="rId5" Type="http://schemas.openxmlformats.org/officeDocument/2006/relationships/image" Target="../media/image209.jpeg"/><Relationship Id="rId4" Type="http://schemas.openxmlformats.org/officeDocument/2006/relationships/image" Target="../media/image208.png"/></Relationships>
</file>

<file path=ppt/slides/_rels/slide5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jpeg"/><Relationship Id="rId1" Type="http://schemas.openxmlformats.org/officeDocument/2006/relationships/slideLayout" Target="../slideLayouts/slideLayout1.xml"/><Relationship Id="rId5" Type="http://schemas.openxmlformats.org/officeDocument/2006/relationships/image" Target="../media/image213.jpeg"/><Relationship Id="rId4" Type="http://schemas.openxmlformats.org/officeDocument/2006/relationships/image" Target="../media/image212.png"/></Relationships>
</file>

<file path=ppt/slides/_rels/slide56.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image" Target="../media/image214.png"/><Relationship Id="rId1" Type="http://schemas.openxmlformats.org/officeDocument/2006/relationships/slideLayout" Target="../slideLayouts/slideLayout1.xml"/><Relationship Id="rId6" Type="http://schemas.openxmlformats.org/officeDocument/2006/relationships/image" Target="../media/image218.png"/><Relationship Id="rId5" Type="http://schemas.openxmlformats.org/officeDocument/2006/relationships/image" Target="../media/image217.png"/><Relationship Id="rId4" Type="http://schemas.openxmlformats.org/officeDocument/2006/relationships/image" Target="../media/image216.jpeg"/></Relationships>
</file>

<file path=ppt/slides/_rels/slide57.xml.rels><?xml version="1.0" encoding="UTF-8" standalone="yes"?>
<Relationships xmlns="http://schemas.openxmlformats.org/package/2006/relationships"><Relationship Id="rId3" Type="http://schemas.openxmlformats.org/officeDocument/2006/relationships/image" Target="../media/image219.jpeg"/><Relationship Id="rId2" Type="http://schemas.openxmlformats.org/officeDocument/2006/relationships/hyperlink" Target="http://www.google.co.il/url?sa=i&amp;rct=j&amp;q=&amp;esrc=s&amp;frm=1&amp;source=images&amp;cd=&amp;cad=rja&amp;docid=6AfEGJE8Z_bb1M&amp;tbnid=QQ3gsMeRoSjGBM:&amp;ved=0CAUQjRw&amp;url=http://www.latour.co.il/199810/%D7%AA%D7%99%D7%9E%D7%A0%D7%99%D7%9D-%D7%A2%D7%9C%D7%99%D7%99%D7%9A-%D7%9B%D7%A0%D7%A8%D7%AA&amp;ei=nsMZUteSCIrStAaDuYGgCA&amp;bvm=bv.51156542,d.Yms&amp;psig=AFQjCNEW-MwamNuLBoRSyI7DlygH3FkueA&amp;ust=1377506568658941" TargetMode="External"/><Relationship Id="rId1" Type="http://schemas.openxmlformats.org/officeDocument/2006/relationships/slideLayout" Target="../slideLayouts/slideLayout1.xml"/><Relationship Id="rId6" Type="http://schemas.openxmlformats.org/officeDocument/2006/relationships/image" Target="../media/image222.png"/><Relationship Id="rId5" Type="http://schemas.openxmlformats.org/officeDocument/2006/relationships/image" Target="../media/image221.png"/><Relationship Id="rId4" Type="http://schemas.openxmlformats.org/officeDocument/2006/relationships/image" Target="../media/image220.jpeg"/></Relationships>
</file>

<file path=ppt/slides/_rels/slide58.xml.rels><?xml version="1.0" encoding="UTF-8" standalone="yes"?>
<Relationships xmlns="http://schemas.openxmlformats.org/package/2006/relationships"><Relationship Id="rId3" Type="http://schemas.openxmlformats.org/officeDocument/2006/relationships/image" Target="../media/image223.jpeg"/><Relationship Id="rId7" Type="http://schemas.openxmlformats.org/officeDocument/2006/relationships/image" Target="../media/image227.jpeg"/><Relationship Id="rId2" Type="http://schemas.openxmlformats.org/officeDocument/2006/relationships/hyperlink" Target="http://he.wikipedia.org/wiki/%D7%A7%D7%95%D7%91%D7%A5:%D7%99%D7%91%D7%A0%D7%90%D7%9C%D7%99.JPG" TargetMode="External"/><Relationship Id="rId1" Type="http://schemas.openxmlformats.org/officeDocument/2006/relationships/slideLayout" Target="../slideLayouts/slideLayout1.xml"/><Relationship Id="rId6" Type="http://schemas.openxmlformats.org/officeDocument/2006/relationships/image" Target="../media/image226.jpeg"/><Relationship Id="rId5" Type="http://schemas.openxmlformats.org/officeDocument/2006/relationships/image" Target="../media/image225.jpeg"/><Relationship Id="rId4" Type="http://schemas.openxmlformats.org/officeDocument/2006/relationships/image" Target="../media/image224.png"/></Relationships>
</file>

<file path=ppt/slides/_rels/slide59.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image" Target="../media/image228.jpe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231.jpeg"/><Relationship Id="rId2" Type="http://schemas.openxmlformats.org/officeDocument/2006/relationships/image" Target="../media/image230.jpeg"/><Relationship Id="rId1" Type="http://schemas.openxmlformats.org/officeDocument/2006/relationships/slideLayout" Target="../slideLayouts/slideLayout8.xml"/><Relationship Id="rId4" Type="http://schemas.openxmlformats.org/officeDocument/2006/relationships/image" Target="../media/image232.png"/></Relationships>
</file>

<file path=ppt/slides/_rels/slide61.xml.rels><?xml version="1.0" encoding="UTF-8" standalone="yes"?>
<Relationships xmlns="http://schemas.openxmlformats.org/package/2006/relationships"><Relationship Id="rId3" Type="http://schemas.openxmlformats.org/officeDocument/2006/relationships/image" Target="../media/image234.jpeg"/><Relationship Id="rId2" Type="http://schemas.openxmlformats.org/officeDocument/2006/relationships/image" Target="../media/image233.jpeg"/><Relationship Id="rId1" Type="http://schemas.openxmlformats.org/officeDocument/2006/relationships/slideLayout" Target="../slideLayouts/slideLayout1.xml"/><Relationship Id="rId5" Type="http://schemas.openxmlformats.org/officeDocument/2006/relationships/image" Target="../media/image236.jpeg"/><Relationship Id="rId4" Type="http://schemas.openxmlformats.org/officeDocument/2006/relationships/image" Target="../media/image235.jpeg"/></Relationships>
</file>

<file path=ppt/slides/_rels/slide62.xml.rels><?xml version="1.0" encoding="UTF-8" standalone="yes"?>
<Relationships xmlns="http://schemas.openxmlformats.org/package/2006/relationships"><Relationship Id="rId3" Type="http://schemas.openxmlformats.org/officeDocument/2006/relationships/image" Target="../media/image238.jpeg"/><Relationship Id="rId2" Type="http://schemas.openxmlformats.org/officeDocument/2006/relationships/image" Target="../media/image237.jpe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image" Target="../media/image240.jpeg"/><Relationship Id="rId2" Type="http://schemas.openxmlformats.org/officeDocument/2006/relationships/image" Target="../media/image239.jpeg"/><Relationship Id="rId1" Type="http://schemas.openxmlformats.org/officeDocument/2006/relationships/slideLayout" Target="../slideLayouts/slideLayout1.xml"/><Relationship Id="rId4" Type="http://schemas.openxmlformats.org/officeDocument/2006/relationships/image" Target="../media/image241.jpeg"/></Relationships>
</file>

<file path=ppt/slides/_rels/slide64.xml.rels><?xml version="1.0" encoding="UTF-8" standalone="yes"?>
<Relationships xmlns="http://schemas.openxmlformats.org/package/2006/relationships"><Relationship Id="rId3" Type="http://schemas.openxmlformats.org/officeDocument/2006/relationships/image" Target="../media/image243.png"/><Relationship Id="rId7" Type="http://schemas.openxmlformats.org/officeDocument/2006/relationships/image" Target="../media/image247.jpeg"/><Relationship Id="rId2" Type="http://schemas.openxmlformats.org/officeDocument/2006/relationships/image" Target="../media/image242.jpeg"/><Relationship Id="rId1" Type="http://schemas.openxmlformats.org/officeDocument/2006/relationships/slideLayout" Target="../slideLayouts/slideLayout1.xml"/><Relationship Id="rId6" Type="http://schemas.openxmlformats.org/officeDocument/2006/relationships/image" Target="../media/image246.png"/><Relationship Id="rId5" Type="http://schemas.openxmlformats.org/officeDocument/2006/relationships/image" Target="../media/image245.png"/><Relationship Id="rId4" Type="http://schemas.openxmlformats.org/officeDocument/2006/relationships/image" Target="../media/image244.png"/></Relationships>
</file>

<file path=ppt/slides/_rels/slide65.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48.jpeg"/><Relationship Id="rId1" Type="http://schemas.openxmlformats.org/officeDocument/2006/relationships/slideLayout" Target="../slideLayouts/slideLayout1.xml"/><Relationship Id="rId5" Type="http://schemas.openxmlformats.org/officeDocument/2006/relationships/image" Target="../media/image251.png"/><Relationship Id="rId4" Type="http://schemas.openxmlformats.org/officeDocument/2006/relationships/image" Target="../media/image250.png"/></Relationships>
</file>

<file path=ppt/slides/_rels/slide66.xml.rels><?xml version="1.0" encoding="UTF-8" standalone="yes"?>
<Relationships xmlns="http://schemas.openxmlformats.org/package/2006/relationships"><Relationship Id="rId3" Type="http://schemas.openxmlformats.org/officeDocument/2006/relationships/image" Target="../media/image253.jpeg"/><Relationship Id="rId2" Type="http://schemas.openxmlformats.org/officeDocument/2006/relationships/image" Target="../media/image252.jpeg"/><Relationship Id="rId1" Type="http://schemas.openxmlformats.org/officeDocument/2006/relationships/slideLayout" Target="../slideLayouts/slideLayout1.xml"/><Relationship Id="rId6" Type="http://schemas.openxmlformats.org/officeDocument/2006/relationships/image" Target="../media/image256.png"/><Relationship Id="rId5" Type="http://schemas.openxmlformats.org/officeDocument/2006/relationships/image" Target="../media/image255.jpeg"/><Relationship Id="rId4" Type="http://schemas.openxmlformats.org/officeDocument/2006/relationships/image" Target="../media/image254.png"/></Relationships>
</file>

<file path=ppt/slides/_rels/slide67.xml.rels><?xml version="1.0" encoding="UTF-8" standalone="yes"?>
<Relationships xmlns="http://schemas.openxmlformats.org/package/2006/relationships"><Relationship Id="rId3" Type="http://schemas.openxmlformats.org/officeDocument/2006/relationships/image" Target="../media/image257.jpeg"/><Relationship Id="rId2" Type="http://schemas.openxmlformats.org/officeDocument/2006/relationships/image" Target="../media/image255.jpeg"/><Relationship Id="rId1" Type="http://schemas.openxmlformats.org/officeDocument/2006/relationships/slideLayout" Target="../slideLayouts/slideLayout8.xml"/><Relationship Id="rId5" Type="http://schemas.openxmlformats.org/officeDocument/2006/relationships/image" Target="../media/image259.jpeg"/><Relationship Id="rId4" Type="http://schemas.openxmlformats.org/officeDocument/2006/relationships/image" Target="../media/image258.jpeg"/></Relationships>
</file>

<file path=ppt/slides/_rels/slide68.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png"/><Relationship Id="rId1" Type="http://schemas.openxmlformats.org/officeDocument/2006/relationships/slideLayout" Target="../slideLayouts/slideLayout1.xml"/><Relationship Id="rId6" Type="http://schemas.openxmlformats.org/officeDocument/2006/relationships/image" Target="../media/image264.jpeg"/><Relationship Id="rId5" Type="http://schemas.openxmlformats.org/officeDocument/2006/relationships/image" Target="../media/image263.png"/><Relationship Id="rId4" Type="http://schemas.openxmlformats.org/officeDocument/2006/relationships/image" Target="../media/image262.png"/></Relationships>
</file>

<file path=ppt/slides/_rels/slide69.xml.rels><?xml version="1.0" encoding="UTF-8" standalone="yes"?>
<Relationships xmlns="http://schemas.openxmlformats.org/package/2006/relationships"><Relationship Id="rId3" Type="http://schemas.openxmlformats.org/officeDocument/2006/relationships/image" Target="../media/image266.jpeg"/><Relationship Id="rId7" Type="http://schemas.openxmlformats.org/officeDocument/2006/relationships/image" Target="../media/image70.jpeg"/><Relationship Id="rId2" Type="http://schemas.openxmlformats.org/officeDocument/2006/relationships/image" Target="../media/image265.jpeg"/><Relationship Id="rId1" Type="http://schemas.openxmlformats.org/officeDocument/2006/relationships/slideLayout" Target="../slideLayouts/slideLayout1.xml"/><Relationship Id="rId6" Type="http://schemas.openxmlformats.org/officeDocument/2006/relationships/image" Target="../media/image269.png"/><Relationship Id="rId5" Type="http://schemas.openxmlformats.org/officeDocument/2006/relationships/image" Target="../media/image268.png"/><Relationship Id="rId4" Type="http://schemas.openxmlformats.org/officeDocument/2006/relationships/image" Target="../media/image267.png"/></Relationships>
</file>

<file path=ppt/slides/_rels/slide70.xml.rels><?xml version="1.0" encoding="UTF-8" standalone="yes"?>
<Relationships xmlns="http://schemas.openxmlformats.org/package/2006/relationships"><Relationship Id="rId3" Type="http://schemas.openxmlformats.org/officeDocument/2006/relationships/image" Target="../media/image271.jpeg"/><Relationship Id="rId7" Type="http://schemas.openxmlformats.org/officeDocument/2006/relationships/image" Target="../media/image7.png"/><Relationship Id="rId2" Type="http://schemas.openxmlformats.org/officeDocument/2006/relationships/image" Target="../media/image270.png"/><Relationship Id="rId1" Type="http://schemas.openxmlformats.org/officeDocument/2006/relationships/slideLayout" Target="../slideLayouts/slideLayout1.xml"/><Relationship Id="rId6" Type="http://schemas.openxmlformats.org/officeDocument/2006/relationships/image" Target="../media/image273.png"/><Relationship Id="rId5" Type="http://schemas.openxmlformats.org/officeDocument/2006/relationships/image" Target="../media/image69.jpeg"/><Relationship Id="rId4" Type="http://schemas.openxmlformats.org/officeDocument/2006/relationships/image" Target="../media/image272.jpeg"/></Relationships>
</file>

<file path=ppt/slides/_rels/slide71.xml.rels><?xml version="1.0" encoding="UTF-8" standalone="yes"?>
<Relationships xmlns="http://schemas.openxmlformats.org/package/2006/relationships"><Relationship Id="rId3" Type="http://schemas.openxmlformats.org/officeDocument/2006/relationships/image" Target="../media/image275.jpeg"/><Relationship Id="rId2" Type="http://schemas.openxmlformats.org/officeDocument/2006/relationships/image" Target="../media/image274.jpeg"/><Relationship Id="rId1" Type="http://schemas.openxmlformats.org/officeDocument/2006/relationships/slideLayout" Target="../slideLayouts/slideLayout1.xml"/><Relationship Id="rId4" Type="http://schemas.openxmlformats.org/officeDocument/2006/relationships/image" Target="../media/image276.png"/></Relationships>
</file>

<file path=ppt/slides/_rels/slide72.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image" Target="../media/image277.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80.jpeg"/><Relationship Id="rId2" Type="http://schemas.openxmlformats.org/officeDocument/2006/relationships/image" Target="../media/image279.jpeg"/><Relationship Id="rId1" Type="http://schemas.openxmlformats.org/officeDocument/2006/relationships/slideLayout" Target="../slideLayouts/slideLayout1.xml"/><Relationship Id="rId5" Type="http://schemas.openxmlformats.org/officeDocument/2006/relationships/image" Target="../media/image282.png"/><Relationship Id="rId4" Type="http://schemas.openxmlformats.org/officeDocument/2006/relationships/image" Target="../media/image281.jpeg"/></Relationships>
</file>

<file path=ppt/slides/_rels/slide74.xml.rels><?xml version="1.0" encoding="UTF-8" standalone="yes"?>
<Relationships xmlns="http://schemas.openxmlformats.org/package/2006/relationships"><Relationship Id="rId3" Type="http://schemas.openxmlformats.org/officeDocument/2006/relationships/image" Target="../media/image284.jpeg"/><Relationship Id="rId2" Type="http://schemas.openxmlformats.org/officeDocument/2006/relationships/image" Target="../media/image283.png"/><Relationship Id="rId1" Type="http://schemas.openxmlformats.org/officeDocument/2006/relationships/slideLayout" Target="../slideLayouts/slideLayout1.xml"/><Relationship Id="rId6" Type="http://schemas.openxmlformats.org/officeDocument/2006/relationships/image" Target="../media/image287.jpeg"/><Relationship Id="rId5" Type="http://schemas.openxmlformats.org/officeDocument/2006/relationships/image" Target="../media/image286.jpeg"/><Relationship Id="rId4" Type="http://schemas.openxmlformats.org/officeDocument/2006/relationships/image" Target="../media/image285.jpeg"/></Relationships>
</file>

<file path=ppt/slides/_rels/slide75.xml.rels><?xml version="1.0" encoding="UTF-8" standalone="yes"?>
<Relationships xmlns="http://schemas.openxmlformats.org/package/2006/relationships"><Relationship Id="rId3" Type="http://schemas.openxmlformats.org/officeDocument/2006/relationships/image" Target="../media/image289.jpeg"/><Relationship Id="rId2" Type="http://schemas.openxmlformats.org/officeDocument/2006/relationships/image" Target="../media/image288.png"/><Relationship Id="rId1" Type="http://schemas.openxmlformats.org/officeDocument/2006/relationships/slideLayout" Target="../slideLayouts/slideLayout1.xml"/><Relationship Id="rId5" Type="http://schemas.openxmlformats.org/officeDocument/2006/relationships/image" Target="../media/image291.jpeg"/><Relationship Id="rId4" Type="http://schemas.openxmlformats.org/officeDocument/2006/relationships/image" Target="../media/image290.jpeg"/></Relationships>
</file>

<file path=ppt/slides/_rels/slide76.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image" Target="../media/image293.jpeg"/><Relationship Id="rId7" Type="http://schemas.openxmlformats.org/officeDocument/2006/relationships/image" Target="../media/image297.png"/><Relationship Id="rId2" Type="http://schemas.openxmlformats.org/officeDocument/2006/relationships/image" Target="../media/image292.jpeg"/><Relationship Id="rId1" Type="http://schemas.openxmlformats.org/officeDocument/2006/relationships/slideLayout" Target="../slideLayouts/slideLayout1.xml"/><Relationship Id="rId6" Type="http://schemas.openxmlformats.org/officeDocument/2006/relationships/image" Target="../media/image296.jpeg"/><Relationship Id="rId5" Type="http://schemas.openxmlformats.org/officeDocument/2006/relationships/image" Target="../media/image295.jpeg"/><Relationship Id="rId4" Type="http://schemas.openxmlformats.org/officeDocument/2006/relationships/image" Target="../media/image294.jpeg"/></Relationships>
</file>

<file path=ppt/slides/_rels/slide77.xml.rels><?xml version="1.0" encoding="UTF-8" standalone="yes"?>
<Relationships xmlns="http://schemas.openxmlformats.org/package/2006/relationships"><Relationship Id="rId3" Type="http://schemas.openxmlformats.org/officeDocument/2006/relationships/image" Target="../media/image299.jpeg"/><Relationship Id="rId2" Type="http://schemas.openxmlformats.org/officeDocument/2006/relationships/image" Target="../media/image298.jpeg"/><Relationship Id="rId1" Type="http://schemas.openxmlformats.org/officeDocument/2006/relationships/slideLayout" Target="../slideLayouts/slideLayout1.xml"/><Relationship Id="rId4" Type="http://schemas.openxmlformats.org/officeDocument/2006/relationships/image" Target="../media/image300.jpeg"/></Relationships>
</file>

<file path=ppt/slides/_rels/slide78.xml.rels><?xml version="1.0" encoding="UTF-8" standalone="yes"?>
<Relationships xmlns="http://schemas.openxmlformats.org/package/2006/relationships"><Relationship Id="rId3" Type="http://schemas.openxmlformats.org/officeDocument/2006/relationships/image" Target="../media/image302.jpeg"/><Relationship Id="rId2" Type="http://schemas.openxmlformats.org/officeDocument/2006/relationships/image" Target="../media/image301.jpeg"/><Relationship Id="rId1" Type="http://schemas.openxmlformats.org/officeDocument/2006/relationships/slideLayout" Target="../slideLayouts/slideLayout1.xml"/><Relationship Id="rId5" Type="http://schemas.openxmlformats.org/officeDocument/2006/relationships/image" Target="../media/image71.jpeg"/><Relationship Id="rId4" Type="http://schemas.openxmlformats.org/officeDocument/2006/relationships/image" Target="../media/image70.jpeg"/></Relationships>
</file>

<file path=ppt/slides/_rels/slide79.xml.rels><?xml version="1.0" encoding="UTF-8" standalone="yes"?>
<Relationships xmlns="http://schemas.openxmlformats.org/package/2006/relationships"><Relationship Id="rId3" Type="http://schemas.openxmlformats.org/officeDocument/2006/relationships/image" Target="../media/image304.jpeg"/><Relationship Id="rId2" Type="http://schemas.openxmlformats.org/officeDocument/2006/relationships/image" Target="../media/image303.jpeg"/><Relationship Id="rId1" Type="http://schemas.openxmlformats.org/officeDocument/2006/relationships/slideLayout" Target="../slideLayouts/slideLayout1.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305.jpeg"/></Relationships>
</file>

<file path=ppt/slides/_rels/slide80.xml.rels><?xml version="1.0" encoding="UTF-8" standalone="yes"?>
<Relationships xmlns="http://schemas.openxmlformats.org/package/2006/relationships"><Relationship Id="rId8" Type="http://schemas.openxmlformats.org/officeDocument/2006/relationships/image" Target="../media/image164.jpeg"/><Relationship Id="rId3" Type="http://schemas.openxmlformats.org/officeDocument/2006/relationships/image" Target="../media/image308.jpeg"/><Relationship Id="rId7" Type="http://schemas.openxmlformats.org/officeDocument/2006/relationships/hyperlink" Target="http://www.google.co.il/imgres?imgurl=http://www.guns.co.il/images/stories/sniper/Rusia/KSBK/ksvk.jpg&amp;imgrefurl=http://www.guns.co.il/sniper/ksbk.html&amp;usg=__8goTz2jyRG9XNeaUOFay45QFAqI=&amp;h=425&amp;w=625&amp;sz=21&amp;hl=iw&amp;start=110&amp;sig2=KQXH-7qyunnW3KoerqxmJg&amp;zoom=1&amp;tbnid=lL9ON_tZoaSBdM:&amp;tbnh=92&amp;tbnw=136&amp;ei=aWo3TaKFEcOh4Qailom_Ag&amp;prev=/images?q=%D7%A8%D7%95%D7%91%D7%94&amp;start=100&amp;hl=iw&amp;safe=active&amp;sa=N&amp;gbv=2&amp;ie=UTF-8&amp;tbs=isch:1&amp;itbs=1" TargetMode="External"/><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309.jpeg"/></Relationships>
</file>

<file path=ppt/slides/_rels/slide81.xml.rels><?xml version="1.0" encoding="UTF-8" standalone="yes"?>
<Relationships xmlns="http://schemas.openxmlformats.org/package/2006/relationships"><Relationship Id="rId8" Type="http://schemas.openxmlformats.org/officeDocument/2006/relationships/image" Target="../media/image316.png"/><Relationship Id="rId3" Type="http://schemas.openxmlformats.org/officeDocument/2006/relationships/image" Target="../media/image311.jpeg"/><Relationship Id="rId7" Type="http://schemas.openxmlformats.org/officeDocument/2006/relationships/image" Target="../media/image315.png"/><Relationship Id="rId2" Type="http://schemas.openxmlformats.org/officeDocument/2006/relationships/image" Target="../media/image310.png"/><Relationship Id="rId1" Type="http://schemas.openxmlformats.org/officeDocument/2006/relationships/slideLayout" Target="../slideLayouts/slideLayout1.xml"/><Relationship Id="rId6" Type="http://schemas.openxmlformats.org/officeDocument/2006/relationships/image" Target="../media/image314.png"/><Relationship Id="rId5" Type="http://schemas.openxmlformats.org/officeDocument/2006/relationships/image" Target="../media/image313.jpeg"/><Relationship Id="rId10" Type="http://schemas.openxmlformats.org/officeDocument/2006/relationships/image" Target="../media/image318.jpeg"/><Relationship Id="rId4" Type="http://schemas.openxmlformats.org/officeDocument/2006/relationships/image" Target="../media/image312.jpeg"/><Relationship Id="rId9" Type="http://schemas.openxmlformats.org/officeDocument/2006/relationships/image" Target="../media/image317.jpeg"/></Relationships>
</file>

<file path=ppt/slides/_rels/slide8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264.jpeg"/><Relationship Id="rId1" Type="http://schemas.openxmlformats.org/officeDocument/2006/relationships/slideLayout" Target="../slideLayouts/slideLayout1.xml"/><Relationship Id="rId6" Type="http://schemas.openxmlformats.org/officeDocument/2006/relationships/image" Target="../media/image320.jpeg"/><Relationship Id="rId5" Type="http://schemas.openxmlformats.org/officeDocument/2006/relationships/image" Target="../media/image319.jpeg"/><Relationship Id="rId4" Type="http://schemas.openxmlformats.org/officeDocument/2006/relationships/hyperlink" Target="http://www.google.co.il/url?sa=i&amp;rct=j&amp;q=&amp;esrc=s&amp;frm=1&amp;source=images&amp;cd=&amp;cad=rja&amp;docid=Lt4A25JIj0wyAM&amp;tbnid=BMzbl8Pd6LX1MM:&amp;ved=0CAUQjRw&amp;url=http://www.mkm-haifa.co.il/ulpanim/zafonulpanim/emekHayrden.htm&amp;ei=_8AZUvukJ4SatQarqIGgBg&amp;bvm=bv.51156542,d.Yms&amp;psig=AFQjCNE06DBSc4uQn8iLRWoCoIeM_QV6xQ&amp;ust=1377505241474047"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322.jpeg"/><Relationship Id="rId2" Type="http://schemas.openxmlformats.org/officeDocument/2006/relationships/image" Target="../media/image321.jpe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23.jpeg"/><Relationship Id="rId1" Type="http://schemas.openxmlformats.org/officeDocument/2006/relationships/slideLayout" Target="../slideLayouts/slideLayout8.xml"/><Relationship Id="rId5" Type="http://schemas.openxmlformats.org/officeDocument/2006/relationships/image" Target="../media/image324.jpeg"/><Relationship Id="rId4" Type="http://schemas.openxmlformats.org/officeDocument/2006/relationships/image" Target="../media/image67.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325.pn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3" Type="http://schemas.openxmlformats.org/officeDocument/2006/relationships/image" Target="../media/image327.jpeg"/><Relationship Id="rId2" Type="http://schemas.openxmlformats.org/officeDocument/2006/relationships/image" Target="../media/image326.jpg"/><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3" Type="http://schemas.openxmlformats.org/officeDocument/2006/relationships/image" Target="../media/image329.png"/><Relationship Id="rId2" Type="http://schemas.openxmlformats.org/officeDocument/2006/relationships/image" Target="../media/image328.png"/><Relationship Id="rId1" Type="http://schemas.openxmlformats.org/officeDocument/2006/relationships/slideLayout" Target="../slideLayouts/slideLayout1.xml"/><Relationship Id="rId6" Type="http://schemas.openxmlformats.org/officeDocument/2006/relationships/image" Target="../media/image332.png"/><Relationship Id="rId5" Type="http://schemas.openxmlformats.org/officeDocument/2006/relationships/image" Target="../media/image331.png"/><Relationship Id="rId4" Type="http://schemas.openxmlformats.org/officeDocument/2006/relationships/image" Target="../media/image330.png"/></Relationships>
</file>

<file path=ppt/slides/_rels/slide90.xml.rels><?xml version="1.0" encoding="UTF-8" standalone="yes"?>
<Relationships xmlns="http://schemas.openxmlformats.org/package/2006/relationships"><Relationship Id="rId2" Type="http://schemas.openxmlformats.org/officeDocument/2006/relationships/image" Target="../media/image333.jp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335.jpeg"/><Relationship Id="rId2" Type="http://schemas.openxmlformats.org/officeDocument/2006/relationships/image" Target="../media/image334.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337.png"/><Relationship Id="rId2" Type="http://schemas.openxmlformats.org/officeDocument/2006/relationships/image" Target="../media/image336.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337.png"/><Relationship Id="rId2" Type="http://schemas.openxmlformats.org/officeDocument/2006/relationships/image" Target="../media/image338.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339.jp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image" Target="../media/image340.jpe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343.jpeg"/><Relationship Id="rId2" Type="http://schemas.openxmlformats.org/officeDocument/2006/relationships/image" Target="../media/image342.jpe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344.jpe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346.jpeg"/><Relationship Id="rId2" Type="http://schemas.openxmlformats.org/officeDocument/2006/relationships/image" Target="../media/image345.jpeg"/><Relationship Id="rId1" Type="http://schemas.openxmlformats.org/officeDocument/2006/relationships/slideLayout" Target="../slideLayouts/slideLayout8.xml"/><Relationship Id="rId4" Type="http://schemas.openxmlformats.org/officeDocument/2006/relationships/image" Target="../media/image347.png"/></Relationships>
</file>

<file path=ppt/slides/_rels/slide99.xml.rels><?xml version="1.0" encoding="UTF-8" standalone="yes"?>
<Relationships xmlns="http://schemas.openxmlformats.org/package/2006/relationships"><Relationship Id="rId2" Type="http://schemas.openxmlformats.org/officeDocument/2006/relationships/image" Target="../media/image348.jpe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348.jpeg"/><Relationship Id="rId2" Type="http://schemas.openxmlformats.org/officeDocument/2006/relationships/image" Target="../media/image349.jpeg"/><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image" Target="../media/image350.png"/><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3" Type="http://schemas.openxmlformats.org/officeDocument/2006/relationships/image" Target="../media/image353.png"/><Relationship Id="rId2" Type="http://schemas.openxmlformats.org/officeDocument/2006/relationships/image" Target="../media/image352.png"/><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3" Type="http://schemas.openxmlformats.org/officeDocument/2006/relationships/image" Target="../media/image355.png"/><Relationship Id="rId2" Type="http://schemas.openxmlformats.org/officeDocument/2006/relationships/image" Target="../media/image354.png"/><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3" Type="http://schemas.openxmlformats.org/officeDocument/2006/relationships/image" Target="../media/image357.png"/><Relationship Id="rId2" Type="http://schemas.openxmlformats.org/officeDocument/2006/relationships/image" Target="../media/image356.png"/><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3" Type="http://schemas.openxmlformats.org/officeDocument/2006/relationships/image" Target="../media/image359.jpeg"/><Relationship Id="rId2" Type="http://schemas.openxmlformats.org/officeDocument/2006/relationships/image" Target="../media/image358.jpeg"/><Relationship Id="rId1" Type="http://schemas.openxmlformats.org/officeDocument/2006/relationships/slideLayout" Target="../slideLayouts/slideLayout8.xml"/><Relationship Id="rId4" Type="http://schemas.openxmlformats.org/officeDocument/2006/relationships/image" Target="../media/image360.jpeg"/></Relationships>
</file>

<file path=ppt/slides/_rels/slide106.xml.rels><?xml version="1.0" encoding="UTF-8" standalone="yes"?>
<Relationships xmlns="http://schemas.openxmlformats.org/package/2006/relationships"><Relationship Id="rId3" Type="http://schemas.openxmlformats.org/officeDocument/2006/relationships/image" Target="../media/image362.png"/><Relationship Id="rId2" Type="http://schemas.openxmlformats.org/officeDocument/2006/relationships/image" Target="../media/image361.png"/><Relationship Id="rId1" Type="http://schemas.openxmlformats.org/officeDocument/2006/relationships/slideLayout" Target="../slideLayouts/slideLayout8.xml"/><Relationship Id="rId4" Type="http://schemas.openxmlformats.org/officeDocument/2006/relationships/image" Target="../media/image36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3" Type="http://schemas.openxmlformats.org/officeDocument/2006/relationships/image" Target="../media/image364.gif"/><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365.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2" descr="C:\Users\123\Pictures\תשע'ד-א'-ד'\002.jpg"/>
          <p:cNvPicPr>
            <a:picLocks noChangeAspect="1" noChangeArrowheads="1"/>
          </p:cNvPicPr>
          <p:nvPr/>
        </p:nvPicPr>
        <p:blipFill rotWithShape="1">
          <a:blip r:embed="rId2"/>
          <a:srcRect l="3753" t="1660" r="15240" b="6791"/>
          <a:stretch/>
        </p:blipFill>
        <p:spPr bwMode="auto">
          <a:xfrm>
            <a:off x="2841112" y="188640"/>
            <a:ext cx="3461779" cy="5877272"/>
          </a:xfrm>
          <a:prstGeom prst="rect">
            <a:avLst/>
          </a:prstGeom>
          <a:noFill/>
          <a:ln w="12700">
            <a:solidFill>
              <a:schemeClr val="tx1"/>
            </a:solidFill>
          </a:ln>
        </p:spPr>
      </p:pic>
      <p:sp>
        <p:nvSpPr>
          <p:cNvPr id="2" name="TextBox 1"/>
          <p:cNvSpPr txBox="1"/>
          <p:nvPr/>
        </p:nvSpPr>
        <p:spPr>
          <a:xfrm>
            <a:off x="1494075" y="1844828"/>
            <a:ext cx="6155852" cy="1323439"/>
          </a:xfrm>
          <a:prstGeom prst="rect">
            <a:avLst/>
          </a:prstGeom>
          <a:noFill/>
        </p:spPr>
        <p:txBody>
          <a:bodyPr wrap="none" rtlCol="1">
            <a:spAutoFit/>
          </a:bodyPr>
          <a:lstStyle/>
          <a:p>
            <a:pPr algn="r" rtl="1"/>
            <a:r>
              <a:rPr lang="he-IL" sz="8000" b="1" dirty="0">
                <a:solidFill>
                  <a:srgbClr val="2217F5"/>
                </a:solidFill>
              </a:rPr>
              <a:t>מסע המושבות</a:t>
            </a:r>
          </a:p>
        </p:txBody>
      </p:sp>
      <p:sp>
        <p:nvSpPr>
          <p:cNvPr id="3" name="TextBox 2"/>
          <p:cNvSpPr txBox="1"/>
          <p:nvPr/>
        </p:nvSpPr>
        <p:spPr>
          <a:xfrm>
            <a:off x="1667198" y="3127276"/>
            <a:ext cx="5809603" cy="523220"/>
          </a:xfrm>
          <a:prstGeom prst="rect">
            <a:avLst/>
          </a:prstGeom>
          <a:solidFill>
            <a:srgbClr val="FFFF00"/>
          </a:solidFill>
          <a:ln w="38100">
            <a:solidFill>
              <a:schemeClr val="tx1"/>
            </a:solidFill>
          </a:ln>
        </p:spPr>
        <p:txBody>
          <a:bodyPr wrap="none" rtlCol="1">
            <a:spAutoFit/>
          </a:bodyPr>
          <a:lstStyle/>
          <a:p>
            <a:pPr algn="r" rtl="1"/>
            <a:r>
              <a:rPr lang="he-IL" sz="2800" b="1" dirty="0"/>
              <a:t>י"ט בחשון – ט"ז בכסלו תרע"ד (1913)</a:t>
            </a:r>
          </a:p>
        </p:txBody>
      </p:sp>
      <p:pic>
        <p:nvPicPr>
          <p:cNvPr id="4" name="Picture 12" descr="E35CC4E5"/>
          <p:cNvPicPr>
            <a:picLocks noChangeAspect="1" noChangeArrowheads="1"/>
          </p:cNvPicPr>
          <p:nvPr/>
        </p:nvPicPr>
        <p:blipFill>
          <a:blip r:embed="rId3"/>
          <a:srcRect/>
          <a:stretch>
            <a:fillRect/>
          </a:stretch>
        </p:blipFill>
        <p:spPr bwMode="auto">
          <a:xfrm>
            <a:off x="7452320" y="404668"/>
            <a:ext cx="1277556" cy="1493143"/>
          </a:xfrm>
          <a:prstGeom prst="rect">
            <a:avLst/>
          </a:prstGeom>
          <a:noFill/>
          <a:ln w="38100">
            <a:solidFill>
              <a:srgbClr val="FF3300"/>
            </a:solidFill>
            <a:miter lim="800000"/>
            <a:headEnd/>
            <a:tailEnd/>
          </a:ln>
        </p:spPr>
      </p:pic>
      <p:pic>
        <p:nvPicPr>
          <p:cNvPr id="5" name="Picture 10" descr="Yosef Chaim Sonnenfeld.jpg"/>
          <p:cNvPicPr>
            <a:picLocks noChangeAspect="1" noChangeArrowheads="1"/>
          </p:cNvPicPr>
          <p:nvPr/>
        </p:nvPicPr>
        <p:blipFill>
          <a:blip r:embed="rId4"/>
          <a:srcRect b="23455"/>
          <a:stretch>
            <a:fillRect/>
          </a:stretch>
        </p:blipFill>
        <p:spPr bwMode="auto">
          <a:xfrm>
            <a:off x="899593" y="476672"/>
            <a:ext cx="1210964" cy="1368152"/>
          </a:xfrm>
          <a:prstGeom prst="rect">
            <a:avLst/>
          </a:prstGeom>
          <a:noFill/>
          <a:ln w="38100">
            <a:solidFill>
              <a:srgbClr val="FF0000"/>
            </a:solidFill>
          </a:ln>
        </p:spPr>
      </p:pic>
      <p:pic>
        <p:nvPicPr>
          <p:cNvPr id="6" name="Picture 2" descr="C:\Users\123\Pictures\תשע'ג-י'ב-כ'א\002.jpg"/>
          <p:cNvPicPr>
            <a:picLocks noChangeAspect="1" noChangeArrowheads="1"/>
          </p:cNvPicPr>
          <p:nvPr/>
        </p:nvPicPr>
        <p:blipFill>
          <a:blip r:embed="rId5"/>
          <a:srcRect/>
          <a:stretch>
            <a:fillRect/>
          </a:stretch>
        </p:blipFill>
        <p:spPr bwMode="auto">
          <a:xfrm rot="10800000">
            <a:off x="467544" y="4005068"/>
            <a:ext cx="1472154" cy="2104275"/>
          </a:xfrm>
          <a:prstGeom prst="rect">
            <a:avLst/>
          </a:prstGeom>
          <a:noFill/>
          <a:ln w="38100">
            <a:solidFill>
              <a:srgbClr val="FF0000"/>
            </a:solidFill>
          </a:ln>
        </p:spPr>
      </p:pic>
      <p:pic>
        <p:nvPicPr>
          <p:cNvPr id="7" name="Picture 2" descr="C:\Users\123\Pictures\תשע'ד-ב'-י'ח\001.jpg"/>
          <p:cNvPicPr>
            <a:picLocks noChangeAspect="1" noChangeArrowheads="1"/>
          </p:cNvPicPr>
          <p:nvPr/>
        </p:nvPicPr>
        <p:blipFill>
          <a:blip r:embed="rId6"/>
          <a:srcRect l="20015" t="32821" r="47308" b="50546"/>
          <a:stretch>
            <a:fillRect/>
          </a:stretch>
        </p:blipFill>
        <p:spPr bwMode="auto">
          <a:xfrm rot="10800000">
            <a:off x="179513" y="2636912"/>
            <a:ext cx="1131555" cy="792088"/>
          </a:xfrm>
          <a:prstGeom prst="rect">
            <a:avLst/>
          </a:prstGeom>
          <a:noFill/>
          <a:ln w="38100">
            <a:solidFill>
              <a:srgbClr val="FF0000"/>
            </a:solidFill>
          </a:ln>
        </p:spPr>
      </p:pic>
      <p:pic>
        <p:nvPicPr>
          <p:cNvPr id="8" name="Picture 2"/>
          <p:cNvPicPr>
            <a:picLocks noChangeAspect="1" noChangeArrowheads="1"/>
          </p:cNvPicPr>
          <p:nvPr/>
        </p:nvPicPr>
        <p:blipFill>
          <a:blip r:embed="rId7">
            <a:extLst>
              <a:ext uri="{28A0092B-C50C-407E-A947-70E740481C1C}">
                <a14:useLocalDpi xmlns:a14="http://schemas.microsoft.com/office/drawing/2010/main" val="0"/>
              </a:ext>
            </a:extLst>
          </a:blip>
          <a:srcRect l="5453" t="5648" r="5489" b="6814"/>
          <a:stretch>
            <a:fillRect/>
          </a:stretch>
        </p:blipFill>
        <p:spPr bwMode="auto">
          <a:xfrm>
            <a:off x="6444208" y="4149084"/>
            <a:ext cx="2448272" cy="1548907"/>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9" name="Picture 2" descr="Rosh Pina COA.png"/>
          <p:cNvPicPr>
            <a:picLocks noChangeAspect="1" noChangeArrowheads="1"/>
          </p:cNvPicPr>
          <p:nvPr/>
        </p:nvPicPr>
        <p:blipFill>
          <a:blip r:embed="rId8"/>
          <a:srcRect/>
          <a:stretch>
            <a:fillRect/>
          </a:stretch>
        </p:blipFill>
        <p:spPr bwMode="auto">
          <a:xfrm>
            <a:off x="7740354" y="2636912"/>
            <a:ext cx="1016584" cy="1152128"/>
          </a:xfrm>
          <a:prstGeom prst="rect">
            <a:avLst/>
          </a:prstGeom>
          <a:noFill/>
        </p:spPr>
      </p:pic>
      <p:sp>
        <p:nvSpPr>
          <p:cNvPr id="11" name="TextBox 10"/>
          <p:cNvSpPr txBox="1"/>
          <p:nvPr/>
        </p:nvSpPr>
        <p:spPr>
          <a:xfrm>
            <a:off x="1494075" y="6303426"/>
            <a:ext cx="6147276" cy="338554"/>
          </a:xfrm>
          <a:prstGeom prst="rect">
            <a:avLst/>
          </a:prstGeom>
          <a:solidFill>
            <a:srgbClr val="FFFF00"/>
          </a:solidFill>
          <a:ln>
            <a:solidFill>
              <a:schemeClr val="tx1"/>
            </a:solidFill>
          </a:ln>
        </p:spPr>
        <p:txBody>
          <a:bodyPr wrap="square" rtlCol="1">
            <a:spAutoFit/>
          </a:bodyPr>
          <a:lstStyle/>
          <a:p>
            <a:pPr algn="r" rtl="1"/>
            <a:r>
              <a:rPr lang="he-IL" sz="1600" b="1" dirty="0">
                <a:solidFill>
                  <a:srgbClr val="2217F5"/>
                </a:solidFill>
              </a:rPr>
              <a:t>ערך: שמואל </a:t>
            </a:r>
            <a:r>
              <a:rPr lang="he-IL" sz="1600" b="1" dirty="0" err="1">
                <a:solidFill>
                  <a:srgbClr val="2217F5"/>
                </a:solidFill>
              </a:rPr>
              <a:t>כ"ץ</a:t>
            </a:r>
            <a:r>
              <a:rPr lang="he-IL" sz="1600" b="1" dirty="0">
                <a:solidFill>
                  <a:srgbClr val="2217F5"/>
                </a:solidFill>
              </a:rPr>
              <a:t>, רב בתי ספר בירושלים וחוקר תולדות הרבנות הראשית </a:t>
            </a:r>
            <a:endParaRPr lang="en-US" sz="1600" dirty="0">
              <a:solidFill>
                <a:srgbClr val="2217F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58EBB369"/>
          <p:cNvPicPr>
            <a:picLocks noChangeAspect="1" noChangeArrowheads="1"/>
          </p:cNvPicPr>
          <p:nvPr/>
        </p:nvPicPr>
        <p:blipFill>
          <a:blip r:embed="rId2">
            <a:extLst>
              <a:ext uri="{28A0092B-C50C-407E-A947-70E740481C1C}">
                <a14:useLocalDpi xmlns:a14="http://schemas.microsoft.com/office/drawing/2010/main" val="0"/>
              </a:ext>
            </a:extLst>
          </a:blip>
          <a:srcRect t="3000"/>
          <a:stretch>
            <a:fillRect/>
          </a:stretch>
        </p:blipFill>
        <p:spPr bwMode="auto">
          <a:xfrm>
            <a:off x="1297322" y="1447774"/>
            <a:ext cx="6550548" cy="3600449"/>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9219" name="Text Box 3"/>
          <p:cNvSpPr txBox="1">
            <a:spLocks noChangeArrowheads="1"/>
          </p:cNvSpPr>
          <p:nvPr/>
        </p:nvSpPr>
        <p:spPr bwMode="auto">
          <a:xfrm>
            <a:off x="2782887" y="860336"/>
            <a:ext cx="3578223" cy="338554"/>
          </a:xfrm>
          <a:prstGeom prst="rect">
            <a:avLst/>
          </a:prstGeom>
          <a:solidFill>
            <a:srgbClr val="FFFF00"/>
          </a:solidFill>
          <a:ln w="12700">
            <a:solidFill>
              <a:schemeClr val="tx1"/>
            </a:solidFill>
            <a:miter lim="800000"/>
            <a:headEnd/>
            <a:tailEnd/>
          </a:ln>
        </p:spPr>
        <p:txBody>
          <a:bodyPr wrap="non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1600" b="1" dirty="0"/>
              <a:t>עשרות הצעות היכן להקים מדינה ליהודים</a:t>
            </a:r>
            <a:endParaRPr lang="en-US" altLang="he-IL" sz="1600" b="1" dirty="0"/>
          </a:p>
        </p:txBody>
      </p:sp>
      <p:sp>
        <p:nvSpPr>
          <p:cNvPr id="9220" name="Text Box 4"/>
          <p:cNvSpPr txBox="1">
            <a:spLocks noChangeArrowheads="1"/>
          </p:cNvSpPr>
          <p:nvPr/>
        </p:nvSpPr>
        <p:spPr bwMode="auto">
          <a:xfrm>
            <a:off x="243838" y="5644258"/>
            <a:ext cx="8277746" cy="584775"/>
          </a:xfrm>
          <a:prstGeom prst="rect">
            <a:avLst/>
          </a:prstGeom>
          <a:solidFill>
            <a:srgbClr val="00FFFF">
              <a:alpha val="49019"/>
            </a:srgbClr>
          </a:solidFill>
          <a:ln w="12700">
            <a:solidFill>
              <a:schemeClr val="tx1"/>
            </a:solidFill>
            <a:miter lim="800000"/>
            <a:headEnd/>
            <a:tailEnd/>
          </a:ln>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1600" b="1" dirty="0"/>
              <a:t>מתגשמת רק נבואת נביאי ישראל - חזרה הביתה לארץ-ישראל:</a:t>
            </a:r>
          </a:p>
          <a:p>
            <a:pPr eaLnBrk="1" hangingPunct="1">
              <a:spcBef>
                <a:spcPct val="0"/>
              </a:spcBef>
              <a:buFontTx/>
              <a:buNone/>
            </a:pPr>
            <a:r>
              <a:rPr lang="he-IL" altLang="he-IL" sz="1600" b="1" dirty="0"/>
              <a:t>"</a:t>
            </a:r>
            <a:r>
              <a:rPr lang="he-IL" altLang="he-IL" sz="1600" b="1" dirty="0">
                <a:solidFill>
                  <a:srgbClr val="FF3300"/>
                </a:solidFill>
              </a:rPr>
              <a:t>וְלָקַחְתִּי אֶתְכֶם </a:t>
            </a:r>
            <a:r>
              <a:rPr lang="he-IL" altLang="he-IL" sz="1600" b="1" dirty="0" err="1">
                <a:solidFill>
                  <a:srgbClr val="FF3300"/>
                </a:solidFill>
              </a:rPr>
              <a:t>מִן-הַגּוֹיִם</a:t>
            </a:r>
            <a:r>
              <a:rPr lang="he-IL" altLang="he-IL" sz="1600" b="1" dirty="0">
                <a:solidFill>
                  <a:srgbClr val="FF3300"/>
                </a:solidFill>
              </a:rPr>
              <a:t> וְקִבַּצְתִּי אֶתְכֶם מִכָּל-הָאֲרָצוֹת וְהֵבֵאתִי אֶתְכֶם </a:t>
            </a:r>
            <a:r>
              <a:rPr lang="he-IL" altLang="he-IL" sz="1600" b="1" u="sng" dirty="0">
                <a:solidFill>
                  <a:srgbClr val="FF3300"/>
                </a:solidFill>
              </a:rPr>
              <a:t>אֶל-אַדְמַתְכֶם.</a:t>
            </a:r>
            <a:r>
              <a:rPr lang="he-IL" altLang="he-IL" sz="1600" b="1" dirty="0"/>
              <a:t>"  (יחזקאל לו, כד)</a:t>
            </a:r>
            <a:endParaRPr lang="en-US" altLang="he-IL" sz="1600" b="1" dirty="0"/>
          </a:p>
        </p:txBody>
      </p:sp>
      <p:sp>
        <p:nvSpPr>
          <p:cNvPr id="4101" name="Oval 5"/>
          <p:cNvSpPr>
            <a:spLocks noChangeArrowheads="1"/>
          </p:cNvSpPr>
          <p:nvPr/>
        </p:nvSpPr>
        <p:spPr bwMode="auto">
          <a:xfrm>
            <a:off x="5078016" y="2975954"/>
            <a:ext cx="161925" cy="1905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defRPr/>
            </a:pPr>
            <a:endParaRPr lang="he-IL" altLang="he-IL" sz="1013"/>
          </a:p>
        </p:txBody>
      </p:sp>
      <p:sp>
        <p:nvSpPr>
          <p:cNvPr id="9222" name="Line 12"/>
          <p:cNvSpPr>
            <a:spLocks noChangeShapeType="1"/>
          </p:cNvSpPr>
          <p:nvPr/>
        </p:nvSpPr>
        <p:spPr bwMode="auto">
          <a:xfrm flipH="1" flipV="1">
            <a:off x="5239940" y="3165713"/>
            <a:ext cx="2917148" cy="2567542"/>
          </a:xfrm>
          <a:prstGeom prst="line">
            <a:avLst/>
          </a:prstGeom>
          <a:noFill/>
          <a:ln w="19050">
            <a:solidFill>
              <a:srgbClr val="7030A0"/>
            </a:solidFill>
            <a:round/>
            <a:headEnd/>
            <a:tailEnd type="triangle" w="med" len="med"/>
          </a:ln>
          <a:extLst>
            <a:ext uri="{909E8E84-426E-40DD-AFC4-6F175D3DCCD1}">
              <a14:hiddenFill xmlns:a14="http://schemas.microsoft.com/office/drawing/2010/main">
                <a:noFill/>
              </a14:hiddenFill>
            </a:ext>
          </a:extLst>
        </p:spPr>
        <p:txBody>
          <a:bodyPr/>
          <a:lstStyle/>
          <a:p>
            <a:endParaRPr lang="he-IL" sz="1050"/>
          </a:p>
        </p:txBody>
      </p:sp>
      <p:sp>
        <p:nvSpPr>
          <p:cNvPr id="2" name="אליפסה 1"/>
          <p:cNvSpPr/>
          <p:nvPr/>
        </p:nvSpPr>
        <p:spPr>
          <a:xfrm>
            <a:off x="3214458" y="4361011"/>
            <a:ext cx="108347" cy="125015"/>
          </a:xfrm>
          <a:prstGeom prst="ellipse">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sz="1050"/>
          </a:p>
        </p:txBody>
      </p:sp>
      <p:sp>
        <p:nvSpPr>
          <p:cNvPr id="11" name="אליפסה 10"/>
          <p:cNvSpPr/>
          <p:nvPr/>
        </p:nvSpPr>
        <p:spPr>
          <a:xfrm>
            <a:off x="5085160" y="3561411"/>
            <a:ext cx="154781" cy="158353"/>
          </a:xfrm>
          <a:prstGeom prst="ellipse">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sz="1050"/>
          </a:p>
        </p:txBody>
      </p:sp>
      <p:pic>
        <p:nvPicPr>
          <p:cNvPr id="9225" name="תמונה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07243" y="2535171"/>
            <a:ext cx="173831" cy="17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l="9294" t="7720" r="11702" b="7363"/>
          <a:stretch>
            <a:fillRect/>
          </a:stretch>
        </p:blipFill>
        <p:spPr bwMode="auto">
          <a:xfrm>
            <a:off x="334542" y="3743144"/>
            <a:ext cx="617080" cy="798573"/>
          </a:xfrm>
          <a:prstGeom prst="rect">
            <a:avLst/>
          </a:prstGeom>
          <a:noFill/>
          <a:ln w="38100">
            <a:solidFill>
              <a:srgbClr val="0000FF"/>
            </a:solidFill>
          </a:ln>
          <a:extLst>
            <a:ext uri="{909E8E84-426E-40DD-AFC4-6F175D3DCCD1}">
              <a14:hiddenFill xmlns:a14="http://schemas.microsoft.com/office/drawing/2010/main">
                <a:solidFill>
                  <a:schemeClr val="accent1"/>
                </a:solidFill>
              </a14:hiddenFill>
            </a:ext>
          </a:extLst>
        </p:spPr>
      </p:pic>
      <p:sp>
        <p:nvSpPr>
          <p:cNvPr id="12" name="TextBox 11"/>
          <p:cNvSpPr txBox="1"/>
          <p:nvPr/>
        </p:nvSpPr>
        <p:spPr>
          <a:xfrm>
            <a:off x="16382" y="4569543"/>
            <a:ext cx="1290738" cy="461665"/>
          </a:xfrm>
          <a:prstGeom prst="rect">
            <a:avLst/>
          </a:prstGeom>
          <a:noFill/>
        </p:spPr>
        <p:txBody>
          <a:bodyPr wrap="none" rtlCol="1">
            <a:spAutoFit/>
          </a:bodyPr>
          <a:lstStyle/>
          <a:p>
            <a:r>
              <a:rPr lang="he-IL" sz="1200" b="1" dirty="0"/>
              <a:t>הברון בוריס הירש</a:t>
            </a:r>
          </a:p>
          <a:p>
            <a:r>
              <a:rPr lang="he-IL" sz="1200" b="1" dirty="0"/>
              <a:t>     </a:t>
            </a:r>
          </a:p>
        </p:txBody>
      </p:sp>
      <p:pic>
        <p:nvPicPr>
          <p:cNvPr id="1026" name="Picture 2" descr="http://t1.gstatic.com/images?q=tbn:ANd9GcRL9GeBFGcJUkrKKQZnTpyGWv9wrE94b5JSAKKl_kQOTjqLODCSkfqYi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258" y="1464263"/>
            <a:ext cx="614363" cy="800101"/>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pic>
        <p:nvPicPr>
          <p:cNvPr id="1028" name="Picture 4" descr="http://t2.gstatic.com/images?q=tbn:ANd9GcT6jd_BUxIgZxyQlRP84GBz971Hlh-DlsGfF4QMCMJpa3PAAJM4eJX0ip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9063" y="1464263"/>
            <a:ext cx="742950" cy="742951"/>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856097" y="2286227"/>
            <a:ext cx="1220206" cy="623248"/>
          </a:xfrm>
          <a:prstGeom prst="rect">
            <a:avLst/>
          </a:prstGeom>
          <a:noFill/>
        </p:spPr>
        <p:txBody>
          <a:bodyPr wrap="none" rtlCol="1">
            <a:spAutoFit/>
          </a:bodyPr>
          <a:lstStyle/>
          <a:p>
            <a:pPr algn="ctr"/>
            <a:r>
              <a:rPr lang="he-IL" sz="1200" b="1" dirty="0"/>
              <a:t>עליית</a:t>
            </a:r>
          </a:p>
          <a:p>
            <a:r>
              <a:rPr lang="he-IL" sz="1200" b="1" dirty="0"/>
              <a:t>תלמידי </a:t>
            </a:r>
            <a:r>
              <a:rPr lang="he-IL" sz="1200" b="1" dirty="0" err="1"/>
              <a:t>הבעש"ט</a:t>
            </a:r>
            <a:endParaRPr lang="he-IL" sz="1200" b="1" dirty="0"/>
          </a:p>
          <a:p>
            <a:r>
              <a:rPr lang="he-IL" sz="1050" b="1" dirty="0"/>
              <a:t>  </a:t>
            </a:r>
            <a:r>
              <a:rPr lang="he-IL" sz="1050" b="1" dirty="0" err="1"/>
              <a:t>מתקל"ז</a:t>
            </a:r>
            <a:r>
              <a:rPr lang="he-IL" sz="1050" b="1" dirty="0"/>
              <a:t> (1777)</a:t>
            </a:r>
          </a:p>
        </p:txBody>
      </p:sp>
      <p:sp>
        <p:nvSpPr>
          <p:cNvPr id="4" name="TextBox 3"/>
          <p:cNvSpPr txBox="1"/>
          <p:nvPr/>
        </p:nvSpPr>
        <p:spPr>
          <a:xfrm>
            <a:off x="27191" y="2325313"/>
            <a:ext cx="1281120" cy="623248"/>
          </a:xfrm>
          <a:prstGeom prst="rect">
            <a:avLst/>
          </a:prstGeom>
          <a:noFill/>
        </p:spPr>
        <p:txBody>
          <a:bodyPr wrap="none" rtlCol="1">
            <a:spAutoFit/>
          </a:bodyPr>
          <a:lstStyle/>
          <a:p>
            <a:pPr algn="ctr"/>
            <a:r>
              <a:rPr lang="he-IL" sz="1200" b="1" dirty="0"/>
              <a:t>  עליית </a:t>
            </a:r>
          </a:p>
          <a:p>
            <a:r>
              <a:rPr lang="he-IL" sz="1200" b="1" dirty="0"/>
              <a:t>   תלמידי </a:t>
            </a:r>
            <a:r>
              <a:rPr lang="he-IL" sz="1200" b="1" dirty="0" err="1"/>
              <a:t>הגר"א</a:t>
            </a:r>
            <a:endParaRPr lang="he-IL" sz="1200" b="1" dirty="0"/>
          </a:p>
          <a:p>
            <a:r>
              <a:rPr lang="he-IL" sz="1050" b="1" dirty="0"/>
              <a:t>     </a:t>
            </a:r>
            <a:r>
              <a:rPr lang="he-IL" sz="1050" b="1" dirty="0" err="1"/>
              <a:t>מתקס"ח</a:t>
            </a:r>
            <a:r>
              <a:rPr lang="he-IL" sz="1050" b="1" dirty="0"/>
              <a:t> (1808)</a:t>
            </a:r>
          </a:p>
        </p:txBody>
      </p:sp>
      <p:cxnSp>
        <p:nvCxnSpPr>
          <p:cNvPr id="8" name="מחבר חץ ישר 7"/>
          <p:cNvCxnSpPr/>
          <p:nvPr/>
        </p:nvCxnSpPr>
        <p:spPr>
          <a:xfrm>
            <a:off x="1028583" y="4361011"/>
            <a:ext cx="2110643" cy="62507"/>
          </a:xfrm>
          <a:prstGeom prst="straightConnector1">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מלבן 14"/>
          <p:cNvSpPr/>
          <p:nvPr/>
        </p:nvSpPr>
        <p:spPr>
          <a:xfrm>
            <a:off x="2603593" y="4115396"/>
            <a:ext cx="922047" cy="184666"/>
          </a:xfrm>
          <a:prstGeom prst="rect">
            <a:avLst/>
          </a:prstGeom>
          <a:solidFill>
            <a:srgbClr val="FFFF00"/>
          </a:solidFill>
          <a:ln>
            <a:solidFill>
              <a:schemeClr val="tx1"/>
            </a:solidFill>
          </a:ln>
        </p:spPr>
        <p:txBody>
          <a:bodyPr wrap="none">
            <a:spAutoFit/>
          </a:bodyPr>
          <a:lstStyle/>
          <a:p>
            <a:r>
              <a:rPr lang="he-IL" sz="600" b="1" dirty="0"/>
              <a:t>ארגנטינה – הברון הירש</a:t>
            </a:r>
          </a:p>
        </p:txBody>
      </p:sp>
      <p:sp>
        <p:nvSpPr>
          <p:cNvPr id="16" name="מלבן 15"/>
          <p:cNvSpPr/>
          <p:nvPr/>
        </p:nvSpPr>
        <p:spPr>
          <a:xfrm>
            <a:off x="4775941" y="3376745"/>
            <a:ext cx="636713" cy="184666"/>
          </a:xfrm>
          <a:prstGeom prst="rect">
            <a:avLst/>
          </a:prstGeom>
          <a:solidFill>
            <a:srgbClr val="FFFF00"/>
          </a:solidFill>
          <a:ln>
            <a:solidFill>
              <a:schemeClr val="tx1"/>
            </a:solidFill>
          </a:ln>
        </p:spPr>
        <p:txBody>
          <a:bodyPr wrap="none">
            <a:spAutoFit/>
          </a:bodyPr>
          <a:lstStyle/>
          <a:p>
            <a:r>
              <a:rPr lang="he-IL" sz="600" b="1" dirty="0"/>
              <a:t>אוגנדה - הרצל</a:t>
            </a:r>
          </a:p>
        </p:txBody>
      </p:sp>
      <p:sp>
        <p:nvSpPr>
          <p:cNvPr id="17" name="מלבן 16"/>
          <p:cNvSpPr/>
          <p:nvPr/>
        </p:nvSpPr>
        <p:spPr>
          <a:xfrm>
            <a:off x="6858275" y="2285648"/>
            <a:ext cx="450764" cy="184666"/>
          </a:xfrm>
          <a:prstGeom prst="rect">
            <a:avLst/>
          </a:prstGeom>
          <a:solidFill>
            <a:srgbClr val="FFFF00"/>
          </a:solidFill>
          <a:ln>
            <a:solidFill>
              <a:schemeClr val="tx1"/>
            </a:solidFill>
          </a:ln>
        </p:spPr>
        <p:txBody>
          <a:bodyPr wrap="none">
            <a:spAutoFit/>
          </a:bodyPr>
          <a:lstStyle/>
          <a:p>
            <a:r>
              <a:rPr lang="he-IL" sz="600" b="1" dirty="0" err="1"/>
              <a:t>בירוביג'ן</a:t>
            </a:r>
            <a:endParaRPr lang="he-IL" sz="600" b="1" dirty="0"/>
          </a:p>
        </p:txBody>
      </p:sp>
      <p:sp>
        <p:nvSpPr>
          <p:cNvPr id="18" name="מלבן 17"/>
          <p:cNvSpPr/>
          <p:nvPr/>
        </p:nvSpPr>
        <p:spPr>
          <a:xfrm>
            <a:off x="4962890" y="2713764"/>
            <a:ext cx="527709" cy="184666"/>
          </a:xfrm>
          <a:prstGeom prst="rect">
            <a:avLst/>
          </a:prstGeom>
          <a:solidFill>
            <a:srgbClr val="FFFF00"/>
          </a:solidFill>
          <a:ln>
            <a:solidFill>
              <a:schemeClr val="tx1"/>
            </a:solidFill>
          </a:ln>
        </p:spPr>
        <p:txBody>
          <a:bodyPr wrap="none">
            <a:spAutoFit/>
          </a:bodyPr>
          <a:lstStyle/>
          <a:p>
            <a:r>
              <a:rPr lang="he-IL" sz="600" b="1" dirty="0"/>
              <a:t>ארץ ישראל</a:t>
            </a:r>
          </a:p>
        </p:txBody>
      </p:sp>
      <p:sp>
        <p:nvSpPr>
          <p:cNvPr id="5" name="TextBox 4"/>
          <p:cNvSpPr txBox="1"/>
          <p:nvPr/>
        </p:nvSpPr>
        <p:spPr>
          <a:xfrm>
            <a:off x="7901622" y="4047444"/>
            <a:ext cx="1170513" cy="461665"/>
          </a:xfrm>
          <a:prstGeom prst="rect">
            <a:avLst/>
          </a:prstGeom>
          <a:noFill/>
        </p:spPr>
        <p:txBody>
          <a:bodyPr wrap="none" rtlCol="1">
            <a:spAutoFit/>
          </a:bodyPr>
          <a:lstStyle/>
          <a:p>
            <a:pPr algn="ctr"/>
            <a:r>
              <a:rPr lang="he-IL" sz="1200" b="1" dirty="0"/>
              <a:t>עליית יהודים</a:t>
            </a:r>
          </a:p>
          <a:p>
            <a:r>
              <a:rPr lang="he-IL" sz="1200" b="1" dirty="0"/>
              <a:t>מאפריקה ואסיה</a:t>
            </a:r>
          </a:p>
        </p:txBody>
      </p:sp>
      <p:sp>
        <p:nvSpPr>
          <p:cNvPr id="6" name="TextBox 1">
            <a:extLst>
              <a:ext uri="{FF2B5EF4-FFF2-40B4-BE49-F238E27FC236}">
                <a16:creationId xmlns:a16="http://schemas.microsoft.com/office/drawing/2014/main" id="{5A637D76-891E-3BFF-8F6D-E50AE1F0C4AD}"/>
              </a:ext>
            </a:extLst>
          </p:cNvPr>
          <p:cNvSpPr txBox="1"/>
          <p:nvPr/>
        </p:nvSpPr>
        <p:spPr>
          <a:xfrm>
            <a:off x="2438242" y="242120"/>
            <a:ext cx="4267515" cy="369332"/>
          </a:xfrm>
          <a:prstGeom prst="rect">
            <a:avLst/>
          </a:prstGeom>
          <a:solidFill>
            <a:srgbClr val="0000FF"/>
          </a:solidFill>
          <a:ln w="38100">
            <a:solidFill>
              <a:srgbClr val="FF0000"/>
            </a:solidFill>
          </a:ln>
        </p:spPr>
        <p:txBody>
          <a:bodyPr wrap="none" rtlCol="1">
            <a:spAutoFit/>
          </a:bodyPr>
          <a:lstStyle/>
          <a:p>
            <a:r>
              <a:rPr lang="he-IL" sz="1800" b="1" dirty="0">
                <a:solidFill>
                  <a:srgbClr val="FFFF00"/>
                </a:solidFill>
              </a:rPr>
              <a:t>רקע היסטורי – על ראשית ההתיישבות בארץ</a:t>
            </a:r>
          </a:p>
        </p:txBody>
      </p:sp>
    </p:spTree>
    <p:extLst>
      <p:ext uri="{BB962C8B-B14F-4D97-AF65-F5344CB8AC3E}">
        <p14:creationId xmlns:p14="http://schemas.microsoft.com/office/powerpoint/2010/main" val="2119469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0328" y="205313"/>
            <a:ext cx="3544560" cy="338554"/>
          </a:xfrm>
          <a:prstGeom prst="rect">
            <a:avLst/>
          </a:prstGeom>
          <a:solidFill>
            <a:srgbClr val="FFFF00"/>
          </a:solidFill>
          <a:ln w="12700">
            <a:solidFill>
              <a:schemeClr val="tx1"/>
            </a:solidFill>
          </a:ln>
        </p:spPr>
        <p:txBody>
          <a:bodyPr wrap="none" rtlCol="1">
            <a:spAutoFit/>
          </a:bodyPr>
          <a:lstStyle/>
          <a:p>
            <a:r>
              <a:rPr lang="he-IL" sz="1600" b="1" dirty="0">
                <a:solidFill>
                  <a:schemeClr val="tx1"/>
                </a:solidFill>
              </a:rPr>
              <a:t>שלטון עות'מני בארץ ישראל, </a:t>
            </a:r>
            <a:r>
              <a:rPr lang="he-IL" sz="1600" b="1" dirty="0">
                <a:solidFill>
                  <a:srgbClr val="FF0000"/>
                </a:solidFill>
              </a:rPr>
              <a:t>1516-1917</a:t>
            </a:r>
          </a:p>
        </p:txBody>
      </p:sp>
      <p:pic>
        <p:nvPicPr>
          <p:cNvPr id="7" name="Picture 7" descr="A15B875E"/>
          <p:cNvPicPr>
            <a:picLocks noChangeAspect="1" noChangeArrowheads="1"/>
          </p:cNvPicPr>
          <p:nvPr/>
        </p:nvPicPr>
        <p:blipFill>
          <a:blip r:embed="rId2" cstate="print">
            <a:extLst>
              <a:ext uri="{28A0092B-C50C-407E-A947-70E740481C1C}">
                <a14:useLocalDpi xmlns:a14="http://schemas.microsoft.com/office/drawing/2010/main" val="0"/>
              </a:ext>
            </a:extLst>
          </a:blip>
          <a:srcRect r="1945" b="5440"/>
          <a:stretch>
            <a:fillRect/>
          </a:stretch>
        </p:blipFill>
        <p:spPr bwMode="auto">
          <a:xfrm>
            <a:off x="6240023" y="938483"/>
            <a:ext cx="2662545" cy="2183569"/>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4222608" y="4379465"/>
            <a:ext cx="184731" cy="253916"/>
          </a:xfrm>
          <a:prstGeom prst="rect">
            <a:avLst/>
          </a:prstGeom>
          <a:noFill/>
        </p:spPr>
        <p:txBody>
          <a:bodyPr wrap="none" rtlCol="1">
            <a:spAutoFit/>
          </a:bodyPr>
          <a:lstStyle/>
          <a:p>
            <a:endParaRPr lang="he-IL" sz="1050" b="1" dirty="0"/>
          </a:p>
        </p:txBody>
      </p:sp>
      <p:sp>
        <p:nvSpPr>
          <p:cNvPr id="4" name="אליפסה 3"/>
          <p:cNvSpPr/>
          <p:nvPr/>
        </p:nvSpPr>
        <p:spPr>
          <a:xfrm>
            <a:off x="8028384" y="1922241"/>
            <a:ext cx="227411" cy="21605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050" b="1"/>
          </a:p>
        </p:txBody>
      </p:sp>
      <p:pic>
        <p:nvPicPr>
          <p:cNvPr id="6" name="תמונה 5"/>
          <p:cNvPicPr>
            <a:picLocks noChangeAspect="1"/>
          </p:cNvPicPr>
          <p:nvPr/>
        </p:nvPicPr>
        <p:blipFill>
          <a:blip r:embed="rId3"/>
          <a:stretch>
            <a:fillRect/>
          </a:stretch>
        </p:blipFill>
        <p:spPr>
          <a:xfrm>
            <a:off x="7618621" y="1470790"/>
            <a:ext cx="82304" cy="91448"/>
          </a:xfrm>
          <a:prstGeom prst="rect">
            <a:avLst/>
          </a:prstGeom>
        </p:spPr>
      </p:pic>
      <p:sp>
        <p:nvSpPr>
          <p:cNvPr id="8" name="TextBox 7"/>
          <p:cNvSpPr txBox="1"/>
          <p:nvPr/>
        </p:nvSpPr>
        <p:spPr>
          <a:xfrm>
            <a:off x="7502794" y="1235893"/>
            <a:ext cx="396262" cy="184666"/>
          </a:xfrm>
          <a:prstGeom prst="rect">
            <a:avLst/>
          </a:prstGeom>
          <a:solidFill>
            <a:srgbClr val="FFFF00"/>
          </a:solidFill>
          <a:ln>
            <a:solidFill>
              <a:schemeClr val="tx1"/>
            </a:solidFill>
          </a:ln>
        </p:spPr>
        <p:txBody>
          <a:bodyPr wrap="none" rtlCol="1">
            <a:spAutoFit/>
          </a:bodyPr>
          <a:lstStyle/>
          <a:p>
            <a:r>
              <a:rPr lang="he-IL" sz="600" b="1" dirty="0"/>
              <a:t>קושטא</a:t>
            </a:r>
          </a:p>
        </p:txBody>
      </p:sp>
      <p:sp>
        <p:nvSpPr>
          <p:cNvPr id="16" name="מלבן 4"/>
          <p:cNvSpPr>
            <a:spLocks noChangeArrowheads="1"/>
          </p:cNvSpPr>
          <p:nvPr/>
        </p:nvSpPr>
        <p:spPr bwMode="auto">
          <a:xfrm>
            <a:off x="1597980" y="3949013"/>
            <a:ext cx="7274105" cy="954107"/>
          </a:xfrm>
          <a:prstGeom prst="rect">
            <a:avLst/>
          </a:prstGeom>
          <a:solidFill>
            <a:srgbClr val="00FFFF"/>
          </a:solidFill>
          <a:ln w="12700">
            <a:solidFill>
              <a:schemeClr val="tx1"/>
            </a:solidFill>
            <a:miter lim="800000"/>
            <a:headEnd/>
            <a:tailEnd/>
          </a:ln>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1400" b="1" dirty="0"/>
              <a:t>"</a:t>
            </a:r>
            <a:r>
              <a:rPr lang="he-IL" altLang="he-IL" sz="1400" b="1" dirty="0">
                <a:solidFill>
                  <a:srgbClr val="FF0000"/>
                </a:solidFill>
              </a:rPr>
              <a:t>נדמה לי שמכל הארצות בעלות הנוף המדכדך, ארץ ישראל מחזיקה בכתר. </a:t>
            </a:r>
            <a:r>
              <a:rPr lang="he-IL" altLang="he-IL" sz="1400" b="1" dirty="0"/>
              <a:t>הגבעות קירחות, צבען דהוי, וצורתן רחוקה </a:t>
            </a:r>
            <a:r>
              <a:rPr lang="he-IL" altLang="he-IL" sz="1400" b="1" dirty="0" err="1"/>
              <a:t>מלשובב</a:t>
            </a:r>
            <a:r>
              <a:rPr lang="he-IL" altLang="he-IL" sz="1400" b="1" dirty="0"/>
              <a:t> את העין. העמקים הם מדבריות מכוערים המעוטרים בשוליהם בצמחייה דלה שפניה כמו אומרות יגון וייאוש... כל קו הוא גס, צורם וכל תו הוא חד, ללא פרספקטיבה - המרחק אינו מחולל כאן קסמים. זוהי ארץ משמימה, חסרת תקווה, שבורת לב".</a:t>
            </a:r>
          </a:p>
        </p:txBody>
      </p:sp>
      <p:sp>
        <p:nvSpPr>
          <p:cNvPr id="17" name="מלבן 5"/>
          <p:cNvSpPr>
            <a:spLocks noChangeArrowheads="1"/>
          </p:cNvSpPr>
          <p:nvPr/>
        </p:nvSpPr>
        <p:spPr bwMode="auto">
          <a:xfrm>
            <a:off x="1597980" y="5105230"/>
            <a:ext cx="7274105" cy="1323439"/>
          </a:xfrm>
          <a:prstGeom prst="rect">
            <a:avLst/>
          </a:prstGeom>
          <a:solidFill>
            <a:srgbClr val="00FFFF"/>
          </a:solidFill>
          <a:ln w="12700">
            <a:solidFill>
              <a:schemeClr val="tx1"/>
            </a:solidFill>
            <a:miter lim="800000"/>
            <a:headEnd/>
            <a:tailEnd/>
          </a:ln>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1600" b="1" dirty="0">
                <a:solidFill>
                  <a:srgbClr val="FF0000"/>
                </a:solidFill>
              </a:rPr>
              <a:t>"לא יכולנו לעצור למנוחה גם לאחר רכיבה של שעתיים-שלוש מהמחנה שלנו, אף שהנחל זרם לצדנו. לכן המשכנו בדרכנו שעה נוספת. אמנם ראינו מים, אבל בכל מרחב השממה סביבנו לא היה אפילו קמצוץ צל, ונצלינו קשות בשמש היוקדת. </a:t>
            </a:r>
            <a:r>
              <a:rPr lang="he-IL" altLang="he-IL" sz="1600" b="1" dirty="0"/>
              <a:t>'כצל סלע כבד בארץ עייפה' - אין ביטוי יפה מזה בכל התנ"ך, ואין ספק שמכל המקומות שבהם שוטטנו, אין אחד המסוגל להעניק משמעות כה נוגעת ללב לביטוי כארץ צחיחה, חשופה קירחת זו".</a:t>
            </a:r>
          </a:p>
        </p:txBody>
      </p:sp>
      <p:sp>
        <p:nvSpPr>
          <p:cNvPr id="10" name="מלבן 9"/>
          <p:cNvSpPr/>
          <p:nvPr/>
        </p:nvSpPr>
        <p:spPr>
          <a:xfrm>
            <a:off x="4235076" y="3509404"/>
            <a:ext cx="2074607" cy="338554"/>
          </a:xfrm>
          <a:prstGeom prst="rect">
            <a:avLst/>
          </a:prstGeom>
          <a:solidFill>
            <a:srgbClr val="FFFF00"/>
          </a:solidFill>
          <a:ln>
            <a:solidFill>
              <a:schemeClr val="tx1"/>
            </a:solidFill>
          </a:ln>
        </p:spPr>
        <p:txBody>
          <a:bodyPr wrap="none">
            <a:spAutoFit/>
          </a:bodyPr>
          <a:lstStyle/>
          <a:p>
            <a:r>
              <a:rPr lang="he-IL" sz="1600" b="1" dirty="0"/>
              <a:t>הארץ שוממה ומוזנחת </a:t>
            </a:r>
            <a:endParaRPr lang="he-IL" sz="1600" b="1" dirty="0">
              <a:solidFill>
                <a:srgbClr val="FF0000"/>
              </a:solidFill>
            </a:endParaRPr>
          </a:p>
        </p:txBody>
      </p:sp>
      <p:sp>
        <p:nvSpPr>
          <p:cNvPr id="19" name="מלבן 2"/>
          <p:cNvSpPr>
            <a:spLocks noChangeArrowheads="1"/>
          </p:cNvSpPr>
          <p:nvPr/>
        </p:nvSpPr>
        <p:spPr bwMode="auto">
          <a:xfrm>
            <a:off x="1403648" y="6405119"/>
            <a:ext cx="3646650" cy="338554"/>
          </a:xfrm>
          <a:prstGeom prst="rect">
            <a:avLst/>
          </a:prstGeom>
          <a:noFill/>
          <a:ln w="9525">
            <a:noFill/>
            <a:miter lim="800000"/>
            <a:headEnd/>
            <a:tailEnd/>
          </a:ln>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rtl="0" eaLnBrk="1" hangingPunct="1">
              <a:spcBef>
                <a:spcPct val="0"/>
              </a:spcBef>
              <a:buFontTx/>
              <a:buNone/>
            </a:pPr>
            <a:r>
              <a:rPr lang="he-IL" altLang="he-IL" sz="1600" b="1" dirty="0"/>
              <a:t> מרק </a:t>
            </a:r>
            <a:r>
              <a:rPr lang="he-IL" altLang="he-IL" sz="1600" b="1" dirty="0" err="1"/>
              <a:t>טווין</a:t>
            </a:r>
            <a:r>
              <a:rPr lang="he-IL" altLang="he-IL" sz="1600" b="1" dirty="0"/>
              <a:t>, 'מסע התענוגות בארץ הקודש' </a:t>
            </a:r>
          </a:p>
        </p:txBody>
      </p:sp>
      <p:pic>
        <p:nvPicPr>
          <p:cNvPr id="20" name="Picture 2" descr="http://www.ynet.co.il/PicServer2/17112009/2369717/1.jpg_wa.jpg"/>
          <p:cNvPicPr>
            <a:picLocks noChangeAspect="1" noChangeArrowheads="1"/>
          </p:cNvPicPr>
          <p:nvPr/>
        </p:nvPicPr>
        <p:blipFill>
          <a:blip r:embed="rId4">
            <a:extLst>
              <a:ext uri="{28A0092B-C50C-407E-A947-70E740481C1C}">
                <a14:useLocalDpi xmlns:a14="http://schemas.microsoft.com/office/drawing/2010/main" val="0"/>
              </a:ext>
            </a:extLst>
          </a:blip>
          <a:srcRect l="37057" t="6944" r="35149" b="58517"/>
          <a:stretch>
            <a:fillRect/>
          </a:stretch>
        </p:blipFill>
        <p:spPr bwMode="auto">
          <a:xfrm>
            <a:off x="397478" y="3948010"/>
            <a:ext cx="931579" cy="1116826"/>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21" name="מלבן 1"/>
          <p:cNvSpPr>
            <a:spLocks noChangeArrowheads="1"/>
          </p:cNvSpPr>
          <p:nvPr/>
        </p:nvSpPr>
        <p:spPr bwMode="auto">
          <a:xfrm>
            <a:off x="-165708" y="5136008"/>
            <a:ext cx="17636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1400" b="1" dirty="0"/>
              <a:t>מרק </a:t>
            </a:r>
            <a:r>
              <a:rPr lang="he-IL" altLang="he-IL" sz="1400" b="1" dirty="0" err="1"/>
              <a:t>טוויין</a:t>
            </a:r>
            <a:r>
              <a:rPr lang="he-IL" altLang="he-IL" sz="1400" b="1" dirty="0"/>
              <a:t>, (סמואל </a:t>
            </a:r>
            <a:r>
              <a:rPr lang="he-IL" altLang="he-IL" sz="1400" b="1" dirty="0" err="1"/>
              <a:t>קלמנס</a:t>
            </a:r>
            <a:r>
              <a:rPr lang="he-IL" altLang="he-IL" sz="1400" b="1" dirty="0"/>
              <a:t>), ארה"ב  </a:t>
            </a:r>
          </a:p>
          <a:p>
            <a:pPr eaLnBrk="1" hangingPunct="1">
              <a:spcBef>
                <a:spcPct val="0"/>
              </a:spcBef>
              <a:buFontTx/>
              <a:buNone/>
            </a:pPr>
            <a:r>
              <a:rPr lang="he-IL" altLang="he-IL" sz="1400" b="1" dirty="0"/>
              <a:t>סייר בארץ ישראל </a:t>
            </a:r>
          </a:p>
          <a:p>
            <a:pPr eaLnBrk="1" hangingPunct="1">
              <a:spcBef>
                <a:spcPct val="0"/>
              </a:spcBef>
              <a:buFontTx/>
              <a:buNone/>
            </a:pPr>
            <a:r>
              <a:rPr lang="he-IL" altLang="he-IL" sz="1400" b="1" dirty="0"/>
              <a:t>באביב תרכ"ז (1867) </a:t>
            </a:r>
          </a:p>
        </p:txBody>
      </p:sp>
      <p:sp>
        <p:nvSpPr>
          <p:cNvPr id="24" name="TextBox 23"/>
          <p:cNvSpPr txBox="1"/>
          <p:nvPr/>
        </p:nvSpPr>
        <p:spPr>
          <a:xfrm>
            <a:off x="3563888" y="2290125"/>
            <a:ext cx="2745795" cy="738664"/>
          </a:xfrm>
          <a:prstGeom prst="rect">
            <a:avLst/>
          </a:prstGeom>
          <a:noFill/>
        </p:spPr>
        <p:txBody>
          <a:bodyPr wrap="square" rtlCol="1">
            <a:spAutoFit/>
          </a:bodyPr>
          <a:lstStyle/>
          <a:p>
            <a:pPr algn="ctr"/>
            <a:r>
              <a:rPr lang="he-IL" b="1" dirty="0"/>
              <a:t>                משה </a:t>
            </a:r>
            <a:r>
              <a:rPr lang="he-IL" b="1" dirty="0" err="1"/>
              <a:t>מונטיפיורי</a:t>
            </a:r>
            <a:endParaRPr lang="he-IL" b="1" dirty="0"/>
          </a:p>
          <a:p>
            <a:r>
              <a:rPr lang="he-IL" b="1" dirty="0"/>
              <a:t>         בניית שכונות ראשונות </a:t>
            </a:r>
          </a:p>
          <a:p>
            <a:r>
              <a:rPr lang="he-IL" b="1" dirty="0"/>
              <a:t>         מחוץ לחומות העיר העתיקה</a:t>
            </a:r>
          </a:p>
        </p:txBody>
      </p:sp>
      <p:pic>
        <p:nvPicPr>
          <p:cNvPr id="5" name="Picture 2" descr="משכנות שאננים | אטרקציות | מידע למטייל בישראל האתר הרשמי | 6614 ..."/>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9860" y="938483"/>
            <a:ext cx="1457210" cy="145721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9" name="מלבן 8"/>
          <p:cNvSpPr/>
          <p:nvPr/>
        </p:nvSpPr>
        <p:spPr>
          <a:xfrm>
            <a:off x="1119860" y="2476390"/>
            <a:ext cx="1579932" cy="954107"/>
          </a:xfrm>
          <a:prstGeom prst="rect">
            <a:avLst/>
          </a:prstGeom>
        </p:spPr>
        <p:txBody>
          <a:bodyPr wrap="square">
            <a:spAutoFit/>
          </a:bodyPr>
          <a:lstStyle/>
          <a:p>
            <a:r>
              <a:rPr lang="he-IL" b="1" dirty="0"/>
              <a:t>  'משכנות שאננים' שכונה ראשונה,</a:t>
            </a:r>
          </a:p>
          <a:p>
            <a:r>
              <a:rPr lang="he-IL" b="1" dirty="0" err="1"/>
              <a:t>תר"ך</a:t>
            </a:r>
            <a:r>
              <a:rPr lang="he-IL" b="1" dirty="0"/>
              <a:t> (1860)</a:t>
            </a:r>
          </a:p>
          <a:p>
            <a:endParaRPr lang="he-IL" b="1" dirty="0"/>
          </a:p>
        </p:txBody>
      </p:sp>
      <p:pic>
        <p:nvPicPr>
          <p:cNvPr id="1026" name="Picture 2" descr="משה מונטיפיורי - כתבות ומאמרים | הספרנים">
            <a:extLst>
              <a:ext uri="{FF2B5EF4-FFF2-40B4-BE49-F238E27FC236}">
                <a16:creationId xmlns:a16="http://schemas.microsoft.com/office/drawing/2014/main" id="{979D5D69-586D-BE7F-969A-E3D51ABAD52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532" r="50000" b="53313"/>
          <a:stretch>
            <a:fillRect/>
          </a:stretch>
        </p:blipFill>
        <p:spPr bwMode="auto">
          <a:xfrm>
            <a:off x="4027744" y="938483"/>
            <a:ext cx="1088511" cy="1260418"/>
          </a:xfrm>
          <a:prstGeom prst="rect">
            <a:avLst/>
          </a:prstGeom>
          <a:noFill/>
          <a:ln w="38100">
            <a:solidFill>
              <a:srgbClr val="2217F5"/>
            </a:solidFill>
          </a:ln>
          <a:extLst>
            <a:ext uri="{909E8E84-426E-40DD-AFC4-6F175D3DCCD1}">
              <a14:hiddenFill xmlns:a14="http://schemas.microsoft.com/office/drawing/2010/main">
                <a:solidFill>
                  <a:srgbClr val="FFFFFF"/>
                </a:solidFill>
              </a14:hiddenFill>
            </a:ext>
          </a:extLst>
        </p:spPr>
      </p:pic>
      <p:sp>
        <p:nvSpPr>
          <p:cNvPr id="11" name="מלבן 10">
            <a:extLst>
              <a:ext uri="{FF2B5EF4-FFF2-40B4-BE49-F238E27FC236}">
                <a16:creationId xmlns:a16="http://schemas.microsoft.com/office/drawing/2014/main" id="{5808C300-797F-214F-5D9D-AD50FC20D99B}"/>
              </a:ext>
            </a:extLst>
          </p:cNvPr>
          <p:cNvSpPr/>
          <p:nvPr/>
        </p:nvSpPr>
        <p:spPr>
          <a:xfrm>
            <a:off x="8228629" y="2154107"/>
            <a:ext cx="527709" cy="184666"/>
          </a:xfrm>
          <a:prstGeom prst="rect">
            <a:avLst/>
          </a:prstGeom>
          <a:solidFill>
            <a:srgbClr val="FFFF00"/>
          </a:solidFill>
          <a:ln>
            <a:solidFill>
              <a:schemeClr val="tx1"/>
            </a:solidFill>
          </a:ln>
        </p:spPr>
        <p:txBody>
          <a:bodyPr wrap="none">
            <a:spAutoFit/>
          </a:bodyPr>
          <a:lstStyle/>
          <a:p>
            <a:r>
              <a:rPr lang="he-IL" sz="600" b="1" dirty="0"/>
              <a:t>ארץ ישראל</a:t>
            </a:r>
          </a:p>
        </p:txBody>
      </p:sp>
    </p:spTree>
    <p:extLst>
      <p:ext uri="{BB962C8B-B14F-4D97-AF65-F5344CB8AC3E}">
        <p14:creationId xmlns:p14="http://schemas.microsoft.com/office/powerpoint/2010/main" val="25064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769" y="3744474"/>
            <a:ext cx="1639801" cy="2695576"/>
          </a:xfrm>
          <a:prstGeom prst="rect">
            <a:avLst/>
          </a:prstGeom>
          <a:noFill/>
          <a:ln w="38100">
            <a:solidFill>
              <a:srgbClr val="FF0000"/>
            </a:solidFill>
          </a:ln>
        </p:spPr>
      </p:pic>
      <p:sp>
        <p:nvSpPr>
          <p:cNvPr id="2" name="TextBox 1"/>
          <p:cNvSpPr txBox="1"/>
          <p:nvPr/>
        </p:nvSpPr>
        <p:spPr>
          <a:xfrm>
            <a:off x="2133219" y="2854728"/>
            <a:ext cx="4990469" cy="584775"/>
          </a:xfrm>
          <a:prstGeom prst="rect">
            <a:avLst/>
          </a:prstGeom>
          <a:noFill/>
          <a:ln w="38100">
            <a:noFill/>
          </a:ln>
        </p:spPr>
        <p:txBody>
          <a:bodyPr wrap="none" rtlCol="1">
            <a:spAutoFit/>
          </a:bodyPr>
          <a:lstStyle/>
          <a:p>
            <a:pPr algn="r"/>
            <a:r>
              <a:rPr lang="he-IL" sz="1600" b="1" dirty="0">
                <a:solidFill>
                  <a:prstClr val="black"/>
                </a:solidFill>
                <a:ea typeface="+mn-ea"/>
              </a:rPr>
              <a:t>                    ועידת </a:t>
            </a:r>
            <a:r>
              <a:rPr lang="he-IL" sz="1600" b="1" dirty="0" err="1">
                <a:solidFill>
                  <a:prstClr val="black"/>
                </a:solidFill>
                <a:ea typeface="+mn-ea"/>
              </a:rPr>
              <a:t>קטוביץ</a:t>
            </a:r>
            <a:r>
              <a:rPr lang="he-IL" sz="1600" b="1" dirty="0">
                <a:solidFill>
                  <a:prstClr val="black"/>
                </a:solidFill>
                <a:ea typeface="+mn-ea"/>
              </a:rPr>
              <a:t>', </a:t>
            </a:r>
            <a:r>
              <a:rPr lang="he-IL" sz="1600" b="1" dirty="0">
                <a:solidFill>
                  <a:srgbClr val="FF0000"/>
                </a:solidFill>
                <a:ea typeface="+mn-ea"/>
              </a:rPr>
              <a:t>תרמ"ה (1884) </a:t>
            </a:r>
            <a:r>
              <a:rPr lang="he-IL" sz="1600" b="1" dirty="0">
                <a:solidFill>
                  <a:prstClr val="black"/>
                </a:solidFill>
                <a:ea typeface="+mn-ea"/>
              </a:rPr>
              <a:t>-</a:t>
            </a:r>
          </a:p>
          <a:p>
            <a:pPr algn="r"/>
            <a:r>
              <a:rPr lang="he-IL" sz="1600" b="1" dirty="0">
                <a:solidFill>
                  <a:prstClr val="black"/>
                </a:solidFill>
                <a:ea typeface="+mn-ea"/>
              </a:rPr>
              <a:t>לסייע להתיישבות בארץ ישראל, פעילות לאומית מאורגנת. </a:t>
            </a:r>
          </a:p>
        </p:txBody>
      </p:sp>
      <p:sp>
        <p:nvSpPr>
          <p:cNvPr id="3" name="TextBox 2"/>
          <p:cNvSpPr txBox="1"/>
          <p:nvPr/>
        </p:nvSpPr>
        <p:spPr>
          <a:xfrm>
            <a:off x="982725" y="141073"/>
            <a:ext cx="955711" cy="338554"/>
          </a:xfrm>
          <a:prstGeom prst="rect">
            <a:avLst/>
          </a:prstGeom>
          <a:solidFill>
            <a:srgbClr val="FFFF00"/>
          </a:solidFill>
          <a:ln w="12700">
            <a:solidFill>
              <a:schemeClr val="tx1"/>
            </a:solidFill>
          </a:ln>
        </p:spPr>
        <p:txBody>
          <a:bodyPr wrap="none" rtlCol="1">
            <a:spAutoFit/>
          </a:bodyPr>
          <a:lstStyle/>
          <a:p>
            <a:r>
              <a:rPr lang="he-IL" sz="1600" b="1" dirty="0">
                <a:ea typeface="+mn-ea"/>
              </a:rPr>
              <a:t>חיבת ציון</a:t>
            </a:r>
          </a:p>
        </p:txBody>
      </p:sp>
      <p:pic>
        <p:nvPicPr>
          <p:cNvPr id="3076"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880" r="4934" b="10473"/>
          <a:stretch/>
        </p:blipFill>
        <p:spPr bwMode="auto">
          <a:xfrm>
            <a:off x="6957523" y="4915777"/>
            <a:ext cx="1814336" cy="1524273"/>
          </a:xfrm>
          <a:prstGeom prst="rect">
            <a:avLst/>
          </a:prstGeom>
          <a:noFill/>
          <a:ln w="38100">
            <a:solidFill>
              <a:srgbClr val="FF0000"/>
            </a:solidFill>
          </a:ln>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7523" y="187676"/>
            <a:ext cx="1921070" cy="1619725"/>
          </a:xfrm>
          <a:prstGeom prst="rect">
            <a:avLst/>
          </a:prstGeom>
          <a:noFill/>
          <a:ln w="38100">
            <a:solidFill>
              <a:srgbClr val="FF0000"/>
            </a:solidFill>
          </a:ln>
        </p:spPr>
      </p:pic>
      <p:sp>
        <p:nvSpPr>
          <p:cNvPr id="4" name="TextBox 3"/>
          <p:cNvSpPr txBox="1"/>
          <p:nvPr/>
        </p:nvSpPr>
        <p:spPr>
          <a:xfrm>
            <a:off x="6594607" y="1828820"/>
            <a:ext cx="2403222" cy="338554"/>
          </a:xfrm>
          <a:prstGeom prst="rect">
            <a:avLst/>
          </a:prstGeom>
          <a:noFill/>
        </p:spPr>
        <p:txBody>
          <a:bodyPr wrap="none" rtlCol="1">
            <a:spAutoFit/>
          </a:bodyPr>
          <a:lstStyle/>
          <a:p>
            <a:pPr algn="r" rtl="1"/>
            <a:r>
              <a:rPr lang="he-IL" sz="1600" b="1" dirty="0">
                <a:ea typeface="+mn-ea"/>
              </a:rPr>
              <a:t>פתח תקוה, </a:t>
            </a:r>
            <a:r>
              <a:rPr lang="he-IL" sz="1600" b="1" dirty="0">
                <a:solidFill>
                  <a:srgbClr val="FF0000"/>
                </a:solidFill>
                <a:ea typeface="+mn-ea"/>
              </a:rPr>
              <a:t>תרל"ח (1878)</a:t>
            </a:r>
          </a:p>
        </p:txBody>
      </p:sp>
      <p:sp>
        <p:nvSpPr>
          <p:cNvPr id="5" name="TextBox 4"/>
          <p:cNvSpPr txBox="1"/>
          <p:nvPr/>
        </p:nvSpPr>
        <p:spPr>
          <a:xfrm>
            <a:off x="6658913" y="6469915"/>
            <a:ext cx="2457725"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ראשון לציון, </a:t>
            </a:r>
            <a:r>
              <a:rPr lang="he-IL" sz="1600" b="1" kern="1200" dirty="0">
                <a:solidFill>
                  <a:srgbClr val="FF0000"/>
                </a:solidFill>
                <a:latin typeface="Calibri" panose="020F0502020204030204"/>
                <a:ea typeface="+mn-ea"/>
              </a:rPr>
              <a:t>תרמ"ד (1884)</a:t>
            </a:r>
          </a:p>
        </p:txBody>
      </p:sp>
      <p:sp>
        <p:nvSpPr>
          <p:cNvPr id="6" name="TextBox 5"/>
          <p:cNvSpPr txBox="1"/>
          <p:nvPr/>
        </p:nvSpPr>
        <p:spPr>
          <a:xfrm>
            <a:off x="4132163" y="182516"/>
            <a:ext cx="992579" cy="338554"/>
          </a:xfrm>
          <a:prstGeom prst="rect">
            <a:avLst/>
          </a:prstGeom>
          <a:solidFill>
            <a:srgbClr val="FFFF00"/>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חובבי ציון</a:t>
            </a:r>
          </a:p>
        </p:txBody>
      </p:sp>
      <p:sp>
        <p:nvSpPr>
          <p:cNvPr id="7" name="TextBox 6"/>
          <p:cNvSpPr txBox="1"/>
          <p:nvPr/>
        </p:nvSpPr>
        <p:spPr>
          <a:xfrm>
            <a:off x="653890" y="6469915"/>
            <a:ext cx="1311578"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ראשי התנועה</a:t>
            </a:r>
          </a:p>
        </p:txBody>
      </p:sp>
      <p:sp>
        <p:nvSpPr>
          <p:cNvPr id="12" name="TextBox 11"/>
          <p:cNvSpPr txBox="1"/>
          <p:nvPr/>
        </p:nvSpPr>
        <p:spPr>
          <a:xfrm>
            <a:off x="2840566" y="3676481"/>
            <a:ext cx="3398687" cy="830997"/>
          </a:xfrm>
          <a:prstGeom prst="rect">
            <a:avLst/>
          </a:prstGeom>
          <a:solidFill>
            <a:srgbClr val="00FFFF"/>
          </a:solidFill>
          <a:ln>
            <a:solidFill>
              <a:schemeClr val="tx1"/>
            </a:solidFill>
          </a:ln>
        </p:spPr>
        <p:txBody>
          <a:bodyPr wrap="none" rtlCol="1">
            <a:spAutoFit/>
          </a:bodyPr>
          <a:lstStyle/>
          <a:p>
            <a:pPr algn="r" rtl="1"/>
            <a:r>
              <a:rPr lang="he-IL" sz="1600" b="1" kern="1200" dirty="0">
                <a:solidFill>
                  <a:srgbClr val="FF0000"/>
                </a:solidFill>
                <a:latin typeface="Calibri" panose="020F0502020204030204"/>
                <a:ea typeface="+mn-ea"/>
              </a:rPr>
              <a:t>הקמת מושבות:</a:t>
            </a:r>
          </a:p>
          <a:p>
            <a:pPr algn="r" rtl="1"/>
            <a:r>
              <a:rPr lang="he-IL" sz="1600" b="1" kern="1200" dirty="0" err="1">
                <a:solidFill>
                  <a:prstClr val="black"/>
                </a:solidFill>
                <a:latin typeface="Calibri" panose="020F0502020204030204"/>
                <a:ea typeface="+mn-ea"/>
              </a:rPr>
              <a:t>זכרון</a:t>
            </a:r>
            <a:r>
              <a:rPr lang="he-IL" sz="1600" b="1" kern="1200" dirty="0">
                <a:solidFill>
                  <a:prstClr val="black"/>
                </a:solidFill>
                <a:latin typeface="Calibri" panose="020F0502020204030204"/>
                <a:ea typeface="+mn-ea"/>
              </a:rPr>
              <a:t> יעקב (1882), ראש פינה (1882), </a:t>
            </a:r>
          </a:p>
          <a:p>
            <a:pPr algn="r" rtl="1"/>
            <a:r>
              <a:rPr lang="he-IL" sz="1600" b="1" kern="1200" dirty="0">
                <a:solidFill>
                  <a:prstClr val="black"/>
                </a:solidFill>
                <a:latin typeface="Calibri" panose="020F0502020204030204"/>
                <a:ea typeface="+mn-ea"/>
              </a:rPr>
              <a:t>יסוד המעלה (1883) חדרה (1891) </a:t>
            </a:r>
          </a:p>
        </p:txBody>
      </p:sp>
      <p:pic>
        <p:nvPicPr>
          <p:cNvPr id="15" name="Picture 4" descr="Naftali Tzvi Iehuda Berlin (ha-Natziv) 1a.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45397" y="598933"/>
            <a:ext cx="829497" cy="1159107"/>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1532559" y="1851952"/>
            <a:ext cx="1693091" cy="523220"/>
          </a:xfrm>
          <a:prstGeom prst="rect">
            <a:avLst/>
          </a:prstGeom>
          <a:noFill/>
        </p:spPr>
        <p:txBody>
          <a:bodyPr wrap="none" rtlCol="1">
            <a:spAutoFit/>
          </a:bodyPr>
          <a:lstStyle/>
          <a:p>
            <a:pPr algn="r" rtl="1"/>
            <a:r>
              <a:rPr lang="he-IL" b="1" kern="1200" dirty="0">
                <a:solidFill>
                  <a:prstClr val="black"/>
                </a:solidFill>
                <a:latin typeface="Calibri" panose="020F0502020204030204"/>
                <a:ea typeface="+mn-ea"/>
              </a:rPr>
              <a:t>הרב נפתלי </a:t>
            </a:r>
            <a:r>
              <a:rPr lang="he-IL" b="1" kern="1200" dirty="0" err="1">
                <a:solidFill>
                  <a:prstClr val="black"/>
                </a:solidFill>
                <a:latin typeface="Calibri" panose="020F0502020204030204"/>
                <a:ea typeface="+mn-ea"/>
              </a:rPr>
              <a:t>צ"י</a:t>
            </a:r>
            <a:r>
              <a:rPr lang="he-IL" b="1" kern="1200" dirty="0">
                <a:solidFill>
                  <a:prstClr val="black"/>
                </a:solidFill>
                <a:latin typeface="Calibri" panose="020F0502020204030204"/>
                <a:ea typeface="+mn-ea"/>
              </a:rPr>
              <a:t> ברלין</a:t>
            </a:r>
          </a:p>
          <a:p>
            <a:pPr algn="ctr" rtl="1"/>
            <a:r>
              <a:rPr lang="he-IL" b="1" kern="1200" dirty="0">
                <a:solidFill>
                  <a:prstClr val="black"/>
                </a:solidFill>
                <a:latin typeface="Calibri" panose="020F0502020204030204"/>
                <a:ea typeface="+mn-ea"/>
              </a:rPr>
              <a:t>ראש ישיבת </a:t>
            </a:r>
            <a:r>
              <a:rPr lang="he-IL" b="1" kern="1200" dirty="0" err="1">
                <a:solidFill>
                  <a:prstClr val="black"/>
                </a:solidFill>
                <a:latin typeface="Calibri" panose="020F0502020204030204"/>
                <a:ea typeface="+mn-ea"/>
              </a:rPr>
              <a:t>וולוז'ין</a:t>
            </a:r>
            <a:endParaRPr lang="he-IL" b="1" kern="1200" dirty="0">
              <a:solidFill>
                <a:prstClr val="black"/>
              </a:solidFill>
              <a:latin typeface="Calibri" panose="020F0502020204030204"/>
              <a:ea typeface="+mn-ea"/>
            </a:endParaRPr>
          </a:p>
        </p:txBody>
      </p:sp>
      <p:pic>
        <p:nvPicPr>
          <p:cNvPr id="8194" name="Picture 2" descr="https://upload.wikimedia.org/wikipedia/commons/thumb/d/d7/Kattowitz_Conference._P._Krause._1884_%28FL38048544%29.crop.jpg/300px-Kattowitz_Conference._P._Krause._1884_%28FL38048544%29.crop.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82" y="-136525"/>
            <a:ext cx="7144" cy="952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amuel Mohilewer.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1451" y="575988"/>
            <a:ext cx="836059" cy="1263053"/>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125150" y="1877572"/>
            <a:ext cx="1699678" cy="523220"/>
          </a:xfrm>
          <a:prstGeom prst="rect">
            <a:avLst/>
          </a:prstGeom>
          <a:noFill/>
        </p:spPr>
        <p:txBody>
          <a:bodyPr wrap="square" rtlCol="1">
            <a:spAutoFit/>
          </a:bodyPr>
          <a:lstStyle/>
          <a:p>
            <a:pPr algn="r" rtl="1"/>
            <a:r>
              <a:rPr lang="he-IL" b="1" kern="1200" dirty="0">
                <a:solidFill>
                  <a:prstClr val="black"/>
                </a:solidFill>
                <a:latin typeface="Calibri" panose="020F0502020204030204"/>
                <a:ea typeface="+mn-ea"/>
              </a:rPr>
              <a:t>הרב שמואל </a:t>
            </a:r>
            <a:r>
              <a:rPr lang="he-IL" b="1" kern="1200" dirty="0" err="1">
                <a:solidFill>
                  <a:prstClr val="black"/>
                </a:solidFill>
                <a:latin typeface="Calibri" panose="020F0502020204030204"/>
                <a:ea typeface="+mn-ea"/>
              </a:rPr>
              <a:t>מוהליבר</a:t>
            </a:r>
            <a:endParaRPr lang="he-IL" b="1" kern="1200" dirty="0">
              <a:solidFill>
                <a:prstClr val="black"/>
              </a:solidFill>
              <a:latin typeface="Calibri" panose="020F0502020204030204"/>
              <a:ea typeface="+mn-ea"/>
            </a:endParaRPr>
          </a:p>
          <a:p>
            <a:pPr algn="r" rtl="1"/>
            <a:r>
              <a:rPr lang="he-IL" b="1" kern="1200" dirty="0">
                <a:solidFill>
                  <a:prstClr val="black"/>
                </a:solidFill>
                <a:latin typeface="Calibri" panose="020F0502020204030204"/>
                <a:ea typeface="+mn-ea"/>
              </a:rPr>
              <a:t>רבה של </a:t>
            </a:r>
            <a:r>
              <a:rPr lang="he-IL" b="1" kern="1200" dirty="0" err="1">
                <a:solidFill>
                  <a:prstClr val="black"/>
                </a:solidFill>
                <a:latin typeface="Calibri" panose="020F0502020204030204"/>
                <a:ea typeface="+mn-ea"/>
              </a:rPr>
              <a:t>ביאליסטוק</a:t>
            </a:r>
            <a:endParaRPr lang="he-IL" b="1" kern="1200" dirty="0">
              <a:solidFill>
                <a:prstClr val="black"/>
              </a:solidFill>
              <a:latin typeface="Calibri" panose="020F0502020204030204"/>
              <a:ea typeface="+mn-ea"/>
            </a:endParaRPr>
          </a:p>
        </p:txBody>
      </p:sp>
      <p:pic>
        <p:nvPicPr>
          <p:cNvPr id="2050" name="Picture 2" descr="https://upload.wikimedia.org/wikipedia/he/thumb/a/a8/MUSEUM_OF_THE_HISTORY_OF_GEDERA_AND_THE_BILU_-_beith_Moshe_Mintz.JPG/250px-MUSEUM_OF_THE_HISTORY_OF_GEDERA_AND_THE_BILU_-_beith_Moshe_Mintz.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4631" y="2843082"/>
            <a:ext cx="1645135" cy="1649523"/>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819069" y="2379521"/>
            <a:ext cx="1973618" cy="338554"/>
          </a:xfrm>
          <a:prstGeom prst="rect">
            <a:avLst/>
          </a:prstGeom>
          <a:solidFill>
            <a:srgbClr val="FFFF00"/>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ביל"ו, תרמ"ב </a:t>
            </a:r>
            <a:r>
              <a:rPr lang="he-IL" sz="1600" b="1" kern="1200" dirty="0">
                <a:solidFill>
                  <a:srgbClr val="FF0000"/>
                </a:solidFill>
                <a:latin typeface="Calibri" panose="020F0502020204030204"/>
                <a:ea typeface="+mn-ea"/>
              </a:rPr>
              <a:t>(1882)</a:t>
            </a:r>
          </a:p>
        </p:txBody>
      </p:sp>
      <p:sp>
        <p:nvSpPr>
          <p:cNvPr id="11" name="TextBox 10"/>
          <p:cNvSpPr txBox="1"/>
          <p:nvPr/>
        </p:nvSpPr>
        <p:spPr>
          <a:xfrm>
            <a:off x="6896960" y="4507478"/>
            <a:ext cx="1981633"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גדרה, </a:t>
            </a:r>
            <a:r>
              <a:rPr lang="he-IL" sz="1600" b="1" kern="1200" dirty="0">
                <a:solidFill>
                  <a:srgbClr val="FF0000"/>
                </a:solidFill>
                <a:latin typeface="Calibri" panose="020F0502020204030204"/>
                <a:ea typeface="+mn-ea"/>
              </a:rPr>
              <a:t>תרמ"ב (1882)</a:t>
            </a:r>
          </a:p>
        </p:txBody>
      </p:sp>
      <p:pic>
        <p:nvPicPr>
          <p:cNvPr id="13" name="תמונה 12"/>
          <p:cNvPicPr>
            <a:picLocks noChangeAspect="1"/>
          </p:cNvPicPr>
          <p:nvPr/>
        </p:nvPicPr>
        <p:blipFill>
          <a:blip r:embed="rId9"/>
          <a:stretch>
            <a:fillRect/>
          </a:stretch>
        </p:blipFill>
        <p:spPr>
          <a:xfrm>
            <a:off x="3631336" y="760848"/>
            <a:ext cx="2455924" cy="2081555"/>
          </a:xfrm>
          <a:prstGeom prst="rect">
            <a:avLst/>
          </a:prstGeom>
        </p:spPr>
      </p:pic>
      <p:sp>
        <p:nvSpPr>
          <p:cNvPr id="8" name="TextBox 7"/>
          <p:cNvSpPr txBox="1"/>
          <p:nvPr/>
        </p:nvSpPr>
        <p:spPr>
          <a:xfrm>
            <a:off x="3079630" y="4835930"/>
            <a:ext cx="3034805" cy="584775"/>
          </a:xfrm>
          <a:prstGeom prst="rect">
            <a:avLst/>
          </a:prstGeom>
          <a:solidFill>
            <a:srgbClr val="FFFF00"/>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עליית התימנים – "אעלה </a:t>
            </a:r>
            <a:r>
              <a:rPr lang="he-IL" sz="1600" b="1" kern="1200" dirty="0" err="1">
                <a:solidFill>
                  <a:prstClr val="black"/>
                </a:solidFill>
                <a:latin typeface="Calibri" panose="020F0502020204030204"/>
                <a:ea typeface="+mn-ea"/>
              </a:rPr>
              <a:t>ב</a:t>
            </a:r>
            <a:r>
              <a:rPr lang="he-IL" sz="1600" b="1" kern="1200" dirty="0" err="1">
                <a:solidFill>
                  <a:srgbClr val="FF0000"/>
                </a:solidFill>
                <a:latin typeface="Calibri" panose="020F0502020204030204"/>
                <a:ea typeface="+mn-ea"/>
              </a:rPr>
              <a:t>תמ"ר</a:t>
            </a:r>
            <a:r>
              <a:rPr lang="he-IL" sz="1600" b="1" kern="1200" dirty="0">
                <a:solidFill>
                  <a:prstClr val="black"/>
                </a:solidFill>
                <a:latin typeface="Calibri" panose="020F0502020204030204"/>
                <a:ea typeface="+mn-ea"/>
              </a:rPr>
              <a:t>"</a:t>
            </a:r>
          </a:p>
          <a:p>
            <a:pPr algn="r" rtl="1"/>
            <a:r>
              <a:rPr lang="he-IL" sz="1600" b="1" kern="1200" dirty="0">
                <a:solidFill>
                  <a:srgbClr val="FF0000"/>
                </a:solidFill>
                <a:latin typeface="Calibri" panose="020F0502020204030204"/>
                <a:ea typeface="+mn-ea"/>
              </a:rPr>
              <a:t>תרמ"א-ב (1881-2), </a:t>
            </a:r>
            <a:r>
              <a:rPr lang="he-IL" sz="1600" b="1" kern="1200" dirty="0">
                <a:solidFill>
                  <a:prstClr val="black"/>
                </a:solidFill>
                <a:latin typeface="Calibri" panose="020F0502020204030204"/>
                <a:ea typeface="+mn-ea"/>
              </a:rPr>
              <a:t>בכפר השילוח</a:t>
            </a:r>
          </a:p>
        </p:txBody>
      </p:sp>
      <p:pic>
        <p:nvPicPr>
          <p:cNvPr id="14" name="תמונה 13"/>
          <p:cNvPicPr>
            <a:picLocks noChangeAspect="1"/>
          </p:cNvPicPr>
          <p:nvPr/>
        </p:nvPicPr>
        <p:blipFill>
          <a:blip r:embed="rId10"/>
          <a:stretch>
            <a:fillRect/>
          </a:stretch>
        </p:blipFill>
        <p:spPr>
          <a:xfrm>
            <a:off x="3783699" y="5607810"/>
            <a:ext cx="1457705" cy="1162477"/>
          </a:xfrm>
          <a:prstGeom prst="rect">
            <a:avLst/>
          </a:prstGeom>
          <a:ln w="38100">
            <a:solidFill>
              <a:srgbClr val="FF0000"/>
            </a:solidFill>
          </a:ln>
        </p:spPr>
      </p:pic>
      <p:sp>
        <p:nvSpPr>
          <p:cNvPr id="17" name="מלבן 16"/>
          <p:cNvSpPr/>
          <p:nvPr/>
        </p:nvSpPr>
        <p:spPr>
          <a:xfrm>
            <a:off x="134548" y="2532998"/>
            <a:ext cx="2087022" cy="830997"/>
          </a:xfrm>
          <a:prstGeom prst="rect">
            <a:avLst/>
          </a:prstGeom>
          <a:solidFill>
            <a:srgbClr val="00FFFF"/>
          </a:solidFill>
          <a:ln>
            <a:solidFill>
              <a:schemeClr val="tx1"/>
            </a:solidFill>
          </a:ln>
        </p:spPr>
        <p:txBody>
          <a:bodyPr wrap="square">
            <a:spAutoFit/>
          </a:bodyPr>
          <a:lstStyle/>
          <a:p>
            <a:pPr algn="r" rtl="1"/>
            <a:r>
              <a:rPr lang="he-IL" sz="1600" b="1" kern="1200" dirty="0">
                <a:solidFill>
                  <a:srgbClr val="202122"/>
                </a:solidFill>
                <a:latin typeface="Arial" panose="020B0604020202020204" pitchFamily="34" charset="0"/>
                <a:ea typeface="+mn-ea"/>
              </a:rPr>
              <a:t>כתגובה לאנטישמיות במזרח אירופה – עליה והתיישבות בא"י </a:t>
            </a:r>
          </a:p>
        </p:txBody>
      </p:sp>
    </p:spTree>
    <p:extLst>
      <p:ext uri="{BB962C8B-B14F-4D97-AF65-F5344CB8AC3E}">
        <p14:creationId xmlns:p14="http://schemas.microsoft.com/office/powerpoint/2010/main" val="48801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803" name="Picture 11" descr="http://upload.wikimedia.org/wikipedia/commons/0/05/Edmond_James_de_Rothschild.jpg"/>
          <p:cNvPicPr>
            <a:picLocks noChangeAspect="1" noChangeArrowheads="1"/>
          </p:cNvPicPr>
          <p:nvPr/>
        </p:nvPicPr>
        <p:blipFill>
          <a:blip r:embed="rId2"/>
          <a:srcRect/>
          <a:stretch>
            <a:fillRect/>
          </a:stretch>
        </p:blipFill>
        <p:spPr bwMode="auto">
          <a:xfrm>
            <a:off x="7209977" y="1737041"/>
            <a:ext cx="1214072" cy="1541812"/>
          </a:xfrm>
          <a:prstGeom prst="rect">
            <a:avLst/>
          </a:prstGeom>
          <a:noFill/>
          <a:ln w="38100">
            <a:solidFill>
              <a:srgbClr val="0000FF"/>
            </a:solidFill>
          </a:ln>
        </p:spPr>
      </p:pic>
      <p:pic>
        <p:nvPicPr>
          <p:cNvPr id="161805" name="Picture 13" descr="http://kinderland.xnet.co.il/var/142/31062-tb-ramathanadiv.jpg"/>
          <p:cNvPicPr>
            <a:picLocks noChangeAspect="1" noChangeArrowheads="1"/>
          </p:cNvPicPr>
          <p:nvPr/>
        </p:nvPicPr>
        <p:blipFill>
          <a:blip r:embed="rId3"/>
          <a:srcRect/>
          <a:stretch>
            <a:fillRect/>
          </a:stretch>
        </p:blipFill>
        <p:spPr bwMode="auto">
          <a:xfrm>
            <a:off x="528282" y="1488966"/>
            <a:ext cx="1817006" cy="1938141"/>
          </a:xfrm>
          <a:prstGeom prst="rect">
            <a:avLst/>
          </a:prstGeom>
          <a:noFill/>
          <a:ln w="38100">
            <a:solidFill>
              <a:srgbClr val="FF0000"/>
            </a:solidFill>
          </a:ln>
        </p:spPr>
      </p:pic>
      <p:pic>
        <p:nvPicPr>
          <p:cNvPr id="161807" name="Picture 15" descr="http://www.coupon424.co.il/gan-hanadiv/namalTA_0181.jpg"/>
          <p:cNvPicPr>
            <a:picLocks noChangeAspect="1" noChangeArrowheads="1"/>
          </p:cNvPicPr>
          <p:nvPr/>
        </p:nvPicPr>
        <p:blipFill>
          <a:blip r:embed="rId4"/>
          <a:srcRect/>
          <a:stretch>
            <a:fillRect/>
          </a:stretch>
        </p:blipFill>
        <p:spPr bwMode="auto">
          <a:xfrm>
            <a:off x="3469962" y="1453585"/>
            <a:ext cx="2204076" cy="2204076"/>
          </a:xfrm>
          <a:prstGeom prst="rect">
            <a:avLst/>
          </a:prstGeom>
          <a:noFill/>
          <a:ln w="38100">
            <a:solidFill>
              <a:srgbClr val="FF0000"/>
            </a:solidFill>
          </a:ln>
        </p:spPr>
      </p:pic>
      <p:sp>
        <p:nvSpPr>
          <p:cNvPr id="2" name="TextBox 1"/>
          <p:cNvSpPr txBox="1"/>
          <p:nvPr/>
        </p:nvSpPr>
        <p:spPr>
          <a:xfrm>
            <a:off x="2279731" y="119607"/>
            <a:ext cx="4450257" cy="369332"/>
          </a:xfrm>
          <a:prstGeom prst="rect">
            <a:avLst/>
          </a:prstGeom>
          <a:solidFill>
            <a:srgbClr val="FFFF00"/>
          </a:solidFill>
          <a:ln w="12700">
            <a:solidFill>
              <a:schemeClr val="tx1"/>
            </a:solidFill>
          </a:ln>
        </p:spPr>
        <p:txBody>
          <a:bodyPr wrap="none" rtlCol="1">
            <a:spAutoFit/>
          </a:bodyPr>
          <a:lstStyle/>
          <a:p>
            <a:pPr algn="r" rtl="1"/>
            <a:r>
              <a:rPr lang="he-IL" sz="1800" b="1" kern="1200" dirty="0">
                <a:solidFill>
                  <a:prstClr val="black"/>
                </a:solidFill>
                <a:latin typeface="Calibri" panose="020F0502020204030204"/>
                <a:ea typeface="+mn-ea"/>
              </a:rPr>
              <a:t>הברון בנימין (אדמונד) רוטשילד – </a:t>
            </a:r>
            <a:r>
              <a:rPr lang="he-IL" sz="1800" b="1" kern="1200" dirty="0">
                <a:solidFill>
                  <a:srgbClr val="FF0000"/>
                </a:solidFill>
                <a:latin typeface="Calibri" panose="020F0502020204030204"/>
                <a:ea typeface="+mn-ea"/>
              </a:rPr>
              <a:t>'אבי היישוב'</a:t>
            </a:r>
          </a:p>
        </p:txBody>
      </p:sp>
      <p:sp>
        <p:nvSpPr>
          <p:cNvPr id="8" name="TextBox 7"/>
          <p:cNvSpPr txBox="1"/>
          <p:nvPr/>
        </p:nvSpPr>
        <p:spPr>
          <a:xfrm>
            <a:off x="302688" y="3446663"/>
            <a:ext cx="2199641" cy="369332"/>
          </a:xfrm>
          <a:prstGeom prst="rect">
            <a:avLst/>
          </a:prstGeom>
          <a:noFill/>
        </p:spPr>
        <p:txBody>
          <a:bodyPr wrap="none" rtlCol="1">
            <a:spAutoFit/>
          </a:bodyPr>
          <a:lstStyle/>
          <a:p>
            <a:pPr algn="r" rtl="1"/>
            <a:r>
              <a:rPr lang="he-IL" sz="1800" b="1" kern="1200" dirty="0">
                <a:solidFill>
                  <a:prstClr val="black"/>
                </a:solidFill>
                <a:latin typeface="Calibri" panose="020F0502020204030204"/>
                <a:ea typeface="+mn-ea"/>
              </a:rPr>
              <a:t>גן הנדיב </a:t>
            </a:r>
            <a:r>
              <a:rPr lang="he-IL" sz="1800" b="1" kern="1200" dirty="0" err="1">
                <a:solidFill>
                  <a:prstClr val="black"/>
                </a:solidFill>
                <a:latin typeface="Calibri" panose="020F0502020204030204"/>
                <a:ea typeface="+mn-ea"/>
              </a:rPr>
              <a:t>בזכרון</a:t>
            </a:r>
            <a:r>
              <a:rPr lang="he-IL" sz="1800" b="1" kern="1200" dirty="0">
                <a:solidFill>
                  <a:prstClr val="black"/>
                </a:solidFill>
                <a:latin typeface="Calibri" panose="020F0502020204030204"/>
                <a:ea typeface="+mn-ea"/>
              </a:rPr>
              <a:t> יעקב</a:t>
            </a:r>
          </a:p>
        </p:txBody>
      </p:sp>
      <p:sp>
        <p:nvSpPr>
          <p:cNvPr id="9" name="TextBox 8"/>
          <p:cNvSpPr txBox="1"/>
          <p:nvPr/>
        </p:nvSpPr>
        <p:spPr>
          <a:xfrm>
            <a:off x="611561" y="638117"/>
            <a:ext cx="8319268" cy="584775"/>
          </a:xfrm>
          <a:prstGeom prst="rect">
            <a:avLst/>
          </a:prstGeom>
          <a:solidFill>
            <a:srgbClr val="00FFFF"/>
          </a:solidFill>
          <a:ln>
            <a:solidFill>
              <a:schemeClr val="tx1"/>
            </a:solidFill>
          </a:ln>
        </p:spPr>
        <p:txBody>
          <a:bodyPr wrap="square" rtlCol="1">
            <a:spAutoFit/>
          </a:bodyPr>
          <a:lstStyle/>
          <a:p>
            <a:pPr algn="r" rtl="1"/>
            <a:r>
              <a:rPr lang="he-IL" sz="1600" b="1" kern="1200" dirty="0">
                <a:solidFill>
                  <a:srgbClr val="FF0000"/>
                </a:solidFill>
                <a:latin typeface="Calibri" panose="020F0502020204030204"/>
                <a:ea typeface="+mn-ea"/>
              </a:rPr>
              <a:t>בחסותו</a:t>
            </a:r>
            <a:r>
              <a:rPr lang="he-IL" sz="1600" b="1" kern="1200" dirty="0">
                <a:solidFill>
                  <a:prstClr val="black"/>
                </a:solidFill>
                <a:latin typeface="Calibri" panose="020F0502020204030204"/>
                <a:ea typeface="+mn-ea"/>
              </a:rPr>
              <a:t> – המושבות: ראשון לציון, ראש פינה, </a:t>
            </a:r>
            <a:r>
              <a:rPr lang="he-IL" sz="1600" b="1" kern="1200" dirty="0" err="1">
                <a:solidFill>
                  <a:prstClr val="black"/>
                </a:solidFill>
                <a:latin typeface="Calibri" panose="020F0502020204030204"/>
                <a:ea typeface="+mn-ea"/>
              </a:rPr>
              <a:t>זכרון</a:t>
            </a:r>
            <a:r>
              <a:rPr lang="he-IL" sz="1600" b="1" kern="1200" dirty="0">
                <a:solidFill>
                  <a:prstClr val="black"/>
                </a:solidFill>
                <a:latin typeface="Calibri" panose="020F0502020204030204"/>
                <a:ea typeface="+mn-ea"/>
              </a:rPr>
              <a:t> יעקב, יסוד המעלה; </a:t>
            </a:r>
            <a:r>
              <a:rPr lang="he-IL" sz="1600" b="1" kern="1200" dirty="0">
                <a:solidFill>
                  <a:srgbClr val="FF0000"/>
                </a:solidFill>
                <a:latin typeface="Calibri" panose="020F0502020204030204"/>
                <a:ea typeface="+mn-ea"/>
              </a:rPr>
              <a:t>הקים</a:t>
            </a:r>
            <a:r>
              <a:rPr lang="he-IL" sz="1600" b="1" kern="1200" dirty="0">
                <a:solidFill>
                  <a:prstClr val="black"/>
                </a:solidFill>
                <a:latin typeface="Calibri" panose="020F0502020204030204"/>
                <a:ea typeface="+mn-ea"/>
              </a:rPr>
              <a:t> - בת שלמה (1889), שפיה (1891), מטולה (1896) </a:t>
            </a:r>
          </a:p>
        </p:txBody>
      </p:sp>
      <p:sp>
        <p:nvSpPr>
          <p:cNvPr id="5" name="TextBox 4"/>
          <p:cNvSpPr txBox="1"/>
          <p:nvPr/>
        </p:nvSpPr>
        <p:spPr>
          <a:xfrm>
            <a:off x="2111230" y="4322765"/>
            <a:ext cx="4921540" cy="646331"/>
          </a:xfrm>
          <a:prstGeom prst="rect">
            <a:avLst/>
          </a:prstGeom>
          <a:solidFill>
            <a:srgbClr val="FFFF00"/>
          </a:solidFill>
          <a:ln>
            <a:solidFill>
              <a:schemeClr val="tx1"/>
            </a:solidFill>
          </a:ln>
        </p:spPr>
        <p:txBody>
          <a:bodyPr wrap="none" rtlCol="1">
            <a:spAutoFit/>
          </a:bodyPr>
          <a:lstStyle/>
          <a:p>
            <a:pPr algn="r" rtl="1"/>
            <a:r>
              <a:rPr lang="he-IL" sz="1800" b="1" kern="1200" dirty="0" err="1">
                <a:solidFill>
                  <a:srgbClr val="FF0000"/>
                </a:solidFill>
                <a:latin typeface="Calibri" panose="020F0502020204030204"/>
                <a:ea typeface="+mn-ea"/>
              </a:rPr>
              <a:t>יק"א</a:t>
            </a:r>
            <a:r>
              <a:rPr lang="he-IL" sz="1800" b="1" kern="1200" dirty="0">
                <a:solidFill>
                  <a:srgbClr val="FF0000"/>
                </a:solidFill>
                <a:latin typeface="Calibri" panose="020F0502020204030204"/>
                <a:ea typeface="+mn-ea"/>
              </a:rPr>
              <a:t> – </a:t>
            </a:r>
            <a:r>
              <a:rPr lang="he-IL" sz="1800" b="1" kern="1200" dirty="0">
                <a:solidFill>
                  <a:prstClr val="black"/>
                </a:solidFill>
                <a:latin typeface="Calibri" panose="020F0502020204030204"/>
                <a:ea typeface="+mn-ea"/>
              </a:rPr>
              <a:t>החברה היהודית להתיישבות, </a:t>
            </a:r>
            <a:r>
              <a:rPr lang="he-IL" sz="1800" b="1" kern="1200" dirty="0">
                <a:solidFill>
                  <a:srgbClr val="FF0000"/>
                </a:solidFill>
                <a:latin typeface="Calibri" panose="020F0502020204030204"/>
                <a:ea typeface="+mn-ea"/>
              </a:rPr>
              <a:t>תרנ"א (1891)</a:t>
            </a:r>
          </a:p>
          <a:p>
            <a:pPr algn="ctr" rtl="1"/>
            <a:r>
              <a:rPr lang="he-IL" sz="1800" b="1" kern="1200" dirty="0">
                <a:solidFill>
                  <a:prstClr val="black"/>
                </a:solidFill>
                <a:latin typeface="Calibri" panose="020F0502020204030204"/>
                <a:ea typeface="+mn-ea"/>
              </a:rPr>
              <a:t>של הברון בוריס הירש</a:t>
            </a:r>
          </a:p>
        </p:txBody>
      </p:sp>
      <p:sp>
        <p:nvSpPr>
          <p:cNvPr id="13" name="TextBox 12"/>
          <p:cNvSpPr txBox="1"/>
          <p:nvPr/>
        </p:nvSpPr>
        <p:spPr>
          <a:xfrm>
            <a:off x="2915815" y="5259020"/>
            <a:ext cx="5905439" cy="584775"/>
          </a:xfrm>
          <a:prstGeom prst="rect">
            <a:avLst/>
          </a:prstGeom>
          <a:solidFill>
            <a:srgbClr val="FFFF00"/>
          </a:solidFill>
          <a:ln>
            <a:solidFill>
              <a:srgbClr val="FF0000"/>
            </a:solidFill>
          </a:ln>
        </p:spPr>
        <p:txBody>
          <a:bodyPr wrap="square" rtlCol="1">
            <a:spAutoFit/>
          </a:bodyPr>
          <a:lstStyle/>
          <a:p>
            <a:pPr algn="r" rtl="1"/>
            <a:r>
              <a:rPr lang="he-IL" sz="1600" b="1" kern="1200" dirty="0">
                <a:solidFill>
                  <a:srgbClr val="FF0000"/>
                </a:solidFill>
                <a:latin typeface="Calibri" panose="020F0502020204030204"/>
                <a:ea typeface="+mn-ea"/>
              </a:rPr>
              <a:t>תרנ"ו (1896) – </a:t>
            </a:r>
            <a:r>
              <a:rPr lang="he-IL" sz="1600" b="1" kern="1200" dirty="0">
                <a:solidFill>
                  <a:prstClr val="black"/>
                </a:solidFill>
                <a:latin typeface="Calibri" panose="020F0502020204030204"/>
                <a:ea typeface="+mn-ea"/>
              </a:rPr>
              <a:t>עם פטירת הברון הירש, החלה לסייע כספית למושבות.</a:t>
            </a:r>
          </a:p>
          <a:p>
            <a:pPr algn="r" rtl="1"/>
            <a:r>
              <a:rPr lang="he-IL" sz="1600" b="1" kern="1200" dirty="0">
                <a:solidFill>
                  <a:srgbClr val="FF0000"/>
                </a:solidFill>
                <a:latin typeface="Calibri" panose="020F0502020204030204"/>
                <a:ea typeface="+mn-ea"/>
              </a:rPr>
              <a:t>תר"ס (1900) – </a:t>
            </a:r>
            <a:r>
              <a:rPr lang="he-IL" sz="1600" b="1" kern="1200" dirty="0">
                <a:solidFill>
                  <a:prstClr val="black"/>
                </a:solidFill>
                <a:latin typeface="Calibri" panose="020F0502020204030204"/>
                <a:ea typeface="+mn-ea"/>
              </a:rPr>
              <a:t>לקחה תחת חסותה את מושבות 'הברון' על פי בקשתו.</a:t>
            </a:r>
          </a:p>
        </p:txBody>
      </p:sp>
      <p:sp>
        <p:nvSpPr>
          <p:cNvPr id="14" name="TextBox 13"/>
          <p:cNvSpPr txBox="1"/>
          <p:nvPr/>
        </p:nvSpPr>
        <p:spPr>
          <a:xfrm>
            <a:off x="3058093" y="6092430"/>
            <a:ext cx="5812809" cy="584775"/>
          </a:xfrm>
          <a:prstGeom prst="rect">
            <a:avLst/>
          </a:prstGeom>
          <a:solidFill>
            <a:srgbClr val="00FFFF"/>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המושבות: סג'רה, יבנאל, כפר תבור, מלחמיה, בית גן, מושבה כנרת, </a:t>
            </a:r>
          </a:p>
          <a:p>
            <a:pPr algn="r" rtl="1"/>
            <a:r>
              <a:rPr lang="he-IL" sz="1600" b="1" kern="1200" dirty="0">
                <a:solidFill>
                  <a:prstClr val="black"/>
                </a:solidFill>
                <a:latin typeface="Calibri" panose="020F0502020204030204"/>
                <a:ea typeface="+mn-ea"/>
              </a:rPr>
              <a:t>מצפה, עתלית, משמר הירדן </a:t>
            </a:r>
          </a:p>
        </p:txBody>
      </p:sp>
      <p:pic>
        <p:nvPicPr>
          <p:cNvPr id="15" name="Picture 2"/>
          <p:cNvPicPr>
            <a:picLocks noChangeAspect="1" noChangeArrowheads="1"/>
          </p:cNvPicPr>
          <p:nvPr/>
        </p:nvPicPr>
        <p:blipFill>
          <a:blip r:embed="rId5">
            <a:extLst>
              <a:ext uri="{28A0092B-C50C-407E-A947-70E740481C1C}">
                <a14:useLocalDpi xmlns:a14="http://schemas.microsoft.com/office/drawing/2010/main" val="0"/>
              </a:ext>
            </a:extLst>
          </a:blip>
          <a:srcRect l="9294" t="7720" r="11702" b="7363"/>
          <a:stretch>
            <a:fillRect/>
          </a:stretch>
        </p:blipFill>
        <p:spPr bwMode="auto">
          <a:xfrm>
            <a:off x="793748" y="4487054"/>
            <a:ext cx="986969" cy="1322117"/>
          </a:xfrm>
          <a:prstGeom prst="rect">
            <a:avLst/>
          </a:prstGeom>
          <a:noFill/>
          <a:ln w="38100">
            <a:solidFill>
              <a:srgbClr val="0000FF"/>
            </a:solidFill>
          </a:ln>
          <a:extLst>
            <a:ext uri="{909E8E84-426E-40DD-AFC4-6F175D3DCCD1}">
              <a14:hiddenFill xmlns:a14="http://schemas.microsoft.com/office/drawing/2010/main">
                <a:solidFill>
                  <a:schemeClr val="accent1"/>
                </a:solidFill>
              </a14:hiddenFill>
            </a:ext>
          </a:extLst>
        </p:spPr>
      </p:pic>
      <p:sp>
        <p:nvSpPr>
          <p:cNvPr id="16" name="TextBox 15"/>
          <p:cNvSpPr txBox="1"/>
          <p:nvPr/>
        </p:nvSpPr>
        <p:spPr>
          <a:xfrm>
            <a:off x="104857" y="5855042"/>
            <a:ext cx="2364750" cy="584775"/>
          </a:xfrm>
          <a:prstGeom prst="rect">
            <a:avLst/>
          </a:prstGeom>
          <a:noFill/>
        </p:spPr>
        <p:txBody>
          <a:bodyPr wrap="none" rtlCol="1">
            <a:spAutoFit/>
          </a:bodyPr>
          <a:lstStyle/>
          <a:p>
            <a:pPr algn="ctr" rtl="1"/>
            <a:r>
              <a:rPr lang="he-IL" sz="1600" b="1" kern="1200" dirty="0">
                <a:solidFill>
                  <a:prstClr val="black"/>
                </a:solidFill>
                <a:latin typeface="Calibri" panose="020F0502020204030204"/>
                <a:ea typeface="+mn-ea"/>
              </a:rPr>
              <a:t>הברון בוריס הירש</a:t>
            </a:r>
          </a:p>
          <a:p>
            <a:pPr algn="ctr" rtl="1"/>
            <a:r>
              <a:rPr lang="he-IL" sz="1600" b="1" kern="1200" dirty="0">
                <a:solidFill>
                  <a:prstClr val="black"/>
                </a:solidFill>
                <a:latin typeface="Calibri" panose="020F0502020204030204"/>
                <a:ea typeface="+mn-ea"/>
              </a:rPr>
              <a:t>הקמת מושבות בארגנטינה</a:t>
            </a:r>
          </a:p>
        </p:txBody>
      </p:sp>
      <p:sp>
        <p:nvSpPr>
          <p:cNvPr id="6" name="מלבן 5"/>
          <p:cNvSpPr/>
          <p:nvPr/>
        </p:nvSpPr>
        <p:spPr>
          <a:xfrm>
            <a:off x="7079471" y="3288800"/>
            <a:ext cx="1475084" cy="338554"/>
          </a:xfrm>
          <a:prstGeom prst="rect">
            <a:avLst/>
          </a:prstGeom>
        </p:spPr>
        <p:txBody>
          <a:bodyPr wrap="none">
            <a:spAutoFit/>
          </a:bodyPr>
          <a:lstStyle/>
          <a:p>
            <a:pPr algn="r" rtl="1"/>
            <a:r>
              <a:rPr lang="he-IL" sz="1600" b="1" kern="1200" dirty="0">
                <a:solidFill>
                  <a:prstClr val="black"/>
                </a:solidFill>
                <a:latin typeface="Calibri" panose="020F0502020204030204"/>
                <a:ea typeface="+mn-ea"/>
              </a:rPr>
              <a:t>הברון רוטשילד </a:t>
            </a:r>
            <a:endParaRPr lang="he-IL" sz="1600" kern="1200" dirty="0">
              <a:solidFill>
                <a:prstClr val="black"/>
              </a:solidFill>
              <a:latin typeface="Calibri" panose="020F0502020204030204"/>
              <a:ea typeface="+mn-ea"/>
            </a:endParaRPr>
          </a:p>
        </p:txBody>
      </p:sp>
    </p:spTree>
    <p:extLst>
      <p:ext uri="{BB962C8B-B14F-4D97-AF65-F5344CB8AC3E}">
        <p14:creationId xmlns:p14="http://schemas.microsoft.com/office/powerpoint/2010/main" val="349821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1" name="Picture 3" descr="C:\Users\123\Pictures\תשע'ד-ב'-כ'\005.jpg"/>
          <p:cNvPicPr>
            <a:picLocks noChangeAspect="1" noChangeArrowheads="1"/>
          </p:cNvPicPr>
          <p:nvPr/>
        </p:nvPicPr>
        <p:blipFill>
          <a:blip r:embed="rId2"/>
          <a:srcRect l="55467" t="32305" r="11881" b="31120"/>
          <a:stretch>
            <a:fillRect/>
          </a:stretch>
        </p:blipFill>
        <p:spPr bwMode="auto">
          <a:xfrm rot="10800000">
            <a:off x="6618870" y="936784"/>
            <a:ext cx="2187332" cy="4492897"/>
          </a:xfrm>
          <a:prstGeom prst="rect">
            <a:avLst/>
          </a:prstGeom>
          <a:solidFill>
            <a:srgbClr val="FFFF00"/>
          </a:solidFill>
          <a:ln w="38100">
            <a:solidFill>
              <a:srgbClr val="FF0000"/>
            </a:solidFill>
          </a:ln>
        </p:spPr>
      </p:pic>
      <p:sp>
        <p:nvSpPr>
          <p:cNvPr id="6" name="TextBox 5"/>
          <p:cNvSpPr txBox="1"/>
          <p:nvPr/>
        </p:nvSpPr>
        <p:spPr>
          <a:xfrm>
            <a:off x="7164288" y="446560"/>
            <a:ext cx="1710726" cy="338554"/>
          </a:xfrm>
          <a:prstGeom prst="rect">
            <a:avLst/>
          </a:prstGeom>
          <a:solidFill>
            <a:srgbClr val="FFFF00"/>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עד </a:t>
            </a:r>
            <a:r>
              <a:rPr lang="he-IL" sz="1600" b="1" kern="1200" dirty="0">
                <a:solidFill>
                  <a:srgbClr val="FF0000"/>
                </a:solidFill>
                <a:latin typeface="Calibri" panose="020F0502020204030204"/>
                <a:ea typeface="+mn-ea"/>
              </a:rPr>
              <a:t>תרמ"א (1881)</a:t>
            </a:r>
          </a:p>
        </p:txBody>
      </p:sp>
      <p:sp>
        <p:nvSpPr>
          <p:cNvPr id="9" name="TextBox 8"/>
          <p:cNvSpPr txBox="1"/>
          <p:nvPr/>
        </p:nvSpPr>
        <p:spPr>
          <a:xfrm>
            <a:off x="368655" y="486439"/>
            <a:ext cx="2577950" cy="584775"/>
          </a:xfrm>
          <a:prstGeom prst="rect">
            <a:avLst/>
          </a:prstGeom>
          <a:solidFill>
            <a:srgbClr val="FFFF00"/>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העלייה השנייה, </a:t>
            </a:r>
          </a:p>
          <a:p>
            <a:pPr algn="r" rtl="1"/>
            <a:r>
              <a:rPr lang="he-IL" sz="1600" b="1" kern="1200" dirty="0">
                <a:solidFill>
                  <a:srgbClr val="FF0000"/>
                </a:solidFill>
                <a:latin typeface="Calibri" panose="020F0502020204030204"/>
                <a:ea typeface="+mn-ea"/>
              </a:rPr>
              <a:t>תרס"ד-תרע"ד (1904-1914)</a:t>
            </a:r>
          </a:p>
        </p:txBody>
      </p:sp>
      <p:sp>
        <p:nvSpPr>
          <p:cNvPr id="10" name="TextBox 9"/>
          <p:cNvSpPr txBox="1"/>
          <p:nvPr/>
        </p:nvSpPr>
        <p:spPr>
          <a:xfrm>
            <a:off x="3217070" y="615837"/>
            <a:ext cx="2582758" cy="584775"/>
          </a:xfrm>
          <a:prstGeom prst="rect">
            <a:avLst/>
          </a:prstGeom>
          <a:solidFill>
            <a:srgbClr val="FFFF00"/>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העלייה הראשונה, </a:t>
            </a:r>
          </a:p>
          <a:p>
            <a:pPr algn="r" rtl="1"/>
            <a:r>
              <a:rPr lang="he-IL" sz="1600" b="1" kern="1200" dirty="0">
                <a:solidFill>
                  <a:srgbClr val="FF0000"/>
                </a:solidFill>
                <a:latin typeface="Calibri" panose="020F0502020204030204"/>
                <a:ea typeface="+mn-ea"/>
              </a:rPr>
              <a:t>תרמ"ב-תרס"ג (1882-1903)</a:t>
            </a:r>
          </a:p>
        </p:txBody>
      </p:sp>
      <p:sp>
        <p:nvSpPr>
          <p:cNvPr id="13" name="TextBox 12"/>
          <p:cNvSpPr txBox="1"/>
          <p:nvPr/>
        </p:nvSpPr>
        <p:spPr>
          <a:xfrm>
            <a:off x="2661832" y="89839"/>
            <a:ext cx="3913252" cy="338554"/>
          </a:xfrm>
          <a:prstGeom prst="rect">
            <a:avLst/>
          </a:prstGeom>
          <a:solidFill>
            <a:srgbClr val="FFFF00"/>
          </a:solidFill>
          <a:ln>
            <a:solidFill>
              <a:schemeClr val="tx1"/>
            </a:solidFill>
          </a:ln>
        </p:spPr>
        <p:txBody>
          <a:bodyPr wrap="none" rtlCol="1">
            <a:spAutoFit/>
          </a:bodyPr>
          <a:lstStyle/>
          <a:p>
            <a:pPr algn="r" rtl="1"/>
            <a:r>
              <a:rPr lang="he-IL" sz="1600" b="1" kern="1200" dirty="0">
                <a:solidFill>
                  <a:prstClr val="black"/>
                </a:solidFill>
                <a:latin typeface="Calibri" panose="020F0502020204030204"/>
                <a:ea typeface="+mn-ea"/>
              </a:rPr>
              <a:t>ראשית ההתיישבות החקלאית היהודית בארץ</a:t>
            </a:r>
          </a:p>
        </p:txBody>
      </p:sp>
      <p:pic>
        <p:nvPicPr>
          <p:cNvPr id="3074" name="Picture 2" descr="https://sites.google.com/site/historyatidim/_/rsrc/1366708560999/asssa/%D7%A2%D7%9C%D7%99%D7%94%20%D7%A8%D7%90%D7%A9%D7%95%D7%A0%D7%94%20-%20%D7%9E%D7%A4%D7%AA%20%D7%94%D7%AA%D7%99%D7%99%D7%A9%D7%91%D7%95%D7%A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1457" y="1316705"/>
            <a:ext cx="2045145" cy="4536505"/>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521736" y="5859598"/>
            <a:ext cx="1220207"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מאתר מט"ח</a:t>
            </a:r>
          </a:p>
        </p:txBody>
      </p:sp>
      <p:pic>
        <p:nvPicPr>
          <p:cNvPr id="3078" name="Picture 6" descr="יישובי העלייה השניה, 1914-19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489" y="1268760"/>
            <a:ext cx="2186343" cy="4632397"/>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293212" y="6180488"/>
            <a:ext cx="2430474" cy="307777"/>
          </a:xfrm>
          <a:prstGeom prst="rect">
            <a:avLst/>
          </a:prstGeom>
          <a:solidFill>
            <a:srgbClr val="FFFF00"/>
          </a:solidFill>
          <a:ln>
            <a:solidFill>
              <a:schemeClr val="tx1"/>
            </a:solidFill>
          </a:ln>
        </p:spPr>
        <p:txBody>
          <a:bodyPr wrap="none" rtlCol="1">
            <a:spAutoFit/>
          </a:bodyPr>
          <a:lstStyle/>
          <a:p>
            <a:pPr algn="r" rtl="1"/>
            <a:r>
              <a:rPr lang="he-IL" b="1" kern="1200" dirty="0">
                <a:solidFill>
                  <a:prstClr val="black"/>
                </a:solidFill>
                <a:latin typeface="Calibri" panose="020F0502020204030204"/>
                <a:ea typeface="+mn-ea"/>
              </a:rPr>
              <a:t>הגיעו לארץ – 30-35,000 עולים</a:t>
            </a:r>
          </a:p>
        </p:txBody>
      </p:sp>
      <p:sp>
        <p:nvSpPr>
          <p:cNvPr id="14" name="TextBox 13"/>
          <p:cNvSpPr txBox="1"/>
          <p:nvPr/>
        </p:nvSpPr>
        <p:spPr>
          <a:xfrm>
            <a:off x="340031" y="6165612"/>
            <a:ext cx="2404826" cy="307777"/>
          </a:xfrm>
          <a:prstGeom prst="rect">
            <a:avLst/>
          </a:prstGeom>
          <a:solidFill>
            <a:srgbClr val="FFFF00"/>
          </a:solidFill>
          <a:ln>
            <a:solidFill>
              <a:schemeClr val="tx1"/>
            </a:solidFill>
          </a:ln>
        </p:spPr>
        <p:txBody>
          <a:bodyPr wrap="none" rtlCol="1">
            <a:spAutoFit/>
          </a:bodyPr>
          <a:lstStyle/>
          <a:p>
            <a:pPr algn="r" rtl="1"/>
            <a:r>
              <a:rPr lang="he-IL" b="1" kern="1200" dirty="0">
                <a:solidFill>
                  <a:prstClr val="black"/>
                </a:solidFill>
                <a:latin typeface="Calibri" panose="020F0502020204030204"/>
                <a:ea typeface="+mn-ea"/>
              </a:rPr>
              <a:t>השתקעו בארץ – 35,000 עולים</a:t>
            </a:r>
          </a:p>
        </p:txBody>
      </p:sp>
      <p:sp>
        <p:nvSpPr>
          <p:cNvPr id="15" name="TextBox 14"/>
          <p:cNvSpPr txBox="1"/>
          <p:nvPr/>
        </p:nvSpPr>
        <p:spPr>
          <a:xfrm>
            <a:off x="6012160" y="5697348"/>
            <a:ext cx="3034805" cy="954107"/>
          </a:xfrm>
          <a:prstGeom prst="rect">
            <a:avLst/>
          </a:prstGeom>
          <a:solidFill>
            <a:srgbClr val="FFFF00"/>
          </a:solidFill>
          <a:ln>
            <a:solidFill>
              <a:schemeClr val="tx1"/>
            </a:solidFill>
          </a:ln>
        </p:spPr>
        <p:txBody>
          <a:bodyPr wrap="none" rtlCol="1">
            <a:spAutoFit/>
          </a:bodyPr>
          <a:lstStyle/>
          <a:p>
            <a:pPr algn="r" rtl="1"/>
            <a:r>
              <a:rPr lang="he-IL" b="1" kern="1200" dirty="0" err="1">
                <a:solidFill>
                  <a:srgbClr val="FF0000"/>
                </a:solidFill>
                <a:latin typeface="Calibri" panose="020F0502020204030204"/>
                <a:ea typeface="+mn-ea"/>
              </a:rPr>
              <a:t>בתרמ"ב</a:t>
            </a:r>
            <a:r>
              <a:rPr lang="he-IL" b="1" kern="1200" dirty="0">
                <a:solidFill>
                  <a:srgbClr val="FF0000"/>
                </a:solidFill>
                <a:latin typeface="Calibri" panose="020F0502020204030204"/>
                <a:ea typeface="+mn-ea"/>
              </a:rPr>
              <a:t> (1882) – </a:t>
            </a:r>
            <a:r>
              <a:rPr lang="he-IL" b="1" kern="1200" dirty="0">
                <a:solidFill>
                  <a:prstClr val="black"/>
                </a:solidFill>
                <a:latin typeface="Calibri" panose="020F0502020204030204"/>
                <a:ea typeface="+mn-ea"/>
              </a:rPr>
              <a:t>24,000 יהודים בארץ</a:t>
            </a:r>
          </a:p>
          <a:p>
            <a:pPr algn="r" rtl="1"/>
            <a:r>
              <a:rPr lang="he-IL" b="1" dirty="0" err="1">
                <a:solidFill>
                  <a:srgbClr val="FF0000"/>
                </a:solidFill>
              </a:rPr>
              <a:t>בתרע"ד</a:t>
            </a:r>
            <a:r>
              <a:rPr lang="he-IL" b="1" dirty="0">
                <a:solidFill>
                  <a:srgbClr val="FF0000"/>
                </a:solidFill>
              </a:rPr>
              <a:t> </a:t>
            </a:r>
            <a:r>
              <a:rPr lang="he-IL" b="1" dirty="0"/>
              <a:t>(</a:t>
            </a:r>
            <a:r>
              <a:rPr lang="he-IL" b="1" dirty="0">
                <a:solidFill>
                  <a:srgbClr val="2217F5"/>
                </a:solidFill>
              </a:rPr>
              <a:t>שנת המסע</a:t>
            </a:r>
            <a:r>
              <a:rPr lang="he-IL" b="1" dirty="0"/>
              <a:t>) יש בארץ:</a:t>
            </a:r>
          </a:p>
          <a:p>
            <a:pPr algn="r" rtl="1"/>
            <a:r>
              <a:rPr lang="he-IL" b="1" dirty="0"/>
              <a:t>85.000 יהודים, 12% מכלל התושבים</a:t>
            </a:r>
          </a:p>
          <a:p>
            <a:pPr algn="r" rtl="1"/>
            <a:r>
              <a:rPr lang="he-IL" b="1" dirty="0"/>
              <a:t>12.000 יהודים ב-47 יישובים</a:t>
            </a:r>
          </a:p>
        </p:txBody>
      </p:sp>
      <p:sp>
        <p:nvSpPr>
          <p:cNvPr id="4" name="TextBox 3"/>
          <p:cNvSpPr txBox="1"/>
          <p:nvPr/>
        </p:nvSpPr>
        <p:spPr>
          <a:xfrm>
            <a:off x="1058748" y="89839"/>
            <a:ext cx="1260281" cy="307777"/>
          </a:xfrm>
          <a:prstGeom prst="rect">
            <a:avLst/>
          </a:prstGeom>
          <a:solidFill>
            <a:srgbClr val="2217F5"/>
          </a:solidFill>
          <a:ln>
            <a:solidFill>
              <a:schemeClr val="tx1"/>
            </a:solidFill>
          </a:ln>
        </p:spPr>
        <p:txBody>
          <a:bodyPr wrap="none" rtlCol="1">
            <a:spAutoFit/>
          </a:bodyPr>
          <a:lstStyle/>
          <a:p>
            <a:r>
              <a:rPr lang="he-IL" b="1" dirty="0">
                <a:solidFill>
                  <a:schemeClr val="bg1"/>
                </a:solidFill>
              </a:rPr>
              <a:t>'היישוב</a:t>
            </a:r>
            <a:r>
              <a:rPr lang="he-IL" b="1" dirty="0"/>
              <a:t> </a:t>
            </a:r>
            <a:r>
              <a:rPr lang="he-IL" b="1" dirty="0">
                <a:solidFill>
                  <a:schemeClr val="bg1"/>
                </a:solidFill>
              </a:rPr>
              <a:t>החדש'</a:t>
            </a:r>
          </a:p>
        </p:txBody>
      </p:sp>
    </p:spTree>
    <p:extLst>
      <p:ext uri="{BB962C8B-B14F-4D97-AF65-F5344CB8AC3E}">
        <p14:creationId xmlns:p14="http://schemas.microsoft.com/office/powerpoint/2010/main" val="4190182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s://upload.wikimedia.org/wikipedia/commons/f/ff/Zionist_Delegation_to_Jerusalem_189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631" y="3833470"/>
            <a:ext cx="1499508" cy="268846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2" name="תמונה 1"/>
          <p:cNvPicPr>
            <a:picLocks noChangeAspect="1"/>
          </p:cNvPicPr>
          <p:nvPr/>
        </p:nvPicPr>
        <p:blipFill>
          <a:blip r:embed="rId3"/>
          <a:stretch>
            <a:fillRect/>
          </a:stretch>
        </p:blipFill>
        <p:spPr>
          <a:xfrm>
            <a:off x="262519" y="631824"/>
            <a:ext cx="1431529" cy="2537969"/>
          </a:xfrm>
          <a:prstGeom prst="rect">
            <a:avLst/>
          </a:prstGeom>
          <a:ln w="38100">
            <a:solidFill>
              <a:srgbClr val="FF0000"/>
            </a:solidFill>
          </a:ln>
        </p:spPr>
      </p:pic>
      <p:pic>
        <p:nvPicPr>
          <p:cNvPr id="3" name="תמונה 2"/>
          <p:cNvPicPr>
            <a:picLocks noChangeAspect="1"/>
          </p:cNvPicPr>
          <p:nvPr/>
        </p:nvPicPr>
        <p:blipFill>
          <a:blip r:embed="rId4"/>
          <a:stretch>
            <a:fillRect/>
          </a:stretch>
        </p:blipFill>
        <p:spPr>
          <a:xfrm>
            <a:off x="7113681" y="2917282"/>
            <a:ext cx="1259023" cy="1894781"/>
          </a:xfrm>
          <a:prstGeom prst="rect">
            <a:avLst/>
          </a:prstGeom>
          <a:ln w="38100">
            <a:solidFill>
              <a:srgbClr val="0000FF"/>
            </a:solidFill>
          </a:ln>
        </p:spPr>
      </p:pic>
      <p:pic>
        <p:nvPicPr>
          <p:cNvPr id="5" name="תמונה 4"/>
          <p:cNvPicPr>
            <a:picLocks noChangeAspect="1"/>
          </p:cNvPicPr>
          <p:nvPr/>
        </p:nvPicPr>
        <p:blipFill>
          <a:blip r:embed="rId5"/>
          <a:stretch>
            <a:fillRect/>
          </a:stretch>
        </p:blipFill>
        <p:spPr>
          <a:xfrm>
            <a:off x="3361134" y="2407336"/>
            <a:ext cx="2421731" cy="4095750"/>
          </a:xfrm>
          <a:prstGeom prst="rect">
            <a:avLst/>
          </a:prstGeom>
          <a:ln w="38100">
            <a:solidFill>
              <a:srgbClr val="FF0000"/>
            </a:solidFill>
          </a:ln>
        </p:spPr>
      </p:pic>
      <p:sp>
        <p:nvSpPr>
          <p:cNvPr id="8" name="מלבן 7"/>
          <p:cNvSpPr/>
          <p:nvPr/>
        </p:nvSpPr>
        <p:spPr>
          <a:xfrm>
            <a:off x="2090440" y="1789880"/>
            <a:ext cx="5678157" cy="369332"/>
          </a:xfrm>
          <a:prstGeom prst="rect">
            <a:avLst/>
          </a:prstGeom>
          <a:solidFill>
            <a:srgbClr val="FFFF00"/>
          </a:solidFill>
          <a:ln w="38100">
            <a:solidFill>
              <a:srgbClr val="2217F5"/>
            </a:solidFill>
          </a:ln>
        </p:spPr>
        <p:txBody>
          <a:bodyPr wrap="none">
            <a:spAutoFit/>
          </a:bodyPr>
          <a:lstStyle/>
          <a:p>
            <a:pPr algn="r" rtl="1"/>
            <a:r>
              <a:rPr lang="he-IL" sz="1800" b="1" kern="1200" dirty="0">
                <a:solidFill>
                  <a:prstClr val="black"/>
                </a:solidFill>
                <a:latin typeface="Calibri" panose="020F0502020204030204"/>
                <a:ea typeface="+mn-ea"/>
              </a:rPr>
              <a:t>"ציונות - היא שיבה ליהדות עוד לפני השיבה לארץ ישראל." </a:t>
            </a:r>
          </a:p>
        </p:txBody>
      </p:sp>
      <p:sp>
        <p:nvSpPr>
          <p:cNvPr id="9" name="מלבן 8"/>
          <p:cNvSpPr/>
          <p:nvPr/>
        </p:nvSpPr>
        <p:spPr>
          <a:xfrm>
            <a:off x="1835139" y="685575"/>
            <a:ext cx="7193224" cy="830997"/>
          </a:xfrm>
          <a:prstGeom prst="rect">
            <a:avLst/>
          </a:prstGeom>
          <a:solidFill>
            <a:srgbClr val="00FFFF"/>
          </a:solidFill>
          <a:ln w="12700">
            <a:solidFill>
              <a:schemeClr val="tx1"/>
            </a:solidFill>
          </a:ln>
        </p:spPr>
        <p:txBody>
          <a:bodyPr wrap="square">
            <a:spAutoFit/>
          </a:bodyPr>
          <a:lstStyle/>
          <a:p>
            <a:pPr algn="just" rtl="1"/>
            <a:r>
              <a:rPr lang="he-IL" sz="1600" b="1" kern="1200" dirty="0">
                <a:solidFill>
                  <a:srgbClr val="222222"/>
                </a:solidFill>
                <a:latin typeface="Arial" panose="020B0604020202020204" pitchFamily="34" charset="0"/>
                <a:ea typeface="+mn-ea"/>
              </a:rPr>
              <a:t>"מתוך כבוד לדת הלכתי לבית הכנסת בשבת לפני הקונגרס ...וכאשר עמדתי על הבימה, הייתי נרגש יותר משהייתי בכל ימי הקונגרס. הברכה הקצרה שנשאתי בעברית חנקה את גרוני ברגש רב."</a:t>
            </a:r>
          </a:p>
        </p:txBody>
      </p:sp>
      <p:sp>
        <p:nvSpPr>
          <p:cNvPr id="10" name="מלבן 9"/>
          <p:cNvSpPr/>
          <p:nvPr/>
        </p:nvSpPr>
        <p:spPr>
          <a:xfrm>
            <a:off x="467544" y="3917331"/>
            <a:ext cx="8422498" cy="707886"/>
          </a:xfrm>
          <a:prstGeom prst="rect">
            <a:avLst/>
          </a:prstGeom>
          <a:solidFill>
            <a:srgbClr val="FFFF00"/>
          </a:solidFill>
          <a:ln w="38100">
            <a:solidFill>
              <a:srgbClr val="2217F5"/>
            </a:solidFill>
          </a:ln>
        </p:spPr>
        <p:txBody>
          <a:bodyPr wrap="none">
            <a:spAutoFit/>
          </a:bodyPr>
          <a:lstStyle/>
          <a:p>
            <a:pPr algn="r" rtl="1"/>
            <a:r>
              <a:rPr lang="he-IL" sz="2000" b="1" kern="1200" dirty="0">
                <a:solidFill>
                  <a:srgbClr val="222222"/>
                </a:solidFill>
                <a:latin typeface="Arial" panose="020B0604020202020204" pitchFamily="34" charset="0"/>
                <a:ea typeface="+mn-ea"/>
              </a:rPr>
              <a:t>"בבאזל ייסדתי את מדינת היהודים. לו אמרתי זאת היום בפומבי, היתה התשובה </a:t>
            </a:r>
          </a:p>
          <a:p>
            <a:pPr algn="r" rtl="1"/>
            <a:r>
              <a:rPr lang="he-IL" sz="2000" b="1" kern="1200" dirty="0">
                <a:solidFill>
                  <a:srgbClr val="222222"/>
                </a:solidFill>
                <a:latin typeface="Arial" panose="020B0604020202020204" pitchFamily="34" charset="0"/>
                <a:ea typeface="+mn-ea"/>
              </a:rPr>
              <a:t>צחוק מכל עבר, אולי בעוד חמש שנים או לכל היותר חמישים שנה - יכירו בה הכל"</a:t>
            </a:r>
            <a:endParaRPr lang="he-IL" sz="2000" b="1" kern="1200" dirty="0">
              <a:solidFill>
                <a:prstClr val="black"/>
              </a:solidFill>
              <a:latin typeface="Calibri" panose="020F0502020204030204"/>
              <a:ea typeface="+mn-ea"/>
            </a:endParaRPr>
          </a:p>
        </p:txBody>
      </p:sp>
      <p:sp>
        <p:nvSpPr>
          <p:cNvPr id="4" name="TextBox 3"/>
          <p:cNvSpPr txBox="1"/>
          <p:nvPr/>
        </p:nvSpPr>
        <p:spPr>
          <a:xfrm>
            <a:off x="3026845" y="6503086"/>
            <a:ext cx="3028394"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הרצל נואם בקונגרס הציוני הראשון</a:t>
            </a:r>
          </a:p>
        </p:txBody>
      </p:sp>
      <p:sp>
        <p:nvSpPr>
          <p:cNvPr id="7" name="TextBox 6"/>
          <p:cNvSpPr txBox="1"/>
          <p:nvPr/>
        </p:nvSpPr>
        <p:spPr>
          <a:xfrm>
            <a:off x="-32875" y="3197438"/>
            <a:ext cx="2845714" cy="584775"/>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פגישה עם קיסר גרמניה, </a:t>
            </a:r>
            <a:r>
              <a:rPr lang="he-IL" sz="1600" b="1" kern="1200" dirty="0">
                <a:solidFill>
                  <a:srgbClr val="FF0000"/>
                </a:solidFill>
                <a:latin typeface="Calibri" panose="020F0502020204030204"/>
                <a:ea typeface="+mn-ea"/>
              </a:rPr>
              <a:t>(1898)</a:t>
            </a:r>
          </a:p>
          <a:p>
            <a:pPr algn="ctr" rtl="1"/>
            <a:r>
              <a:rPr lang="he-IL" sz="1600" b="1" kern="1200" dirty="0">
                <a:solidFill>
                  <a:schemeClr val="tx1"/>
                </a:solidFill>
                <a:latin typeface="Calibri" panose="020F0502020204030204"/>
                <a:ea typeface="+mn-ea"/>
              </a:rPr>
              <a:t>(</a:t>
            </a:r>
            <a:r>
              <a:rPr lang="he-IL" sz="1600" b="1" kern="1200" dirty="0" err="1">
                <a:solidFill>
                  <a:schemeClr val="tx1"/>
                </a:solidFill>
                <a:latin typeface="Calibri" panose="020F0502020204030204"/>
                <a:ea typeface="+mn-ea"/>
              </a:rPr>
              <a:t>פוטומונטז</a:t>
            </a:r>
            <a:r>
              <a:rPr lang="he-IL" sz="1600" b="1" kern="1200" dirty="0">
                <a:solidFill>
                  <a:schemeClr val="tx1"/>
                </a:solidFill>
                <a:latin typeface="Calibri" panose="020F0502020204030204"/>
                <a:ea typeface="+mn-ea"/>
              </a:rPr>
              <a:t>')</a:t>
            </a:r>
          </a:p>
        </p:txBody>
      </p:sp>
      <p:sp>
        <p:nvSpPr>
          <p:cNvPr id="13" name="מלבן 12"/>
          <p:cNvSpPr/>
          <p:nvPr/>
        </p:nvSpPr>
        <p:spPr>
          <a:xfrm>
            <a:off x="2627784" y="5411811"/>
            <a:ext cx="3520516" cy="523220"/>
          </a:xfrm>
          <a:prstGeom prst="rect">
            <a:avLst/>
          </a:prstGeom>
          <a:solidFill>
            <a:srgbClr val="00FFFF"/>
          </a:solidFill>
          <a:ln w="38100">
            <a:solidFill>
              <a:srgbClr val="FF0000"/>
            </a:solidFill>
          </a:ln>
        </p:spPr>
        <p:txBody>
          <a:bodyPr wrap="none">
            <a:spAutoFit/>
          </a:bodyPr>
          <a:lstStyle/>
          <a:p>
            <a:pPr rtl="1"/>
            <a:r>
              <a:rPr lang="he-IL" sz="2800" b="1" kern="1200" dirty="0">
                <a:latin typeface="Arial" panose="020B0604020202020204" pitchFamily="34" charset="0"/>
                <a:ea typeface="+mn-ea"/>
              </a:rPr>
              <a:t>"אִם תִּרצוּ אֵין זוֹ אַגָּדָה"</a:t>
            </a:r>
          </a:p>
        </p:txBody>
      </p:sp>
      <p:sp>
        <p:nvSpPr>
          <p:cNvPr id="14" name="TextBox 13"/>
          <p:cNvSpPr txBox="1"/>
          <p:nvPr/>
        </p:nvSpPr>
        <p:spPr>
          <a:xfrm>
            <a:off x="1919671" y="107612"/>
            <a:ext cx="5304657" cy="369332"/>
          </a:xfrm>
          <a:prstGeom prst="rect">
            <a:avLst/>
          </a:prstGeom>
          <a:solidFill>
            <a:srgbClr val="FFFF00"/>
          </a:solidFill>
          <a:ln w="12700">
            <a:solidFill>
              <a:schemeClr val="tx1"/>
            </a:solidFill>
          </a:ln>
        </p:spPr>
        <p:txBody>
          <a:bodyPr wrap="none" rtlCol="1">
            <a:spAutoFit/>
          </a:bodyPr>
          <a:lstStyle/>
          <a:p>
            <a:pPr algn="r" rtl="1"/>
            <a:r>
              <a:rPr lang="he-IL" sz="1800" b="1" kern="1200" dirty="0">
                <a:solidFill>
                  <a:schemeClr val="tx1"/>
                </a:solidFill>
                <a:latin typeface="Calibri" panose="020F0502020204030204"/>
                <a:ea typeface="+mn-ea"/>
              </a:rPr>
              <a:t>הקונגרס הציוני הראשון בבאזל, </a:t>
            </a:r>
            <a:r>
              <a:rPr lang="he-IL" sz="1800" b="1" kern="1200" dirty="0">
                <a:solidFill>
                  <a:srgbClr val="FF0000"/>
                </a:solidFill>
                <a:latin typeface="Calibri" panose="020F0502020204030204"/>
                <a:ea typeface="+mn-ea"/>
              </a:rPr>
              <a:t>א' באלול תרנ"ז (1897)</a:t>
            </a:r>
          </a:p>
        </p:txBody>
      </p:sp>
      <p:sp>
        <p:nvSpPr>
          <p:cNvPr id="6" name="TextBox 5"/>
          <p:cNvSpPr txBox="1"/>
          <p:nvPr/>
        </p:nvSpPr>
        <p:spPr>
          <a:xfrm>
            <a:off x="24842" y="6521934"/>
            <a:ext cx="2162772"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הרצל בירושלים, </a:t>
            </a:r>
            <a:r>
              <a:rPr lang="he-IL" sz="1600" b="1" kern="1200" dirty="0">
                <a:solidFill>
                  <a:srgbClr val="FF0000"/>
                </a:solidFill>
                <a:latin typeface="Calibri" panose="020F0502020204030204"/>
                <a:ea typeface="+mn-ea"/>
              </a:rPr>
              <a:t>(1898)</a:t>
            </a:r>
            <a:endParaRPr lang="he-IL" sz="1600" b="1" kern="1200" dirty="0">
              <a:solidFill>
                <a:prstClr val="black"/>
              </a:solidFill>
              <a:latin typeface="Calibri" panose="020F0502020204030204"/>
              <a:ea typeface="+mn-ea"/>
            </a:endParaRPr>
          </a:p>
        </p:txBody>
      </p:sp>
      <p:sp>
        <p:nvSpPr>
          <p:cNvPr id="11" name="TextBox 10"/>
          <p:cNvSpPr txBox="1"/>
          <p:nvPr/>
        </p:nvSpPr>
        <p:spPr>
          <a:xfrm>
            <a:off x="6787647" y="4884540"/>
            <a:ext cx="1936749"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ד"ר בנימין זאב הרצל</a:t>
            </a:r>
          </a:p>
        </p:txBody>
      </p:sp>
    </p:spTree>
    <p:extLst>
      <p:ext uri="{BB962C8B-B14F-4D97-AF65-F5344CB8AC3E}">
        <p14:creationId xmlns:p14="http://schemas.microsoft.com/office/powerpoint/2010/main" val="4206801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2250" fill="hold"/>
                                        <p:tgtEl>
                                          <p:spTgt spid="10"/>
                                        </p:tgtEl>
                                        <p:attrNameLst>
                                          <p:attrName>ppt_w</p:attrName>
                                        </p:attrNameLst>
                                      </p:cBhvr>
                                      <p:tavLst>
                                        <p:tav tm="0">
                                          <p:val>
                                            <p:fltVal val="0"/>
                                          </p:val>
                                        </p:tav>
                                        <p:tav tm="100000">
                                          <p:val>
                                            <p:strVal val="#ppt_w"/>
                                          </p:val>
                                        </p:tav>
                                      </p:tavLst>
                                    </p:anim>
                                    <p:anim calcmode="lin" valueType="num">
                                      <p:cBhvr>
                                        <p:cTn id="8" dur="2250" fill="hold"/>
                                        <p:tgtEl>
                                          <p:spTgt spid="10"/>
                                        </p:tgtEl>
                                        <p:attrNameLst>
                                          <p:attrName>ppt_h</p:attrName>
                                        </p:attrNameLst>
                                      </p:cBhvr>
                                      <p:tavLst>
                                        <p:tav tm="0">
                                          <p:val>
                                            <p:fltVal val="0"/>
                                          </p:val>
                                        </p:tav>
                                        <p:tav tm="100000">
                                          <p:val>
                                            <p:strVal val="#ppt_h"/>
                                          </p:val>
                                        </p:tav>
                                      </p:tavLst>
                                    </p:anim>
                                    <p:animEffect transition="in" filter="fade">
                                      <p:cBhvr>
                                        <p:cTn id="9" dur="225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2250"/>
                                        <p:tgtEl>
                                          <p:spTgt spid="13"/>
                                        </p:tgtEl>
                                      </p:cBhvr>
                                    </p:animEffect>
                                    <p:anim calcmode="lin" valueType="num">
                                      <p:cBhvr>
                                        <p:cTn id="15" dur="2250" fill="hold"/>
                                        <p:tgtEl>
                                          <p:spTgt spid="13"/>
                                        </p:tgtEl>
                                        <p:attrNameLst>
                                          <p:attrName>ppt_x</p:attrName>
                                        </p:attrNameLst>
                                      </p:cBhvr>
                                      <p:tavLst>
                                        <p:tav tm="0">
                                          <p:val>
                                            <p:strVal val="#ppt_x"/>
                                          </p:val>
                                        </p:tav>
                                        <p:tav tm="100000">
                                          <p:val>
                                            <p:strVal val="#ppt_x"/>
                                          </p:val>
                                        </p:tav>
                                      </p:tavLst>
                                    </p:anim>
                                    <p:anim calcmode="lin" valueType="num">
                                      <p:cBhvr>
                                        <p:cTn id="16" dur="22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3968" y="523952"/>
            <a:ext cx="3350597" cy="615553"/>
          </a:xfrm>
          <a:prstGeom prst="rect">
            <a:avLst/>
          </a:prstGeom>
          <a:solidFill>
            <a:srgbClr val="FFFF00"/>
          </a:solidFill>
          <a:ln w="12700">
            <a:solidFill>
              <a:schemeClr val="tx1"/>
            </a:solidFill>
          </a:ln>
        </p:spPr>
        <p:txBody>
          <a:bodyPr wrap="none" rtlCol="1">
            <a:spAutoFit/>
          </a:bodyPr>
          <a:lstStyle/>
          <a:p>
            <a:pPr algn="ctr" rtl="1"/>
            <a:r>
              <a:rPr lang="he-IL" sz="1800" b="1" kern="1200" dirty="0">
                <a:solidFill>
                  <a:srgbClr val="0000FF"/>
                </a:solidFill>
                <a:latin typeface="Calibri" panose="020F0502020204030204"/>
                <a:ea typeface="+mn-ea"/>
              </a:rPr>
              <a:t>קרן קימת לישראל, </a:t>
            </a:r>
            <a:r>
              <a:rPr lang="he-IL" sz="1800" b="1" kern="1200" dirty="0">
                <a:solidFill>
                  <a:srgbClr val="FF0000"/>
                </a:solidFill>
                <a:latin typeface="Calibri" panose="020F0502020204030204"/>
                <a:ea typeface="+mn-ea"/>
              </a:rPr>
              <a:t>תרס"ב (1901)</a:t>
            </a:r>
            <a:endParaRPr lang="he-IL" sz="1800" b="1" kern="1200" dirty="0">
              <a:solidFill>
                <a:srgbClr val="0000FF"/>
              </a:solidFill>
              <a:latin typeface="Calibri" panose="020F0502020204030204"/>
              <a:ea typeface="+mn-ea"/>
            </a:endParaRPr>
          </a:p>
          <a:p>
            <a:pPr algn="ctr" rtl="1"/>
            <a:r>
              <a:rPr lang="he-IL" sz="1600" b="1" kern="1200" dirty="0">
                <a:solidFill>
                  <a:prstClr val="black"/>
                </a:solidFill>
                <a:latin typeface="Calibri" panose="020F0502020204030204"/>
                <a:ea typeface="+mn-ea"/>
              </a:rPr>
              <a:t>הוקמה בקונגרס הציוני החמישי</a:t>
            </a:r>
            <a:r>
              <a:rPr lang="he-IL" sz="1600" b="1" kern="1200" dirty="0">
                <a:solidFill>
                  <a:srgbClr val="FF0000"/>
                </a:solidFill>
                <a:latin typeface="Calibri" panose="020F0502020204030204"/>
                <a:ea typeface="+mn-ea"/>
              </a:rPr>
              <a:t> </a:t>
            </a:r>
          </a:p>
        </p:txBody>
      </p:sp>
      <p:sp>
        <p:nvSpPr>
          <p:cNvPr id="4" name="TextBox 3"/>
          <p:cNvSpPr txBox="1"/>
          <p:nvPr/>
        </p:nvSpPr>
        <p:spPr>
          <a:xfrm>
            <a:off x="164374" y="557363"/>
            <a:ext cx="3648756" cy="369332"/>
          </a:xfrm>
          <a:prstGeom prst="rect">
            <a:avLst/>
          </a:prstGeom>
          <a:solidFill>
            <a:srgbClr val="FFFF00"/>
          </a:solidFill>
          <a:ln w="12700">
            <a:solidFill>
              <a:schemeClr val="tx1"/>
            </a:solidFill>
          </a:ln>
        </p:spPr>
        <p:txBody>
          <a:bodyPr wrap="none" rtlCol="1">
            <a:spAutoFit/>
          </a:bodyPr>
          <a:lstStyle/>
          <a:p>
            <a:pPr algn="r" rtl="1"/>
            <a:r>
              <a:rPr lang="he-IL" sz="1800" b="1" kern="1200" dirty="0">
                <a:solidFill>
                  <a:prstClr val="black"/>
                </a:solidFill>
                <a:latin typeface="Calibri" panose="020F0502020204030204"/>
                <a:ea typeface="+mn-ea"/>
              </a:rPr>
              <a:t>המשרד הארצישראלי, </a:t>
            </a:r>
            <a:r>
              <a:rPr lang="he-IL" sz="1800" b="1" kern="1200" dirty="0">
                <a:solidFill>
                  <a:srgbClr val="FF0000"/>
                </a:solidFill>
                <a:latin typeface="Calibri" panose="020F0502020204030204"/>
                <a:ea typeface="+mn-ea"/>
              </a:rPr>
              <a:t>תרס"ח (1908)</a:t>
            </a:r>
          </a:p>
        </p:txBody>
      </p:sp>
      <p:sp>
        <p:nvSpPr>
          <p:cNvPr id="5" name="TextBox 4"/>
          <p:cNvSpPr txBox="1"/>
          <p:nvPr/>
        </p:nvSpPr>
        <p:spPr>
          <a:xfrm>
            <a:off x="186033" y="1331728"/>
            <a:ext cx="3954929" cy="584775"/>
          </a:xfrm>
          <a:prstGeom prst="rect">
            <a:avLst/>
          </a:prstGeom>
          <a:solidFill>
            <a:srgbClr val="00FFFF"/>
          </a:solidFill>
          <a:ln>
            <a:solidFill>
              <a:schemeClr val="tx1"/>
            </a:solidFill>
          </a:ln>
        </p:spPr>
        <p:txBody>
          <a:bodyPr wrap="none" rtlCol="1">
            <a:spAutoFit/>
          </a:bodyPr>
          <a:lstStyle/>
          <a:p>
            <a:pPr algn="r" rtl="1"/>
            <a:r>
              <a:rPr lang="he-IL" sz="1600" b="1" kern="1200" dirty="0">
                <a:solidFill>
                  <a:srgbClr val="FF0000"/>
                </a:solidFill>
                <a:latin typeface="Calibri" panose="020F0502020204030204"/>
                <a:ea typeface="+mn-ea"/>
              </a:rPr>
              <a:t>הקמת חוות חקלאיות </a:t>
            </a:r>
            <a:r>
              <a:rPr lang="he-IL" sz="1600" b="1" kern="1200" dirty="0">
                <a:solidFill>
                  <a:prstClr val="black"/>
                </a:solidFill>
                <a:latin typeface="Calibri" panose="020F0502020204030204"/>
                <a:ea typeface="+mn-ea"/>
              </a:rPr>
              <a:t>– כינרת, דגניה, מרחביה</a:t>
            </a:r>
          </a:p>
          <a:p>
            <a:pPr algn="r" rtl="1"/>
            <a:r>
              <a:rPr lang="he-IL" sz="1600" b="1" kern="1200" dirty="0">
                <a:solidFill>
                  <a:prstClr val="black"/>
                </a:solidFill>
                <a:latin typeface="Calibri" panose="020F0502020204030204"/>
                <a:ea typeface="+mn-ea"/>
              </a:rPr>
              <a:t>אחוזות במימון פרטי – מגדל, </a:t>
            </a:r>
            <a:r>
              <a:rPr lang="he-IL" sz="1600" b="1" kern="1200" dirty="0" err="1">
                <a:solidFill>
                  <a:prstClr val="black"/>
                </a:solidFill>
                <a:latin typeface="Calibri" panose="020F0502020204030204"/>
                <a:ea typeface="+mn-ea"/>
              </a:rPr>
              <a:t>פוריה</a:t>
            </a:r>
            <a:endParaRPr lang="he-IL" sz="1600" b="1" kern="1200" dirty="0">
              <a:solidFill>
                <a:prstClr val="black"/>
              </a:solidFill>
              <a:latin typeface="Calibri" panose="020F0502020204030204"/>
              <a:ea typeface="+mn-ea"/>
            </a:endParaRPr>
          </a:p>
        </p:txBody>
      </p:sp>
      <p:pic>
        <p:nvPicPr>
          <p:cNvPr id="6" name="Picture 6" descr="http://upload.wikimedia.org/wikipedia/commons/thumb/f/f2/Arthur_Ruppin_%26_Jacob_Thon%2C_Palestine_Office_in_Jaffa%2C_1908.jpg/250px-Arthur_Ruppin_%26_Jacob_Thon%2C_Palestine_Office_in_Jaffa%2C_1908.jpg"/>
          <p:cNvPicPr>
            <a:picLocks noChangeAspect="1" noChangeArrowheads="1"/>
          </p:cNvPicPr>
          <p:nvPr/>
        </p:nvPicPr>
        <p:blipFill>
          <a:blip r:embed="rId2"/>
          <a:srcRect/>
          <a:stretch>
            <a:fillRect/>
          </a:stretch>
        </p:blipFill>
        <p:spPr bwMode="auto">
          <a:xfrm>
            <a:off x="2432406" y="2535143"/>
            <a:ext cx="1708556" cy="2185081"/>
          </a:xfrm>
          <a:prstGeom prst="rect">
            <a:avLst/>
          </a:prstGeom>
          <a:noFill/>
          <a:ln w="38100">
            <a:solidFill>
              <a:srgbClr val="0000FF"/>
            </a:solidFill>
          </a:ln>
        </p:spPr>
      </p:pic>
      <p:sp>
        <p:nvSpPr>
          <p:cNvPr id="7" name="TextBox 6"/>
          <p:cNvSpPr txBox="1"/>
          <p:nvPr/>
        </p:nvSpPr>
        <p:spPr>
          <a:xfrm>
            <a:off x="2260302" y="4738036"/>
            <a:ext cx="2109872"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ארתור רופין ויעקב </a:t>
            </a:r>
            <a:r>
              <a:rPr lang="he-IL" sz="1600" b="1" kern="1200" dirty="0" err="1">
                <a:solidFill>
                  <a:prstClr val="black"/>
                </a:solidFill>
                <a:latin typeface="Calibri" panose="020F0502020204030204"/>
                <a:ea typeface="+mn-ea"/>
              </a:rPr>
              <a:t>טהון</a:t>
            </a:r>
            <a:endParaRPr lang="he-IL" sz="1600" b="1" kern="1200" dirty="0">
              <a:solidFill>
                <a:prstClr val="black"/>
              </a:solidFill>
              <a:latin typeface="Calibri" panose="020F0502020204030204"/>
              <a:ea typeface="+mn-ea"/>
            </a:endParaRPr>
          </a:p>
        </p:txBody>
      </p:sp>
      <p:pic>
        <p:nvPicPr>
          <p:cNvPr id="8" name="Picture 4" descr="http://upload.wikimedia.org/wikipedia/commons/thumb/b/b8/Raziel_106.jpg/250px-Raziel_106.jpg"/>
          <p:cNvPicPr>
            <a:picLocks noChangeAspect="1" noChangeArrowheads="1"/>
          </p:cNvPicPr>
          <p:nvPr/>
        </p:nvPicPr>
        <p:blipFill>
          <a:blip r:embed="rId3"/>
          <a:srcRect/>
          <a:stretch>
            <a:fillRect/>
          </a:stretch>
        </p:blipFill>
        <p:spPr bwMode="auto">
          <a:xfrm>
            <a:off x="164374" y="2569779"/>
            <a:ext cx="1977943" cy="3062888"/>
          </a:xfrm>
          <a:prstGeom prst="rect">
            <a:avLst/>
          </a:prstGeom>
          <a:noFill/>
          <a:ln w="38100">
            <a:solidFill>
              <a:srgbClr val="FF0000"/>
            </a:solidFill>
          </a:ln>
        </p:spPr>
      </p:pic>
      <p:pic>
        <p:nvPicPr>
          <p:cNvPr id="3074" name="Picture 2" descr="Zvi Hermann Schapira.JPG"/>
          <p:cNvPicPr>
            <a:picLocks noChangeAspect="1" noChangeArrowheads="1"/>
          </p:cNvPicPr>
          <p:nvPr/>
        </p:nvPicPr>
        <p:blipFill rotWithShape="1">
          <a:blip r:embed="rId4">
            <a:extLst>
              <a:ext uri="{28A0092B-C50C-407E-A947-70E740481C1C}">
                <a14:useLocalDpi xmlns:a14="http://schemas.microsoft.com/office/drawing/2010/main" val="0"/>
              </a:ext>
            </a:extLst>
          </a:blip>
          <a:srcRect l="24187" r="22458" b="49582"/>
          <a:stretch/>
        </p:blipFill>
        <p:spPr bwMode="auto">
          <a:xfrm>
            <a:off x="7821074" y="608317"/>
            <a:ext cx="872513" cy="1087655"/>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479098" y="1711227"/>
            <a:ext cx="1552028" cy="584775"/>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צבי הרמן שפירא</a:t>
            </a:r>
          </a:p>
          <a:p>
            <a:pPr algn="ctr" rtl="1"/>
            <a:r>
              <a:rPr lang="he-IL" sz="1600" b="1" kern="1200" dirty="0">
                <a:solidFill>
                  <a:prstClr val="black"/>
                </a:solidFill>
                <a:latin typeface="Calibri" panose="020F0502020204030204"/>
                <a:ea typeface="+mn-ea"/>
              </a:rPr>
              <a:t>ההוגה</a:t>
            </a:r>
          </a:p>
        </p:txBody>
      </p:sp>
      <p:pic>
        <p:nvPicPr>
          <p:cNvPr id="1028" name="Picture 4" descr="צילום: קק''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3390" y="3966933"/>
            <a:ext cx="2554408" cy="221931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4100" name="Picture 4" descr="https://upload.wikimedia.org/wikipedia/commons/thumb/0/06/Kabara_Buffalo.jpg/220px-Kabara_Buffalo.jpg"/>
          <p:cNvPicPr>
            <a:picLocks noChangeAspect="1" noChangeArrowheads="1"/>
          </p:cNvPicPr>
          <p:nvPr/>
        </p:nvPicPr>
        <p:blipFill rotWithShape="1">
          <a:blip r:embed="rId6">
            <a:extLst>
              <a:ext uri="{28A0092B-C50C-407E-A947-70E740481C1C}">
                <a14:useLocalDpi xmlns:a14="http://schemas.microsoft.com/office/drawing/2010/main" val="0"/>
              </a:ext>
            </a:extLst>
          </a:blip>
          <a:srcRect t="23374"/>
          <a:stretch/>
        </p:blipFill>
        <p:spPr bwMode="auto">
          <a:xfrm>
            <a:off x="4783641" y="1907871"/>
            <a:ext cx="2431772" cy="1501991"/>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5388147" y="3409862"/>
            <a:ext cx="1222759" cy="338554"/>
          </a:xfrm>
          <a:prstGeom prst="rect">
            <a:avLst/>
          </a:prstGeom>
          <a:noFill/>
        </p:spPr>
        <p:txBody>
          <a:bodyPr wrap="square" rtlCol="1">
            <a:spAutoFit/>
          </a:bodyPr>
          <a:lstStyle/>
          <a:p>
            <a:pPr algn="r" rtl="1"/>
            <a:r>
              <a:rPr lang="he-IL" sz="1600" b="1" kern="1200" dirty="0">
                <a:solidFill>
                  <a:prstClr val="black"/>
                </a:solidFill>
                <a:latin typeface="Calibri" panose="020F0502020204030204"/>
                <a:ea typeface="+mn-ea"/>
              </a:rPr>
              <a:t>ייבוש ביצות</a:t>
            </a:r>
          </a:p>
        </p:txBody>
      </p:sp>
      <p:sp>
        <p:nvSpPr>
          <p:cNvPr id="11" name="TextBox 10"/>
          <p:cNvSpPr txBox="1"/>
          <p:nvPr/>
        </p:nvSpPr>
        <p:spPr>
          <a:xfrm>
            <a:off x="7510005" y="4222585"/>
            <a:ext cx="1555233" cy="338554"/>
          </a:xfrm>
          <a:prstGeom prst="rect">
            <a:avLst/>
          </a:prstGeom>
          <a:noFill/>
        </p:spPr>
        <p:txBody>
          <a:bodyPr wrap="none" rtlCol="1">
            <a:spAutoFit/>
          </a:bodyPr>
          <a:lstStyle/>
          <a:p>
            <a:pPr algn="r" rtl="1"/>
            <a:r>
              <a:rPr lang="he-IL" sz="1600" b="1" kern="1200" dirty="0">
                <a:solidFill>
                  <a:prstClr val="black"/>
                </a:solidFill>
                <a:latin typeface="Calibri" panose="020F0502020204030204"/>
                <a:ea typeface="+mn-ea"/>
              </a:rPr>
              <a:t>הקופסה הכחולה</a:t>
            </a:r>
          </a:p>
        </p:txBody>
      </p:sp>
      <p:sp>
        <p:nvSpPr>
          <p:cNvPr id="12" name="TextBox 11"/>
          <p:cNvSpPr txBox="1"/>
          <p:nvPr/>
        </p:nvSpPr>
        <p:spPr>
          <a:xfrm>
            <a:off x="4283968" y="6186247"/>
            <a:ext cx="3023846" cy="646331"/>
          </a:xfrm>
          <a:prstGeom prst="rect">
            <a:avLst/>
          </a:prstGeom>
          <a:noFill/>
        </p:spPr>
        <p:txBody>
          <a:bodyPr wrap="square" rtlCol="1">
            <a:spAutoFit/>
          </a:bodyPr>
          <a:lstStyle/>
          <a:p>
            <a:pPr algn="r" rtl="1"/>
            <a:r>
              <a:rPr lang="he-IL" sz="1800" b="1" kern="1200" dirty="0">
                <a:solidFill>
                  <a:prstClr val="black"/>
                </a:solidFill>
                <a:latin typeface="Calibri" panose="020F0502020204030204"/>
                <a:ea typeface="+mn-ea"/>
              </a:rPr>
              <a:t>ייעור הארץ והכשרת קרקע להתיישבות</a:t>
            </a:r>
          </a:p>
        </p:txBody>
      </p:sp>
      <p:sp>
        <p:nvSpPr>
          <p:cNvPr id="13" name="TextBox 12"/>
          <p:cNvSpPr txBox="1"/>
          <p:nvPr/>
        </p:nvSpPr>
        <p:spPr>
          <a:xfrm>
            <a:off x="395536" y="5632667"/>
            <a:ext cx="1260304" cy="338554"/>
          </a:xfrm>
          <a:prstGeom prst="rect">
            <a:avLst/>
          </a:prstGeom>
          <a:noFill/>
        </p:spPr>
        <p:txBody>
          <a:bodyPr wrap="square" rtlCol="1">
            <a:spAutoFit/>
          </a:bodyPr>
          <a:lstStyle/>
          <a:p>
            <a:pPr algn="r" rtl="1"/>
            <a:r>
              <a:rPr lang="he-IL" sz="1600" b="1" kern="1200" dirty="0">
                <a:solidFill>
                  <a:prstClr val="black"/>
                </a:solidFill>
                <a:latin typeface="Calibri" panose="020F0502020204030204"/>
                <a:ea typeface="+mn-ea"/>
              </a:rPr>
              <a:t>המשרד ביפו</a:t>
            </a:r>
          </a:p>
        </p:txBody>
      </p:sp>
      <p:pic>
        <p:nvPicPr>
          <p:cNvPr id="17" name="Picture 2" descr="קופסאות כחולות של הקרן הקיימת לישראל (קק&quot;ל)"/>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41802" y="3005148"/>
            <a:ext cx="1485225" cy="118166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743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076492" y="269783"/>
            <a:ext cx="6991016" cy="369332"/>
          </a:xfrm>
          <a:prstGeom prst="rect">
            <a:avLst/>
          </a:prstGeom>
          <a:solidFill>
            <a:srgbClr val="0000FF"/>
          </a:solidFill>
          <a:ln w="38100">
            <a:solidFill>
              <a:srgbClr val="FF0000"/>
            </a:solidFill>
          </a:ln>
        </p:spPr>
        <p:txBody>
          <a:bodyPr wrap="none" rtlCol="1">
            <a:spAutoFit/>
          </a:bodyPr>
          <a:lstStyle/>
          <a:p>
            <a:r>
              <a:rPr lang="he-IL" sz="1800" b="1" dirty="0">
                <a:solidFill>
                  <a:srgbClr val="FFFF00"/>
                </a:solidFill>
              </a:rPr>
              <a:t>כיבוש הארץ ע"י הבריטים – המנדט הבריטי, תקווה חדשה, תרע"ח (1917)</a:t>
            </a:r>
          </a:p>
        </p:txBody>
      </p:sp>
      <p:pic>
        <p:nvPicPr>
          <p:cNvPr id="5" name="תמונה 4"/>
          <p:cNvPicPr>
            <a:picLocks noChangeAspect="1"/>
          </p:cNvPicPr>
          <p:nvPr/>
        </p:nvPicPr>
        <p:blipFill>
          <a:blip r:embed="rId2"/>
          <a:stretch>
            <a:fillRect/>
          </a:stretch>
        </p:blipFill>
        <p:spPr>
          <a:xfrm>
            <a:off x="899592" y="907501"/>
            <a:ext cx="3094851" cy="2072444"/>
          </a:xfrm>
          <a:prstGeom prst="rect">
            <a:avLst/>
          </a:prstGeom>
          <a:ln w="38100">
            <a:solidFill>
              <a:srgbClr val="FF0000"/>
            </a:solidFill>
          </a:ln>
        </p:spPr>
      </p:pic>
      <p:sp>
        <p:nvSpPr>
          <p:cNvPr id="14" name="TextBox 13"/>
          <p:cNvSpPr txBox="1"/>
          <p:nvPr/>
        </p:nvSpPr>
        <p:spPr>
          <a:xfrm>
            <a:off x="4222608" y="4379465"/>
            <a:ext cx="184731" cy="253916"/>
          </a:xfrm>
          <a:prstGeom prst="rect">
            <a:avLst/>
          </a:prstGeom>
          <a:noFill/>
        </p:spPr>
        <p:txBody>
          <a:bodyPr wrap="none" rtlCol="1">
            <a:spAutoFit/>
          </a:bodyPr>
          <a:lstStyle/>
          <a:p>
            <a:endParaRPr lang="he-IL" sz="1050" b="1" dirty="0"/>
          </a:p>
        </p:txBody>
      </p:sp>
      <p:sp>
        <p:nvSpPr>
          <p:cNvPr id="15" name="TextBox 14"/>
          <p:cNvSpPr txBox="1"/>
          <p:nvPr/>
        </p:nvSpPr>
        <p:spPr>
          <a:xfrm>
            <a:off x="193081" y="3091432"/>
            <a:ext cx="5086649" cy="307777"/>
          </a:xfrm>
          <a:prstGeom prst="rect">
            <a:avLst/>
          </a:prstGeom>
          <a:noFill/>
        </p:spPr>
        <p:txBody>
          <a:bodyPr wrap="none" rtlCol="1">
            <a:spAutoFit/>
          </a:bodyPr>
          <a:lstStyle/>
          <a:p>
            <a:r>
              <a:rPr lang="he-IL" b="1" dirty="0"/>
              <a:t>הגנרל א' אלנבי נכנס רגלי בשער יפו, </a:t>
            </a:r>
            <a:r>
              <a:rPr lang="he-IL" b="1" dirty="0">
                <a:solidFill>
                  <a:srgbClr val="FF0000"/>
                </a:solidFill>
              </a:rPr>
              <a:t>כ"ו כסלו תרע"ח (11.12.1917)</a:t>
            </a:r>
          </a:p>
        </p:txBody>
      </p:sp>
      <p:pic>
        <p:nvPicPr>
          <p:cNvPr id="13" name="תמונה 12"/>
          <p:cNvPicPr>
            <a:picLocks noChangeAspect="1"/>
          </p:cNvPicPr>
          <p:nvPr/>
        </p:nvPicPr>
        <p:blipFill>
          <a:blip r:embed="rId3"/>
          <a:stretch>
            <a:fillRect/>
          </a:stretch>
        </p:blipFill>
        <p:spPr>
          <a:xfrm>
            <a:off x="5356624" y="849554"/>
            <a:ext cx="3568177" cy="2188338"/>
          </a:xfrm>
          <a:prstGeom prst="rect">
            <a:avLst/>
          </a:prstGeom>
          <a:ln w="28575">
            <a:solidFill>
              <a:srgbClr val="FF0000"/>
            </a:solidFill>
          </a:ln>
        </p:spPr>
      </p:pic>
      <p:sp>
        <p:nvSpPr>
          <p:cNvPr id="10" name="TextBox 9"/>
          <p:cNvSpPr txBox="1"/>
          <p:nvPr/>
        </p:nvSpPr>
        <p:spPr>
          <a:xfrm>
            <a:off x="6516216" y="3042144"/>
            <a:ext cx="1410964" cy="338554"/>
          </a:xfrm>
          <a:prstGeom prst="rect">
            <a:avLst/>
          </a:prstGeom>
          <a:noFill/>
        </p:spPr>
        <p:txBody>
          <a:bodyPr wrap="none" rtlCol="1">
            <a:spAutoFit/>
          </a:bodyPr>
          <a:lstStyle/>
          <a:p>
            <a:r>
              <a:rPr lang="he-IL" sz="1600" b="1" dirty="0"/>
              <a:t>המנדט הבריטי</a:t>
            </a:r>
          </a:p>
        </p:txBody>
      </p:sp>
      <p:pic>
        <p:nvPicPr>
          <p:cNvPr id="11" name="Picture 2" descr="Gws samuel 0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8270" y="4248714"/>
            <a:ext cx="881036" cy="1269493"/>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7002462" y="5610198"/>
            <a:ext cx="2106667" cy="830997"/>
          </a:xfrm>
          <a:prstGeom prst="rect">
            <a:avLst/>
          </a:prstGeom>
          <a:noFill/>
        </p:spPr>
        <p:txBody>
          <a:bodyPr wrap="none" rtlCol="1">
            <a:spAutoFit/>
          </a:bodyPr>
          <a:lstStyle/>
          <a:p>
            <a:pPr algn="ctr"/>
            <a:r>
              <a:rPr lang="he-IL" sz="1600" b="1" dirty="0"/>
              <a:t>הרברט סמואל</a:t>
            </a:r>
          </a:p>
          <a:p>
            <a:r>
              <a:rPr lang="he-IL" sz="1600" b="1" dirty="0"/>
              <a:t>הנציב העליון הראשון, </a:t>
            </a:r>
          </a:p>
          <a:p>
            <a:r>
              <a:rPr lang="he-IL" sz="1600" b="1" dirty="0">
                <a:solidFill>
                  <a:srgbClr val="FF0000"/>
                </a:solidFill>
              </a:rPr>
              <a:t>ט"ו תמוז </a:t>
            </a:r>
            <a:r>
              <a:rPr lang="he-IL" sz="1600" b="1" dirty="0" err="1">
                <a:solidFill>
                  <a:srgbClr val="FF0000"/>
                </a:solidFill>
              </a:rPr>
              <a:t>תר"ף</a:t>
            </a:r>
            <a:r>
              <a:rPr lang="he-IL" sz="1600" b="1" dirty="0">
                <a:solidFill>
                  <a:srgbClr val="FF0000"/>
                </a:solidFill>
              </a:rPr>
              <a:t> (1920)</a:t>
            </a:r>
          </a:p>
        </p:txBody>
      </p:sp>
      <p:pic>
        <p:nvPicPr>
          <p:cNvPr id="1026" name="Picture 2" descr="https://upload.wikimedia.org/wikipedia/commons/thumb/a/ac/Entry_of_Edmund_Allenby_into_Jerusalem_%28December_11%2C_1917%29.jpg/800px-Entry_of_Edmund_Allenby_into_Jerusalem_%28December_11%2C_1917%2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682" y="-102394"/>
            <a:ext cx="7144" cy="7144"/>
          </a:xfrm>
          <a:prstGeom prst="rect">
            <a:avLst/>
          </a:prstGeom>
          <a:noFill/>
          <a:extLst>
            <a:ext uri="{909E8E84-426E-40DD-AFC4-6F175D3DCCD1}">
              <a14:hiddenFill xmlns:a14="http://schemas.microsoft.com/office/drawing/2010/main">
                <a:solidFill>
                  <a:srgbClr val="FFFFFF"/>
                </a:solidFill>
              </a14:hiddenFill>
            </a:ext>
          </a:extLst>
        </p:spPr>
      </p:pic>
      <p:pic>
        <p:nvPicPr>
          <p:cNvPr id="2" name="תמונה 1"/>
          <p:cNvPicPr>
            <a:picLocks noChangeAspect="1"/>
          </p:cNvPicPr>
          <p:nvPr/>
        </p:nvPicPr>
        <p:blipFill>
          <a:blip r:embed="rId6"/>
          <a:stretch>
            <a:fillRect/>
          </a:stretch>
        </p:blipFill>
        <p:spPr>
          <a:xfrm>
            <a:off x="1076492" y="4090637"/>
            <a:ext cx="1608333" cy="2271771"/>
          </a:xfrm>
          <a:prstGeom prst="rect">
            <a:avLst/>
          </a:prstGeom>
          <a:ln w="38100">
            <a:solidFill>
              <a:srgbClr val="FF0000"/>
            </a:solidFill>
          </a:ln>
        </p:spPr>
      </p:pic>
      <p:sp>
        <p:nvSpPr>
          <p:cNvPr id="3" name="TextBox 2"/>
          <p:cNvSpPr txBox="1"/>
          <p:nvPr/>
        </p:nvSpPr>
        <p:spPr>
          <a:xfrm>
            <a:off x="637369" y="6405878"/>
            <a:ext cx="2486578" cy="338554"/>
          </a:xfrm>
          <a:prstGeom prst="rect">
            <a:avLst/>
          </a:prstGeom>
          <a:noFill/>
        </p:spPr>
        <p:txBody>
          <a:bodyPr wrap="none" rtlCol="1">
            <a:spAutoFit/>
          </a:bodyPr>
          <a:lstStyle/>
          <a:p>
            <a:r>
              <a:rPr lang="he-IL" sz="1600" b="1" dirty="0"/>
              <a:t>מסדר הניצחון ליד מגדל דוד</a:t>
            </a:r>
          </a:p>
        </p:txBody>
      </p:sp>
      <p:pic>
        <p:nvPicPr>
          <p:cNvPr id="4" name="תמונה 3"/>
          <p:cNvPicPr>
            <a:picLocks noChangeAspect="1"/>
          </p:cNvPicPr>
          <p:nvPr/>
        </p:nvPicPr>
        <p:blipFill rotWithShape="1">
          <a:blip r:embed="rId7" cstate="print">
            <a:extLst>
              <a:ext uri="{28A0092B-C50C-407E-A947-70E740481C1C}">
                <a14:useLocalDpi xmlns:a14="http://schemas.microsoft.com/office/drawing/2010/main" val="0"/>
              </a:ext>
            </a:extLst>
          </a:blip>
          <a:srcRect l="25541" t="37929" r="20296" b="45890"/>
          <a:stretch/>
        </p:blipFill>
        <p:spPr>
          <a:xfrm>
            <a:off x="3603885" y="4156723"/>
            <a:ext cx="3544562" cy="1496860"/>
          </a:xfrm>
          <a:prstGeom prst="rect">
            <a:avLst/>
          </a:prstGeom>
          <a:ln w="28575">
            <a:solidFill>
              <a:srgbClr val="FF0000"/>
            </a:solidFill>
          </a:ln>
        </p:spPr>
      </p:pic>
      <p:sp>
        <p:nvSpPr>
          <p:cNvPr id="6" name="TextBox 5"/>
          <p:cNvSpPr txBox="1"/>
          <p:nvPr/>
        </p:nvSpPr>
        <p:spPr>
          <a:xfrm>
            <a:off x="3525814" y="5717919"/>
            <a:ext cx="2635658" cy="307777"/>
          </a:xfrm>
          <a:prstGeom prst="rect">
            <a:avLst/>
          </a:prstGeom>
          <a:noFill/>
        </p:spPr>
        <p:txBody>
          <a:bodyPr wrap="none" rtlCol="1">
            <a:spAutoFit/>
          </a:bodyPr>
          <a:lstStyle/>
          <a:p>
            <a:r>
              <a:rPr lang="he-IL" b="1" dirty="0"/>
              <a:t>אגרות הראיה, ד, תשע"ח עמ' </a:t>
            </a:r>
            <a:r>
              <a:rPr lang="he-IL" b="1" dirty="0" err="1"/>
              <a:t>קפג</a:t>
            </a:r>
            <a:endParaRPr lang="he-IL" b="1" dirty="0"/>
          </a:p>
        </p:txBody>
      </p:sp>
    </p:spTree>
    <p:extLst>
      <p:ext uri="{BB962C8B-B14F-4D97-AF65-F5344CB8AC3E}">
        <p14:creationId xmlns:p14="http://schemas.microsoft.com/office/powerpoint/2010/main" val="219344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17802" t="13922" r="9626" b="24215"/>
          <a:stretch/>
        </p:blipFill>
        <p:spPr>
          <a:xfrm rot="5400000">
            <a:off x="4476690" y="1006538"/>
            <a:ext cx="4065721" cy="4899047"/>
          </a:xfrm>
          <a:prstGeom prst="rect">
            <a:avLst/>
          </a:prstGeom>
          <a:ln w="38100">
            <a:solidFill>
              <a:srgbClr val="FF0000"/>
            </a:solidFill>
          </a:ln>
        </p:spPr>
      </p:pic>
      <p:sp>
        <p:nvSpPr>
          <p:cNvPr id="3" name="TextBox 2"/>
          <p:cNvSpPr txBox="1"/>
          <p:nvPr/>
        </p:nvSpPr>
        <p:spPr>
          <a:xfrm>
            <a:off x="3980628" y="5553746"/>
            <a:ext cx="3817071" cy="276999"/>
          </a:xfrm>
          <a:prstGeom prst="rect">
            <a:avLst/>
          </a:prstGeom>
          <a:noFill/>
        </p:spPr>
        <p:txBody>
          <a:bodyPr wrap="none" rtlCol="1">
            <a:spAutoFit/>
          </a:bodyPr>
          <a:lstStyle/>
          <a:p>
            <a:r>
              <a:rPr lang="he-IL" sz="1200" b="1" dirty="0"/>
              <a:t>יעקב הדני, הראשון לציון: הרב בן ציון מאיר חי עזיאל, עמ' 8</a:t>
            </a:r>
          </a:p>
        </p:txBody>
      </p:sp>
      <p:sp>
        <p:nvSpPr>
          <p:cNvPr id="6" name="TextBox 5"/>
          <p:cNvSpPr txBox="1"/>
          <p:nvPr/>
        </p:nvSpPr>
        <p:spPr>
          <a:xfrm>
            <a:off x="4924351" y="4078595"/>
            <a:ext cx="1335622" cy="184666"/>
          </a:xfrm>
          <a:prstGeom prst="rect">
            <a:avLst/>
          </a:prstGeom>
          <a:solidFill>
            <a:srgbClr val="FFFF00"/>
          </a:solidFill>
          <a:ln>
            <a:solidFill>
              <a:schemeClr val="tx1"/>
            </a:solidFill>
          </a:ln>
        </p:spPr>
        <p:txBody>
          <a:bodyPr wrap="none" rtlCol="1">
            <a:spAutoFit/>
          </a:bodyPr>
          <a:lstStyle/>
          <a:p>
            <a:r>
              <a:rPr lang="he-IL" sz="600" b="1" dirty="0"/>
              <a:t>'הראשון לציון' הראשון במדינת ישראל</a:t>
            </a:r>
          </a:p>
        </p:txBody>
      </p:sp>
      <p:sp>
        <p:nvSpPr>
          <p:cNvPr id="7" name="TextBox 6"/>
          <p:cNvSpPr txBox="1"/>
          <p:nvPr/>
        </p:nvSpPr>
        <p:spPr>
          <a:xfrm>
            <a:off x="7951107" y="5023836"/>
            <a:ext cx="833883" cy="184666"/>
          </a:xfrm>
          <a:prstGeom prst="rect">
            <a:avLst/>
          </a:prstGeom>
          <a:solidFill>
            <a:srgbClr val="FFFF00"/>
          </a:solidFill>
          <a:ln>
            <a:solidFill>
              <a:schemeClr val="tx1"/>
            </a:solidFill>
          </a:ln>
        </p:spPr>
        <p:txBody>
          <a:bodyPr wrap="none" rtlCol="1">
            <a:spAutoFit/>
          </a:bodyPr>
          <a:lstStyle/>
          <a:p>
            <a:r>
              <a:rPr lang="he-IL" sz="600" b="1" dirty="0"/>
              <a:t>ה'חכם באשי' הראשון</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0149" y="4927577"/>
            <a:ext cx="315038" cy="354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תמונה 1"/>
          <p:cNvPicPr>
            <a:picLocks noChangeAspect="1"/>
          </p:cNvPicPr>
          <p:nvPr/>
        </p:nvPicPr>
        <p:blipFill>
          <a:blip r:embed="rId4" cstate="print">
            <a:extLst>
              <a:ext uri="{28A0092B-C50C-407E-A947-70E740481C1C}">
                <a14:useLocalDpi xmlns:a14="http://schemas.microsoft.com/office/drawing/2010/main" val="0"/>
              </a:ext>
            </a:extLst>
          </a:blip>
          <a:srcRect l="12895" t="20601" r="24770" b="13251"/>
          <a:stretch>
            <a:fillRect/>
          </a:stretch>
        </p:blipFill>
        <p:spPr bwMode="auto">
          <a:xfrm>
            <a:off x="406027" y="1403095"/>
            <a:ext cx="3463978" cy="519454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745298" y="3753450"/>
            <a:ext cx="1710725" cy="184666"/>
          </a:xfrm>
          <a:prstGeom prst="rect">
            <a:avLst/>
          </a:prstGeom>
          <a:solidFill>
            <a:srgbClr val="FFFF00"/>
          </a:solidFill>
          <a:ln>
            <a:solidFill>
              <a:schemeClr val="tx1"/>
            </a:solidFill>
          </a:ln>
        </p:spPr>
        <p:txBody>
          <a:bodyPr wrap="none" rtlCol="1">
            <a:spAutoFit/>
          </a:bodyPr>
          <a:lstStyle/>
          <a:p>
            <a:r>
              <a:rPr lang="he-IL" sz="600" b="1" dirty="0"/>
              <a:t>'הראשון לציון' הראשון עם הקמת הרבנות הראשית</a:t>
            </a:r>
          </a:p>
        </p:txBody>
      </p:sp>
      <p:sp>
        <p:nvSpPr>
          <p:cNvPr id="4" name="TextBox 3"/>
          <p:cNvSpPr txBox="1"/>
          <p:nvPr/>
        </p:nvSpPr>
        <p:spPr>
          <a:xfrm>
            <a:off x="2526559" y="286613"/>
            <a:ext cx="4166525" cy="338554"/>
          </a:xfrm>
          <a:prstGeom prst="rect">
            <a:avLst/>
          </a:prstGeom>
          <a:solidFill>
            <a:srgbClr val="FFFF00"/>
          </a:solidFill>
          <a:ln>
            <a:solidFill>
              <a:schemeClr val="tx1"/>
            </a:solidFill>
          </a:ln>
        </p:spPr>
        <p:txBody>
          <a:bodyPr wrap="none" rtlCol="1">
            <a:spAutoFit/>
          </a:bodyPr>
          <a:lstStyle/>
          <a:p>
            <a:r>
              <a:rPr lang="he-IL" sz="1600" b="1" dirty="0"/>
              <a:t>הראשונים לציון בתקופת השלטון העות'מני בארץ</a:t>
            </a:r>
          </a:p>
        </p:txBody>
      </p:sp>
      <p:pic>
        <p:nvPicPr>
          <p:cNvPr id="12" name="תמונה 11"/>
          <p:cNvPicPr>
            <a:picLocks noChangeAspect="1"/>
          </p:cNvPicPr>
          <p:nvPr/>
        </p:nvPicPr>
        <p:blipFill>
          <a:blip r:embed="rId5"/>
          <a:stretch>
            <a:fillRect/>
          </a:stretch>
        </p:blipFill>
        <p:spPr>
          <a:xfrm>
            <a:off x="4187861" y="3520747"/>
            <a:ext cx="278012" cy="390160"/>
          </a:xfrm>
          <a:prstGeom prst="rect">
            <a:avLst/>
          </a:prstGeom>
        </p:spPr>
      </p:pic>
      <p:pic>
        <p:nvPicPr>
          <p:cNvPr id="13" name="תמונה 12"/>
          <p:cNvPicPr>
            <a:picLocks noChangeAspect="1"/>
          </p:cNvPicPr>
          <p:nvPr/>
        </p:nvPicPr>
        <p:blipFill rotWithShape="1">
          <a:blip r:embed="rId6"/>
          <a:srcRect l="10765" t="3413" r="6720" b="25496"/>
          <a:stretch/>
        </p:blipFill>
        <p:spPr>
          <a:xfrm>
            <a:off x="4474346" y="4127009"/>
            <a:ext cx="270952" cy="336790"/>
          </a:xfrm>
          <a:prstGeom prst="rect">
            <a:avLst/>
          </a:prstGeom>
          <a:ln w="12700">
            <a:solidFill>
              <a:schemeClr val="tx1"/>
            </a:solidFill>
          </a:ln>
        </p:spPr>
      </p:pic>
      <p:sp>
        <p:nvSpPr>
          <p:cNvPr id="5" name="TextBox 18">
            <a:extLst>
              <a:ext uri="{FF2B5EF4-FFF2-40B4-BE49-F238E27FC236}">
                <a16:creationId xmlns:a16="http://schemas.microsoft.com/office/drawing/2014/main" id="{9E005FCA-92AE-446F-1BA3-332A0FF2FB2C}"/>
              </a:ext>
            </a:extLst>
          </p:cNvPr>
          <p:cNvSpPr txBox="1"/>
          <p:nvPr/>
        </p:nvSpPr>
        <p:spPr>
          <a:xfrm>
            <a:off x="3195661" y="820924"/>
            <a:ext cx="2752677" cy="338554"/>
          </a:xfrm>
          <a:prstGeom prst="rect">
            <a:avLst/>
          </a:prstGeom>
          <a:solidFill>
            <a:srgbClr val="FFFF00"/>
          </a:solidFill>
          <a:ln>
            <a:solidFill>
              <a:schemeClr val="tx1"/>
            </a:solidFill>
          </a:ln>
        </p:spPr>
        <p:txBody>
          <a:bodyPr wrap="none" rtlCol="1">
            <a:spAutoFit/>
          </a:bodyPr>
          <a:lstStyle/>
          <a:p>
            <a:r>
              <a:rPr lang="he-IL" sz="1600" b="1" dirty="0"/>
              <a:t>רבני העדה הספרדית בירושלים</a:t>
            </a:r>
          </a:p>
        </p:txBody>
      </p:sp>
    </p:spTree>
    <p:extLst>
      <p:ext uri="{BB962C8B-B14F-4D97-AF65-F5344CB8AC3E}">
        <p14:creationId xmlns:p14="http://schemas.microsoft.com/office/powerpoint/2010/main" val="284764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תמונה קשורה"/>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5905" y="1297612"/>
            <a:ext cx="1125264" cy="1397696"/>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14" name="מלבן 13"/>
          <p:cNvSpPr/>
          <p:nvPr/>
        </p:nvSpPr>
        <p:spPr>
          <a:xfrm>
            <a:off x="6481179" y="2904364"/>
            <a:ext cx="2898550" cy="830997"/>
          </a:xfrm>
          <a:prstGeom prst="rect">
            <a:avLst/>
          </a:prstGeom>
        </p:spPr>
        <p:txBody>
          <a:bodyPr wrap="none">
            <a:spAutoFit/>
          </a:bodyPr>
          <a:lstStyle/>
          <a:p>
            <a:pPr algn="ctr"/>
            <a:r>
              <a:rPr lang="he-IL" sz="1600" b="1" dirty="0">
                <a:latin typeface="Calibri" panose="020F0502020204030204" pitchFamily="34" charset="0"/>
                <a:ea typeface="Calibri" panose="020F0502020204030204" pitchFamily="34" charset="0"/>
              </a:rPr>
              <a:t>הרב שמואל </a:t>
            </a:r>
            <a:r>
              <a:rPr lang="he-IL" sz="1600" b="1" dirty="0" err="1">
                <a:latin typeface="Calibri" panose="020F0502020204030204" pitchFamily="34" charset="0"/>
                <a:ea typeface="Calibri" panose="020F0502020204030204" pitchFamily="34" charset="0"/>
              </a:rPr>
              <a:t>סלנט</a:t>
            </a:r>
            <a:endParaRPr lang="he-IL" sz="1600" b="1" dirty="0">
              <a:latin typeface="Calibri" panose="020F0502020204030204" pitchFamily="34" charset="0"/>
              <a:ea typeface="Calibri" panose="020F0502020204030204" pitchFamily="34" charset="0"/>
            </a:endParaRPr>
          </a:p>
          <a:p>
            <a:pPr algn="ctr"/>
            <a:r>
              <a:rPr lang="he-IL" sz="1600" b="1" dirty="0">
                <a:latin typeface="Calibri" panose="020F0502020204030204" pitchFamily="34" charset="0"/>
              </a:rPr>
              <a:t>רבה האשכנזי של ירושלים</a:t>
            </a:r>
          </a:p>
          <a:p>
            <a:pPr algn="ctr"/>
            <a:r>
              <a:rPr lang="he-IL" sz="1600" b="1" dirty="0"/>
              <a:t>   נפטר בכ"ט אב תרס"ט (1909)</a:t>
            </a:r>
          </a:p>
        </p:txBody>
      </p:sp>
      <p:pic>
        <p:nvPicPr>
          <p:cNvPr id="15" name="תמונה 14"/>
          <p:cNvPicPr>
            <a:picLocks noChangeAspect="1"/>
          </p:cNvPicPr>
          <p:nvPr/>
        </p:nvPicPr>
        <p:blipFill>
          <a:blip r:embed="rId3"/>
          <a:stretch>
            <a:fillRect/>
          </a:stretch>
        </p:blipFill>
        <p:spPr>
          <a:xfrm>
            <a:off x="1063162" y="1289816"/>
            <a:ext cx="1022066" cy="1397698"/>
          </a:xfrm>
          <a:prstGeom prst="rect">
            <a:avLst/>
          </a:prstGeom>
          <a:ln w="38100">
            <a:solidFill>
              <a:srgbClr val="0000FF"/>
            </a:solidFill>
          </a:ln>
        </p:spPr>
      </p:pic>
      <p:sp>
        <p:nvSpPr>
          <p:cNvPr id="16" name="מלבן 15"/>
          <p:cNvSpPr/>
          <p:nvPr/>
        </p:nvSpPr>
        <p:spPr>
          <a:xfrm>
            <a:off x="534489" y="2777043"/>
            <a:ext cx="2079415" cy="830997"/>
          </a:xfrm>
          <a:prstGeom prst="rect">
            <a:avLst/>
          </a:prstGeom>
        </p:spPr>
        <p:txBody>
          <a:bodyPr wrap="none">
            <a:spAutoFit/>
          </a:bodyPr>
          <a:lstStyle/>
          <a:p>
            <a:pPr algn="ctr"/>
            <a:r>
              <a:rPr lang="he-IL" sz="1600" b="1" dirty="0">
                <a:latin typeface="Calibri" panose="020F0502020204030204" pitchFamily="34" charset="0"/>
                <a:ea typeface="Calibri" panose="020F0502020204030204" pitchFamily="34" charset="0"/>
              </a:rPr>
              <a:t>הרב חיים ברלין </a:t>
            </a:r>
          </a:p>
          <a:p>
            <a:r>
              <a:rPr lang="he-IL" sz="1600" b="1" dirty="0">
                <a:latin typeface="Calibri" panose="020F0502020204030204" pitchFamily="34" charset="0"/>
                <a:ea typeface="Calibri" panose="020F0502020204030204" pitchFamily="34" charset="0"/>
              </a:rPr>
              <a:t>אב"ד העדה האשכנזית</a:t>
            </a:r>
          </a:p>
          <a:p>
            <a:r>
              <a:rPr lang="he-IL" sz="1600" b="1" dirty="0">
                <a:latin typeface="Calibri" panose="020F0502020204030204" pitchFamily="34" charset="0"/>
              </a:rPr>
              <a:t>  נפטר תרע"ג (1912)</a:t>
            </a:r>
            <a:endParaRPr lang="he-IL" sz="1600" dirty="0"/>
          </a:p>
        </p:txBody>
      </p:sp>
      <p:pic>
        <p:nvPicPr>
          <p:cNvPr id="5" name="Picture 2" descr="האדר&quot;ת - הרב אליהו דוד רבינוביץ' תאומים"/>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5212" y="1307532"/>
            <a:ext cx="1098191" cy="1397698"/>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2771800" y="2857084"/>
            <a:ext cx="3911648" cy="584775"/>
          </a:xfrm>
          <a:prstGeom prst="rect">
            <a:avLst/>
          </a:prstGeom>
          <a:noFill/>
        </p:spPr>
        <p:txBody>
          <a:bodyPr wrap="none" rtlCol="1">
            <a:spAutoFit/>
          </a:bodyPr>
          <a:lstStyle/>
          <a:p>
            <a:r>
              <a:rPr lang="he-IL" sz="1600" b="1" dirty="0"/>
              <a:t>הרב אליהו רבינוביץ' תאומים </a:t>
            </a:r>
            <a:r>
              <a:rPr lang="he-IL" sz="1600" b="1" dirty="0">
                <a:solidFill>
                  <a:schemeClr val="tx1"/>
                </a:solidFill>
              </a:rPr>
              <a:t>(</a:t>
            </a:r>
            <a:r>
              <a:rPr lang="he-IL" sz="1600" b="1" dirty="0" err="1">
                <a:solidFill>
                  <a:schemeClr val="tx1"/>
                </a:solidFill>
              </a:rPr>
              <a:t>האדר"ת</a:t>
            </a:r>
            <a:r>
              <a:rPr lang="he-IL" sz="1600" b="1" dirty="0">
                <a:solidFill>
                  <a:schemeClr val="tx1"/>
                </a:solidFill>
              </a:rPr>
              <a:t>)</a:t>
            </a:r>
          </a:p>
          <a:p>
            <a:r>
              <a:rPr lang="he-IL" sz="1600" b="1" dirty="0"/>
              <a:t>הוזמן לסייע לו, תרס"א-תרס"ה (1901-1905)</a:t>
            </a:r>
          </a:p>
        </p:txBody>
      </p:sp>
      <p:sp>
        <p:nvSpPr>
          <p:cNvPr id="19" name="TextBox 18"/>
          <p:cNvSpPr txBox="1"/>
          <p:nvPr/>
        </p:nvSpPr>
        <p:spPr>
          <a:xfrm>
            <a:off x="3001284" y="693582"/>
            <a:ext cx="2818400" cy="338554"/>
          </a:xfrm>
          <a:prstGeom prst="rect">
            <a:avLst/>
          </a:prstGeom>
          <a:solidFill>
            <a:srgbClr val="FFFF00"/>
          </a:solidFill>
          <a:ln>
            <a:solidFill>
              <a:schemeClr val="tx1"/>
            </a:solidFill>
          </a:ln>
        </p:spPr>
        <p:txBody>
          <a:bodyPr wrap="none" rtlCol="1">
            <a:spAutoFit/>
          </a:bodyPr>
          <a:lstStyle/>
          <a:p>
            <a:r>
              <a:rPr lang="he-IL" sz="1600" b="1" dirty="0"/>
              <a:t>רבני העדה האשכנזית בירושלים</a:t>
            </a:r>
          </a:p>
        </p:txBody>
      </p:sp>
      <p:sp>
        <p:nvSpPr>
          <p:cNvPr id="17" name="TextBox 16"/>
          <p:cNvSpPr txBox="1"/>
          <p:nvPr/>
        </p:nvSpPr>
        <p:spPr>
          <a:xfrm>
            <a:off x="4727624" y="4032883"/>
            <a:ext cx="1415772" cy="584775"/>
          </a:xfrm>
          <a:prstGeom prst="rect">
            <a:avLst/>
          </a:prstGeom>
          <a:solidFill>
            <a:srgbClr val="FFFF00"/>
          </a:solidFill>
          <a:ln>
            <a:solidFill>
              <a:schemeClr val="tx1"/>
            </a:solidFill>
          </a:ln>
        </p:spPr>
        <p:txBody>
          <a:bodyPr wrap="none" rtlCol="1">
            <a:spAutoFit/>
          </a:bodyPr>
          <a:lstStyle/>
          <a:p>
            <a:r>
              <a:rPr lang="he-IL" sz="1600" b="1" dirty="0"/>
              <a:t>בד"צ הפרושים</a:t>
            </a:r>
          </a:p>
          <a:p>
            <a:r>
              <a:rPr lang="he-IL" sz="1600" b="1" dirty="0"/>
              <a:t>בד"צ חסידים</a:t>
            </a:r>
          </a:p>
        </p:txBody>
      </p:sp>
      <p:sp>
        <p:nvSpPr>
          <p:cNvPr id="2" name="TextBox 1"/>
          <p:cNvSpPr txBox="1"/>
          <p:nvPr/>
        </p:nvSpPr>
        <p:spPr>
          <a:xfrm>
            <a:off x="6380074" y="4033092"/>
            <a:ext cx="2687018" cy="1077218"/>
          </a:xfrm>
          <a:prstGeom prst="rect">
            <a:avLst/>
          </a:prstGeom>
          <a:solidFill>
            <a:srgbClr val="FFFF00"/>
          </a:solidFill>
          <a:ln>
            <a:solidFill>
              <a:schemeClr val="tx1"/>
            </a:solidFill>
          </a:ln>
        </p:spPr>
        <p:txBody>
          <a:bodyPr wrap="none" rtlCol="1">
            <a:spAutoFit/>
          </a:bodyPr>
          <a:lstStyle/>
          <a:p>
            <a:pPr algn="r"/>
            <a:r>
              <a:rPr lang="he-IL" sz="1600" b="1" dirty="0"/>
              <a:t>חיו בעיקר מ'החלוקה'</a:t>
            </a:r>
            <a:endParaRPr lang="en-US" sz="1600" b="1" dirty="0"/>
          </a:p>
          <a:p>
            <a:pPr algn="r"/>
            <a:endParaRPr lang="he-IL" sz="1600" b="1" dirty="0"/>
          </a:p>
          <a:p>
            <a:pPr algn="r"/>
            <a:r>
              <a:rPr lang="he-IL" sz="1600" b="1" dirty="0"/>
              <a:t>בגלל מלחמת העולם הראשונה</a:t>
            </a:r>
          </a:p>
          <a:p>
            <a:pPr algn="r"/>
            <a:r>
              <a:rPr lang="he-IL" sz="1600" b="1" dirty="0"/>
              <a:t>לא נבחר רב לעדה.</a:t>
            </a:r>
          </a:p>
        </p:txBody>
      </p:sp>
      <p:sp>
        <p:nvSpPr>
          <p:cNvPr id="22" name="TextBox 21"/>
          <p:cNvSpPr txBox="1"/>
          <p:nvPr/>
        </p:nvSpPr>
        <p:spPr>
          <a:xfrm>
            <a:off x="3851920" y="203667"/>
            <a:ext cx="1524776" cy="369332"/>
          </a:xfrm>
          <a:prstGeom prst="rect">
            <a:avLst/>
          </a:prstGeom>
          <a:solidFill>
            <a:srgbClr val="FFFF00"/>
          </a:solidFill>
          <a:ln>
            <a:solidFill>
              <a:schemeClr val="tx1"/>
            </a:solidFill>
          </a:ln>
        </p:spPr>
        <p:txBody>
          <a:bodyPr wrap="none" rtlCol="1">
            <a:spAutoFit/>
          </a:bodyPr>
          <a:lstStyle/>
          <a:p>
            <a:r>
              <a:rPr lang="he-IL" sz="1800" b="1" dirty="0"/>
              <a:t>"היישוב הישן"</a:t>
            </a:r>
          </a:p>
        </p:txBody>
      </p:sp>
      <p:pic>
        <p:nvPicPr>
          <p:cNvPr id="23" name="Picture 10" descr="Yosef Chaim Sonnenfeld.jpg"/>
          <p:cNvPicPr>
            <a:picLocks noChangeAspect="1" noChangeArrowheads="1"/>
          </p:cNvPicPr>
          <p:nvPr/>
        </p:nvPicPr>
        <p:blipFill>
          <a:blip r:embed="rId5"/>
          <a:srcRect/>
          <a:stretch>
            <a:fillRect/>
          </a:stretch>
        </p:blipFill>
        <p:spPr bwMode="auto">
          <a:xfrm>
            <a:off x="938475" y="4576395"/>
            <a:ext cx="1050591" cy="1550673"/>
          </a:xfrm>
          <a:prstGeom prst="rect">
            <a:avLst/>
          </a:prstGeom>
          <a:noFill/>
          <a:ln w="38100">
            <a:solidFill>
              <a:srgbClr val="2217F5"/>
            </a:solidFill>
          </a:ln>
        </p:spPr>
      </p:pic>
      <p:sp>
        <p:nvSpPr>
          <p:cNvPr id="24" name="TextBox 23"/>
          <p:cNvSpPr txBox="1"/>
          <p:nvPr/>
        </p:nvSpPr>
        <p:spPr>
          <a:xfrm>
            <a:off x="270683" y="6221507"/>
            <a:ext cx="2183611" cy="338554"/>
          </a:xfrm>
          <a:prstGeom prst="rect">
            <a:avLst/>
          </a:prstGeom>
          <a:noFill/>
        </p:spPr>
        <p:txBody>
          <a:bodyPr wrap="none" rtlCol="1">
            <a:spAutoFit/>
          </a:bodyPr>
          <a:lstStyle/>
          <a:p>
            <a:r>
              <a:rPr lang="he-IL" sz="1600" b="1" dirty="0"/>
              <a:t>  הרב יוסף חיים </a:t>
            </a:r>
            <a:r>
              <a:rPr lang="he-IL" sz="1600" b="1" dirty="0" err="1"/>
              <a:t>זוננפלד</a:t>
            </a:r>
            <a:endParaRPr lang="he-IL" sz="1600" b="1" dirty="0"/>
          </a:p>
        </p:txBody>
      </p:sp>
      <p:sp>
        <p:nvSpPr>
          <p:cNvPr id="25" name="TextBox 24"/>
          <p:cNvSpPr txBox="1"/>
          <p:nvPr/>
        </p:nvSpPr>
        <p:spPr>
          <a:xfrm>
            <a:off x="4965005" y="5451128"/>
            <a:ext cx="4083849" cy="1323439"/>
          </a:xfrm>
          <a:prstGeom prst="rect">
            <a:avLst/>
          </a:prstGeom>
          <a:noFill/>
          <a:ln w="12700">
            <a:solidFill>
              <a:srgbClr val="2217F5"/>
            </a:solidFill>
          </a:ln>
        </p:spPr>
        <p:txBody>
          <a:bodyPr wrap="square" rtlCol="1">
            <a:spAutoFit/>
          </a:bodyPr>
          <a:lstStyle/>
          <a:p>
            <a:pPr algn="r" rtl="1"/>
            <a:r>
              <a:rPr lang="he-IL" sz="1600" b="1" dirty="0" err="1">
                <a:solidFill>
                  <a:srgbClr val="FF0000"/>
                </a:solidFill>
              </a:rPr>
              <a:t>האדר"ת</a:t>
            </a:r>
            <a:r>
              <a:rPr lang="he-IL" sz="1600" b="1" dirty="0">
                <a:solidFill>
                  <a:srgbClr val="FF0000"/>
                </a:solidFill>
              </a:rPr>
              <a:t>: </a:t>
            </a:r>
          </a:p>
          <a:p>
            <a:pPr algn="r" rtl="1"/>
            <a:r>
              <a:rPr lang="he-IL" sz="1600" b="1" dirty="0"/>
              <a:t>"רבני ירושלים אז התרחקו מהם ולא </a:t>
            </a:r>
            <a:r>
              <a:rPr lang="he-IL" sz="1600" b="1" dirty="0" err="1"/>
              <a:t>זכרום</a:t>
            </a:r>
            <a:r>
              <a:rPr lang="he-IL" sz="1600" b="1" dirty="0"/>
              <a:t> </a:t>
            </a:r>
          </a:p>
          <a:p>
            <a:pPr algn="r" rtl="1"/>
            <a:r>
              <a:rPr lang="he-IL" sz="1600" b="1" dirty="0"/>
              <a:t>ולא </a:t>
            </a:r>
            <a:r>
              <a:rPr lang="he-IL" sz="1600" b="1" dirty="0" err="1"/>
              <a:t>פקדום</a:t>
            </a:r>
            <a:r>
              <a:rPr lang="he-IL" sz="1600" b="1" dirty="0"/>
              <a:t>...כלתה נפשי לראותם. וכמה פעמים נזכרתי במאמר המבהיל </a:t>
            </a:r>
            <a:r>
              <a:rPr lang="he-IL" sz="1600" b="1" dirty="0" err="1"/>
              <a:t>בתדא"ר</a:t>
            </a:r>
            <a:r>
              <a:rPr lang="he-IL" sz="1600" b="1" dirty="0"/>
              <a:t> י"א." </a:t>
            </a:r>
          </a:p>
          <a:p>
            <a:pPr algn="r" rtl="1"/>
            <a:r>
              <a:rPr lang="he-IL" sz="1600" b="1" dirty="0"/>
              <a:t>                             (אדר היקר סי' י', תרס"ב)</a:t>
            </a:r>
          </a:p>
        </p:txBody>
      </p:sp>
      <p:pic>
        <p:nvPicPr>
          <p:cNvPr id="26" name="Picture 2" descr="תוצאת תמונה עבור הרב קוק דגל ירושלים"/>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7631" t="10977" r="12644" b="14331"/>
          <a:stretch/>
        </p:blipFill>
        <p:spPr bwMode="auto">
          <a:xfrm>
            <a:off x="2853529" y="4518941"/>
            <a:ext cx="1155963" cy="1593906"/>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2454294" y="6221507"/>
            <a:ext cx="2111475" cy="338554"/>
          </a:xfrm>
          <a:prstGeom prst="rect">
            <a:avLst/>
          </a:prstGeom>
          <a:noFill/>
        </p:spPr>
        <p:txBody>
          <a:bodyPr wrap="none" rtlCol="1">
            <a:spAutoFit/>
          </a:bodyPr>
          <a:lstStyle/>
          <a:p>
            <a:r>
              <a:rPr lang="he-IL" sz="1600" b="1" dirty="0"/>
              <a:t>הרב יצחק ירוחם דיסקין</a:t>
            </a:r>
          </a:p>
        </p:txBody>
      </p:sp>
      <p:sp>
        <p:nvSpPr>
          <p:cNvPr id="4" name="TextBox 3"/>
          <p:cNvSpPr txBox="1"/>
          <p:nvPr/>
        </p:nvSpPr>
        <p:spPr>
          <a:xfrm>
            <a:off x="1362488" y="4032883"/>
            <a:ext cx="1805301" cy="338554"/>
          </a:xfrm>
          <a:prstGeom prst="rect">
            <a:avLst/>
          </a:prstGeom>
          <a:solidFill>
            <a:srgbClr val="FFFF00"/>
          </a:solidFill>
          <a:ln w="12700">
            <a:solidFill>
              <a:srgbClr val="2217F5"/>
            </a:solidFill>
          </a:ln>
        </p:spPr>
        <p:txBody>
          <a:bodyPr wrap="none" rtlCol="1">
            <a:spAutoFit/>
          </a:bodyPr>
          <a:lstStyle/>
          <a:p>
            <a:pPr algn="r" rtl="1"/>
            <a:r>
              <a:rPr lang="he-IL" sz="1600" b="1" dirty="0"/>
              <a:t>רבני העדה החרדית</a:t>
            </a:r>
          </a:p>
        </p:txBody>
      </p:sp>
      <p:sp>
        <p:nvSpPr>
          <p:cNvPr id="3" name="TextBox 2"/>
          <p:cNvSpPr txBox="1"/>
          <p:nvPr/>
        </p:nvSpPr>
        <p:spPr>
          <a:xfrm>
            <a:off x="6149295" y="203667"/>
            <a:ext cx="2789546" cy="307777"/>
          </a:xfrm>
          <a:prstGeom prst="rect">
            <a:avLst/>
          </a:prstGeom>
          <a:solidFill>
            <a:srgbClr val="2217F5"/>
          </a:solidFill>
          <a:ln>
            <a:solidFill>
              <a:schemeClr val="tx1"/>
            </a:solidFill>
          </a:ln>
        </p:spPr>
        <p:txBody>
          <a:bodyPr wrap="none" rtlCol="1">
            <a:spAutoFit/>
          </a:bodyPr>
          <a:lstStyle/>
          <a:p>
            <a:pPr algn="r" rtl="1"/>
            <a:r>
              <a:rPr lang="he-IL" b="1" dirty="0">
                <a:solidFill>
                  <a:schemeClr val="bg1"/>
                </a:solidFill>
              </a:rPr>
              <a:t>נתק בין 'היישוב הישן' ל'ישוב החדש'</a:t>
            </a:r>
          </a:p>
        </p:txBody>
      </p:sp>
    </p:spTree>
    <p:extLst>
      <p:ext uri="{BB962C8B-B14F-4D97-AF65-F5344CB8AC3E}">
        <p14:creationId xmlns:p14="http://schemas.microsoft.com/office/powerpoint/2010/main" val="3939822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5"/>
          <p:cNvSpPr txBox="1">
            <a:spLocks noChangeArrowheads="1"/>
          </p:cNvSpPr>
          <p:nvPr/>
        </p:nvSpPr>
        <p:spPr bwMode="auto">
          <a:xfrm>
            <a:off x="8488365" y="1484313"/>
            <a:ext cx="184731" cy="369332"/>
          </a:xfrm>
          <a:prstGeom prst="rect">
            <a:avLst/>
          </a:prstGeom>
          <a:noFill/>
          <a:ln w="9525">
            <a:noFill/>
            <a:miter lim="800000"/>
            <a:headEnd/>
            <a:tailEnd/>
          </a:ln>
        </p:spPr>
        <p:txBody>
          <a:bodyPr wrap="none">
            <a:spAutoFit/>
          </a:bodyPr>
          <a:lstStyle/>
          <a:p>
            <a:endParaRPr lang="en-US" sz="1800" b="0"/>
          </a:p>
        </p:txBody>
      </p:sp>
      <p:pic>
        <p:nvPicPr>
          <p:cNvPr id="18436" name="Picture 12" descr="E35CC4E5"/>
          <p:cNvPicPr>
            <a:picLocks noChangeAspect="1" noChangeArrowheads="1"/>
          </p:cNvPicPr>
          <p:nvPr/>
        </p:nvPicPr>
        <p:blipFill>
          <a:blip r:embed="rId2"/>
          <a:srcRect/>
          <a:stretch>
            <a:fillRect/>
          </a:stretch>
        </p:blipFill>
        <p:spPr bwMode="auto">
          <a:xfrm>
            <a:off x="7252691" y="1239020"/>
            <a:ext cx="1524000" cy="1781175"/>
          </a:xfrm>
          <a:prstGeom prst="rect">
            <a:avLst/>
          </a:prstGeom>
          <a:noFill/>
          <a:ln w="38100">
            <a:solidFill>
              <a:srgbClr val="2217F5"/>
            </a:solidFill>
            <a:miter lim="800000"/>
            <a:headEnd/>
            <a:tailEnd/>
          </a:ln>
        </p:spPr>
      </p:pic>
      <p:sp>
        <p:nvSpPr>
          <p:cNvPr id="18439" name="Text Box 12"/>
          <p:cNvSpPr txBox="1">
            <a:spLocks noChangeArrowheads="1"/>
          </p:cNvSpPr>
          <p:nvPr/>
        </p:nvSpPr>
        <p:spPr bwMode="auto">
          <a:xfrm>
            <a:off x="1604176" y="6438598"/>
            <a:ext cx="1152250" cy="338554"/>
          </a:xfrm>
          <a:prstGeom prst="rect">
            <a:avLst/>
          </a:prstGeom>
          <a:noFill/>
          <a:ln w="9525">
            <a:noFill/>
            <a:miter lim="800000"/>
            <a:headEnd/>
            <a:tailEnd/>
          </a:ln>
        </p:spPr>
        <p:txBody>
          <a:bodyPr wrap="square">
            <a:spAutoFit/>
          </a:bodyPr>
          <a:lstStyle/>
          <a:p>
            <a:r>
              <a:rPr lang="he-IL" sz="1600" b="1" dirty="0"/>
              <a:t>ביתו ביפו</a:t>
            </a:r>
            <a:endParaRPr lang="en-US" sz="1600" b="1" dirty="0"/>
          </a:p>
        </p:txBody>
      </p:sp>
      <p:pic>
        <p:nvPicPr>
          <p:cNvPr id="18441" name="Picture 14" descr="E47E9584"/>
          <p:cNvPicPr>
            <a:picLocks noChangeAspect="1" noChangeArrowheads="1"/>
          </p:cNvPicPr>
          <p:nvPr/>
        </p:nvPicPr>
        <p:blipFill>
          <a:blip r:embed="rId3"/>
          <a:srcRect l="5397" t="3481" r="5812" b="2792"/>
          <a:stretch>
            <a:fillRect/>
          </a:stretch>
        </p:blipFill>
        <p:spPr bwMode="auto">
          <a:xfrm>
            <a:off x="4328281" y="1678383"/>
            <a:ext cx="2232025" cy="3652947"/>
          </a:xfrm>
          <a:prstGeom prst="rect">
            <a:avLst/>
          </a:prstGeom>
          <a:noFill/>
          <a:ln w="38100">
            <a:solidFill>
              <a:srgbClr val="FF3300"/>
            </a:solidFill>
            <a:miter lim="800000"/>
            <a:headEnd/>
            <a:tailEnd/>
          </a:ln>
        </p:spPr>
      </p:pic>
      <p:pic>
        <p:nvPicPr>
          <p:cNvPr id="18442" name="Picture 16" descr="2A9DC47"/>
          <p:cNvPicPr>
            <a:picLocks noChangeAspect="1" noChangeArrowheads="1"/>
          </p:cNvPicPr>
          <p:nvPr/>
        </p:nvPicPr>
        <p:blipFill>
          <a:blip r:embed="rId4"/>
          <a:srcRect/>
          <a:stretch>
            <a:fillRect/>
          </a:stretch>
        </p:blipFill>
        <p:spPr bwMode="auto">
          <a:xfrm>
            <a:off x="275175" y="4111507"/>
            <a:ext cx="3744913" cy="2266950"/>
          </a:xfrm>
          <a:prstGeom prst="rect">
            <a:avLst/>
          </a:prstGeom>
          <a:noFill/>
          <a:ln w="38100">
            <a:solidFill>
              <a:srgbClr val="FF3300"/>
            </a:solidFill>
            <a:miter lim="800000"/>
            <a:headEnd/>
            <a:tailEnd/>
          </a:ln>
        </p:spPr>
      </p:pic>
      <p:pic>
        <p:nvPicPr>
          <p:cNvPr id="18443" name="Picture 18" descr="קובץ:Jaffa (before 1899).jpg"/>
          <p:cNvPicPr>
            <a:picLocks noChangeAspect="1" noChangeArrowheads="1"/>
          </p:cNvPicPr>
          <p:nvPr/>
        </p:nvPicPr>
        <p:blipFill>
          <a:blip r:embed="rId5"/>
          <a:srcRect/>
          <a:stretch>
            <a:fillRect/>
          </a:stretch>
        </p:blipFill>
        <p:spPr bwMode="auto">
          <a:xfrm>
            <a:off x="436983" y="1302800"/>
            <a:ext cx="3198913" cy="2202057"/>
          </a:xfrm>
          <a:prstGeom prst="rect">
            <a:avLst/>
          </a:prstGeom>
          <a:noFill/>
          <a:ln w="38100">
            <a:solidFill>
              <a:srgbClr val="FF3300"/>
            </a:solidFill>
            <a:miter lim="800000"/>
            <a:headEnd/>
            <a:tailEnd/>
          </a:ln>
        </p:spPr>
      </p:pic>
      <p:sp>
        <p:nvSpPr>
          <p:cNvPr id="18444" name="Text Box 17"/>
          <p:cNvSpPr txBox="1">
            <a:spLocks noChangeArrowheads="1"/>
          </p:cNvSpPr>
          <p:nvPr/>
        </p:nvSpPr>
        <p:spPr bwMode="auto">
          <a:xfrm>
            <a:off x="1383134" y="148369"/>
            <a:ext cx="6409127" cy="369332"/>
          </a:xfrm>
          <a:prstGeom prst="rect">
            <a:avLst/>
          </a:prstGeom>
          <a:solidFill>
            <a:srgbClr val="FFFF00"/>
          </a:solidFill>
          <a:ln w="9525">
            <a:solidFill>
              <a:schemeClr val="tx1"/>
            </a:solidFill>
            <a:miter lim="800000"/>
            <a:headEnd/>
            <a:tailEnd/>
          </a:ln>
          <a:effectLst/>
        </p:spPr>
        <p:txBody>
          <a:bodyPr wrap="none">
            <a:spAutoFit/>
          </a:bodyPr>
          <a:lstStyle/>
          <a:p>
            <a:r>
              <a:rPr lang="he-IL" sz="1800" b="1" dirty="0" err="1"/>
              <a:t>הראי"ה</a:t>
            </a:r>
            <a:r>
              <a:rPr lang="he-IL" sz="1800" b="1" dirty="0"/>
              <a:t> קוק – רבה של יפו והמושבות, </a:t>
            </a:r>
            <a:r>
              <a:rPr lang="he-IL" sz="1800" b="1" dirty="0">
                <a:solidFill>
                  <a:srgbClr val="FF0000"/>
                </a:solidFill>
              </a:rPr>
              <a:t>תרס"ד-תרע"ד (1904-1914)</a:t>
            </a:r>
            <a:endParaRPr lang="en-US" sz="1800" b="1" dirty="0">
              <a:solidFill>
                <a:srgbClr val="FF0000"/>
              </a:solidFill>
            </a:endParaRPr>
          </a:p>
        </p:txBody>
      </p:sp>
      <p:pic>
        <p:nvPicPr>
          <p:cNvPr id="91137" name="Picture 1" descr="C:\Users\123\Pictures\תשע'ד-א'-ד'\021.jpg"/>
          <p:cNvPicPr>
            <a:picLocks noChangeAspect="1" noChangeArrowheads="1"/>
          </p:cNvPicPr>
          <p:nvPr/>
        </p:nvPicPr>
        <p:blipFill rotWithShape="1">
          <a:blip r:embed="rId6"/>
          <a:srcRect l="4608" t="4363" r="5346" b="3614"/>
          <a:stretch/>
        </p:blipFill>
        <p:spPr bwMode="auto">
          <a:xfrm rot="10800000">
            <a:off x="6909685" y="4778169"/>
            <a:ext cx="2078304" cy="1757896"/>
          </a:xfrm>
          <a:prstGeom prst="rect">
            <a:avLst/>
          </a:prstGeom>
          <a:noFill/>
          <a:ln w="38100">
            <a:solidFill>
              <a:srgbClr val="FF0000"/>
            </a:solidFill>
          </a:ln>
        </p:spPr>
      </p:pic>
      <p:sp>
        <p:nvSpPr>
          <p:cNvPr id="10" name="TextBox 9"/>
          <p:cNvSpPr txBox="1"/>
          <p:nvPr/>
        </p:nvSpPr>
        <p:spPr>
          <a:xfrm>
            <a:off x="7504991" y="3071173"/>
            <a:ext cx="1042273" cy="307777"/>
          </a:xfrm>
          <a:prstGeom prst="rect">
            <a:avLst/>
          </a:prstGeom>
          <a:noFill/>
        </p:spPr>
        <p:txBody>
          <a:bodyPr wrap="none" rtlCol="1">
            <a:spAutoFit/>
          </a:bodyPr>
          <a:lstStyle/>
          <a:p>
            <a:pPr algn="r" rtl="1"/>
            <a:r>
              <a:rPr lang="he-IL" b="1" dirty="0" err="1"/>
              <a:t>הראי"ה</a:t>
            </a:r>
            <a:r>
              <a:rPr lang="he-IL" b="1" dirty="0"/>
              <a:t> קוק</a:t>
            </a:r>
          </a:p>
        </p:txBody>
      </p:sp>
      <p:sp>
        <p:nvSpPr>
          <p:cNvPr id="11" name="TextBox 10"/>
          <p:cNvSpPr txBox="1"/>
          <p:nvPr/>
        </p:nvSpPr>
        <p:spPr>
          <a:xfrm>
            <a:off x="1824274" y="3654294"/>
            <a:ext cx="712054" cy="307777"/>
          </a:xfrm>
          <a:prstGeom prst="rect">
            <a:avLst/>
          </a:prstGeom>
          <a:noFill/>
        </p:spPr>
        <p:txBody>
          <a:bodyPr wrap="none" rtlCol="1">
            <a:spAutoFit/>
          </a:bodyPr>
          <a:lstStyle/>
          <a:p>
            <a:pPr algn="r" rtl="1"/>
            <a:r>
              <a:rPr lang="he-IL" b="1" dirty="0"/>
              <a:t>נמל יפו</a:t>
            </a:r>
          </a:p>
        </p:txBody>
      </p:sp>
      <p:pic>
        <p:nvPicPr>
          <p:cNvPr id="12" name="Picture 2" descr="C:\Users\123\Pictures\תשע'ד-ב'-כ'ט\001.jpg"/>
          <p:cNvPicPr>
            <a:picLocks noChangeAspect="1" noChangeArrowheads="1"/>
          </p:cNvPicPr>
          <p:nvPr/>
        </p:nvPicPr>
        <p:blipFill>
          <a:blip r:embed="rId7"/>
          <a:srcRect l="12541" t="49100" r="8264" b="36068"/>
          <a:stretch>
            <a:fillRect/>
          </a:stretch>
        </p:blipFill>
        <p:spPr bwMode="auto">
          <a:xfrm>
            <a:off x="229025" y="2403828"/>
            <a:ext cx="8717346" cy="2245175"/>
          </a:xfrm>
          <a:prstGeom prst="rect">
            <a:avLst/>
          </a:prstGeom>
          <a:noFill/>
          <a:ln w="38100">
            <a:solidFill>
              <a:srgbClr val="2217F5"/>
            </a:solidFill>
          </a:ln>
        </p:spPr>
      </p:pic>
      <p:sp>
        <p:nvSpPr>
          <p:cNvPr id="14" name="TextBox 13"/>
          <p:cNvSpPr txBox="1"/>
          <p:nvPr/>
        </p:nvSpPr>
        <p:spPr>
          <a:xfrm>
            <a:off x="3249831" y="777085"/>
            <a:ext cx="2675734" cy="338554"/>
          </a:xfrm>
          <a:prstGeom prst="rect">
            <a:avLst/>
          </a:prstGeom>
          <a:solidFill>
            <a:srgbClr val="FFFF00"/>
          </a:solidFill>
          <a:ln>
            <a:solidFill>
              <a:schemeClr val="tx1"/>
            </a:solidFill>
          </a:ln>
        </p:spPr>
        <p:txBody>
          <a:bodyPr wrap="none" rtlCol="1">
            <a:spAutoFit/>
          </a:bodyPr>
          <a:lstStyle/>
          <a:p>
            <a:pPr algn="r" rtl="1"/>
            <a:r>
              <a:rPr lang="he-IL" sz="1600" b="1" dirty="0"/>
              <a:t>הגיע ליפו – </a:t>
            </a:r>
            <a:r>
              <a:rPr lang="he-IL" sz="1600" b="1" dirty="0">
                <a:solidFill>
                  <a:srgbClr val="FF0000"/>
                </a:solidFill>
              </a:rPr>
              <a:t>בכ"ח אייר תרס"ד</a:t>
            </a:r>
          </a:p>
        </p:txBody>
      </p:sp>
      <p:sp>
        <p:nvSpPr>
          <p:cNvPr id="15" name="TextBox 14"/>
          <p:cNvSpPr txBox="1"/>
          <p:nvPr/>
        </p:nvSpPr>
        <p:spPr>
          <a:xfrm>
            <a:off x="436983" y="3167570"/>
            <a:ext cx="8212505" cy="523220"/>
          </a:xfrm>
          <a:prstGeom prst="rect">
            <a:avLst/>
          </a:prstGeom>
          <a:solidFill>
            <a:srgbClr val="FFFF00"/>
          </a:solidFill>
          <a:ln>
            <a:solidFill>
              <a:schemeClr val="tx1"/>
            </a:solidFill>
          </a:ln>
        </p:spPr>
        <p:txBody>
          <a:bodyPr wrap="none" rtlCol="1">
            <a:spAutoFit/>
          </a:bodyPr>
          <a:lstStyle/>
          <a:p>
            <a:pPr algn="r" rtl="1"/>
            <a:r>
              <a:rPr lang="he-IL" sz="2800" b="1" dirty="0"/>
              <a:t>"אנכי הולך בין השבילים, בין הישוב הישן לישוב החדש"!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2250" fill="hold"/>
                                        <p:tgtEl>
                                          <p:spTgt spid="12"/>
                                        </p:tgtEl>
                                        <p:attrNameLst>
                                          <p:attrName>ppt_w</p:attrName>
                                        </p:attrNameLst>
                                      </p:cBhvr>
                                      <p:tavLst>
                                        <p:tav tm="0">
                                          <p:val>
                                            <p:fltVal val="0"/>
                                          </p:val>
                                        </p:tav>
                                        <p:tav tm="100000">
                                          <p:val>
                                            <p:strVal val="#ppt_w"/>
                                          </p:val>
                                        </p:tav>
                                      </p:tavLst>
                                    </p:anim>
                                    <p:anim calcmode="lin" valueType="num">
                                      <p:cBhvr>
                                        <p:cTn id="8" dur="2250" fill="hold"/>
                                        <p:tgtEl>
                                          <p:spTgt spid="12"/>
                                        </p:tgtEl>
                                        <p:attrNameLst>
                                          <p:attrName>ppt_h</p:attrName>
                                        </p:attrNameLst>
                                      </p:cBhvr>
                                      <p:tavLst>
                                        <p:tav tm="0">
                                          <p:val>
                                            <p:fltVal val="0"/>
                                          </p:val>
                                        </p:tav>
                                        <p:tav tm="100000">
                                          <p:val>
                                            <p:strVal val="#ppt_h"/>
                                          </p:val>
                                        </p:tav>
                                      </p:tavLst>
                                    </p:anim>
                                    <p:animEffect transition="in" filter="fade">
                                      <p:cBhvr>
                                        <p:cTn id="9" dur="225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2250" fill="hold"/>
                                        <p:tgtEl>
                                          <p:spTgt spid="15"/>
                                        </p:tgtEl>
                                        <p:attrNameLst>
                                          <p:attrName>ppt_x</p:attrName>
                                        </p:attrNameLst>
                                      </p:cBhvr>
                                      <p:tavLst>
                                        <p:tav tm="0">
                                          <p:val>
                                            <p:strVal val="#ppt_x"/>
                                          </p:val>
                                        </p:tav>
                                        <p:tav tm="100000">
                                          <p:val>
                                            <p:strVal val="#ppt_x"/>
                                          </p:val>
                                        </p:tav>
                                      </p:tavLst>
                                    </p:anim>
                                    <p:anim calcmode="lin" valueType="num">
                                      <p:cBhvr additive="base">
                                        <p:cTn id="15" dur="22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287687" y="5877276"/>
            <a:ext cx="8539005" cy="307777"/>
          </a:xfrm>
          <a:prstGeom prst="rect">
            <a:avLst/>
          </a:prstGeom>
          <a:ln w="38100">
            <a:noFill/>
          </a:ln>
        </p:spPr>
        <p:txBody>
          <a:bodyPr wrap="square">
            <a:spAutoFit/>
          </a:bodyPr>
          <a:lstStyle/>
          <a:p>
            <a:pPr algn="r" rtl="1"/>
            <a:endParaRPr lang="he-IL" b="1" dirty="0"/>
          </a:p>
        </p:txBody>
      </p:sp>
      <p:sp>
        <p:nvSpPr>
          <p:cNvPr id="3" name="TextBox 2"/>
          <p:cNvSpPr txBox="1"/>
          <p:nvPr/>
        </p:nvSpPr>
        <p:spPr>
          <a:xfrm>
            <a:off x="277730" y="561160"/>
            <a:ext cx="8581554" cy="1384995"/>
          </a:xfrm>
          <a:prstGeom prst="rect">
            <a:avLst/>
          </a:prstGeom>
          <a:noFill/>
          <a:ln w="38100">
            <a:solidFill>
              <a:srgbClr val="2217F5"/>
            </a:solidFill>
          </a:ln>
        </p:spPr>
        <p:txBody>
          <a:bodyPr wrap="square" rtlCol="1">
            <a:spAutoFit/>
          </a:bodyPr>
          <a:lstStyle/>
          <a:p>
            <a:pPr algn="r" rtl="1"/>
            <a:r>
              <a:rPr lang="he-IL" b="1" dirty="0"/>
              <a:t>לרב יצחק אייזיק הלוי (מחבר הספר "דורות ראשונים"), </a:t>
            </a:r>
            <a:r>
              <a:rPr lang="he-IL" b="1" dirty="0">
                <a:solidFill>
                  <a:srgbClr val="FF0000"/>
                </a:solidFill>
              </a:rPr>
              <a:t>ב' אדר א' תרס"ח (1908): </a:t>
            </a:r>
          </a:p>
          <a:p>
            <a:pPr algn="r" rtl="1"/>
            <a:r>
              <a:rPr lang="he-IL" b="1" dirty="0"/>
              <a:t>"והנה אחד מן התיקונים היותר גדולים שבהחזקת היהדות במושבות הוא </a:t>
            </a:r>
            <a:r>
              <a:rPr lang="he-IL" b="1" dirty="0" err="1"/>
              <a:t>שאהי</a:t>
            </a:r>
            <a:r>
              <a:rPr lang="he-IL" b="1" dirty="0"/>
              <a:t>' אנוכי בעוניי מסבב מפרק לפרק</a:t>
            </a:r>
          </a:p>
          <a:p>
            <a:pPr algn="r" rtl="1"/>
            <a:r>
              <a:rPr lang="he-IL" b="1" dirty="0"/>
              <a:t>במושבות, להשגיח על דרכי היהדות הכוללים, ולדרוש דברי תוכחה ומוסר השכל. אבל צריך לזה הוצאה חשובה...</a:t>
            </a:r>
          </a:p>
          <a:p>
            <a:pPr algn="r" rtl="1"/>
            <a:r>
              <a:rPr lang="he-IL" b="1" dirty="0">
                <a:solidFill>
                  <a:srgbClr val="FF0000"/>
                </a:solidFill>
              </a:rPr>
              <a:t>ועל כן ראוי שתהיה אצלי מוכנה תמיד מרכבה, כדי לסבב על כל המושבות הנפוצות ביהודה ובגליל [30] והנן עזובות</a:t>
            </a:r>
          </a:p>
          <a:p>
            <a:pPr algn="r" rtl="1"/>
            <a:r>
              <a:rPr lang="he-IL" b="1" dirty="0">
                <a:solidFill>
                  <a:srgbClr val="FF0000"/>
                </a:solidFill>
              </a:rPr>
              <a:t>באין דורש ומבקש. </a:t>
            </a:r>
            <a:r>
              <a:rPr lang="he-IL" b="1" dirty="0"/>
              <a:t>ואנכי יודע ועד כמה גדולה היא השפעת הסיבוב המכובד והשיחה והדרשה וכל אורחות הקירוב...</a:t>
            </a:r>
          </a:p>
          <a:p>
            <a:pPr algn="r" rtl="1"/>
            <a:r>
              <a:rPr lang="he-IL" b="1" dirty="0"/>
              <a:t>לקשרם בעבותות אהבה לתורה ויראת ד'".                                                            (אגרות הראיה א, קיא </a:t>
            </a:r>
            <a:r>
              <a:rPr lang="he-IL" b="1" dirty="0" err="1"/>
              <a:t>עמ</a:t>
            </a:r>
            <a:r>
              <a:rPr lang="he-IL" b="1" dirty="0"/>
              <a:t>' </a:t>
            </a:r>
            <a:r>
              <a:rPr lang="he-IL" b="1" dirty="0" err="1"/>
              <a:t>קמ</a:t>
            </a:r>
            <a:r>
              <a:rPr lang="he-IL" b="1" dirty="0"/>
              <a:t>)</a:t>
            </a:r>
          </a:p>
        </p:txBody>
      </p:sp>
      <p:sp>
        <p:nvSpPr>
          <p:cNvPr id="5" name="מלבן 4"/>
          <p:cNvSpPr/>
          <p:nvPr/>
        </p:nvSpPr>
        <p:spPr>
          <a:xfrm>
            <a:off x="341754" y="5441306"/>
            <a:ext cx="8558964" cy="1192715"/>
          </a:xfrm>
          <a:prstGeom prst="rect">
            <a:avLst/>
          </a:prstGeom>
          <a:ln w="38100">
            <a:solidFill>
              <a:srgbClr val="2217F5"/>
            </a:solidFill>
          </a:ln>
        </p:spPr>
        <p:txBody>
          <a:bodyPr wrap="square">
            <a:spAutoFit/>
          </a:bodyPr>
          <a:lstStyle/>
          <a:p>
            <a:pPr algn="r" rtl="1"/>
            <a:r>
              <a:rPr lang="he-IL" b="1" dirty="0"/>
              <a:t>הרב קוק כינס </a:t>
            </a:r>
            <a:r>
              <a:rPr lang="he-IL" b="1" dirty="0">
                <a:solidFill>
                  <a:srgbClr val="FF0000"/>
                </a:solidFill>
              </a:rPr>
              <a:t>בקיץ תרע"ג </a:t>
            </a:r>
            <a:r>
              <a:rPr lang="he-IL" b="1" dirty="0"/>
              <a:t>אסֵפת רבנים בביתו של א"י </a:t>
            </a:r>
            <a:r>
              <a:rPr lang="he-IL" b="1" dirty="0" err="1"/>
              <a:t>לבקוביץ</a:t>
            </a:r>
            <a:r>
              <a:rPr lang="he-IL" b="1" dirty="0"/>
              <a:t> שבמושבה רחובות. באספה נידון מצב היהדות בארץ בכלל, וחילול השבת בה בפרט. במהלך הדיון התפרץ בעל הבית:</a:t>
            </a:r>
          </a:p>
          <a:p>
            <a:pPr algn="r" rtl="1"/>
            <a:r>
              <a:rPr lang="he-IL" b="1" dirty="0"/>
              <a:t>אתם מדברים על חילול הדת? </a:t>
            </a:r>
            <a:r>
              <a:rPr lang="he-IL" b="1" dirty="0">
                <a:solidFill>
                  <a:srgbClr val="FF0000"/>
                </a:solidFill>
              </a:rPr>
              <a:t>הרבנים הם מכבי האש! לכו לכבות את האש ואל תשבו כאן</a:t>
            </a:r>
            <a:r>
              <a:rPr lang="he-IL" b="1" dirty="0"/>
              <a:t>! [...] מה עשה שמואל הנביא [...] הוא רכב ממקום למקום [...] ומשה </a:t>
            </a:r>
            <a:r>
              <a:rPr lang="he-IL" b="1" dirty="0" err="1"/>
              <a:t>רבינו</a:t>
            </a:r>
            <a:r>
              <a:rPr lang="he-IL" b="1" dirty="0"/>
              <a:t> גם כן היה הולך מאיש לרעהו. אתם יושבים פה ושם - שריפה, בכל </a:t>
            </a:r>
            <a:r>
              <a:rPr lang="he-IL" b="1" dirty="0">
                <a:solidFill>
                  <a:srgbClr val="FF0000"/>
                </a:solidFill>
              </a:rPr>
              <a:t>יום מתפרצת השריפה יותר ויותר, ואתם אחראים ואשמים, אתם צריכים ללכת לכל המקומות ולדרוש על השבת!</a:t>
            </a:r>
          </a:p>
        </p:txBody>
      </p:sp>
      <p:sp>
        <p:nvSpPr>
          <p:cNvPr id="4" name="TextBox 3"/>
          <p:cNvSpPr txBox="1"/>
          <p:nvPr/>
        </p:nvSpPr>
        <p:spPr>
          <a:xfrm>
            <a:off x="306341" y="2259340"/>
            <a:ext cx="8580436" cy="954107"/>
          </a:xfrm>
          <a:prstGeom prst="rect">
            <a:avLst/>
          </a:prstGeom>
          <a:noFill/>
          <a:ln w="38100">
            <a:solidFill>
              <a:srgbClr val="2217F5"/>
            </a:solidFill>
          </a:ln>
        </p:spPr>
        <p:txBody>
          <a:bodyPr wrap="square" rtlCol="1">
            <a:spAutoFit/>
          </a:bodyPr>
          <a:lstStyle/>
          <a:p>
            <a:pPr algn="r" rtl="1"/>
            <a:r>
              <a:rPr lang="he-IL" b="1" dirty="0"/>
              <a:t>לרב </a:t>
            </a:r>
            <a:r>
              <a:rPr lang="he-IL" b="1" dirty="0" err="1"/>
              <a:t>טודרוס</a:t>
            </a:r>
            <a:r>
              <a:rPr lang="he-IL" b="1" dirty="0"/>
              <a:t> הכהן רבה של ראש פינה, כ' אייר תרס"ט (1909):</a:t>
            </a:r>
          </a:p>
          <a:p>
            <a:pPr algn="r" rtl="1"/>
            <a:r>
              <a:rPr lang="he-IL" b="1" dirty="0"/>
              <a:t>"וידע אהובי, שמה שאני חפץ שתהיה לי שייכות גם במושבות שבגליל, אינו ח"ו מפני כבודי, שאינני חלילה מחומדי</a:t>
            </a:r>
          </a:p>
          <a:p>
            <a:pPr algn="r" rtl="1"/>
            <a:r>
              <a:rPr lang="he-IL" b="1" dirty="0"/>
              <a:t>כבוד, </a:t>
            </a:r>
            <a:r>
              <a:rPr lang="he-IL" b="1" dirty="0">
                <a:solidFill>
                  <a:srgbClr val="FF0000"/>
                </a:solidFill>
              </a:rPr>
              <a:t>אבל מאד חפצתי שיהיו כל המושבות וכל הישוב החדש בכלל מקושר בקשר אחד, וע"י זה נהיה כולנו</a:t>
            </a:r>
          </a:p>
          <a:p>
            <a:pPr algn="r" rtl="1"/>
            <a:r>
              <a:rPr lang="he-IL" b="1" dirty="0">
                <a:solidFill>
                  <a:srgbClr val="FF0000"/>
                </a:solidFill>
              </a:rPr>
              <a:t>מקושרים".                                                                                                       </a:t>
            </a:r>
            <a:r>
              <a:rPr lang="he-IL" b="1" dirty="0"/>
              <a:t>(אגרות הראיה א, ר' </a:t>
            </a:r>
            <a:r>
              <a:rPr lang="he-IL" b="1" dirty="0" err="1"/>
              <a:t>עמ</a:t>
            </a:r>
            <a:r>
              <a:rPr lang="he-IL" b="1" dirty="0"/>
              <a:t>' רנד)</a:t>
            </a:r>
          </a:p>
        </p:txBody>
      </p:sp>
      <p:sp>
        <p:nvSpPr>
          <p:cNvPr id="6" name="TextBox 5"/>
          <p:cNvSpPr txBox="1"/>
          <p:nvPr/>
        </p:nvSpPr>
        <p:spPr>
          <a:xfrm>
            <a:off x="286217" y="3499384"/>
            <a:ext cx="8580436" cy="523220"/>
          </a:xfrm>
          <a:prstGeom prst="rect">
            <a:avLst/>
          </a:prstGeom>
          <a:noFill/>
          <a:ln w="38100">
            <a:solidFill>
              <a:srgbClr val="2217F5"/>
            </a:solidFill>
          </a:ln>
        </p:spPr>
        <p:txBody>
          <a:bodyPr wrap="square" rtlCol="1">
            <a:spAutoFit/>
          </a:bodyPr>
          <a:lstStyle/>
          <a:p>
            <a:pPr algn="r" rtl="1"/>
            <a:r>
              <a:rPr lang="he-IL" b="1" dirty="0">
                <a:solidFill>
                  <a:srgbClr val="FF0000"/>
                </a:solidFill>
              </a:rPr>
              <a:t>תר"ע (1910) – שנת שמיטה</a:t>
            </a:r>
            <a:r>
              <a:rPr lang="he-IL" b="1" dirty="0"/>
              <a:t>, מבחן קשה לקשר הזה. המושבות נדרשו להישמע במדויק להוראותיו, לא נשמעו בכל, </a:t>
            </a:r>
          </a:p>
          <a:p>
            <a:pPr algn="r" rtl="1"/>
            <a:r>
              <a:rPr lang="he-IL" b="1" dirty="0"/>
              <a:t>מתריע ומאיים. (משפט כהן עמ' כד). אהבה וכבוד אך גם תסכול.</a:t>
            </a:r>
          </a:p>
        </p:txBody>
      </p:sp>
      <p:sp>
        <p:nvSpPr>
          <p:cNvPr id="7" name="TextBox 6"/>
          <p:cNvSpPr txBox="1"/>
          <p:nvPr/>
        </p:nvSpPr>
        <p:spPr>
          <a:xfrm>
            <a:off x="324998" y="4363333"/>
            <a:ext cx="8564708" cy="738664"/>
          </a:xfrm>
          <a:prstGeom prst="rect">
            <a:avLst/>
          </a:prstGeom>
          <a:noFill/>
          <a:ln w="38100">
            <a:solidFill>
              <a:srgbClr val="2217F5"/>
            </a:solidFill>
          </a:ln>
        </p:spPr>
        <p:txBody>
          <a:bodyPr wrap="square" rtlCol="1">
            <a:spAutoFit/>
          </a:bodyPr>
          <a:lstStyle/>
          <a:p>
            <a:pPr algn="r" rtl="1"/>
            <a:r>
              <a:rPr lang="he-IL" b="1" dirty="0"/>
              <a:t>למושבות הגליל, </a:t>
            </a:r>
            <a:r>
              <a:rPr lang="he-IL" b="1" dirty="0">
                <a:solidFill>
                  <a:srgbClr val="FF0000"/>
                </a:solidFill>
              </a:rPr>
              <a:t>ח' אלול תרע"ב:</a:t>
            </a:r>
          </a:p>
          <a:p>
            <a:pPr algn="r" rtl="1"/>
            <a:r>
              <a:rPr lang="he-IL" b="1" dirty="0">
                <a:solidFill>
                  <a:srgbClr val="FF0000"/>
                </a:solidFill>
              </a:rPr>
              <a:t>הנה מאז באתי אל הקודש צמאה נפשי לבקר את מושבותיכם היקרות, לראות את שלומכם...עד כה לא צלח חפצי בידי...</a:t>
            </a:r>
          </a:p>
          <a:p>
            <a:pPr algn="r" rtl="1"/>
            <a:r>
              <a:rPr lang="he-IL" b="1" dirty="0"/>
              <a:t>שמרו את המצוות התלויות בארץ...וביחוד תיקון תרומות ומעשרות".                         (אגרות הראיה ב, </a:t>
            </a:r>
            <a:r>
              <a:rPr lang="he-IL" b="1" dirty="0" err="1"/>
              <a:t>תנב</a:t>
            </a:r>
            <a:r>
              <a:rPr lang="he-IL" b="1" dirty="0"/>
              <a:t> </a:t>
            </a:r>
            <a:r>
              <a:rPr lang="he-IL" b="1" dirty="0" err="1"/>
              <a:t>עמ</a:t>
            </a:r>
            <a:r>
              <a:rPr lang="he-IL" b="1" dirty="0"/>
              <a:t>' צג-ד)</a:t>
            </a:r>
          </a:p>
        </p:txBody>
      </p:sp>
      <p:sp>
        <p:nvSpPr>
          <p:cNvPr id="8" name="TextBox 7"/>
          <p:cNvSpPr txBox="1"/>
          <p:nvPr/>
        </p:nvSpPr>
        <p:spPr>
          <a:xfrm>
            <a:off x="3639236" y="96891"/>
            <a:ext cx="1963999" cy="307777"/>
          </a:xfrm>
          <a:prstGeom prst="rect">
            <a:avLst/>
          </a:prstGeom>
          <a:solidFill>
            <a:srgbClr val="FFFF00"/>
          </a:solidFill>
          <a:ln>
            <a:solidFill>
              <a:schemeClr val="tx1"/>
            </a:solidFill>
          </a:ln>
        </p:spPr>
        <p:txBody>
          <a:bodyPr wrap="none" rtlCol="1">
            <a:spAutoFit/>
          </a:bodyPr>
          <a:lstStyle/>
          <a:p>
            <a:pPr algn="r" rtl="1"/>
            <a:r>
              <a:rPr lang="he-IL" b="1" dirty="0"/>
              <a:t>מחשבות על יציאה למסע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123\Pictures\תשע'ד-ג'-ד'\001.jpg"/>
          <p:cNvPicPr>
            <a:picLocks noChangeAspect="1" noChangeArrowheads="1"/>
          </p:cNvPicPr>
          <p:nvPr/>
        </p:nvPicPr>
        <p:blipFill>
          <a:blip r:embed="rId2"/>
          <a:srcRect l="42670" t="2896" r="3185" b="58889"/>
          <a:stretch>
            <a:fillRect/>
          </a:stretch>
        </p:blipFill>
        <p:spPr bwMode="auto">
          <a:xfrm rot="10800000">
            <a:off x="1837363" y="1060186"/>
            <a:ext cx="5426046" cy="5266456"/>
          </a:xfrm>
          <a:prstGeom prst="rect">
            <a:avLst/>
          </a:prstGeom>
          <a:noFill/>
          <a:ln w="38100">
            <a:solidFill>
              <a:srgbClr val="FF0000"/>
            </a:solidFill>
          </a:ln>
        </p:spPr>
      </p:pic>
      <p:sp>
        <p:nvSpPr>
          <p:cNvPr id="3" name="TextBox 2"/>
          <p:cNvSpPr txBox="1"/>
          <p:nvPr/>
        </p:nvSpPr>
        <p:spPr>
          <a:xfrm>
            <a:off x="1691680" y="6424309"/>
            <a:ext cx="3233578" cy="307777"/>
          </a:xfrm>
          <a:prstGeom prst="rect">
            <a:avLst/>
          </a:prstGeom>
          <a:noFill/>
        </p:spPr>
        <p:txBody>
          <a:bodyPr wrap="none" rtlCol="1">
            <a:spAutoFit/>
          </a:bodyPr>
          <a:lstStyle/>
          <a:p>
            <a:pPr algn="r" rtl="1"/>
            <a:r>
              <a:rPr lang="he-IL" b="1" dirty="0"/>
              <a:t>משה נחמני, מסע התשובה והאהבה, עמ' 8</a:t>
            </a:r>
          </a:p>
        </p:txBody>
      </p:sp>
      <p:sp>
        <p:nvSpPr>
          <p:cNvPr id="4" name="TextBox 3"/>
          <p:cNvSpPr txBox="1"/>
          <p:nvPr/>
        </p:nvSpPr>
        <p:spPr>
          <a:xfrm>
            <a:off x="141828" y="238969"/>
            <a:ext cx="8817113" cy="584775"/>
          </a:xfrm>
          <a:prstGeom prst="rect">
            <a:avLst/>
          </a:prstGeom>
          <a:solidFill>
            <a:srgbClr val="FFFF00"/>
          </a:solidFill>
          <a:ln w="38100">
            <a:solidFill>
              <a:srgbClr val="2217F5"/>
            </a:solidFill>
          </a:ln>
        </p:spPr>
        <p:txBody>
          <a:bodyPr wrap="square" rtlCol="1">
            <a:spAutoFit/>
          </a:bodyPr>
          <a:lstStyle/>
          <a:p>
            <a:pPr algn="r" rtl="1"/>
            <a:r>
              <a:rPr lang="he-IL" sz="1600" b="1" dirty="0"/>
              <a:t>הרב </a:t>
            </a:r>
            <a:r>
              <a:rPr lang="he-IL" sz="1600" b="1" dirty="0" err="1"/>
              <a:t>ב"צ</a:t>
            </a:r>
            <a:r>
              <a:rPr lang="he-IL" sz="1600" b="1" dirty="0"/>
              <a:t> </a:t>
            </a:r>
            <a:r>
              <a:rPr lang="he-IL" sz="1600" b="1" dirty="0" err="1"/>
              <a:t>יאדלר</a:t>
            </a:r>
            <a:r>
              <a:rPr lang="he-IL" sz="1600" b="1" dirty="0"/>
              <a:t> הסתובב ב</a:t>
            </a:r>
            <a:r>
              <a:rPr lang="he-IL" sz="1600" b="1" dirty="0">
                <a:solidFill>
                  <a:srgbClr val="FF0000"/>
                </a:solidFill>
              </a:rPr>
              <a:t>אלול תרע"ג (1913) </a:t>
            </a:r>
            <a:r>
              <a:rPr lang="he-IL" sz="1600" b="1" dirty="0"/>
              <a:t>בין המושבות, אסף את ראשיהן הציג בפניהם מכתב מהרב קוק. כולם חתמו על </a:t>
            </a:r>
            <a:r>
              <a:rPr lang="he-IL" sz="1600" b="1" dirty="0" err="1"/>
              <a:t>פרוטוכול</a:t>
            </a:r>
            <a:r>
              <a:rPr lang="he-IL" sz="1600" b="1" dirty="0"/>
              <a:t> לייחד איש נאמן להפריש תרומות ומעשרות ולקבל בכבוד את המשלחת.</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8" name="Picture 10" descr="Yosef Chaim Sonnenfeld.jpg"/>
          <p:cNvPicPr>
            <a:picLocks noChangeAspect="1" noChangeArrowheads="1"/>
          </p:cNvPicPr>
          <p:nvPr/>
        </p:nvPicPr>
        <p:blipFill>
          <a:blip r:embed="rId2"/>
          <a:srcRect/>
          <a:stretch>
            <a:fillRect/>
          </a:stretch>
        </p:blipFill>
        <p:spPr bwMode="auto">
          <a:xfrm>
            <a:off x="2699794" y="836712"/>
            <a:ext cx="1210964" cy="1787384"/>
          </a:xfrm>
          <a:prstGeom prst="rect">
            <a:avLst/>
          </a:prstGeom>
          <a:noFill/>
          <a:ln w="38100">
            <a:solidFill>
              <a:srgbClr val="2217F5"/>
            </a:solidFill>
          </a:ln>
        </p:spPr>
      </p:pic>
      <p:pic>
        <p:nvPicPr>
          <p:cNvPr id="160782" name="Picture 14" descr="http://upload.wikimedia.org/wikipedia/he/8/88/Rabbi_Moshe_Kliers.jpg"/>
          <p:cNvPicPr>
            <a:picLocks noChangeAspect="1" noChangeArrowheads="1"/>
          </p:cNvPicPr>
          <p:nvPr/>
        </p:nvPicPr>
        <p:blipFill rotWithShape="1">
          <a:blip r:embed="rId3"/>
          <a:srcRect l="3535" t="1710" r="6274" b="15918"/>
          <a:stretch/>
        </p:blipFill>
        <p:spPr bwMode="auto">
          <a:xfrm>
            <a:off x="2459730" y="4173419"/>
            <a:ext cx="1464677" cy="1642504"/>
          </a:xfrm>
          <a:prstGeom prst="rect">
            <a:avLst/>
          </a:prstGeom>
          <a:noFill/>
          <a:ln w="38100">
            <a:solidFill>
              <a:srgbClr val="2217F5"/>
            </a:solidFill>
          </a:ln>
        </p:spPr>
      </p:pic>
      <p:pic>
        <p:nvPicPr>
          <p:cNvPr id="160784" name="Picture 16" descr="http://upload.wikimedia.org/wikipedia/commons/thumb/9/9b/Charlap22.jpg/200px-Charlap22.jpg"/>
          <p:cNvPicPr>
            <a:picLocks noChangeAspect="1" noChangeArrowheads="1"/>
          </p:cNvPicPr>
          <p:nvPr/>
        </p:nvPicPr>
        <p:blipFill>
          <a:blip r:embed="rId4"/>
          <a:srcRect/>
          <a:stretch>
            <a:fillRect/>
          </a:stretch>
        </p:blipFill>
        <p:spPr bwMode="auto">
          <a:xfrm>
            <a:off x="4713446" y="858968"/>
            <a:ext cx="1325523" cy="1849105"/>
          </a:xfrm>
          <a:prstGeom prst="rect">
            <a:avLst/>
          </a:prstGeom>
          <a:noFill/>
          <a:ln w="38100">
            <a:solidFill>
              <a:srgbClr val="2217F5"/>
            </a:solidFill>
          </a:ln>
        </p:spPr>
      </p:pic>
      <p:pic>
        <p:nvPicPr>
          <p:cNvPr id="13" name="Picture 2" descr="page image"/>
          <p:cNvPicPr>
            <a:picLocks noChangeAspect="1" noChangeArrowheads="1"/>
          </p:cNvPicPr>
          <p:nvPr/>
        </p:nvPicPr>
        <p:blipFill rotWithShape="1">
          <a:blip r:embed="rId5"/>
          <a:srcRect l="11905" t="43500" r="62053" b="35500"/>
          <a:stretch/>
        </p:blipFill>
        <p:spPr bwMode="auto">
          <a:xfrm>
            <a:off x="4690080" y="4159739"/>
            <a:ext cx="1368152" cy="1641782"/>
          </a:xfrm>
          <a:prstGeom prst="rect">
            <a:avLst/>
          </a:prstGeom>
          <a:noFill/>
          <a:ln w="38100">
            <a:solidFill>
              <a:srgbClr val="2217F5"/>
            </a:solidFill>
          </a:ln>
        </p:spPr>
      </p:pic>
      <p:pic>
        <p:nvPicPr>
          <p:cNvPr id="11" name="Picture 12" descr="E35CC4E5"/>
          <p:cNvPicPr>
            <a:picLocks noChangeAspect="1" noChangeArrowheads="1"/>
          </p:cNvPicPr>
          <p:nvPr/>
        </p:nvPicPr>
        <p:blipFill>
          <a:blip r:embed="rId6"/>
          <a:srcRect/>
          <a:stretch>
            <a:fillRect/>
          </a:stretch>
        </p:blipFill>
        <p:spPr bwMode="auto">
          <a:xfrm>
            <a:off x="6886305" y="851692"/>
            <a:ext cx="1594573" cy="1863657"/>
          </a:xfrm>
          <a:prstGeom prst="rect">
            <a:avLst/>
          </a:prstGeom>
          <a:noFill/>
          <a:ln w="38100">
            <a:solidFill>
              <a:srgbClr val="2217F5"/>
            </a:solidFill>
            <a:miter lim="800000"/>
            <a:headEnd/>
            <a:tailEnd/>
          </a:ln>
        </p:spPr>
      </p:pic>
      <p:pic>
        <p:nvPicPr>
          <p:cNvPr id="12" name="Picture 2" descr="C:\Users\123\Pictures\תשע'ג-י'ב-כ'ג\001.jpg"/>
          <p:cNvPicPr>
            <a:picLocks noChangeAspect="1" noChangeArrowheads="1"/>
          </p:cNvPicPr>
          <p:nvPr/>
        </p:nvPicPr>
        <p:blipFill rotWithShape="1">
          <a:blip r:embed="rId7"/>
          <a:srcRect l="67041" t="2025" r="3515" b="68281"/>
          <a:stretch/>
        </p:blipFill>
        <p:spPr bwMode="auto">
          <a:xfrm>
            <a:off x="6948264" y="4149084"/>
            <a:ext cx="1296144" cy="1557903"/>
          </a:xfrm>
          <a:prstGeom prst="rect">
            <a:avLst/>
          </a:prstGeom>
          <a:noFill/>
          <a:ln w="38100">
            <a:solidFill>
              <a:srgbClr val="2217F5"/>
            </a:solidFill>
          </a:ln>
        </p:spPr>
      </p:pic>
      <p:pic>
        <p:nvPicPr>
          <p:cNvPr id="143363" name="Picture 3" descr="C:\Users\123\Pictures\תשע'ד-א'-ד'\001.jpg"/>
          <p:cNvPicPr>
            <a:picLocks noChangeAspect="1" noChangeArrowheads="1"/>
          </p:cNvPicPr>
          <p:nvPr/>
        </p:nvPicPr>
        <p:blipFill rotWithShape="1">
          <a:blip r:embed="rId8"/>
          <a:srcRect t="5813"/>
          <a:stretch/>
        </p:blipFill>
        <p:spPr bwMode="auto">
          <a:xfrm rot="10800000">
            <a:off x="611560" y="836712"/>
            <a:ext cx="1296804" cy="1739476"/>
          </a:xfrm>
          <a:prstGeom prst="rect">
            <a:avLst/>
          </a:prstGeom>
          <a:noFill/>
          <a:ln w="38100">
            <a:solidFill>
              <a:srgbClr val="2217F5"/>
            </a:solidFill>
          </a:ln>
        </p:spPr>
      </p:pic>
      <p:pic>
        <p:nvPicPr>
          <p:cNvPr id="10" name="Picture 1" descr="C:\Users\123\Pictures\תשע'ד-א'-ד'\014.jpg"/>
          <p:cNvPicPr>
            <a:picLocks noChangeAspect="1" noChangeArrowheads="1"/>
          </p:cNvPicPr>
          <p:nvPr/>
        </p:nvPicPr>
        <p:blipFill rotWithShape="1">
          <a:blip r:embed="rId9"/>
          <a:srcRect l="8053" t="7386" r="6039" b="17413"/>
          <a:stretch/>
        </p:blipFill>
        <p:spPr bwMode="auto">
          <a:xfrm>
            <a:off x="630524" y="4173419"/>
            <a:ext cx="1138633" cy="1656184"/>
          </a:xfrm>
          <a:prstGeom prst="rect">
            <a:avLst/>
          </a:prstGeom>
          <a:noFill/>
          <a:ln w="38100">
            <a:solidFill>
              <a:srgbClr val="2217F5"/>
            </a:solidFill>
          </a:ln>
        </p:spPr>
      </p:pic>
      <p:sp>
        <p:nvSpPr>
          <p:cNvPr id="2" name="TextBox 1"/>
          <p:cNvSpPr txBox="1"/>
          <p:nvPr/>
        </p:nvSpPr>
        <p:spPr>
          <a:xfrm>
            <a:off x="3623663" y="180505"/>
            <a:ext cx="1896673" cy="369332"/>
          </a:xfrm>
          <a:prstGeom prst="rect">
            <a:avLst/>
          </a:prstGeom>
          <a:solidFill>
            <a:srgbClr val="FFFF00"/>
          </a:solidFill>
          <a:ln w="12700">
            <a:solidFill>
              <a:schemeClr val="tx1"/>
            </a:solidFill>
          </a:ln>
        </p:spPr>
        <p:txBody>
          <a:bodyPr wrap="none" rtlCol="1">
            <a:spAutoFit/>
          </a:bodyPr>
          <a:lstStyle/>
          <a:p>
            <a:r>
              <a:rPr lang="he-IL" sz="1800" b="1" dirty="0"/>
              <a:t>המשתתפים במסע</a:t>
            </a:r>
          </a:p>
        </p:txBody>
      </p:sp>
      <p:sp>
        <p:nvSpPr>
          <p:cNvPr id="3" name="TextBox 2"/>
          <p:cNvSpPr txBox="1"/>
          <p:nvPr/>
        </p:nvSpPr>
        <p:spPr>
          <a:xfrm>
            <a:off x="5724130" y="5805268"/>
            <a:ext cx="3295967" cy="954107"/>
          </a:xfrm>
          <a:prstGeom prst="rect">
            <a:avLst/>
          </a:prstGeom>
          <a:noFill/>
        </p:spPr>
        <p:txBody>
          <a:bodyPr wrap="square" rtlCol="1">
            <a:spAutoFit/>
          </a:bodyPr>
          <a:lstStyle/>
          <a:p>
            <a:pPr algn="r" rtl="1"/>
            <a:r>
              <a:rPr lang="he-IL" b="1" dirty="0"/>
              <a:t>         הרב יונתן בנימין הורוביץ                 </a:t>
            </a:r>
          </a:p>
          <a:p>
            <a:pPr algn="r" rtl="1"/>
            <a:r>
              <a:rPr lang="he-IL" b="1" dirty="0"/>
              <a:t>      נציג פקידים ואמרכלים מהולנד               </a:t>
            </a:r>
          </a:p>
          <a:p>
            <a:pPr algn="r" rtl="1"/>
            <a:r>
              <a:rPr lang="en-US" b="1" dirty="0"/>
              <a:t> </a:t>
            </a:r>
            <a:r>
              <a:rPr lang="he-IL" b="1" dirty="0"/>
              <a:t>     מנהל כולל </a:t>
            </a:r>
            <a:r>
              <a:rPr lang="he-IL" b="1" dirty="0" err="1"/>
              <a:t>הו"ד</a:t>
            </a:r>
            <a:r>
              <a:rPr lang="he-IL" b="1" dirty="0"/>
              <a:t>, יו"ר </a:t>
            </a:r>
            <a:r>
              <a:rPr lang="he-IL" b="1" dirty="0" err="1"/>
              <a:t>אגד"י</a:t>
            </a:r>
            <a:endParaRPr lang="he-IL" b="1" dirty="0"/>
          </a:p>
          <a:p>
            <a:pPr algn="r" rtl="1"/>
            <a:r>
              <a:rPr lang="he-IL" b="1" dirty="0"/>
              <a:t>         </a:t>
            </a:r>
            <a:r>
              <a:rPr lang="he-IL" b="1" dirty="0">
                <a:solidFill>
                  <a:srgbClr val="FF0000"/>
                </a:solidFill>
              </a:rPr>
              <a:t>ממארגני המסע ומממנו</a:t>
            </a:r>
          </a:p>
        </p:txBody>
      </p:sp>
      <p:sp>
        <p:nvSpPr>
          <p:cNvPr id="4" name="TextBox 3"/>
          <p:cNvSpPr txBox="1"/>
          <p:nvPr/>
        </p:nvSpPr>
        <p:spPr>
          <a:xfrm>
            <a:off x="251520" y="6021288"/>
            <a:ext cx="1731564" cy="523220"/>
          </a:xfrm>
          <a:prstGeom prst="rect">
            <a:avLst/>
          </a:prstGeom>
          <a:noFill/>
        </p:spPr>
        <p:txBody>
          <a:bodyPr wrap="none" rtlCol="1">
            <a:spAutoFit/>
          </a:bodyPr>
          <a:lstStyle/>
          <a:p>
            <a:pPr algn="r" rtl="1"/>
            <a:r>
              <a:rPr lang="he-IL" b="1" dirty="0"/>
              <a:t>הרב אברהם זילברמן </a:t>
            </a:r>
          </a:p>
          <a:p>
            <a:pPr algn="r" rtl="1"/>
            <a:r>
              <a:rPr lang="he-IL" b="1" dirty="0"/>
              <a:t>       אב"ד צפת</a:t>
            </a:r>
          </a:p>
        </p:txBody>
      </p:sp>
      <p:sp>
        <p:nvSpPr>
          <p:cNvPr id="6" name="TextBox 5"/>
          <p:cNvSpPr txBox="1"/>
          <p:nvPr/>
        </p:nvSpPr>
        <p:spPr>
          <a:xfrm>
            <a:off x="6310841" y="2757247"/>
            <a:ext cx="2664296" cy="1600438"/>
          </a:xfrm>
          <a:prstGeom prst="rect">
            <a:avLst/>
          </a:prstGeom>
          <a:noFill/>
        </p:spPr>
        <p:txBody>
          <a:bodyPr wrap="square" rtlCol="1">
            <a:spAutoFit/>
          </a:bodyPr>
          <a:lstStyle/>
          <a:p>
            <a:pPr algn="ctr"/>
            <a:r>
              <a:rPr lang="en-US" b="1" dirty="0"/>
              <a:t>        </a:t>
            </a:r>
            <a:r>
              <a:rPr lang="he-IL" b="1" dirty="0"/>
              <a:t>     </a:t>
            </a:r>
            <a:r>
              <a:rPr lang="he-IL" b="1" dirty="0" err="1"/>
              <a:t>הראי"ה</a:t>
            </a:r>
            <a:r>
              <a:rPr lang="he-IL" b="1" dirty="0"/>
              <a:t> קוק </a:t>
            </a:r>
          </a:p>
          <a:p>
            <a:pPr algn="ctr"/>
            <a:r>
              <a:rPr lang="en-US" b="1" dirty="0"/>
              <a:t> </a:t>
            </a:r>
            <a:r>
              <a:rPr lang="he-IL" b="1" dirty="0"/>
              <a:t>רבה של יפו והמושבות, </a:t>
            </a:r>
          </a:p>
          <a:p>
            <a:pPr algn="ctr"/>
            <a:r>
              <a:rPr lang="he-IL" b="1" dirty="0">
                <a:solidFill>
                  <a:srgbClr val="FF0000"/>
                </a:solidFill>
              </a:rPr>
              <a:t>היוזם, הדמות המרכזית</a:t>
            </a:r>
            <a:endParaRPr lang="en-US" b="1" dirty="0">
              <a:solidFill>
                <a:srgbClr val="FF0000"/>
              </a:solidFill>
            </a:endParaRPr>
          </a:p>
          <a:p>
            <a:pPr algn="ctr"/>
            <a:endParaRPr lang="en-US" b="1" dirty="0"/>
          </a:p>
          <a:p>
            <a:pPr algn="ctr" rtl="1"/>
            <a:r>
              <a:rPr lang="he-IL" b="1" dirty="0"/>
              <a:t>הרב יוסף גרינברג</a:t>
            </a:r>
          </a:p>
          <a:p>
            <a:pPr algn="ctr" rtl="1"/>
            <a:r>
              <a:rPr lang="he-IL" b="1" dirty="0"/>
              <a:t>שמשו ביפו </a:t>
            </a:r>
          </a:p>
          <a:p>
            <a:pPr algn="ctr" rtl="1"/>
            <a:endParaRPr lang="he-IL" b="1" dirty="0"/>
          </a:p>
        </p:txBody>
      </p:sp>
      <p:sp>
        <p:nvSpPr>
          <p:cNvPr id="7" name="TextBox 6"/>
          <p:cNvSpPr txBox="1"/>
          <p:nvPr/>
        </p:nvSpPr>
        <p:spPr>
          <a:xfrm>
            <a:off x="4427985" y="2905780"/>
            <a:ext cx="1829348" cy="523220"/>
          </a:xfrm>
          <a:prstGeom prst="rect">
            <a:avLst/>
          </a:prstGeom>
          <a:noFill/>
        </p:spPr>
        <p:txBody>
          <a:bodyPr wrap="none" rtlCol="1">
            <a:spAutoFit/>
          </a:bodyPr>
          <a:lstStyle/>
          <a:p>
            <a:pPr algn="r" rtl="1"/>
            <a:r>
              <a:rPr lang="he-IL" b="1" dirty="0"/>
              <a:t>הרב יעקב משה חרל"פ</a:t>
            </a:r>
          </a:p>
          <a:p>
            <a:pPr algn="r" rtl="1"/>
            <a:r>
              <a:rPr lang="he-IL" b="1" dirty="0"/>
              <a:t>  רבה של 'שערי חסד'</a:t>
            </a:r>
          </a:p>
        </p:txBody>
      </p:sp>
      <p:sp>
        <p:nvSpPr>
          <p:cNvPr id="8" name="TextBox 7"/>
          <p:cNvSpPr txBox="1"/>
          <p:nvPr/>
        </p:nvSpPr>
        <p:spPr>
          <a:xfrm>
            <a:off x="2009662" y="2780932"/>
            <a:ext cx="2364815" cy="954107"/>
          </a:xfrm>
          <a:prstGeom prst="rect">
            <a:avLst/>
          </a:prstGeom>
          <a:noFill/>
        </p:spPr>
        <p:txBody>
          <a:bodyPr wrap="none" rtlCol="1">
            <a:spAutoFit/>
          </a:bodyPr>
          <a:lstStyle/>
          <a:p>
            <a:pPr algn="r" rtl="1"/>
            <a:r>
              <a:rPr lang="he-IL" b="1" dirty="0"/>
              <a:t>    הרב יוסף חיים </a:t>
            </a:r>
            <a:r>
              <a:rPr lang="he-IL" b="1" dirty="0" err="1"/>
              <a:t>זוננפלד</a:t>
            </a:r>
            <a:endParaRPr lang="he-IL" b="1" dirty="0"/>
          </a:p>
          <a:p>
            <a:pPr algn="r" rtl="1"/>
            <a:r>
              <a:rPr lang="he-IL" b="1" dirty="0"/>
              <a:t>      אב בית דין בירושלים</a:t>
            </a:r>
          </a:p>
          <a:p>
            <a:pPr algn="r" rtl="1"/>
            <a:endParaRPr lang="he-IL" b="1" dirty="0"/>
          </a:p>
          <a:p>
            <a:pPr algn="r" rtl="1"/>
            <a:r>
              <a:rPr lang="he-IL" b="1" dirty="0"/>
              <a:t>ובנו הרב אליהו מרדכי </a:t>
            </a:r>
            <a:r>
              <a:rPr lang="he-IL" b="1" dirty="0" err="1"/>
              <a:t>זוננפלד</a:t>
            </a:r>
            <a:endParaRPr lang="he-IL" b="1" dirty="0"/>
          </a:p>
        </p:txBody>
      </p:sp>
      <p:sp>
        <p:nvSpPr>
          <p:cNvPr id="14" name="TextBox 13"/>
          <p:cNvSpPr txBox="1"/>
          <p:nvPr/>
        </p:nvSpPr>
        <p:spPr>
          <a:xfrm>
            <a:off x="345842" y="2690336"/>
            <a:ext cx="1558440" cy="738664"/>
          </a:xfrm>
          <a:prstGeom prst="rect">
            <a:avLst/>
          </a:prstGeom>
          <a:noFill/>
        </p:spPr>
        <p:txBody>
          <a:bodyPr wrap="none" rtlCol="1">
            <a:spAutoFit/>
          </a:bodyPr>
          <a:lstStyle/>
          <a:p>
            <a:pPr algn="r" rtl="1"/>
            <a:r>
              <a:rPr lang="he-IL" b="1" dirty="0"/>
              <a:t>  הרב בן ציון </a:t>
            </a:r>
            <a:r>
              <a:rPr lang="he-IL" b="1" dirty="0" err="1"/>
              <a:t>יאדלר</a:t>
            </a:r>
            <a:endParaRPr lang="he-IL" b="1" dirty="0"/>
          </a:p>
          <a:p>
            <a:pPr algn="r" rtl="1"/>
            <a:r>
              <a:rPr lang="he-IL" b="1" dirty="0"/>
              <a:t> מגיד, אחראי </a:t>
            </a:r>
            <a:r>
              <a:rPr lang="he-IL" b="1" dirty="0" err="1"/>
              <a:t>תו"מ</a:t>
            </a:r>
            <a:endParaRPr lang="he-IL" b="1" dirty="0"/>
          </a:p>
          <a:p>
            <a:pPr algn="r" rtl="1"/>
            <a:r>
              <a:rPr lang="he-IL" b="1" dirty="0"/>
              <a:t>    </a:t>
            </a:r>
            <a:r>
              <a:rPr lang="he-IL" b="1" dirty="0">
                <a:solidFill>
                  <a:srgbClr val="FF0000"/>
                </a:solidFill>
              </a:rPr>
              <a:t>מתכנן המסע</a:t>
            </a:r>
          </a:p>
        </p:txBody>
      </p:sp>
      <p:sp>
        <p:nvSpPr>
          <p:cNvPr id="15" name="TextBox 14"/>
          <p:cNvSpPr txBox="1"/>
          <p:nvPr/>
        </p:nvSpPr>
        <p:spPr>
          <a:xfrm>
            <a:off x="2459730" y="5958721"/>
            <a:ext cx="1475084" cy="523220"/>
          </a:xfrm>
          <a:prstGeom prst="rect">
            <a:avLst/>
          </a:prstGeom>
          <a:noFill/>
        </p:spPr>
        <p:txBody>
          <a:bodyPr wrap="none" rtlCol="1">
            <a:spAutoFit/>
          </a:bodyPr>
          <a:lstStyle/>
          <a:p>
            <a:pPr algn="r" rtl="1"/>
            <a:r>
              <a:rPr lang="he-IL" b="1" dirty="0"/>
              <a:t>הרב משה </a:t>
            </a:r>
            <a:r>
              <a:rPr lang="he-IL" b="1" dirty="0" err="1"/>
              <a:t>קלירס</a:t>
            </a:r>
            <a:endParaRPr lang="he-IL" b="1" dirty="0"/>
          </a:p>
          <a:p>
            <a:pPr algn="r" rtl="1"/>
            <a:r>
              <a:rPr lang="he-IL" b="1" dirty="0"/>
              <a:t> רבה של טבריה  </a:t>
            </a:r>
          </a:p>
        </p:txBody>
      </p:sp>
      <p:sp>
        <p:nvSpPr>
          <p:cNvPr id="16" name="TextBox 15"/>
          <p:cNvSpPr txBox="1"/>
          <p:nvPr/>
        </p:nvSpPr>
        <p:spPr>
          <a:xfrm>
            <a:off x="4762324" y="5949280"/>
            <a:ext cx="1383712" cy="523220"/>
          </a:xfrm>
          <a:prstGeom prst="rect">
            <a:avLst/>
          </a:prstGeom>
          <a:noFill/>
        </p:spPr>
        <p:txBody>
          <a:bodyPr wrap="none" rtlCol="1">
            <a:spAutoFit/>
          </a:bodyPr>
          <a:lstStyle/>
          <a:p>
            <a:pPr algn="r" rtl="1"/>
            <a:r>
              <a:rPr lang="he-IL" b="1" dirty="0"/>
              <a:t>הרב ברוך מרכוס</a:t>
            </a:r>
          </a:p>
          <a:p>
            <a:pPr algn="r" rtl="1"/>
            <a:r>
              <a:rPr lang="en-US" b="1" dirty="0"/>
              <a:t>  </a:t>
            </a:r>
            <a:r>
              <a:rPr lang="he-IL" b="1" dirty="0"/>
              <a:t>רבה של חיפה</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10" name="Picture 2" descr="C:\Users\123\Pictures\תשע'ד-א'-ד'\002.jpg"/>
          <p:cNvPicPr>
            <a:picLocks noChangeAspect="1" noChangeArrowheads="1"/>
          </p:cNvPicPr>
          <p:nvPr/>
        </p:nvPicPr>
        <p:blipFill rotWithShape="1">
          <a:blip r:embed="rId2"/>
          <a:srcRect l="3753" t="1660" r="15240" b="6791"/>
          <a:stretch/>
        </p:blipFill>
        <p:spPr bwMode="auto">
          <a:xfrm>
            <a:off x="5868144" y="188640"/>
            <a:ext cx="3154644" cy="5355832"/>
          </a:xfrm>
          <a:prstGeom prst="rect">
            <a:avLst/>
          </a:prstGeom>
          <a:noFill/>
          <a:ln w="38100">
            <a:solidFill>
              <a:srgbClr val="FF0000"/>
            </a:solidFill>
          </a:ln>
        </p:spPr>
      </p:pic>
      <p:sp>
        <p:nvSpPr>
          <p:cNvPr id="2" name="TextBox 1"/>
          <p:cNvSpPr txBox="1"/>
          <p:nvPr/>
        </p:nvSpPr>
        <p:spPr>
          <a:xfrm>
            <a:off x="5868144" y="188640"/>
            <a:ext cx="2255746" cy="338554"/>
          </a:xfrm>
          <a:prstGeom prst="rect">
            <a:avLst/>
          </a:prstGeom>
          <a:solidFill>
            <a:srgbClr val="FFFF00"/>
          </a:solidFill>
          <a:ln w="12700">
            <a:solidFill>
              <a:schemeClr val="tx1"/>
            </a:solidFill>
          </a:ln>
        </p:spPr>
        <p:txBody>
          <a:bodyPr wrap="none" rtlCol="1">
            <a:spAutoFit/>
          </a:bodyPr>
          <a:lstStyle/>
          <a:p>
            <a:r>
              <a:rPr lang="he-IL" sz="1600" b="1" dirty="0"/>
              <a:t>מפת המסע – 26 יישובים</a:t>
            </a:r>
          </a:p>
        </p:txBody>
      </p:sp>
      <p:pic>
        <p:nvPicPr>
          <p:cNvPr id="4" name="Picture 2" descr="C:\Users\123\Pictures\תשע'ד-ב'-י'ח\001.jpg"/>
          <p:cNvPicPr>
            <a:picLocks noChangeAspect="1" noChangeArrowheads="1"/>
          </p:cNvPicPr>
          <p:nvPr/>
        </p:nvPicPr>
        <p:blipFill>
          <a:blip r:embed="rId3"/>
          <a:srcRect l="20015" t="32821" r="47308" b="50546"/>
          <a:stretch>
            <a:fillRect/>
          </a:stretch>
        </p:blipFill>
        <p:spPr bwMode="auto">
          <a:xfrm rot="10800000">
            <a:off x="3702760" y="915091"/>
            <a:ext cx="1954503" cy="1368152"/>
          </a:xfrm>
          <a:prstGeom prst="rect">
            <a:avLst/>
          </a:prstGeom>
          <a:noFill/>
          <a:ln w="38100">
            <a:solidFill>
              <a:srgbClr val="FF0000"/>
            </a:solidFill>
          </a:ln>
        </p:spPr>
      </p:pic>
      <p:pic>
        <p:nvPicPr>
          <p:cNvPr id="83970" name="Picture 2" descr="http://www.coupon424.co.il/halabi/hors%20(5).JPG"/>
          <p:cNvPicPr>
            <a:picLocks noChangeAspect="1" noChangeArrowheads="1"/>
          </p:cNvPicPr>
          <p:nvPr/>
        </p:nvPicPr>
        <p:blipFill>
          <a:blip r:embed="rId4"/>
          <a:srcRect l="21452"/>
          <a:stretch>
            <a:fillRect/>
          </a:stretch>
        </p:blipFill>
        <p:spPr bwMode="auto">
          <a:xfrm>
            <a:off x="1922303" y="908335"/>
            <a:ext cx="1584176" cy="1512625"/>
          </a:xfrm>
          <a:prstGeom prst="rect">
            <a:avLst/>
          </a:prstGeom>
          <a:noFill/>
          <a:ln w="38100">
            <a:solidFill>
              <a:srgbClr val="FF0000"/>
            </a:solidFill>
          </a:ln>
        </p:spPr>
      </p:pic>
      <p:pic>
        <p:nvPicPr>
          <p:cNvPr id="83974" name="Picture 6" descr="http://beeri.wikibbutz.org/Wikibbutz/images/thumb/0/07/Tinofet.jpg/400px-Tinofet.jpg"/>
          <p:cNvPicPr>
            <a:picLocks noChangeAspect="1" noChangeArrowheads="1"/>
          </p:cNvPicPr>
          <p:nvPr/>
        </p:nvPicPr>
        <p:blipFill>
          <a:blip r:embed="rId5"/>
          <a:srcRect/>
          <a:stretch>
            <a:fillRect/>
          </a:stretch>
        </p:blipFill>
        <p:spPr bwMode="auto">
          <a:xfrm>
            <a:off x="69838" y="849743"/>
            <a:ext cx="1656184" cy="1498847"/>
          </a:xfrm>
          <a:prstGeom prst="rect">
            <a:avLst/>
          </a:prstGeom>
          <a:noFill/>
          <a:ln w="38100">
            <a:solidFill>
              <a:srgbClr val="FF0000"/>
            </a:solidFill>
          </a:ln>
        </p:spPr>
      </p:pic>
      <p:pic>
        <p:nvPicPr>
          <p:cNvPr id="83978" name="Picture 10" descr="http://upload.wikimedia.org/wikipedia/commons/a/ac/Al-Sharia_ship.jpg"/>
          <p:cNvPicPr>
            <a:picLocks noChangeAspect="1" noChangeArrowheads="1"/>
          </p:cNvPicPr>
          <p:nvPr/>
        </p:nvPicPr>
        <p:blipFill>
          <a:blip r:embed="rId6"/>
          <a:srcRect/>
          <a:stretch>
            <a:fillRect/>
          </a:stretch>
        </p:blipFill>
        <p:spPr bwMode="auto">
          <a:xfrm>
            <a:off x="479571" y="2757503"/>
            <a:ext cx="2304256" cy="1305100"/>
          </a:xfrm>
          <a:prstGeom prst="rect">
            <a:avLst/>
          </a:prstGeom>
          <a:noFill/>
          <a:ln w="38100">
            <a:solidFill>
              <a:srgbClr val="FF0000"/>
            </a:solidFill>
          </a:ln>
        </p:spPr>
      </p:pic>
      <p:pic>
        <p:nvPicPr>
          <p:cNvPr id="82946" name="Picture 2" descr="http://www.ynet.co.il/PicServer2/01082004/527720/o_train.jpg"/>
          <p:cNvPicPr>
            <a:picLocks noChangeAspect="1" noChangeArrowheads="1"/>
          </p:cNvPicPr>
          <p:nvPr/>
        </p:nvPicPr>
        <p:blipFill>
          <a:blip r:embed="rId7"/>
          <a:srcRect l="35205" t="28000" r="5501" b="7601"/>
          <a:stretch>
            <a:fillRect/>
          </a:stretch>
        </p:blipFill>
        <p:spPr bwMode="auto">
          <a:xfrm>
            <a:off x="3723947" y="2737228"/>
            <a:ext cx="1872208" cy="1345650"/>
          </a:xfrm>
          <a:prstGeom prst="rect">
            <a:avLst/>
          </a:prstGeom>
          <a:noFill/>
          <a:ln w="38100">
            <a:solidFill>
              <a:srgbClr val="FF0000"/>
            </a:solidFill>
          </a:ln>
        </p:spPr>
      </p:pic>
      <p:sp>
        <p:nvSpPr>
          <p:cNvPr id="9" name="TextBox 8"/>
          <p:cNvSpPr txBox="1"/>
          <p:nvPr/>
        </p:nvSpPr>
        <p:spPr>
          <a:xfrm>
            <a:off x="2278375" y="266350"/>
            <a:ext cx="1846979" cy="338554"/>
          </a:xfrm>
          <a:prstGeom prst="rect">
            <a:avLst/>
          </a:prstGeom>
          <a:solidFill>
            <a:srgbClr val="FFFF00"/>
          </a:solidFill>
          <a:ln>
            <a:solidFill>
              <a:schemeClr val="tx1"/>
            </a:solidFill>
          </a:ln>
        </p:spPr>
        <p:txBody>
          <a:bodyPr wrap="none" rtlCol="1">
            <a:spAutoFit/>
          </a:bodyPr>
          <a:lstStyle/>
          <a:p>
            <a:r>
              <a:rPr lang="he-IL" sz="1600" b="1" dirty="0"/>
              <a:t>כלי התחבורה במסע</a:t>
            </a:r>
          </a:p>
        </p:txBody>
      </p:sp>
      <p:sp>
        <p:nvSpPr>
          <p:cNvPr id="5" name="TextBox 4"/>
          <p:cNvSpPr txBox="1"/>
          <p:nvPr/>
        </p:nvSpPr>
        <p:spPr>
          <a:xfrm>
            <a:off x="241917" y="4363933"/>
            <a:ext cx="5487206" cy="1384995"/>
          </a:xfrm>
          <a:prstGeom prst="rect">
            <a:avLst/>
          </a:prstGeom>
          <a:noFill/>
          <a:ln w="12700">
            <a:solidFill>
              <a:srgbClr val="2217F5"/>
            </a:solidFill>
          </a:ln>
        </p:spPr>
        <p:txBody>
          <a:bodyPr wrap="square" rtlCol="1">
            <a:spAutoFit/>
          </a:bodyPr>
          <a:lstStyle/>
          <a:p>
            <a:pPr algn="r" rtl="1"/>
            <a:r>
              <a:rPr lang="he-IL" b="1" dirty="0"/>
              <a:t>הרב קוק כתב לרב יונתן בנימין הורוביץ ב</a:t>
            </a:r>
            <a:r>
              <a:rPr lang="he-IL" b="1" dirty="0">
                <a:solidFill>
                  <a:srgbClr val="FF0000"/>
                </a:solidFill>
              </a:rPr>
              <a:t>י"ג סיון תרע"ג: </a:t>
            </a:r>
          </a:p>
          <a:p>
            <a:pPr algn="r" rtl="1"/>
            <a:r>
              <a:rPr lang="he-IL" b="1" dirty="0"/>
              <a:t>קשה לי לדבר </a:t>
            </a:r>
            <a:r>
              <a:rPr lang="he-IL" b="1" dirty="0" err="1"/>
              <a:t>בעניני</a:t>
            </a:r>
            <a:r>
              <a:rPr lang="he-IL" b="1" dirty="0"/>
              <a:t> כספים...</a:t>
            </a:r>
            <a:r>
              <a:rPr lang="he-IL" b="1" dirty="0">
                <a:solidFill>
                  <a:srgbClr val="FF0000"/>
                </a:solidFill>
              </a:rPr>
              <a:t>סבות רבות גורמות כעת נחיצות גדולה שנסע נסיעה כללית...אי אפשר לדחות. </a:t>
            </a:r>
            <a:r>
              <a:rPr lang="he-IL" b="1" dirty="0"/>
              <a:t>ונסיעה זו מוכרחה להיות בחבורה כבודה ונעלה, ובהדרת הכבוד הראוי למסע קדוש זה...</a:t>
            </a:r>
            <a:r>
              <a:rPr lang="he-IL" b="1" dirty="0">
                <a:solidFill>
                  <a:srgbClr val="FF0000"/>
                </a:solidFill>
              </a:rPr>
              <a:t>והשאלה של מוצא לכסף רק היא האחת מעכבת...שכל </a:t>
            </a:r>
            <a:r>
              <a:rPr lang="he-IL" b="1" dirty="0" err="1">
                <a:solidFill>
                  <a:srgbClr val="FF0000"/>
                </a:solidFill>
              </a:rPr>
              <a:t>המצוה</a:t>
            </a:r>
            <a:r>
              <a:rPr lang="he-IL" b="1" dirty="0">
                <a:solidFill>
                  <a:srgbClr val="FF0000"/>
                </a:solidFill>
              </a:rPr>
              <a:t> כולה תקרא ע"ש כת"ר".    </a:t>
            </a:r>
            <a:r>
              <a:rPr lang="he-IL" b="1" dirty="0"/>
              <a:t>(</a:t>
            </a:r>
            <a:r>
              <a:rPr lang="he-IL" b="1" dirty="0" err="1"/>
              <a:t>אג"ר</a:t>
            </a:r>
            <a:r>
              <a:rPr lang="he-IL" b="1" dirty="0"/>
              <a:t> ב, תקן)</a:t>
            </a:r>
          </a:p>
          <a:p>
            <a:pPr algn="r" rtl="1"/>
            <a:r>
              <a:rPr lang="he-IL" b="1" dirty="0"/>
              <a:t>באותו היום </a:t>
            </a:r>
            <a:r>
              <a:rPr lang="he-IL" b="1" dirty="0" err="1"/>
              <a:t>לאגוד"י</a:t>
            </a:r>
            <a:r>
              <a:rPr lang="he-IL" b="1" dirty="0"/>
              <a:t>: שתממן את מערכת ההשגחה על </a:t>
            </a:r>
            <a:r>
              <a:rPr lang="he-IL" b="1" dirty="0" err="1"/>
              <a:t>תו"מ</a:t>
            </a:r>
            <a:r>
              <a:rPr lang="he-IL" b="1" dirty="0"/>
              <a:t>     (שם, תקנא)</a:t>
            </a:r>
          </a:p>
        </p:txBody>
      </p:sp>
      <p:sp>
        <p:nvSpPr>
          <p:cNvPr id="7" name="TextBox 6"/>
          <p:cNvSpPr txBox="1"/>
          <p:nvPr/>
        </p:nvSpPr>
        <p:spPr>
          <a:xfrm>
            <a:off x="251521" y="5953385"/>
            <a:ext cx="8703513" cy="738664"/>
          </a:xfrm>
          <a:prstGeom prst="rect">
            <a:avLst/>
          </a:prstGeom>
          <a:noFill/>
          <a:ln w="12700">
            <a:solidFill>
              <a:srgbClr val="2217F5"/>
            </a:solidFill>
          </a:ln>
        </p:spPr>
        <p:txBody>
          <a:bodyPr wrap="square" rtlCol="1">
            <a:spAutoFit/>
          </a:bodyPr>
          <a:lstStyle/>
          <a:p>
            <a:pPr algn="r" rtl="1"/>
            <a:r>
              <a:rPr lang="he-IL" b="1" dirty="0"/>
              <a:t>כתב לרב הורוביץ ב</a:t>
            </a:r>
            <a:r>
              <a:rPr lang="he-IL" b="1" dirty="0">
                <a:solidFill>
                  <a:srgbClr val="FF0000"/>
                </a:solidFill>
              </a:rPr>
              <a:t>ב' חשון תרע"ד: </a:t>
            </a:r>
          </a:p>
          <a:p>
            <a:pPr algn="r" rtl="1"/>
            <a:r>
              <a:rPr lang="he-IL" b="1" dirty="0">
                <a:solidFill>
                  <a:srgbClr val="FF0000"/>
                </a:solidFill>
              </a:rPr>
              <a:t>החלטתי </a:t>
            </a:r>
            <a:r>
              <a:rPr lang="he-IL" b="1" dirty="0" err="1">
                <a:solidFill>
                  <a:schemeClr val="tx1"/>
                </a:solidFill>
              </a:rPr>
              <a:t>בעזה"י</a:t>
            </a:r>
            <a:r>
              <a:rPr lang="he-IL" b="1" dirty="0">
                <a:solidFill>
                  <a:schemeClr val="tx1"/>
                </a:solidFill>
              </a:rPr>
              <a:t> </a:t>
            </a:r>
            <a:r>
              <a:rPr lang="he-IL" b="1" dirty="0"/>
              <a:t>לעשות את הנסיעה למושבות הגליל ת"ו בשבוע הבא עלינו לטובה אחר שבת קודש אם ירצה ה', </a:t>
            </a:r>
            <a:r>
              <a:rPr lang="he-IL" b="1" dirty="0">
                <a:solidFill>
                  <a:srgbClr val="FF0000"/>
                </a:solidFill>
              </a:rPr>
              <a:t>דרך ים לחיפה</a:t>
            </a:r>
            <a:r>
              <a:rPr lang="he-IL" b="1" dirty="0"/>
              <a:t>, ומשם לערי הגליל ומושבותיהן.  (לצרף רבנים, הסדר ערוך אך בהסכמה)                      (</a:t>
            </a:r>
            <a:r>
              <a:rPr lang="he-IL" b="1" dirty="0" err="1"/>
              <a:t>אג"ר</a:t>
            </a:r>
            <a:r>
              <a:rPr lang="he-IL" b="1" dirty="0"/>
              <a:t> ב', תריב עמ' </a:t>
            </a:r>
            <a:r>
              <a:rPr lang="he-IL" b="1" dirty="0" err="1"/>
              <a:t>רלט</a:t>
            </a:r>
            <a:r>
              <a:rPr lang="he-IL" b="1"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http://photos.wikimapia.org/p/00/00/20/00/46_big.jpg"/>
          <p:cNvPicPr>
            <a:picLocks noChangeAspect="1" noChangeArrowheads="1"/>
          </p:cNvPicPr>
          <p:nvPr/>
        </p:nvPicPr>
        <p:blipFill>
          <a:blip r:embed="rId2"/>
          <a:srcRect/>
          <a:stretch>
            <a:fillRect/>
          </a:stretch>
        </p:blipFill>
        <p:spPr bwMode="auto">
          <a:xfrm>
            <a:off x="5117604" y="752724"/>
            <a:ext cx="3819361" cy="2342542"/>
          </a:xfrm>
          <a:prstGeom prst="rect">
            <a:avLst/>
          </a:prstGeom>
          <a:noFill/>
          <a:ln w="38100">
            <a:solidFill>
              <a:srgbClr val="FF0000"/>
            </a:solidFill>
          </a:ln>
        </p:spPr>
      </p:pic>
      <p:pic>
        <p:nvPicPr>
          <p:cNvPr id="3" name="Picture 8" descr="http://egged02.co.il/Image/uploaded/%D7%94%D7%99%D7%95%20%D7%96%D7%9E%D7%A0%D7%99%D7%9D/%D7%A8%D7%9B%D7%91%D7%AA%20(3).JPG"/>
          <p:cNvPicPr>
            <a:picLocks noChangeAspect="1" noChangeArrowheads="1"/>
          </p:cNvPicPr>
          <p:nvPr/>
        </p:nvPicPr>
        <p:blipFill rotWithShape="1">
          <a:blip r:embed="rId3"/>
          <a:srcRect l="3540" r="3423" b="8499"/>
          <a:stretch/>
        </p:blipFill>
        <p:spPr bwMode="auto">
          <a:xfrm>
            <a:off x="340348" y="760632"/>
            <a:ext cx="4198513" cy="2326725"/>
          </a:xfrm>
          <a:prstGeom prst="rect">
            <a:avLst/>
          </a:prstGeom>
          <a:noFill/>
          <a:ln w="38100">
            <a:solidFill>
              <a:srgbClr val="FF0000"/>
            </a:solidFill>
          </a:ln>
        </p:spPr>
      </p:pic>
      <p:pic>
        <p:nvPicPr>
          <p:cNvPr id="4" name="Picture 4" descr="http://egged02.co.il/Image/uploaded/%D7%94%D7%99%D7%95%20%D7%96%D7%9E%D7%A0%D7%99%D7%9D/IMG_0470.JPG"/>
          <p:cNvPicPr>
            <a:picLocks noChangeAspect="1" noChangeArrowheads="1"/>
          </p:cNvPicPr>
          <p:nvPr/>
        </p:nvPicPr>
        <p:blipFill>
          <a:blip r:embed="rId4"/>
          <a:srcRect/>
          <a:stretch>
            <a:fillRect/>
          </a:stretch>
        </p:blipFill>
        <p:spPr bwMode="auto">
          <a:xfrm>
            <a:off x="756344" y="3559743"/>
            <a:ext cx="3172961" cy="2379721"/>
          </a:xfrm>
          <a:prstGeom prst="rect">
            <a:avLst/>
          </a:prstGeom>
          <a:noFill/>
          <a:ln w="38100">
            <a:solidFill>
              <a:srgbClr val="FF0000"/>
            </a:solidFill>
          </a:ln>
        </p:spPr>
      </p:pic>
      <p:sp>
        <p:nvSpPr>
          <p:cNvPr id="5" name="Shape 32"/>
          <p:cNvSpPr/>
          <p:nvPr/>
        </p:nvSpPr>
        <p:spPr>
          <a:xfrm>
            <a:off x="4594017" y="3559743"/>
            <a:ext cx="4332629" cy="2340370"/>
          </a:xfrm>
          <a:prstGeom prst="rect">
            <a:avLst/>
          </a:prstGeom>
          <a:blipFill>
            <a:blip r:embed="rId5"/>
            <a:stretch>
              <a:fillRect/>
            </a:stretch>
          </a:blipFill>
          <a:ln w="38100">
            <a:solidFill>
              <a:srgbClr val="FF0000"/>
            </a:solidFill>
          </a:ln>
        </p:spPr>
        <p:txBody>
          <a:bodyPr/>
          <a:lstStyle/>
          <a:p>
            <a:endParaRPr lang="he-IL"/>
          </a:p>
        </p:txBody>
      </p:sp>
      <p:sp>
        <p:nvSpPr>
          <p:cNvPr id="6" name="TextBox 5"/>
          <p:cNvSpPr txBox="1"/>
          <p:nvPr/>
        </p:nvSpPr>
        <p:spPr>
          <a:xfrm>
            <a:off x="6168715" y="3118172"/>
            <a:ext cx="1717137" cy="307777"/>
          </a:xfrm>
          <a:prstGeom prst="rect">
            <a:avLst/>
          </a:prstGeom>
          <a:noFill/>
          <a:ln w="38100">
            <a:noFill/>
          </a:ln>
        </p:spPr>
        <p:txBody>
          <a:bodyPr wrap="none" rtlCol="1">
            <a:spAutoFit/>
          </a:bodyPr>
          <a:lstStyle/>
          <a:p>
            <a:r>
              <a:rPr lang="he-IL" b="1" dirty="0"/>
              <a:t>נוסדה – 26.9.1892  </a:t>
            </a:r>
          </a:p>
        </p:txBody>
      </p:sp>
      <p:sp>
        <p:nvSpPr>
          <p:cNvPr id="8" name="TextBox 7"/>
          <p:cNvSpPr txBox="1"/>
          <p:nvPr/>
        </p:nvSpPr>
        <p:spPr>
          <a:xfrm>
            <a:off x="1975869" y="3103314"/>
            <a:ext cx="582211" cy="307777"/>
          </a:xfrm>
          <a:prstGeom prst="rect">
            <a:avLst/>
          </a:prstGeom>
          <a:noFill/>
          <a:ln w="38100">
            <a:noFill/>
          </a:ln>
        </p:spPr>
        <p:txBody>
          <a:bodyPr wrap="none" rtlCol="1">
            <a:spAutoFit/>
          </a:bodyPr>
          <a:lstStyle/>
          <a:p>
            <a:r>
              <a:rPr lang="he-IL" b="1" dirty="0"/>
              <a:t>1928</a:t>
            </a:r>
          </a:p>
        </p:txBody>
      </p:sp>
      <p:sp>
        <p:nvSpPr>
          <p:cNvPr id="10" name="TextBox 9"/>
          <p:cNvSpPr txBox="1"/>
          <p:nvPr/>
        </p:nvSpPr>
        <p:spPr>
          <a:xfrm>
            <a:off x="2342825" y="143741"/>
            <a:ext cx="4847802" cy="369332"/>
          </a:xfrm>
          <a:prstGeom prst="rect">
            <a:avLst/>
          </a:prstGeom>
          <a:solidFill>
            <a:srgbClr val="FFFF00"/>
          </a:solidFill>
          <a:ln>
            <a:solidFill>
              <a:schemeClr val="tx1"/>
            </a:solidFill>
          </a:ln>
        </p:spPr>
        <p:txBody>
          <a:bodyPr wrap="none" rtlCol="1">
            <a:spAutoFit/>
          </a:bodyPr>
          <a:lstStyle/>
          <a:p>
            <a:r>
              <a:rPr lang="he-IL" sz="1800" b="1" dirty="0"/>
              <a:t>יציאת הירושלמים ליפו - מתחנת הרכבת בירושלים </a:t>
            </a:r>
          </a:p>
        </p:txBody>
      </p:sp>
      <p:sp>
        <p:nvSpPr>
          <p:cNvPr id="9" name="TextBox 8"/>
          <p:cNvSpPr txBox="1"/>
          <p:nvPr/>
        </p:nvSpPr>
        <p:spPr>
          <a:xfrm>
            <a:off x="1340987" y="5995258"/>
            <a:ext cx="6462026" cy="738664"/>
          </a:xfrm>
          <a:prstGeom prst="rect">
            <a:avLst/>
          </a:prstGeom>
          <a:noFill/>
        </p:spPr>
        <p:txBody>
          <a:bodyPr wrap="none" rtlCol="1">
            <a:spAutoFit/>
          </a:bodyPr>
          <a:lstStyle/>
          <a:p>
            <a:pPr algn="r" rtl="1"/>
            <a:r>
              <a:rPr lang="he-IL" b="1" dirty="0"/>
              <a:t>מסע רבני בתי הספר בעקבות 'מסע המושבות' – יציאה מתחנת הרכבת הישנה בירושלים</a:t>
            </a:r>
          </a:p>
          <a:p>
            <a:pPr algn="ctr" rtl="1"/>
            <a:r>
              <a:rPr lang="he-IL" b="1" dirty="0"/>
              <a:t>מדריך: הרב אברהם טייץ, מנהל 'בית הרב', ט"ז באלול תשע"ג (2013)</a:t>
            </a:r>
          </a:p>
          <a:p>
            <a:pPr algn="ctr" rtl="1"/>
            <a:r>
              <a:rPr lang="he-IL" b="1" dirty="0"/>
              <a:t>יוזם ומארגן: הרב חיים </a:t>
            </a:r>
            <a:r>
              <a:rPr lang="he-IL" b="1" dirty="0" err="1"/>
              <a:t>ענזי</a:t>
            </a:r>
            <a:r>
              <a:rPr lang="he-IL" b="1" dirty="0"/>
              <a:t>, מפקח על רבני בתי הספר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6803" r="4612"/>
          <a:stretch/>
        </p:blipFill>
        <p:spPr bwMode="auto">
          <a:xfrm>
            <a:off x="5219208" y="789706"/>
            <a:ext cx="3474476" cy="2355061"/>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24" y="764842"/>
            <a:ext cx="4680520" cy="2379925"/>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3710225" y="125763"/>
            <a:ext cx="1723549" cy="338554"/>
          </a:xfrm>
          <a:prstGeom prst="rect">
            <a:avLst/>
          </a:prstGeom>
          <a:solidFill>
            <a:srgbClr val="FFFF00"/>
          </a:solidFill>
          <a:ln>
            <a:solidFill>
              <a:schemeClr val="tx1"/>
            </a:solidFill>
          </a:ln>
        </p:spPr>
        <p:txBody>
          <a:bodyPr wrap="none" rtlCol="1">
            <a:spAutoFit/>
          </a:bodyPr>
          <a:lstStyle/>
          <a:p>
            <a:r>
              <a:rPr lang="he-IL" sz="1600" b="1"/>
              <a:t>תחנת הרכבת ביפו</a:t>
            </a:r>
            <a:endParaRPr lang="he-IL" sz="1600" b="1" dirty="0"/>
          </a:p>
        </p:txBody>
      </p:sp>
      <p:sp>
        <p:nvSpPr>
          <p:cNvPr id="6" name="TextBox 5"/>
          <p:cNvSpPr txBox="1"/>
          <p:nvPr/>
        </p:nvSpPr>
        <p:spPr>
          <a:xfrm>
            <a:off x="255468" y="5842782"/>
            <a:ext cx="4213013" cy="738664"/>
          </a:xfrm>
          <a:prstGeom prst="rect">
            <a:avLst/>
          </a:prstGeom>
          <a:noFill/>
          <a:ln>
            <a:solidFill>
              <a:srgbClr val="2217F5"/>
            </a:solidFill>
          </a:ln>
        </p:spPr>
        <p:txBody>
          <a:bodyPr wrap="none" rtlCol="1">
            <a:spAutoFit/>
          </a:bodyPr>
          <a:lstStyle/>
          <a:p>
            <a:pPr algn="r" rtl="1"/>
            <a:r>
              <a:rPr lang="he-IL" b="1" dirty="0"/>
              <a:t>לקחו כלים, יאכלו אצל </a:t>
            </a:r>
            <a:r>
              <a:rPr lang="he-IL" b="1" dirty="0" err="1"/>
              <a:t>השו"בים</a:t>
            </a:r>
            <a:r>
              <a:rPr lang="he-IL" b="1" dirty="0"/>
              <a:t> במושבות.</a:t>
            </a:r>
          </a:p>
          <a:p>
            <a:pPr algn="r" rtl="1"/>
            <a:r>
              <a:rPr lang="he-IL" b="1" dirty="0"/>
              <a:t>הרב קוק – ראש המדברים בכל מקום ופוסק את ההלכות.</a:t>
            </a:r>
          </a:p>
          <a:p>
            <a:pPr algn="r" rtl="1"/>
            <a:r>
              <a:rPr lang="he-IL" b="1" dirty="0"/>
              <a:t>הרב </a:t>
            </a:r>
            <a:r>
              <a:rPr lang="he-IL" b="1" dirty="0" err="1"/>
              <a:t>זוננפלד</a:t>
            </a:r>
            <a:r>
              <a:rPr lang="he-IL" b="1" dirty="0"/>
              <a:t> – ידרוש אצל יוצאי הונגריה ואוסטריה.</a:t>
            </a:r>
          </a:p>
        </p:txBody>
      </p:sp>
      <p:sp>
        <p:nvSpPr>
          <p:cNvPr id="7" name="TextBox 6"/>
          <p:cNvSpPr txBox="1"/>
          <p:nvPr/>
        </p:nvSpPr>
        <p:spPr>
          <a:xfrm>
            <a:off x="6142940" y="3258068"/>
            <a:ext cx="1297150" cy="338554"/>
          </a:xfrm>
          <a:prstGeom prst="rect">
            <a:avLst/>
          </a:prstGeom>
          <a:solidFill>
            <a:srgbClr val="FFFF00"/>
          </a:solidFill>
          <a:ln>
            <a:solidFill>
              <a:schemeClr val="tx1"/>
            </a:solidFill>
          </a:ln>
        </p:spPr>
        <p:txBody>
          <a:bodyPr wrap="none" rtlCol="1">
            <a:spAutoFit/>
          </a:bodyPr>
          <a:lstStyle/>
          <a:p>
            <a:pPr algn="r" rtl="1"/>
            <a:r>
              <a:rPr lang="he-IL" sz="1600" b="1" dirty="0"/>
              <a:t>מטרות המסע</a:t>
            </a:r>
          </a:p>
        </p:txBody>
      </p:sp>
      <p:sp>
        <p:nvSpPr>
          <p:cNvPr id="8" name="TextBox 7"/>
          <p:cNvSpPr txBox="1"/>
          <p:nvPr/>
        </p:nvSpPr>
        <p:spPr>
          <a:xfrm>
            <a:off x="4962952" y="4926302"/>
            <a:ext cx="3986989" cy="1815882"/>
          </a:xfrm>
          <a:prstGeom prst="rect">
            <a:avLst/>
          </a:prstGeom>
          <a:noFill/>
          <a:ln>
            <a:solidFill>
              <a:srgbClr val="2217F5"/>
            </a:solidFill>
          </a:ln>
        </p:spPr>
        <p:txBody>
          <a:bodyPr wrap="none" rtlCol="1">
            <a:spAutoFit/>
          </a:bodyPr>
          <a:lstStyle/>
          <a:p>
            <a:pPr marL="342900" indent="-342900" algn="r" rtl="1">
              <a:buFontTx/>
              <a:buAutoNum type="arabicPeriod"/>
            </a:pPr>
            <a:r>
              <a:rPr lang="he-IL" b="1" dirty="0">
                <a:solidFill>
                  <a:srgbClr val="FF0000"/>
                </a:solidFill>
              </a:rPr>
              <a:t>ש</a:t>
            </a:r>
            <a:r>
              <a:rPr lang="he-IL" b="1" dirty="0"/>
              <a:t>מירת שבת   </a:t>
            </a:r>
            <a:r>
              <a:rPr lang="he-IL" b="1" dirty="0">
                <a:solidFill>
                  <a:srgbClr val="FF0000"/>
                </a:solidFill>
              </a:rPr>
              <a:t>[</a:t>
            </a:r>
            <a:r>
              <a:rPr lang="he-IL" b="1" dirty="0" err="1">
                <a:solidFill>
                  <a:srgbClr val="FF0000"/>
                </a:solidFill>
              </a:rPr>
              <a:t>שב"ת</a:t>
            </a:r>
            <a:r>
              <a:rPr lang="he-IL" b="1" dirty="0">
                <a:solidFill>
                  <a:srgbClr val="FF0000"/>
                </a:solidFill>
              </a:rPr>
              <a:t>]</a:t>
            </a:r>
            <a:endParaRPr lang="he-IL" b="1" dirty="0"/>
          </a:p>
          <a:p>
            <a:pPr marL="342900" indent="-342900" algn="r" rtl="1">
              <a:buFontTx/>
              <a:buAutoNum type="arabicPeriod"/>
            </a:pPr>
            <a:r>
              <a:rPr lang="he-IL" b="1" dirty="0">
                <a:solidFill>
                  <a:srgbClr val="FF0000"/>
                </a:solidFill>
              </a:rPr>
              <a:t>ב</a:t>
            </a:r>
            <a:r>
              <a:rPr lang="he-IL" b="1" dirty="0"/>
              <a:t>נים – שיפור החינוך דתי</a:t>
            </a:r>
          </a:p>
          <a:p>
            <a:pPr marL="342900" indent="-342900" algn="r" rtl="1">
              <a:buAutoNum type="arabicPeriod"/>
            </a:pPr>
            <a:r>
              <a:rPr lang="he-IL" b="1" dirty="0">
                <a:solidFill>
                  <a:srgbClr val="FF0000"/>
                </a:solidFill>
              </a:rPr>
              <a:t>ת</a:t>
            </a:r>
            <a:r>
              <a:rPr lang="he-IL" b="1" dirty="0"/>
              <a:t>רומות ומעשרות</a:t>
            </a:r>
          </a:p>
          <a:p>
            <a:pPr marL="342900" indent="-342900" algn="r" rtl="1">
              <a:buAutoNum type="arabicPeriod"/>
            </a:pPr>
            <a:r>
              <a:rPr lang="he-IL" b="1" dirty="0"/>
              <a:t>הקפדה על כשרות</a:t>
            </a:r>
          </a:p>
          <a:p>
            <a:pPr marL="342900" indent="-342900" algn="r" rtl="1">
              <a:buAutoNum type="arabicPeriod"/>
            </a:pPr>
            <a:r>
              <a:rPr lang="he-IL" b="1" dirty="0"/>
              <a:t>לבנות ולתקן מקוואות</a:t>
            </a:r>
          </a:p>
          <a:p>
            <a:pPr marL="342900" indent="-342900" algn="r" rtl="1">
              <a:buAutoNum type="arabicPeriod"/>
            </a:pPr>
            <a:r>
              <a:rPr lang="he-IL" b="1" dirty="0"/>
              <a:t>למנות </a:t>
            </a:r>
            <a:r>
              <a:rPr lang="he-IL" b="1" dirty="0" err="1"/>
              <a:t>שו"בים</a:t>
            </a:r>
            <a:r>
              <a:rPr lang="he-IL" b="1" dirty="0"/>
              <a:t>, רבנים, מנייני תפילה</a:t>
            </a:r>
          </a:p>
          <a:p>
            <a:pPr marL="342900" indent="-342900" algn="r" rtl="1">
              <a:buAutoNum type="arabicPeriod"/>
            </a:pPr>
            <a:r>
              <a:rPr lang="he-IL" b="1" dirty="0"/>
              <a:t>קשר בלתי אמצעי עם המתיישבים</a:t>
            </a:r>
          </a:p>
          <a:p>
            <a:pPr marL="342900" indent="-342900" algn="r" rtl="1">
              <a:buAutoNum type="arabicPeriod"/>
            </a:pPr>
            <a:r>
              <a:rPr lang="he-IL" b="1" dirty="0"/>
              <a:t>מניעת קרע ונתק בין 'הישוב הישן' ל'ישוב החדש'</a:t>
            </a:r>
          </a:p>
        </p:txBody>
      </p:sp>
      <p:sp>
        <p:nvSpPr>
          <p:cNvPr id="9" name="TextBox 8"/>
          <p:cNvSpPr txBox="1"/>
          <p:nvPr/>
        </p:nvSpPr>
        <p:spPr>
          <a:xfrm>
            <a:off x="5193841" y="3678988"/>
            <a:ext cx="3086101" cy="307777"/>
          </a:xfrm>
          <a:prstGeom prst="rect">
            <a:avLst/>
          </a:prstGeom>
          <a:noFill/>
          <a:ln>
            <a:solidFill>
              <a:srgbClr val="2217F5"/>
            </a:solidFill>
          </a:ln>
        </p:spPr>
        <p:txBody>
          <a:bodyPr wrap="none" rtlCol="1">
            <a:spAutoFit/>
          </a:bodyPr>
          <a:lstStyle/>
          <a:p>
            <a:pPr algn="r" rtl="1"/>
            <a:r>
              <a:rPr lang="he-IL" b="1" dirty="0"/>
              <a:t>"הרמת קרן הדת והיהדות בארץ הקודש"</a:t>
            </a:r>
          </a:p>
        </p:txBody>
      </p:sp>
      <p:sp>
        <p:nvSpPr>
          <p:cNvPr id="3" name="TextBox 2"/>
          <p:cNvSpPr txBox="1"/>
          <p:nvPr/>
        </p:nvSpPr>
        <p:spPr>
          <a:xfrm>
            <a:off x="4713060" y="4120173"/>
            <a:ext cx="4302781" cy="738664"/>
          </a:xfrm>
          <a:prstGeom prst="rect">
            <a:avLst/>
          </a:prstGeom>
          <a:noFill/>
          <a:ln>
            <a:solidFill>
              <a:srgbClr val="2217F5"/>
            </a:solidFill>
          </a:ln>
        </p:spPr>
        <p:txBody>
          <a:bodyPr wrap="none" rtlCol="1">
            <a:spAutoFit/>
          </a:bodyPr>
          <a:lstStyle/>
          <a:p>
            <a:pPr algn="r" rtl="1"/>
            <a:r>
              <a:rPr lang="he-IL" b="1" dirty="0"/>
              <a:t>כתב לרב הורוביץ </a:t>
            </a:r>
            <a:r>
              <a:rPr lang="he-IL" b="1" dirty="0">
                <a:solidFill>
                  <a:srgbClr val="FF0000"/>
                </a:solidFill>
              </a:rPr>
              <a:t>ב' חשון</a:t>
            </a:r>
            <a:r>
              <a:rPr lang="he-IL" b="1" dirty="0"/>
              <a:t>: "לפקח על עניני הדת והיהדות </a:t>
            </a:r>
          </a:p>
          <a:p>
            <a:pPr algn="r" rtl="1"/>
            <a:r>
              <a:rPr lang="he-IL" b="1" dirty="0"/>
              <a:t>בכלל שמה, ובפרט תיקון ענין תרומות ומעשרות". (</a:t>
            </a:r>
            <a:r>
              <a:rPr lang="he-IL" b="1" dirty="0" err="1"/>
              <a:t>אג"ר</a:t>
            </a:r>
            <a:r>
              <a:rPr lang="he-IL" b="1" dirty="0"/>
              <a:t> </a:t>
            </a:r>
          </a:p>
          <a:p>
            <a:pPr algn="r" rtl="1"/>
            <a:r>
              <a:rPr lang="he-IL" b="1" dirty="0"/>
              <a:t>ב' </a:t>
            </a:r>
            <a:r>
              <a:rPr lang="he-IL" b="1" dirty="0" err="1"/>
              <a:t>רלט</a:t>
            </a:r>
            <a:r>
              <a:rPr lang="he-IL" b="1" dirty="0"/>
              <a:t>) למסד נהלים דתיים.</a:t>
            </a:r>
          </a:p>
        </p:txBody>
      </p:sp>
      <p:sp>
        <p:nvSpPr>
          <p:cNvPr id="4" name="TextBox 3"/>
          <p:cNvSpPr txBox="1"/>
          <p:nvPr/>
        </p:nvSpPr>
        <p:spPr>
          <a:xfrm>
            <a:off x="59073" y="4356254"/>
            <a:ext cx="4384534" cy="1384995"/>
          </a:xfrm>
          <a:prstGeom prst="rect">
            <a:avLst/>
          </a:prstGeom>
          <a:noFill/>
          <a:ln>
            <a:solidFill>
              <a:srgbClr val="2217F5"/>
            </a:solidFill>
          </a:ln>
        </p:spPr>
        <p:txBody>
          <a:bodyPr wrap="none" rtlCol="1">
            <a:spAutoFit/>
          </a:bodyPr>
          <a:lstStyle/>
          <a:p>
            <a:pPr algn="r" rtl="1"/>
            <a:r>
              <a:rPr lang="he-IL" b="1" dirty="0"/>
              <a:t>על פי בקשת הרב קוק, הרב חרל"פ הצליח לשכנע את הרב </a:t>
            </a:r>
          </a:p>
          <a:p>
            <a:pPr algn="r" rtl="1"/>
            <a:r>
              <a:rPr lang="he-IL" b="1" dirty="0" err="1"/>
              <a:t>זוננפלד</a:t>
            </a:r>
            <a:r>
              <a:rPr lang="he-IL" b="1" dirty="0"/>
              <a:t> להצטרף (היה גם ידיד של הרב </a:t>
            </a:r>
            <a:r>
              <a:rPr lang="he-IL" b="1" dirty="0" err="1"/>
              <a:t>י"נ</a:t>
            </a:r>
            <a:r>
              <a:rPr lang="he-IL" b="1" dirty="0"/>
              <a:t> הורוביץ).</a:t>
            </a:r>
          </a:p>
          <a:p>
            <a:pPr algn="r" rtl="1"/>
            <a:r>
              <a:rPr lang="he-IL" b="1" dirty="0"/>
              <a:t>למה הצטרף?</a:t>
            </a:r>
          </a:p>
          <a:p>
            <a:pPr algn="r" rtl="1"/>
            <a:r>
              <a:rPr lang="he-IL" b="1" dirty="0"/>
              <a:t>1. רצונו לברר האם נכונות השמועות על החלוצים החילונים</a:t>
            </a:r>
          </a:p>
          <a:p>
            <a:pPr algn="r" rtl="1"/>
            <a:r>
              <a:rPr lang="he-IL" b="1" dirty="0"/>
              <a:t>המיישבים את ארץ ישראל.</a:t>
            </a:r>
          </a:p>
          <a:p>
            <a:pPr algn="r" rtl="1"/>
            <a:r>
              <a:rPr lang="he-IL" b="1" dirty="0"/>
              <a:t>2. שלא יאשימו את החרדים בנתק עם הישוב החדש. </a:t>
            </a:r>
          </a:p>
        </p:txBody>
      </p:sp>
      <p:sp>
        <p:nvSpPr>
          <p:cNvPr id="11" name="TextBox 10"/>
          <p:cNvSpPr txBox="1"/>
          <p:nvPr/>
        </p:nvSpPr>
        <p:spPr>
          <a:xfrm>
            <a:off x="493189" y="3678988"/>
            <a:ext cx="3878189" cy="307777"/>
          </a:xfrm>
          <a:prstGeom prst="rect">
            <a:avLst/>
          </a:prstGeom>
          <a:noFill/>
          <a:ln>
            <a:solidFill>
              <a:srgbClr val="2217F5"/>
            </a:solidFill>
          </a:ln>
        </p:spPr>
        <p:txBody>
          <a:bodyPr wrap="square" rtlCol="1">
            <a:spAutoFit/>
          </a:bodyPr>
          <a:lstStyle/>
          <a:p>
            <a:pPr algn="r" rtl="1"/>
            <a:r>
              <a:rPr lang="he-IL" b="1" dirty="0"/>
              <a:t>"לחדור אל עומק הלב של הפועל הצעיר", </a:t>
            </a:r>
            <a:r>
              <a:rPr lang="he-IL" sz="1200" b="1" dirty="0"/>
              <a:t>(אלה מסעי)</a:t>
            </a:r>
            <a:endParaRPr lang="he-IL" b="1" dirty="0"/>
          </a:p>
        </p:txBody>
      </p:sp>
      <p:sp>
        <p:nvSpPr>
          <p:cNvPr id="10" name="תיבת טקסט 9">
            <a:extLst>
              <a:ext uri="{FF2B5EF4-FFF2-40B4-BE49-F238E27FC236}">
                <a16:creationId xmlns:a16="http://schemas.microsoft.com/office/drawing/2014/main" id="{234E42FF-D073-7D52-ECD1-5FD7F98F7E8C}"/>
              </a:ext>
            </a:extLst>
          </p:cNvPr>
          <p:cNvSpPr txBox="1"/>
          <p:nvPr/>
        </p:nvSpPr>
        <p:spPr>
          <a:xfrm>
            <a:off x="2286000" y="3117949"/>
            <a:ext cx="4572000" cy="307777"/>
          </a:xfrm>
          <a:prstGeom prst="rect">
            <a:avLst/>
          </a:prstGeom>
          <a:noFill/>
        </p:spPr>
        <p:txBody>
          <a:bodyPr wrap="square">
            <a:spAutoFit/>
          </a:bodyPr>
          <a:lstStyle/>
          <a:p>
            <a:r>
              <a:rPr lang="he-IL" sz="1400" b="1" dirty="0"/>
              <a:t>תחנת הרכבת ביפו</a:t>
            </a:r>
          </a:p>
        </p:txBody>
      </p:sp>
    </p:spTree>
    <p:extLst>
      <p:ext uri="{BB962C8B-B14F-4D97-AF65-F5344CB8AC3E}">
        <p14:creationId xmlns:p14="http://schemas.microsoft.com/office/powerpoint/2010/main" val="2979254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4080" y="191393"/>
            <a:ext cx="6575839" cy="369332"/>
          </a:xfrm>
          <a:prstGeom prst="rect">
            <a:avLst/>
          </a:prstGeom>
          <a:solidFill>
            <a:srgbClr val="FFFF00"/>
          </a:solidFill>
          <a:ln w="12700">
            <a:solidFill>
              <a:schemeClr val="tx1"/>
            </a:solidFill>
          </a:ln>
        </p:spPr>
        <p:txBody>
          <a:bodyPr wrap="none" rtlCol="1">
            <a:spAutoFit/>
          </a:bodyPr>
          <a:lstStyle/>
          <a:p>
            <a:r>
              <a:rPr lang="he-IL" sz="1800" b="1" dirty="0"/>
              <a:t>היציאה למסע מבית הרב קוק ביפו – </a:t>
            </a:r>
            <a:r>
              <a:rPr lang="he-IL" sz="1800" b="1" dirty="0">
                <a:solidFill>
                  <a:srgbClr val="FF0000"/>
                </a:solidFill>
              </a:rPr>
              <a:t>יום ד', י"ט בחשון תרע"ד (1913)</a:t>
            </a:r>
          </a:p>
        </p:txBody>
      </p:sp>
      <p:sp>
        <p:nvSpPr>
          <p:cNvPr id="3" name="TextBox 2"/>
          <p:cNvSpPr txBox="1"/>
          <p:nvPr/>
        </p:nvSpPr>
        <p:spPr>
          <a:xfrm>
            <a:off x="8188376" y="206782"/>
            <a:ext cx="708848" cy="338554"/>
          </a:xfrm>
          <a:prstGeom prst="rect">
            <a:avLst/>
          </a:prstGeom>
          <a:solidFill>
            <a:srgbClr val="76E3FF"/>
          </a:solidFill>
          <a:ln>
            <a:solidFill>
              <a:schemeClr val="tx1"/>
            </a:solidFill>
          </a:ln>
        </p:spPr>
        <p:txBody>
          <a:bodyPr wrap="none" rtlCol="1">
            <a:spAutoFit/>
          </a:bodyPr>
          <a:lstStyle/>
          <a:p>
            <a:r>
              <a:rPr lang="he-IL" sz="1600" b="1" dirty="0"/>
              <a:t>10:00</a:t>
            </a:r>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2746" t="19904" r="10083" b="39073"/>
          <a:stretch/>
        </p:blipFill>
        <p:spPr bwMode="auto">
          <a:xfrm>
            <a:off x="4716018" y="1628800"/>
            <a:ext cx="4184401" cy="3744416"/>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אליפסה 3"/>
          <p:cNvSpPr/>
          <p:nvPr/>
        </p:nvSpPr>
        <p:spPr>
          <a:xfrm>
            <a:off x="5652120" y="4941168"/>
            <a:ext cx="144016" cy="19432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7" y="3356993"/>
            <a:ext cx="16510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6" descr="2A9DC47"/>
          <p:cNvPicPr>
            <a:picLocks noChangeAspect="1" noChangeArrowheads="1"/>
          </p:cNvPicPr>
          <p:nvPr/>
        </p:nvPicPr>
        <p:blipFill>
          <a:blip r:embed="rId4"/>
          <a:srcRect/>
          <a:stretch>
            <a:fillRect/>
          </a:stretch>
        </p:blipFill>
        <p:spPr bwMode="auto">
          <a:xfrm>
            <a:off x="645873" y="946026"/>
            <a:ext cx="3744913" cy="2266950"/>
          </a:xfrm>
          <a:prstGeom prst="rect">
            <a:avLst/>
          </a:prstGeom>
          <a:noFill/>
          <a:ln w="38100">
            <a:solidFill>
              <a:srgbClr val="FF3300"/>
            </a:solidFill>
            <a:miter lim="800000"/>
            <a:headEnd/>
            <a:tailEnd/>
          </a:ln>
        </p:spPr>
      </p:pic>
      <p:pic>
        <p:nvPicPr>
          <p:cNvPr id="5" name="Picture 2" descr="C:\Users\123\Pictures\תשע'ד-ב'-י'ח\001.jpg"/>
          <p:cNvPicPr>
            <a:picLocks noChangeAspect="1" noChangeArrowheads="1"/>
          </p:cNvPicPr>
          <p:nvPr/>
        </p:nvPicPr>
        <p:blipFill>
          <a:blip r:embed="rId5"/>
          <a:srcRect l="20015" t="32821" r="47308" b="50546"/>
          <a:stretch>
            <a:fillRect/>
          </a:stretch>
        </p:blipFill>
        <p:spPr bwMode="auto">
          <a:xfrm rot="10800000">
            <a:off x="611561" y="3645024"/>
            <a:ext cx="3703269" cy="2592288"/>
          </a:xfrm>
          <a:prstGeom prst="rect">
            <a:avLst/>
          </a:prstGeom>
          <a:noFill/>
          <a:ln w="38100">
            <a:solidFill>
              <a:srgbClr val="FF0000"/>
            </a:solidFill>
          </a:ln>
        </p:spPr>
      </p:pic>
      <p:sp>
        <p:nvSpPr>
          <p:cNvPr id="10" name="TextBox 9"/>
          <p:cNvSpPr txBox="1"/>
          <p:nvPr/>
        </p:nvSpPr>
        <p:spPr>
          <a:xfrm>
            <a:off x="1691680" y="6309324"/>
            <a:ext cx="1181734" cy="307777"/>
          </a:xfrm>
          <a:prstGeom prst="rect">
            <a:avLst/>
          </a:prstGeom>
          <a:noFill/>
        </p:spPr>
        <p:txBody>
          <a:bodyPr wrap="none" rtlCol="1">
            <a:spAutoFit/>
          </a:bodyPr>
          <a:lstStyle/>
          <a:p>
            <a:r>
              <a:rPr lang="he-IL" b="1" dirty="0" err="1"/>
              <a:t>דליז'אנס</a:t>
            </a:r>
            <a:r>
              <a:rPr lang="he-IL" b="1" dirty="0"/>
              <a:t> ביפו</a:t>
            </a:r>
          </a:p>
        </p:txBody>
      </p:sp>
      <p:sp>
        <p:nvSpPr>
          <p:cNvPr id="11" name="TextBox 10"/>
          <p:cNvSpPr txBox="1"/>
          <p:nvPr/>
        </p:nvSpPr>
        <p:spPr>
          <a:xfrm>
            <a:off x="939210" y="3243497"/>
            <a:ext cx="3158237" cy="307777"/>
          </a:xfrm>
          <a:prstGeom prst="rect">
            <a:avLst/>
          </a:prstGeom>
          <a:noFill/>
        </p:spPr>
        <p:txBody>
          <a:bodyPr wrap="none" rtlCol="1">
            <a:spAutoFit/>
          </a:bodyPr>
          <a:lstStyle/>
          <a:p>
            <a:r>
              <a:rPr lang="he-IL" b="1" dirty="0"/>
              <a:t>ביתו של הרב קוק, בשכונת '</a:t>
            </a:r>
            <a:r>
              <a:rPr lang="he-IL" b="1" dirty="0" err="1"/>
              <a:t>נוה</a:t>
            </a:r>
            <a:r>
              <a:rPr lang="he-IL" b="1" dirty="0"/>
              <a:t> צדק' ביפו</a:t>
            </a:r>
          </a:p>
        </p:txBody>
      </p:sp>
      <p:sp>
        <p:nvSpPr>
          <p:cNvPr id="12" name="TextBox 11"/>
          <p:cNvSpPr txBox="1"/>
          <p:nvPr/>
        </p:nvSpPr>
        <p:spPr>
          <a:xfrm>
            <a:off x="4757949" y="5877276"/>
            <a:ext cx="4139275" cy="584775"/>
          </a:xfrm>
          <a:prstGeom prst="rect">
            <a:avLst/>
          </a:prstGeom>
          <a:solidFill>
            <a:srgbClr val="FFFF00"/>
          </a:solidFill>
          <a:ln w="38100">
            <a:solidFill>
              <a:srgbClr val="FF0000"/>
            </a:solidFill>
          </a:ln>
        </p:spPr>
        <p:txBody>
          <a:bodyPr wrap="none" rtlCol="1">
            <a:spAutoFit/>
          </a:bodyPr>
          <a:lstStyle/>
          <a:p>
            <a:pPr algn="r" rtl="1"/>
            <a:r>
              <a:rPr lang="he-IL" sz="1600" b="1" dirty="0">
                <a:solidFill>
                  <a:schemeClr val="tx1"/>
                </a:solidFill>
              </a:rPr>
              <a:t>לפתח </a:t>
            </a:r>
            <a:r>
              <a:rPr lang="he-IL" sz="1600" b="1" dirty="0" err="1">
                <a:solidFill>
                  <a:schemeClr val="tx1"/>
                </a:solidFill>
              </a:rPr>
              <a:t>תקוה</a:t>
            </a:r>
            <a:r>
              <a:rPr lang="he-IL" sz="1600" b="1" dirty="0">
                <a:solidFill>
                  <a:schemeClr val="tx1"/>
                </a:solidFill>
              </a:rPr>
              <a:t> – עצירה, יישוב סכסוך בין חקלאים, </a:t>
            </a:r>
          </a:p>
          <a:p>
            <a:pPr algn="r" rtl="1"/>
            <a:r>
              <a:rPr lang="he-IL" sz="1600" b="1" dirty="0">
                <a:solidFill>
                  <a:schemeClr val="tx1"/>
                </a:solidFill>
              </a:rPr>
              <a:t>דרך ג'לג'וליה, קלנסואה, טול כרם לחדרה. </a:t>
            </a:r>
          </a:p>
        </p:txBody>
      </p:sp>
    </p:spTree>
    <p:extLst>
      <p:ext uri="{BB962C8B-B14F-4D97-AF65-F5344CB8AC3E}">
        <p14:creationId xmlns:p14="http://schemas.microsoft.com/office/powerpoint/2010/main" val="351984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msc.wcdn.co.il/archive/1361303-5.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3" y="3631588"/>
            <a:ext cx="3096344" cy="2757682"/>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2054" name="Picture 6" descr="http://f.nanafiles.co.il/upload/Xternal/IsraBlog/61/62/70/706261/posts/23596680.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2" y="3717032"/>
            <a:ext cx="4034776" cy="2758958"/>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2056" name="Picture 8" descr="https://encrypted-tbn2.gstatic.com/images?q=tbn:ANd9GcQJ7l_TYfSU4Si1dddqcQPWKKOZIj-B_-MJQHXtCDQlrRV9fHmKrw"/>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8255" y="688380"/>
            <a:ext cx="1010188" cy="1041757"/>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9" name="Picture 2" descr="http://www.shimur.org/StaticFiles/0904201212415508.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0512" y="688380"/>
            <a:ext cx="5506568" cy="205632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959781" y="148758"/>
            <a:ext cx="3401893" cy="369332"/>
          </a:xfrm>
          <a:prstGeom prst="rect">
            <a:avLst/>
          </a:prstGeom>
          <a:solidFill>
            <a:srgbClr val="FFFF00"/>
          </a:solidFill>
          <a:ln>
            <a:solidFill>
              <a:schemeClr val="tx1"/>
            </a:solidFill>
          </a:ln>
        </p:spPr>
        <p:txBody>
          <a:bodyPr wrap="none" rtlCol="1">
            <a:spAutoFit/>
          </a:bodyPr>
          <a:lstStyle/>
          <a:p>
            <a:r>
              <a:rPr lang="he-IL" sz="1800" b="1" dirty="0"/>
              <a:t>במושבה חדרה – </a:t>
            </a:r>
            <a:r>
              <a:rPr lang="he-IL" sz="1800" b="1" dirty="0">
                <a:solidFill>
                  <a:srgbClr val="FF0000"/>
                </a:solidFill>
              </a:rPr>
              <a:t>יום ד', י"ט בחשון</a:t>
            </a:r>
          </a:p>
        </p:txBody>
      </p:sp>
      <p:sp>
        <p:nvSpPr>
          <p:cNvPr id="4" name="TextBox 3"/>
          <p:cNvSpPr txBox="1"/>
          <p:nvPr/>
        </p:nvSpPr>
        <p:spPr>
          <a:xfrm>
            <a:off x="2411760" y="2719322"/>
            <a:ext cx="2547492" cy="307777"/>
          </a:xfrm>
          <a:prstGeom prst="rect">
            <a:avLst/>
          </a:prstGeom>
          <a:noFill/>
        </p:spPr>
        <p:txBody>
          <a:bodyPr wrap="none" rtlCol="1">
            <a:spAutoFit/>
          </a:bodyPr>
          <a:lstStyle/>
          <a:p>
            <a:r>
              <a:rPr lang="he-IL" b="1" dirty="0"/>
              <a:t>החאן – חדר לבית הכנסת, מקווה</a:t>
            </a:r>
          </a:p>
        </p:txBody>
      </p:sp>
      <p:sp>
        <p:nvSpPr>
          <p:cNvPr id="6" name="TextBox 5"/>
          <p:cNvSpPr txBox="1"/>
          <p:nvPr/>
        </p:nvSpPr>
        <p:spPr>
          <a:xfrm>
            <a:off x="6433573" y="1844828"/>
            <a:ext cx="2579553" cy="954107"/>
          </a:xfrm>
          <a:prstGeom prst="rect">
            <a:avLst/>
          </a:prstGeom>
          <a:solidFill>
            <a:srgbClr val="FFFF00"/>
          </a:solidFill>
          <a:ln>
            <a:solidFill>
              <a:srgbClr val="2217F5"/>
            </a:solidFill>
          </a:ln>
        </p:spPr>
        <p:txBody>
          <a:bodyPr wrap="none" rtlCol="1">
            <a:spAutoFit/>
          </a:bodyPr>
          <a:lstStyle/>
          <a:p>
            <a:pPr algn="r" rtl="1"/>
            <a:r>
              <a:rPr lang="he-IL" b="1" dirty="0">
                <a:solidFill>
                  <a:srgbClr val="FF0000"/>
                </a:solidFill>
              </a:rPr>
              <a:t>1892 </a:t>
            </a:r>
            <a:r>
              <a:rPr lang="he-IL" b="1" dirty="0"/>
              <a:t>- חיבת ציון</a:t>
            </a:r>
          </a:p>
          <a:p>
            <a:pPr algn="r" rtl="1"/>
            <a:r>
              <a:rPr lang="he-IL" b="1" dirty="0"/>
              <a:t>         53 משפחות  אשכנזיות  </a:t>
            </a:r>
          </a:p>
          <a:p>
            <a:pPr algn="r" rtl="1"/>
            <a:r>
              <a:rPr lang="he-IL" b="1" dirty="0"/>
              <a:t>         45 משפחות תימניות בצפון</a:t>
            </a:r>
          </a:p>
          <a:p>
            <a:pPr algn="r" rtl="1"/>
            <a:r>
              <a:rPr lang="he-IL" b="1" dirty="0"/>
              <a:t>         450 נפש </a:t>
            </a:r>
          </a:p>
        </p:txBody>
      </p:sp>
      <p:sp>
        <p:nvSpPr>
          <p:cNvPr id="10" name="TextBox 9"/>
          <p:cNvSpPr txBox="1"/>
          <p:nvPr/>
        </p:nvSpPr>
        <p:spPr>
          <a:xfrm>
            <a:off x="462863" y="3027099"/>
            <a:ext cx="4224233" cy="523220"/>
          </a:xfrm>
          <a:prstGeom prst="rect">
            <a:avLst/>
          </a:prstGeom>
          <a:noFill/>
          <a:ln>
            <a:solidFill>
              <a:srgbClr val="2217F5"/>
            </a:solidFill>
          </a:ln>
        </p:spPr>
        <p:txBody>
          <a:bodyPr wrap="none" rtlCol="1">
            <a:spAutoFit/>
          </a:bodyPr>
          <a:lstStyle/>
          <a:p>
            <a:pPr algn="r" rtl="1"/>
            <a:r>
              <a:rPr lang="he-IL" b="1" dirty="0"/>
              <a:t>מזוזות מצד שמאל, פסולה, קבעו מזוזה של הרב </a:t>
            </a:r>
            <a:r>
              <a:rPr lang="he-IL" b="1" dirty="0" err="1"/>
              <a:t>זוננפלד</a:t>
            </a:r>
            <a:endParaRPr lang="he-IL" b="1" dirty="0"/>
          </a:p>
          <a:p>
            <a:pPr algn="r" rtl="1"/>
            <a:r>
              <a:rPr lang="he-IL" b="1" dirty="0"/>
              <a:t>הרבנים בישלו שם, אך בכלים שלהם.</a:t>
            </a:r>
          </a:p>
        </p:txBody>
      </p:sp>
      <p:sp>
        <p:nvSpPr>
          <p:cNvPr id="2" name="TextBox 1"/>
          <p:cNvSpPr txBox="1"/>
          <p:nvPr/>
        </p:nvSpPr>
        <p:spPr>
          <a:xfrm>
            <a:off x="7812360" y="160679"/>
            <a:ext cx="1075936" cy="338554"/>
          </a:xfrm>
          <a:prstGeom prst="rect">
            <a:avLst/>
          </a:prstGeom>
          <a:solidFill>
            <a:srgbClr val="76E3FF"/>
          </a:solidFill>
          <a:ln>
            <a:solidFill>
              <a:schemeClr val="tx1"/>
            </a:solidFill>
          </a:ln>
        </p:spPr>
        <p:txBody>
          <a:bodyPr wrap="none" rtlCol="1">
            <a:spAutoFit/>
          </a:bodyPr>
          <a:lstStyle/>
          <a:p>
            <a:r>
              <a:rPr lang="he-IL" sz="1600" b="1" dirty="0"/>
              <a:t>לפנות ערב</a:t>
            </a:r>
          </a:p>
        </p:txBody>
      </p:sp>
      <p:sp>
        <p:nvSpPr>
          <p:cNvPr id="5" name="TextBox 4"/>
          <p:cNvSpPr txBox="1"/>
          <p:nvPr/>
        </p:nvSpPr>
        <p:spPr>
          <a:xfrm>
            <a:off x="6287080" y="6408348"/>
            <a:ext cx="1138453" cy="307777"/>
          </a:xfrm>
          <a:prstGeom prst="rect">
            <a:avLst/>
          </a:prstGeom>
          <a:noFill/>
        </p:spPr>
        <p:txBody>
          <a:bodyPr wrap="none" rtlCol="1">
            <a:spAutoFit/>
          </a:bodyPr>
          <a:lstStyle/>
          <a:p>
            <a:r>
              <a:rPr lang="he-IL" b="1" dirty="0"/>
              <a:t>מוזיאון חדרה</a:t>
            </a:r>
          </a:p>
        </p:txBody>
      </p:sp>
    </p:spTree>
    <p:extLst>
      <p:ext uri="{BB962C8B-B14F-4D97-AF65-F5344CB8AC3E}">
        <p14:creationId xmlns:p14="http://schemas.microsoft.com/office/powerpoint/2010/main" val="637463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https://encrypted-tbn0.gstatic.com/images?q=tbn:ANd9GcTQfbgC7E6_NxXgNweox7vud5X2xAlRQFJrEv9jnb4Tcw3KGHHo"/>
          <p:cNvPicPr>
            <a:picLocks noChangeAspect="1" noChangeArrowheads="1"/>
          </p:cNvPicPr>
          <p:nvPr/>
        </p:nvPicPr>
        <p:blipFill rotWithShape="1">
          <a:blip r:embed="rId2">
            <a:extLst>
              <a:ext uri="{28A0092B-C50C-407E-A947-70E740481C1C}">
                <a14:useLocalDpi xmlns:a14="http://schemas.microsoft.com/office/drawing/2010/main" val="0"/>
              </a:ext>
            </a:extLst>
          </a:blip>
          <a:srcRect l="2676" t="12777"/>
          <a:stretch/>
        </p:blipFill>
        <p:spPr bwMode="auto">
          <a:xfrm>
            <a:off x="683568" y="3390967"/>
            <a:ext cx="3548788" cy="2330762"/>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67298" y="5726667"/>
            <a:ext cx="4381328" cy="307777"/>
          </a:xfrm>
          <a:prstGeom prst="rect">
            <a:avLst/>
          </a:prstGeom>
          <a:noFill/>
          <a:ln w="38100">
            <a:noFill/>
          </a:ln>
        </p:spPr>
        <p:txBody>
          <a:bodyPr wrap="none" rtlCol="1">
            <a:spAutoFit/>
          </a:bodyPr>
          <a:lstStyle/>
          <a:p>
            <a:r>
              <a:rPr lang="he-IL" b="1" dirty="0"/>
              <a:t>חדר תימני בשכונת </a:t>
            </a:r>
            <a:r>
              <a:rPr lang="he-IL" b="1" dirty="0" err="1"/>
              <a:t>נחליאל</a:t>
            </a:r>
            <a:r>
              <a:rPr lang="he-IL" b="1" dirty="0"/>
              <a:t>, מעליית </a:t>
            </a:r>
            <a:r>
              <a:rPr lang="he-IL" b="1" dirty="0" err="1"/>
              <a:t>יבניאלי</a:t>
            </a:r>
            <a:r>
              <a:rPr lang="he-IL" b="1" dirty="0"/>
              <a:t>, נוסדה </a:t>
            </a:r>
            <a:r>
              <a:rPr lang="he-IL" b="1" dirty="0">
                <a:solidFill>
                  <a:srgbClr val="FF0000"/>
                </a:solidFill>
              </a:rPr>
              <a:t>תרע"ב</a:t>
            </a:r>
          </a:p>
        </p:txBody>
      </p:sp>
      <p:pic>
        <p:nvPicPr>
          <p:cNvPr id="5" name="Picture 5" descr="khan_ravkook"/>
          <p:cNvPicPr>
            <a:picLocks noChangeAspect="1" noChangeArrowheads="1"/>
          </p:cNvPicPr>
          <p:nvPr/>
        </p:nvPicPr>
        <p:blipFill>
          <a:blip r:embed="rId3">
            <a:extLst>
              <a:ext uri="{28A0092B-C50C-407E-A947-70E740481C1C}">
                <a14:useLocalDpi xmlns:a14="http://schemas.microsoft.com/office/drawing/2010/main" val="0"/>
              </a:ext>
            </a:extLst>
          </a:blip>
          <a:srcRect l="7222" t="60104" r="9444" b="4719"/>
          <a:stretch>
            <a:fillRect/>
          </a:stretch>
        </p:blipFill>
        <p:spPr bwMode="auto">
          <a:xfrm>
            <a:off x="5148065" y="326121"/>
            <a:ext cx="3763456" cy="1693555"/>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115616" y="2708920"/>
            <a:ext cx="224742" cy="523220"/>
          </a:xfrm>
          <a:prstGeom prst="rect">
            <a:avLst/>
          </a:prstGeom>
          <a:noFill/>
        </p:spPr>
        <p:txBody>
          <a:bodyPr wrap="none" rtlCol="1">
            <a:spAutoFit/>
          </a:bodyPr>
          <a:lstStyle/>
          <a:p>
            <a:endParaRPr lang="he-IL" dirty="0"/>
          </a:p>
          <a:p>
            <a:r>
              <a:rPr lang="en-US" dirty="0"/>
              <a:t>‘</a:t>
            </a:r>
            <a:endParaRPr lang="he-IL" dirty="0"/>
          </a:p>
        </p:txBody>
      </p:sp>
      <p:sp>
        <p:nvSpPr>
          <p:cNvPr id="9" name="TextBox 8"/>
          <p:cNvSpPr txBox="1"/>
          <p:nvPr/>
        </p:nvSpPr>
        <p:spPr>
          <a:xfrm>
            <a:off x="5241862" y="2708920"/>
            <a:ext cx="3669659" cy="2031325"/>
          </a:xfrm>
          <a:prstGeom prst="rect">
            <a:avLst/>
          </a:prstGeom>
          <a:noFill/>
          <a:ln>
            <a:solidFill>
              <a:srgbClr val="2217F5"/>
            </a:solidFill>
          </a:ln>
        </p:spPr>
        <p:txBody>
          <a:bodyPr wrap="none" rtlCol="1">
            <a:spAutoFit/>
          </a:bodyPr>
          <a:lstStyle/>
          <a:p>
            <a:pPr algn="r" rtl="1"/>
            <a:r>
              <a:rPr lang="he-IL" b="1" dirty="0"/>
              <a:t>בית הכנסת - נעול מחוסר מניין, אין מנין קבוע, </a:t>
            </a:r>
          </a:p>
          <a:p>
            <a:pPr algn="r" rtl="1"/>
            <a:r>
              <a:rPr lang="he-IL" b="1" dirty="0"/>
              <a:t>בשבת רק זקנים </a:t>
            </a:r>
          </a:p>
          <a:p>
            <a:pPr algn="r" rtl="1"/>
            <a:r>
              <a:rPr lang="he-IL" b="1" dirty="0"/>
              <a:t>בשדה – עובדים בשבת ע"י גויים</a:t>
            </a:r>
            <a:endParaRPr lang="en-US" b="1" dirty="0"/>
          </a:p>
          <a:p>
            <a:pPr algn="r" rtl="1"/>
            <a:r>
              <a:rPr lang="he-IL" b="1" dirty="0"/>
              <a:t>בבית התבשיל – ללא כשרות ושבת, אופים בפסח</a:t>
            </a:r>
          </a:p>
          <a:p>
            <a:pPr algn="r" rtl="1"/>
            <a:r>
              <a:rPr lang="he-IL" b="1" dirty="0"/>
              <a:t>בית הספר - מעורב</a:t>
            </a:r>
          </a:p>
          <a:p>
            <a:pPr algn="r" rtl="1"/>
            <a:r>
              <a:rPr lang="he-IL" b="1" dirty="0"/>
              <a:t>חינוך לקוי, רק "</a:t>
            </a:r>
            <a:r>
              <a:rPr lang="he-IL" b="1" dirty="0" err="1"/>
              <a:t>ספורי</a:t>
            </a:r>
            <a:r>
              <a:rPr lang="he-IL" b="1" dirty="0"/>
              <a:t> המקרא"</a:t>
            </a:r>
          </a:p>
          <a:p>
            <a:pPr algn="r" rtl="1"/>
            <a:r>
              <a:rPr lang="he-IL" b="1" dirty="0">
                <a:solidFill>
                  <a:srgbClr val="FF0000"/>
                </a:solidFill>
              </a:rPr>
              <a:t>ילד בן 12 - לא ראה חומש, תפילה לא יודע כלל</a:t>
            </a:r>
          </a:p>
          <a:p>
            <a:pPr algn="r" rtl="1"/>
            <a:endParaRPr lang="he-IL" b="1" dirty="0"/>
          </a:p>
          <a:p>
            <a:pPr algn="r" rtl="1"/>
            <a:r>
              <a:rPr lang="he-IL" b="1" dirty="0"/>
              <a:t>16 בעלי בתים חרדים – דורשים חינוך יהודי</a:t>
            </a:r>
          </a:p>
        </p:txBody>
      </p:sp>
      <p:sp>
        <p:nvSpPr>
          <p:cNvPr id="12" name="TextBox 11"/>
          <p:cNvSpPr txBox="1"/>
          <p:nvPr/>
        </p:nvSpPr>
        <p:spPr>
          <a:xfrm>
            <a:off x="74906" y="326121"/>
            <a:ext cx="4766112" cy="2246769"/>
          </a:xfrm>
          <a:prstGeom prst="rect">
            <a:avLst/>
          </a:prstGeom>
          <a:noFill/>
          <a:ln>
            <a:solidFill>
              <a:srgbClr val="2217F5"/>
            </a:solidFill>
          </a:ln>
        </p:spPr>
        <p:txBody>
          <a:bodyPr wrap="none" rtlCol="1">
            <a:spAutoFit/>
          </a:bodyPr>
          <a:lstStyle/>
          <a:p>
            <a:pPr algn="r" rtl="1"/>
            <a:r>
              <a:rPr lang="he-IL" b="1" dirty="0"/>
              <a:t>בית הכנסת הישן, 22:00, הרב קוק: </a:t>
            </a:r>
            <a:r>
              <a:rPr lang="he-IL" b="1" dirty="0">
                <a:solidFill>
                  <a:srgbClr val="FF0000"/>
                </a:solidFill>
              </a:rPr>
              <a:t>"תעודת ישראל ולאומיותו", </a:t>
            </a:r>
          </a:p>
          <a:p>
            <a:pPr algn="r" rtl="1"/>
            <a:r>
              <a:rPr lang="he-IL" b="1" dirty="0">
                <a:solidFill>
                  <a:srgbClr val="FF0000"/>
                </a:solidFill>
              </a:rPr>
              <a:t>חשיבות עבודת האדמה עם עבודה רוחנית". "ברוך מציב גבול</a:t>
            </a:r>
          </a:p>
          <a:p>
            <a:pPr algn="r" rtl="1"/>
            <a:r>
              <a:rPr lang="he-IL" b="1" dirty="0">
                <a:solidFill>
                  <a:srgbClr val="FF0000"/>
                </a:solidFill>
              </a:rPr>
              <a:t>אלמנה"</a:t>
            </a:r>
          </a:p>
          <a:p>
            <a:pPr algn="r" rtl="1"/>
            <a:r>
              <a:rPr lang="he-IL" b="1" dirty="0"/>
              <a:t>למנות רב, </a:t>
            </a:r>
            <a:r>
              <a:rPr lang="he-IL" b="1" dirty="0" err="1"/>
              <a:t>מקוה</a:t>
            </a:r>
            <a:r>
              <a:rPr lang="he-IL" b="1" dirty="0"/>
              <a:t>, </a:t>
            </a:r>
            <a:r>
              <a:rPr lang="he-IL" b="1" dirty="0" err="1"/>
              <a:t>תו"מ</a:t>
            </a:r>
            <a:r>
              <a:rPr lang="he-IL" b="1" dirty="0"/>
              <a:t>, חינוך, כשרות.</a:t>
            </a:r>
          </a:p>
          <a:p>
            <a:pPr algn="r" rtl="1"/>
            <a:endParaRPr lang="he-IL" b="1" dirty="0">
              <a:solidFill>
                <a:srgbClr val="FF0000"/>
              </a:solidFill>
            </a:endParaRPr>
          </a:p>
          <a:p>
            <a:pPr algn="r" rtl="1"/>
            <a:r>
              <a:rPr lang="he-IL" b="1" dirty="0">
                <a:solidFill>
                  <a:schemeClr val="tx1"/>
                </a:solidFill>
              </a:rPr>
              <a:t>אחד</a:t>
            </a:r>
            <a:r>
              <a:rPr lang="he-IL" b="1" dirty="0"/>
              <a:t> מחברי הועד </a:t>
            </a:r>
            <a:r>
              <a:rPr lang="he-IL" b="1" dirty="0">
                <a:solidFill>
                  <a:srgbClr val="FF0000"/>
                </a:solidFill>
              </a:rPr>
              <a:t>התימני</a:t>
            </a:r>
            <a:r>
              <a:rPr lang="he-IL" b="1" dirty="0"/>
              <a:t> מסר לו פתקה – </a:t>
            </a:r>
            <a:r>
              <a:rPr lang="he-IL" b="1" dirty="0">
                <a:solidFill>
                  <a:srgbClr val="FF0000"/>
                </a:solidFill>
              </a:rPr>
              <a:t>"</a:t>
            </a:r>
            <a:r>
              <a:rPr lang="he-IL" b="1" dirty="0">
                <a:solidFill>
                  <a:srgbClr val="2217F5"/>
                </a:solidFill>
              </a:rPr>
              <a:t>אין לא תורה ולא </a:t>
            </a:r>
          </a:p>
          <a:p>
            <a:pPr algn="r" rtl="1"/>
            <a:r>
              <a:rPr lang="he-IL" b="1" dirty="0">
                <a:solidFill>
                  <a:srgbClr val="2217F5"/>
                </a:solidFill>
              </a:rPr>
              <a:t>תפילה, לא מורה דעה ומבין שמועה".</a:t>
            </a:r>
          </a:p>
          <a:p>
            <a:pPr algn="r" rtl="1"/>
            <a:r>
              <a:rPr lang="he-IL" b="1" dirty="0">
                <a:solidFill>
                  <a:schemeClr val="tx1"/>
                </a:solidFill>
              </a:rPr>
              <a:t>מקווה מיוחד לתימנים</a:t>
            </a:r>
          </a:p>
          <a:p>
            <a:pPr algn="r" rtl="1"/>
            <a:endParaRPr lang="he-IL" b="1" dirty="0"/>
          </a:p>
          <a:p>
            <a:pPr algn="r" rtl="1"/>
            <a:r>
              <a:rPr lang="he-IL" b="1" dirty="0"/>
              <a:t>עד חצות, נאמו גם הרבנים האחרים.</a:t>
            </a:r>
          </a:p>
        </p:txBody>
      </p:sp>
      <p:sp>
        <p:nvSpPr>
          <p:cNvPr id="6" name="TextBox 5"/>
          <p:cNvSpPr txBox="1"/>
          <p:nvPr/>
        </p:nvSpPr>
        <p:spPr>
          <a:xfrm>
            <a:off x="4780698" y="5136953"/>
            <a:ext cx="4198096" cy="1169551"/>
          </a:xfrm>
          <a:prstGeom prst="rect">
            <a:avLst/>
          </a:prstGeom>
          <a:noFill/>
          <a:ln>
            <a:solidFill>
              <a:srgbClr val="2217F5"/>
            </a:solidFill>
          </a:ln>
        </p:spPr>
        <p:txBody>
          <a:bodyPr wrap="square" rtlCol="1">
            <a:spAutoFit/>
          </a:bodyPr>
          <a:lstStyle/>
          <a:p>
            <a:pPr algn="r" rtl="1"/>
            <a:r>
              <a:rPr lang="he-IL" b="1" dirty="0"/>
              <a:t>במרכז חדרה אחד הצעירים: </a:t>
            </a:r>
            <a:r>
              <a:rPr lang="he-IL" b="1" dirty="0">
                <a:solidFill>
                  <a:srgbClr val="FF0000"/>
                </a:solidFill>
              </a:rPr>
              <a:t>"לשם מה באתם? אנו לא </a:t>
            </a:r>
          </a:p>
          <a:p>
            <a:pPr algn="r" rtl="1"/>
            <a:r>
              <a:rPr lang="he-IL" b="1" dirty="0">
                <a:solidFill>
                  <a:srgbClr val="FF0000"/>
                </a:solidFill>
              </a:rPr>
              <a:t>זקוקים לרבנים, אלא לפועלים שיודעים לעבוד בשדה ובביצות!"</a:t>
            </a:r>
          </a:p>
          <a:p>
            <a:pPr algn="r" rtl="1"/>
            <a:r>
              <a:rPr lang="he-IL" b="1" dirty="0"/>
              <a:t>הוותיקים: "לא אליך באו הרבנים, אלא אלינו".</a:t>
            </a:r>
          </a:p>
          <a:p>
            <a:pPr algn="r" rtl="1"/>
            <a:r>
              <a:rPr lang="he-IL" b="1" dirty="0"/>
              <a:t>הרב קוק ירד וחיבקו: </a:t>
            </a:r>
            <a:r>
              <a:rPr lang="he-IL" b="1" dirty="0">
                <a:solidFill>
                  <a:srgbClr val="2217F5"/>
                </a:solidFill>
              </a:rPr>
              <a:t>"גם אליכם באנו, דווקא אליכם!"</a:t>
            </a:r>
          </a:p>
        </p:txBody>
      </p:sp>
      <p:sp>
        <p:nvSpPr>
          <p:cNvPr id="10" name="TextBox 9"/>
          <p:cNvSpPr txBox="1"/>
          <p:nvPr/>
        </p:nvSpPr>
        <p:spPr>
          <a:xfrm>
            <a:off x="797908" y="6306504"/>
            <a:ext cx="3467616" cy="307777"/>
          </a:xfrm>
          <a:prstGeom prst="rect">
            <a:avLst/>
          </a:prstGeom>
          <a:noFill/>
          <a:ln>
            <a:solidFill>
              <a:srgbClr val="2217F5"/>
            </a:solidFill>
          </a:ln>
        </p:spPr>
        <p:txBody>
          <a:bodyPr wrap="none" rtlCol="1">
            <a:spAutoFit/>
          </a:bodyPr>
          <a:lstStyle/>
          <a:p>
            <a:r>
              <a:rPr lang="he-IL" b="1" dirty="0"/>
              <a:t>אין מקווה לתימנים, טובלות בנחל, אחת טבעה</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hvilimba.co.il/wp-content/uploads/2012/08/PikiWiki_Israel_6320_Hadera_forestיער-חדרה-500x375.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017" y="260652"/>
            <a:ext cx="3857625" cy="2895601"/>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3076" name="Picture 4" descr="http://shvilimba.co.il/wp-content/uploads/2012/08/PikiWiki_Israel_8564_Hadera_drainageחדרה-500x345.jpg">
            <a:hlinkClick r:id="rId4"/>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657" r="3480" b="3505"/>
          <a:stretch/>
        </p:blipFill>
        <p:spPr bwMode="auto">
          <a:xfrm>
            <a:off x="4885671" y="260652"/>
            <a:ext cx="3889420" cy="2788699"/>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51720" y="4005068"/>
            <a:ext cx="184731" cy="307777"/>
          </a:xfrm>
          <a:prstGeom prst="rect">
            <a:avLst/>
          </a:prstGeom>
          <a:noFill/>
          <a:ln w="38100">
            <a:noFill/>
          </a:ln>
        </p:spPr>
        <p:txBody>
          <a:bodyPr wrap="none" rtlCol="1">
            <a:spAutoFit/>
          </a:bodyPr>
          <a:lstStyle/>
          <a:p>
            <a:endParaRPr lang="he-IL" dirty="0"/>
          </a:p>
        </p:txBody>
      </p:sp>
      <p:sp>
        <p:nvSpPr>
          <p:cNvPr id="5" name="TextBox 4"/>
          <p:cNvSpPr txBox="1"/>
          <p:nvPr/>
        </p:nvSpPr>
        <p:spPr>
          <a:xfrm>
            <a:off x="5178140" y="3576355"/>
            <a:ext cx="3589444" cy="523220"/>
          </a:xfrm>
          <a:prstGeom prst="rect">
            <a:avLst/>
          </a:prstGeom>
          <a:noFill/>
          <a:ln>
            <a:solidFill>
              <a:srgbClr val="2217F5"/>
            </a:solidFill>
          </a:ln>
        </p:spPr>
        <p:txBody>
          <a:bodyPr wrap="none" rtlCol="1">
            <a:spAutoFit/>
          </a:bodyPr>
          <a:lstStyle/>
          <a:p>
            <a:pPr algn="r" rtl="1"/>
            <a:r>
              <a:rPr lang="he-IL" b="1" dirty="0"/>
              <a:t>ביצות – מלריה, מתו 214 איש.</a:t>
            </a:r>
          </a:p>
          <a:p>
            <a:pPr algn="r" rtl="1"/>
            <a:r>
              <a:rPr lang="he-IL" b="1" dirty="0"/>
              <a:t>הברון רוטשילד – הביא 100 אלף עצי אקליפטוס</a:t>
            </a:r>
          </a:p>
        </p:txBody>
      </p:sp>
      <p:sp>
        <p:nvSpPr>
          <p:cNvPr id="6" name="TextBox 5"/>
          <p:cNvSpPr txBox="1"/>
          <p:nvPr/>
        </p:nvSpPr>
        <p:spPr>
          <a:xfrm>
            <a:off x="6156176" y="3121227"/>
            <a:ext cx="1898276" cy="307777"/>
          </a:xfrm>
          <a:prstGeom prst="rect">
            <a:avLst/>
          </a:prstGeom>
          <a:noFill/>
        </p:spPr>
        <p:txBody>
          <a:bodyPr wrap="none" rtlCol="1">
            <a:spAutoFit/>
          </a:bodyPr>
          <a:lstStyle/>
          <a:p>
            <a:r>
              <a:rPr lang="he-IL" b="1" dirty="0"/>
              <a:t>ניקוז לנחל חדרה, </a:t>
            </a:r>
            <a:r>
              <a:rPr lang="he-IL" b="1" dirty="0">
                <a:solidFill>
                  <a:srgbClr val="FF0000"/>
                </a:solidFill>
              </a:rPr>
              <a:t>1900</a:t>
            </a:r>
          </a:p>
        </p:txBody>
      </p:sp>
      <p:sp>
        <p:nvSpPr>
          <p:cNvPr id="7" name="TextBox 6"/>
          <p:cNvSpPr txBox="1"/>
          <p:nvPr/>
        </p:nvSpPr>
        <p:spPr>
          <a:xfrm>
            <a:off x="5364088" y="4365108"/>
            <a:ext cx="3403496" cy="307777"/>
          </a:xfrm>
          <a:prstGeom prst="rect">
            <a:avLst/>
          </a:prstGeom>
          <a:noFill/>
          <a:ln>
            <a:solidFill>
              <a:srgbClr val="2217F5"/>
            </a:solidFill>
          </a:ln>
        </p:spPr>
        <p:txBody>
          <a:bodyPr wrap="none" rtlCol="1">
            <a:spAutoFit/>
          </a:bodyPr>
          <a:lstStyle/>
          <a:p>
            <a:pPr algn="r" rtl="1"/>
            <a:r>
              <a:rPr lang="he-IL" b="1" dirty="0"/>
              <a:t>תפילת מנחה בעשרה בחורשת האקליפטוסים</a:t>
            </a:r>
          </a:p>
        </p:txBody>
      </p:sp>
      <p:sp>
        <p:nvSpPr>
          <p:cNvPr id="8" name="TextBox 7"/>
          <p:cNvSpPr txBox="1"/>
          <p:nvPr/>
        </p:nvSpPr>
        <p:spPr>
          <a:xfrm>
            <a:off x="137773" y="3420292"/>
            <a:ext cx="4434227" cy="1169551"/>
          </a:xfrm>
          <a:prstGeom prst="rect">
            <a:avLst/>
          </a:prstGeom>
          <a:noFill/>
          <a:ln>
            <a:solidFill>
              <a:schemeClr val="tx1"/>
            </a:solidFill>
          </a:ln>
        </p:spPr>
        <p:txBody>
          <a:bodyPr wrap="none" rtlCol="1">
            <a:spAutoFit/>
          </a:bodyPr>
          <a:lstStyle/>
          <a:p>
            <a:pPr algn="r" rtl="1"/>
            <a:r>
              <a:rPr lang="he-IL" b="1" dirty="0">
                <a:solidFill>
                  <a:srgbClr val="FF0000"/>
                </a:solidFill>
              </a:rPr>
              <a:t>צעירים חילונים פגעו ברבנים בדברי אפיקורסות,</a:t>
            </a:r>
          </a:p>
          <a:p>
            <a:pPr algn="r" rtl="1"/>
            <a:r>
              <a:rPr lang="he-IL" b="1" dirty="0"/>
              <a:t>הרב קוק לימד עליהם זכות.</a:t>
            </a:r>
          </a:p>
          <a:p>
            <a:pPr algn="r" rtl="1"/>
            <a:r>
              <a:rPr lang="he-IL" b="1" dirty="0"/>
              <a:t>הרב </a:t>
            </a:r>
            <a:r>
              <a:rPr lang="he-IL" b="1" dirty="0" err="1"/>
              <a:t>זוננפלד</a:t>
            </a:r>
            <a:r>
              <a:rPr lang="he-IL" b="1" dirty="0"/>
              <a:t> לרב: "משנאיך ה' אשנא?!"</a:t>
            </a:r>
          </a:p>
          <a:p>
            <a:pPr algn="r" rtl="1"/>
            <a:r>
              <a:rPr lang="he-IL" b="1" dirty="0"/>
              <a:t>הרב קוק: "</a:t>
            </a:r>
            <a:r>
              <a:rPr lang="he-IL" b="1" dirty="0">
                <a:solidFill>
                  <a:srgbClr val="FF0000"/>
                </a:solidFill>
              </a:rPr>
              <a:t>ר' </a:t>
            </a:r>
            <a:r>
              <a:rPr lang="he-IL" b="1" dirty="0" err="1">
                <a:solidFill>
                  <a:srgbClr val="FF0000"/>
                </a:solidFill>
              </a:rPr>
              <a:t>זושא</a:t>
            </a:r>
            <a:r>
              <a:rPr lang="he-IL" b="1" dirty="0">
                <a:solidFill>
                  <a:srgbClr val="FF0000"/>
                </a:solidFill>
              </a:rPr>
              <a:t>: </a:t>
            </a:r>
            <a:r>
              <a:rPr lang="he-IL" b="1" dirty="0" err="1">
                <a:solidFill>
                  <a:srgbClr val="FF0000"/>
                </a:solidFill>
              </a:rPr>
              <a:t>הלואי</a:t>
            </a:r>
            <a:r>
              <a:rPr lang="he-IL" b="1" dirty="0">
                <a:solidFill>
                  <a:srgbClr val="FF0000"/>
                </a:solidFill>
              </a:rPr>
              <a:t> נוכל לאהוב צדיק כמו שהקב"ה</a:t>
            </a:r>
          </a:p>
          <a:p>
            <a:pPr algn="r" rtl="1"/>
            <a:r>
              <a:rPr lang="he-IL" b="1" dirty="0">
                <a:solidFill>
                  <a:srgbClr val="FF0000"/>
                </a:solidFill>
              </a:rPr>
              <a:t>אוהב רשע מישראל".                   </a:t>
            </a:r>
            <a:r>
              <a:rPr lang="he-IL" b="1" dirty="0">
                <a:solidFill>
                  <a:schemeClr val="tx1"/>
                </a:solidFill>
              </a:rPr>
              <a:t>('מעשה שהיה', עמ' 104)</a:t>
            </a: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610" y="4788254"/>
            <a:ext cx="1326148" cy="1939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flipH="1">
            <a:off x="1927483" y="6210890"/>
            <a:ext cx="2052127" cy="523220"/>
          </a:xfrm>
          <a:prstGeom prst="rect">
            <a:avLst/>
          </a:prstGeom>
          <a:noFill/>
        </p:spPr>
        <p:txBody>
          <a:bodyPr wrap="square" rtlCol="1">
            <a:spAutoFit/>
          </a:bodyPr>
          <a:lstStyle/>
          <a:p>
            <a:pPr algn="r" rtl="1"/>
            <a:r>
              <a:rPr lang="he-IL" b="1" dirty="0"/>
              <a:t>בית הכנסת החדש, </a:t>
            </a:r>
          </a:p>
          <a:p>
            <a:pPr algn="r" rtl="1"/>
            <a:r>
              <a:rPr lang="he-IL" b="1" dirty="0">
                <a:solidFill>
                  <a:srgbClr val="FF0000"/>
                </a:solidFill>
              </a:rPr>
              <a:t>תרצ"</a:t>
            </a:r>
            <a:r>
              <a:rPr lang="he-IL" dirty="0">
                <a:solidFill>
                  <a:srgbClr val="FF0000"/>
                </a:solidFill>
              </a:rPr>
              <a:t>ז</a:t>
            </a:r>
          </a:p>
        </p:txBody>
      </p:sp>
      <p:sp>
        <p:nvSpPr>
          <p:cNvPr id="3" name="TextBox 2"/>
          <p:cNvSpPr txBox="1"/>
          <p:nvPr/>
        </p:nvSpPr>
        <p:spPr>
          <a:xfrm>
            <a:off x="4211960" y="5173383"/>
            <a:ext cx="4706852" cy="1169551"/>
          </a:xfrm>
          <a:prstGeom prst="rect">
            <a:avLst/>
          </a:prstGeom>
          <a:noFill/>
          <a:ln>
            <a:solidFill>
              <a:srgbClr val="2217F5"/>
            </a:solidFill>
          </a:ln>
        </p:spPr>
        <p:txBody>
          <a:bodyPr wrap="square" rtlCol="1">
            <a:spAutoFit/>
          </a:bodyPr>
          <a:lstStyle/>
          <a:p>
            <a:pPr algn="r" rtl="1"/>
            <a:r>
              <a:rPr lang="he-IL" b="1" dirty="0">
                <a:solidFill>
                  <a:schemeClr val="accent5">
                    <a:lumMod val="75000"/>
                  </a:schemeClr>
                </a:solidFill>
              </a:rPr>
              <a:t>קיבלו התחייבות לגבי העתיד: </a:t>
            </a:r>
          </a:p>
          <a:p>
            <a:pPr algn="r" rtl="1"/>
            <a:r>
              <a:rPr lang="he-IL" b="1" dirty="0"/>
              <a:t>ע"פ הסיכום במכתב ששלח אליהם </a:t>
            </a:r>
            <a:r>
              <a:rPr lang="he-IL" b="1" dirty="0">
                <a:solidFill>
                  <a:srgbClr val="FF0000"/>
                </a:solidFill>
              </a:rPr>
              <a:t>בכ' </a:t>
            </a:r>
            <a:r>
              <a:rPr lang="he-IL" b="1" dirty="0" err="1">
                <a:solidFill>
                  <a:srgbClr val="FF0000"/>
                </a:solidFill>
              </a:rPr>
              <a:t>חשון</a:t>
            </a:r>
            <a:r>
              <a:rPr lang="he-IL" b="1" dirty="0">
                <a:solidFill>
                  <a:srgbClr val="FF0000"/>
                </a:solidFill>
              </a:rPr>
              <a:t> תרע"ד</a:t>
            </a:r>
            <a:r>
              <a:rPr lang="he-IL" b="1" dirty="0"/>
              <a:t>:</a:t>
            </a:r>
          </a:p>
          <a:p>
            <a:pPr algn="r" rtl="1"/>
            <a:r>
              <a:rPr lang="he-IL" b="1" dirty="0"/>
              <a:t>מינוי שניים מתווכים, אחראים </a:t>
            </a:r>
            <a:r>
              <a:rPr lang="he-IL" b="1" dirty="0" err="1"/>
              <a:t>תו"מ</a:t>
            </a:r>
            <a:r>
              <a:rPr lang="he-IL" b="1" dirty="0"/>
              <a:t> וכל עניני הדת, מינוי מלמד.</a:t>
            </a:r>
          </a:p>
          <a:p>
            <a:pPr algn="r" rtl="1"/>
            <a:r>
              <a:rPr lang="he-IL" b="1" dirty="0"/>
              <a:t>דאגה ללימוד תורה לתימנים בניית מקווה, תיקון המקווה הקיים. </a:t>
            </a:r>
          </a:p>
          <a:p>
            <a:pPr algn="r" rtl="1"/>
            <a:r>
              <a:rPr lang="he-IL" b="1" dirty="0"/>
              <a:t>                                     (אגרות הראיה, ב, </a:t>
            </a:r>
            <a:r>
              <a:rPr lang="he-IL" b="1" dirty="0" err="1"/>
              <a:t>תרכא</a:t>
            </a:r>
            <a:r>
              <a:rPr lang="he-IL" b="1" dirty="0"/>
              <a:t> עמ' </a:t>
            </a:r>
            <a:r>
              <a:rPr lang="he-IL" b="1" dirty="0" err="1"/>
              <a:t>רמד</a:t>
            </a:r>
            <a:r>
              <a:rPr lang="he-IL" b="1" dirty="0"/>
              <a:t>-ה)</a:t>
            </a:r>
          </a:p>
        </p:txBody>
      </p:sp>
    </p:spTree>
    <p:extLst>
      <p:ext uri="{BB962C8B-B14F-4D97-AF65-F5344CB8AC3E}">
        <p14:creationId xmlns:p14="http://schemas.microsoft.com/office/powerpoint/2010/main" val="954947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370" y="836712"/>
            <a:ext cx="909320" cy="1254862"/>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2719854" y="138698"/>
            <a:ext cx="3778599" cy="369332"/>
          </a:xfrm>
          <a:prstGeom prst="rect">
            <a:avLst/>
          </a:prstGeom>
          <a:solidFill>
            <a:srgbClr val="FFFF00"/>
          </a:solidFill>
          <a:ln w="12700">
            <a:solidFill>
              <a:schemeClr val="tx1"/>
            </a:solidFill>
          </a:ln>
        </p:spPr>
        <p:txBody>
          <a:bodyPr wrap="none" rtlCol="1">
            <a:spAutoFit/>
          </a:bodyPr>
          <a:lstStyle/>
          <a:p>
            <a:r>
              <a:rPr lang="he-IL" sz="1800" b="1" dirty="0"/>
              <a:t>במושבה </a:t>
            </a:r>
            <a:r>
              <a:rPr lang="he-IL" sz="1800" b="1" dirty="0" err="1"/>
              <a:t>זכרון</a:t>
            </a:r>
            <a:r>
              <a:rPr lang="he-IL" sz="1800" b="1" dirty="0"/>
              <a:t> יעקב – </a:t>
            </a:r>
            <a:r>
              <a:rPr lang="he-IL" sz="1800" b="1" dirty="0">
                <a:solidFill>
                  <a:srgbClr val="FF0000"/>
                </a:solidFill>
              </a:rPr>
              <a:t>יום ה', כ' בחשון</a:t>
            </a:r>
          </a:p>
        </p:txBody>
      </p:sp>
      <p:sp>
        <p:nvSpPr>
          <p:cNvPr id="6" name="TextBox 5"/>
          <p:cNvSpPr txBox="1"/>
          <p:nvPr/>
        </p:nvSpPr>
        <p:spPr>
          <a:xfrm>
            <a:off x="4970593" y="828824"/>
            <a:ext cx="2736648" cy="1384995"/>
          </a:xfrm>
          <a:prstGeom prst="rect">
            <a:avLst/>
          </a:prstGeom>
          <a:solidFill>
            <a:srgbClr val="FFFF00"/>
          </a:solidFill>
          <a:ln>
            <a:solidFill>
              <a:srgbClr val="2217F5"/>
            </a:solidFill>
          </a:ln>
        </p:spPr>
        <p:txBody>
          <a:bodyPr wrap="none" rtlCol="1">
            <a:spAutoFit/>
          </a:bodyPr>
          <a:lstStyle/>
          <a:p>
            <a:pPr algn="r" rtl="1"/>
            <a:r>
              <a:rPr lang="he-IL" b="1" dirty="0">
                <a:solidFill>
                  <a:srgbClr val="FF0000"/>
                </a:solidFill>
              </a:rPr>
              <a:t>1882 - </a:t>
            </a:r>
            <a:r>
              <a:rPr lang="he-IL" b="1" dirty="0"/>
              <a:t>עולים דתיים מרומניה</a:t>
            </a:r>
          </a:p>
          <a:p>
            <a:pPr algn="r" rtl="1"/>
            <a:r>
              <a:rPr lang="he-IL" b="1" dirty="0" err="1">
                <a:solidFill>
                  <a:srgbClr val="FF0000"/>
                </a:solidFill>
              </a:rPr>
              <a:t>1883</a:t>
            </a:r>
            <a:r>
              <a:rPr lang="he-IL" b="1" dirty="0">
                <a:solidFill>
                  <a:srgbClr val="FF0000"/>
                </a:solidFill>
              </a:rPr>
              <a:t>– </a:t>
            </a:r>
            <a:r>
              <a:rPr lang="he-IL" b="1" dirty="0"/>
              <a:t>בחסות רוטשילד ופקידיו</a:t>
            </a:r>
          </a:p>
          <a:p>
            <a:pPr algn="r" rtl="1"/>
            <a:r>
              <a:rPr lang="he-IL" b="1" dirty="0">
                <a:solidFill>
                  <a:srgbClr val="FF0000"/>
                </a:solidFill>
              </a:rPr>
              <a:t>1900 – </a:t>
            </a:r>
            <a:r>
              <a:rPr lang="he-IL" b="1" dirty="0">
                <a:solidFill>
                  <a:schemeClr val="tx1"/>
                </a:solidFill>
              </a:rPr>
              <a:t>עברה לחסות </a:t>
            </a:r>
            <a:r>
              <a:rPr lang="he-IL" b="1" dirty="0" err="1"/>
              <a:t>יק"א</a:t>
            </a:r>
            <a:endParaRPr lang="he-IL" b="1" dirty="0"/>
          </a:p>
          <a:p>
            <a:pPr algn="r" rtl="1"/>
            <a:r>
              <a:rPr lang="he-IL" b="1" dirty="0"/>
              <a:t>ע"ש אביו של רוטשילד</a:t>
            </a:r>
          </a:p>
          <a:p>
            <a:pPr algn="r" rtl="1"/>
            <a:r>
              <a:rPr lang="he-IL" b="1" dirty="0"/>
              <a:t>870 נפש</a:t>
            </a:r>
          </a:p>
          <a:p>
            <a:pPr algn="r" rtl="1"/>
            <a:r>
              <a:rPr lang="he-IL" b="1" dirty="0"/>
              <a:t>המושבה המפותחת והגדולה ביותר</a:t>
            </a:r>
          </a:p>
        </p:txBody>
      </p:sp>
      <p:sp>
        <p:nvSpPr>
          <p:cNvPr id="7" name="TextBox 6"/>
          <p:cNvSpPr txBox="1"/>
          <p:nvPr/>
        </p:nvSpPr>
        <p:spPr>
          <a:xfrm>
            <a:off x="8285356" y="226341"/>
            <a:ext cx="641521" cy="338554"/>
          </a:xfrm>
          <a:prstGeom prst="rect">
            <a:avLst/>
          </a:prstGeom>
          <a:solidFill>
            <a:srgbClr val="76E3FF"/>
          </a:solidFill>
          <a:ln>
            <a:solidFill>
              <a:schemeClr val="tx1"/>
            </a:solidFill>
          </a:ln>
        </p:spPr>
        <p:txBody>
          <a:bodyPr wrap="none" rtlCol="1">
            <a:spAutoFit/>
          </a:bodyPr>
          <a:lstStyle/>
          <a:p>
            <a:r>
              <a:rPr lang="he-IL" sz="1600" b="1" dirty="0"/>
              <a:t>בערב</a:t>
            </a:r>
          </a:p>
        </p:txBody>
      </p:sp>
      <p:sp>
        <p:nvSpPr>
          <p:cNvPr id="8" name="TextBox 7"/>
          <p:cNvSpPr txBox="1"/>
          <p:nvPr/>
        </p:nvSpPr>
        <p:spPr>
          <a:xfrm>
            <a:off x="4005555" y="3610759"/>
            <a:ext cx="4676344" cy="3108543"/>
          </a:xfrm>
          <a:prstGeom prst="rect">
            <a:avLst/>
          </a:prstGeom>
          <a:noFill/>
          <a:ln>
            <a:solidFill>
              <a:srgbClr val="2217F5"/>
            </a:solidFill>
          </a:ln>
        </p:spPr>
        <p:txBody>
          <a:bodyPr wrap="none" rtlCol="1">
            <a:spAutoFit/>
          </a:bodyPr>
          <a:lstStyle/>
          <a:p>
            <a:pPr algn="r" rtl="1"/>
            <a:endParaRPr lang="he-IL" b="1" dirty="0"/>
          </a:p>
          <a:p>
            <a:pPr algn="r" rtl="1"/>
            <a:r>
              <a:rPr lang="he-IL" b="1" dirty="0">
                <a:solidFill>
                  <a:srgbClr val="FF0000"/>
                </a:solidFill>
              </a:rPr>
              <a:t>הרב קוק </a:t>
            </a:r>
            <a:r>
              <a:rPr lang="he-IL" b="1" dirty="0"/>
              <a:t>במלון 'גרף': דרש </a:t>
            </a:r>
            <a:r>
              <a:rPr lang="he-IL" b="1" dirty="0">
                <a:solidFill>
                  <a:srgbClr val="FF0000"/>
                </a:solidFill>
              </a:rPr>
              <a:t>על התחיה הלאומית.</a:t>
            </a:r>
          </a:p>
          <a:p>
            <a:pPr algn="r" rtl="1"/>
            <a:r>
              <a:rPr lang="he-IL" b="1" dirty="0">
                <a:solidFill>
                  <a:srgbClr val="FF0000"/>
                </a:solidFill>
              </a:rPr>
              <a:t> </a:t>
            </a:r>
          </a:p>
          <a:p>
            <a:pPr algn="r" rtl="1"/>
            <a:r>
              <a:rPr lang="he-IL" b="1" dirty="0"/>
              <a:t>מבקרים בבית רב המושבה הרב יצחק </a:t>
            </a:r>
            <a:r>
              <a:rPr lang="he-IL" b="1" dirty="0" err="1"/>
              <a:t>וואלפאר</a:t>
            </a:r>
            <a:r>
              <a:rPr lang="he-IL" b="1" dirty="0"/>
              <a:t> (עוור), ת"ח.</a:t>
            </a:r>
          </a:p>
          <a:p>
            <a:pPr algn="r" rtl="1"/>
            <a:endParaRPr lang="he-IL" b="1" dirty="0"/>
          </a:p>
          <a:p>
            <a:pPr algn="r" rtl="1"/>
            <a:r>
              <a:rPr lang="he-IL" b="1" dirty="0"/>
              <a:t>רוצים להתפלל ערבית בבית הכנסת – הבימה ליד ארון הקודש,</a:t>
            </a:r>
          </a:p>
          <a:p>
            <a:pPr algn="r" rtl="1"/>
            <a:r>
              <a:rPr lang="he-IL" b="1" dirty="0"/>
              <a:t>לא נכנסים! (כמו אצל הרפורמים).</a:t>
            </a:r>
          </a:p>
          <a:p>
            <a:pPr algn="r" rtl="1"/>
            <a:endParaRPr lang="he-IL" b="1" dirty="0"/>
          </a:p>
          <a:p>
            <a:pPr algn="r" rtl="1"/>
            <a:r>
              <a:rPr lang="he-IL" b="1" dirty="0"/>
              <a:t>במלון: </a:t>
            </a:r>
            <a:r>
              <a:rPr lang="he-IL" b="1" dirty="0" err="1"/>
              <a:t>ליסד</a:t>
            </a:r>
            <a:r>
              <a:rPr lang="he-IL" b="1" dirty="0"/>
              <a:t> 'חדר' או מלמד דתי, תרומות ומעשרות (</a:t>
            </a:r>
            <a:r>
              <a:rPr lang="he-IL" b="1" dirty="0" err="1"/>
              <a:t>תו"מ</a:t>
            </a:r>
            <a:r>
              <a:rPr lang="he-IL" b="1" dirty="0"/>
              <a:t>),    </a:t>
            </a:r>
          </a:p>
          <a:p>
            <a:pPr algn="r" rtl="1"/>
            <a:r>
              <a:rPr lang="he-IL" b="1" dirty="0">
                <a:solidFill>
                  <a:srgbClr val="FF0000"/>
                </a:solidFill>
              </a:rPr>
              <a:t>עקירת הבמה – הודיע שלא יכנסו עד שהועד יחליט לתקן. </a:t>
            </a:r>
          </a:p>
          <a:p>
            <a:pPr algn="r" rtl="1"/>
            <a:r>
              <a:rPr lang="he-IL" b="1" dirty="0">
                <a:solidFill>
                  <a:schemeClr val="tx1"/>
                </a:solidFill>
              </a:rPr>
              <a:t>רושם טוב</a:t>
            </a:r>
          </a:p>
          <a:p>
            <a:pPr algn="r" rtl="1"/>
            <a:r>
              <a:rPr lang="he-IL" b="1" dirty="0">
                <a:solidFill>
                  <a:schemeClr val="tx1"/>
                </a:solidFill>
              </a:rPr>
              <a:t>הוחלט – לקיים אסיפה כללית למחרת לפני חצות.</a:t>
            </a:r>
          </a:p>
          <a:p>
            <a:pPr algn="r" rtl="1"/>
            <a:endParaRPr lang="he-IL" b="1" dirty="0">
              <a:solidFill>
                <a:schemeClr val="tx1"/>
              </a:solidFill>
            </a:endParaRPr>
          </a:p>
          <a:p>
            <a:pPr algn="r" rtl="1"/>
            <a:r>
              <a:rPr lang="he-IL" b="1" dirty="0">
                <a:solidFill>
                  <a:srgbClr val="FF0000"/>
                </a:solidFill>
              </a:rPr>
              <a:t>איזו רוח תשפיע על הציונות – היהדות, הציונות מקורה בתורה</a:t>
            </a:r>
            <a:r>
              <a:rPr lang="he-IL" b="1" dirty="0">
                <a:solidFill>
                  <a:schemeClr val="tx1"/>
                </a:solidFill>
              </a:rPr>
              <a:t>.</a:t>
            </a:r>
            <a:endParaRPr lang="he-IL" b="1" dirty="0">
              <a:solidFill>
                <a:srgbClr val="FF0000"/>
              </a:solidFill>
            </a:endParaRPr>
          </a:p>
        </p:txBody>
      </p:sp>
      <p:pic>
        <p:nvPicPr>
          <p:cNvPr id="71684" name="Picture 4" descr="http://www.ynet.co.il/PicServer2/20122005/829179/zichron_wa.jpg"/>
          <p:cNvPicPr>
            <a:picLocks noChangeAspect="1" noChangeArrowheads="1"/>
          </p:cNvPicPr>
          <p:nvPr/>
        </p:nvPicPr>
        <p:blipFill>
          <a:blip r:embed="rId3"/>
          <a:srcRect/>
          <a:stretch>
            <a:fillRect/>
          </a:stretch>
        </p:blipFill>
        <p:spPr bwMode="auto">
          <a:xfrm>
            <a:off x="446618" y="752506"/>
            <a:ext cx="3450233" cy="2376264"/>
          </a:xfrm>
          <a:prstGeom prst="rect">
            <a:avLst/>
          </a:prstGeom>
          <a:noFill/>
          <a:ln w="38100">
            <a:solidFill>
              <a:srgbClr val="FF0000"/>
            </a:solidFill>
          </a:ln>
        </p:spPr>
      </p:pic>
      <p:pic>
        <p:nvPicPr>
          <p:cNvPr id="71686" name="Picture 6" descr="http://www.zimmer.co.il/dari/P1000655.JPG"/>
          <p:cNvPicPr>
            <a:picLocks noChangeAspect="1" noChangeArrowheads="1"/>
          </p:cNvPicPr>
          <p:nvPr/>
        </p:nvPicPr>
        <p:blipFill>
          <a:blip r:embed="rId4"/>
          <a:srcRect/>
          <a:stretch>
            <a:fillRect/>
          </a:stretch>
        </p:blipFill>
        <p:spPr bwMode="auto">
          <a:xfrm>
            <a:off x="446618" y="4077072"/>
            <a:ext cx="3180656" cy="2385492"/>
          </a:xfrm>
          <a:prstGeom prst="rect">
            <a:avLst/>
          </a:prstGeom>
          <a:noFill/>
          <a:ln w="38100">
            <a:solidFill>
              <a:srgbClr val="FF0000"/>
            </a:solidFill>
          </a:ln>
        </p:spPr>
      </p:pic>
      <p:sp>
        <p:nvSpPr>
          <p:cNvPr id="12" name="TextBox 11"/>
          <p:cNvSpPr txBox="1"/>
          <p:nvPr/>
        </p:nvSpPr>
        <p:spPr>
          <a:xfrm>
            <a:off x="1530372" y="3179098"/>
            <a:ext cx="1282723" cy="307777"/>
          </a:xfrm>
          <a:prstGeom prst="rect">
            <a:avLst/>
          </a:prstGeom>
          <a:noFill/>
        </p:spPr>
        <p:txBody>
          <a:bodyPr wrap="none" rtlCol="1">
            <a:spAutoFit/>
          </a:bodyPr>
          <a:lstStyle/>
          <a:p>
            <a:pPr algn="r" rtl="1"/>
            <a:r>
              <a:rPr lang="he-IL" b="1" dirty="0"/>
              <a:t>רחוב המייסדים</a:t>
            </a:r>
          </a:p>
        </p:txBody>
      </p:sp>
      <p:sp>
        <p:nvSpPr>
          <p:cNvPr id="2" name="TextBox 1"/>
          <p:cNvSpPr txBox="1"/>
          <p:nvPr/>
        </p:nvSpPr>
        <p:spPr>
          <a:xfrm>
            <a:off x="4346993" y="2296654"/>
            <a:ext cx="4334906" cy="1169551"/>
          </a:xfrm>
          <a:prstGeom prst="rect">
            <a:avLst/>
          </a:prstGeom>
          <a:noFill/>
          <a:ln>
            <a:solidFill>
              <a:srgbClr val="2217F5"/>
            </a:solidFill>
          </a:ln>
        </p:spPr>
        <p:txBody>
          <a:bodyPr wrap="none" rtlCol="1">
            <a:spAutoFit/>
          </a:bodyPr>
          <a:lstStyle/>
          <a:p>
            <a:pPr algn="r" rtl="1"/>
            <a:r>
              <a:rPr lang="he-IL" b="1" dirty="0"/>
              <a:t>הפתעה: איש לא חיכה להם, נכנסו לאכסניה.</a:t>
            </a:r>
          </a:p>
          <a:p>
            <a:pPr algn="r" rtl="1"/>
            <a:endParaRPr lang="he-IL" b="1" dirty="0"/>
          </a:p>
          <a:p>
            <a:pPr algn="r" rtl="1"/>
            <a:r>
              <a:rPr lang="he-IL" b="1" dirty="0"/>
              <a:t>ראש הועד וחבריו הגיעו, התכוננו לקבלם לפני שבוע!</a:t>
            </a:r>
          </a:p>
          <a:p>
            <a:pPr algn="r" rtl="1"/>
            <a:r>
              <a:rPr lang="he-IL" b="1" dirty="0"/>
              <a:t>מזמינים אותם להתפלל בשבת בבית הכנסת המרכזי.</a:t>
            </a:r>
          </a:p>
          <a:p>
            <a:pPr algn="r" rtl="1"/>
            <a:r>
              <a:rPr lang="he-IL" b="1" dirty="0"/>
              <a:t>(יש גם מנין של 8 משפחות תימנים בצפון – ברפת ואורווה)</a:t>
            </a:r>
          </a:p>
        </p:txBody>
      </p:sp>
      <p:sp>
        <p:nvSpPr>
          <p:cNvPr id="3" name="TextBox 2"/>
          <p:cNvSpPr txBox="1"/>
          <p:nvPr/>
        </p:nvSpPr>
        <p:spPr>
          <a:xfrm>
            <a:off x="537883" y="2310453"/>
            <a:ext cx="8068234" cy="1938992"/>
          </a:xfrm>
          <a:prstGeom prst="rect">
            <a:avLst/>
          </a:prstGeom>
          <a:solidFill>
            <a:srgbClr val="2217F5"/>
          </a:solidFill>
          <a:ln>
            <a:solidFill>
              <a:schemeClr val="tx1"/>
            </a:solidFill>
          </a:ln>
        </p:spPr>
        <p:txBody>
          <a:bodyPr wrap="none" rtlCol="1">
            <a:spAutoFit/>
          </a:bodyPr>
          <a:lstStyle/>
          <a:p>
            <a:pPr algn="r" rtl="1"/>
            <a:r>
              <a:rPr lang="he-IL" sz="4000" b="1" dirty="0">
                <a:solidFill>
                  <a:schemeClr val="bg1"/>
                </a:solidFill>
              </a:rPr>
              <a:t>הרב קוק: "אי אפשר להניח ככה שנחנך</a:t>
            </a:r>
          </a:p>
          <a:p>
            <a:pPr algn="r" rtl="1"/>
            <a:r>
              <a:rPr lang="he-IL" sz="4000" b="1" dirty="0">
                <a:solidFill>
                  <a:schemeClr val="bg1"/>
                </a:solidFill>
              </a:rPr>
              <a:t> דור של יהודים, אך כל יהדותם תורגש </a:t>
            </a:r>
          </a:p>
          <a:p>
            <a:pPr algn="r" rtl="1"/>
            <a:r>
              <a:rPr lang="he-IL" sz="4000" b="1" dirty="0">
                <a:solidFill>
                  <a:schemeClr val="bg1"/>
                </a:solidFill>
              </a:rPr>
              <a:t>רק בזה שמדברים עברית"!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000" fill="hold"/>
                                        <p:tgtEl>
                                          <p:spTgt spid="3"/>
                                        </p:tgtEl>
                                        <p:attrNameLst>
                                          <p:attrName>ppt_w</p:attrName>
                                        </p:attrNameLst>
                                      </p:cBhvr>
                                      <p:tavLst>
                                        <p:tav tm="0">
                                          <p:val>
                                            <p:fltVal val="0"/>
                                          </p:val>
                                        </p:tav>
                                        <p:tav tm="100000">
                                          <p:val>
                                            <p:strVal val="#ppt_w"/>
                                          </p:val>
                                        </p:tav>
                                      </p:tavLst>
                                    </p:anim>
                                    <p:anim calcmode="lin" valueType="num">
                                      <p:cBhvr>
                                        <p:cTn id="8" dur="2000" fill="hold"/>
                                        <p:tgtEl>
                                          <p:spTgt spid="3"/>
                                        </p:tgtEl>
                                        <p:attrNameLst>
                                          <p:attrName>ppt_h</p:attrName>
                                        </p:attrNameLst>
                                      </p:cBhvr>
                                      <p:tavLst>
                                        <p:tav tm="0">
                                          <p:val>
                                            <p:fltVal val="0"/>
                                          </p:val>
                                        </p:tav>
                                        <p:tav tm="100000">
                                          <p:val>
                                            <p:strVal val="#ppt_h"/>
                                          </p:val>
                                        </p:tav>
                                      </p:tavLst>
                                    </p:anim>
                                    <p:animEffect transition="in" filter="fade">
                                      <p:cBhvr>
                                        <p:cTn id="9"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http://www.ynet.co.il/PicServer2/20122005/829053/aharonson_wa2.jpg"/>
          <p:cNvPicPr>
            <a:picLocks noChangeAspect="1" noChangeArrowheads="1"/>
          </p:cNvPicPr>
          <p:nvPr/>
        </p:nvPicPr>
        <p:blipFill>
          <a:blip r:embed="rId2"/>
          <a:srcRect/>
          <a:stretch>
            <a:fillRect/>
          </a:stretch>
        </p:blipFill>
        <p:spPr bwMode="auto">
          <a:xfrm>
            <a:off x="4830276" y="584684"/>
            <a:ext cx="4183090" cy="2214578"/>
          </a:xfrm>
          <a:prstGeom prst="rect">
            <a:avLst/>
          </a:prstGeom>
          <a:noFill/>
          <a:ln w="38100">
            <a:solidFill>
              <a:srgbClr val="FF0000"/>
            </a:solidFill>
          </a:ln>
        </p:spPr>
      </p:pic>
      <p:sp>
        <p:nvSpPr>
          <p:cNvPr id="3" name="Shape 93"/>
          <p:cNvSpPr/>
          <p:nvPr/>
        </p:nvSpPr>
        <p:spPr>
          <a:xfrm>
            <a:off x="278985" y="584684"/>
            <a:ext cx="4299838" cy="1998554"/>
          </a:xfrm>
          <a:prstGeom prst="rect">
            <a:avLst/>
          </a:prstGeom>
          <a:blipFill>
            <a:blip r:embed="rId3"/>
            <a:stretch>
              <a:fillRect/>
            </a:stretch>
          </a:blipFill>
          <a:ln w="38100">
            <a:solidFill>
              <a:srgbClr val="FF0000"/>
            </a:solidFill>
          </a:ln>
        </p:spPr>
        <p:txBody>
          <a:bodyPr/>
          <a:lstStyle/>
          <a:p>
            <a:endParaRPr lang="he-IL"/>
          </a:p>
        </p:txBody>
      </p:sp>
      <p:sp>
        <p:nvSpPr>
          <p:cNvPr id="4" name="Shape 107"/>
          <p:cNvSpPr/>
          <p:nvPr/>
        </p:nvSpPr>
        <p:spPr>
          <a:xfrm>
            <a:off x="4716016" y="3429000"/>
            <a:ext cx="4104456" cy="1939248"/>
          </a:xfrm>
          <a:prstGeom prst="rect">
            <a:avLst/>
          </a:prstGeom>
          <a:blipFill>
            <a:blip r:embed="rId4"/>
            <a:stretch>
              <a:fillRect/>
            </a:stretch>
          </a:blipFill>
          <a:ln w="38100">
            <a:solidFill>
              <a:srgbClr val="FF0000"/>
            </a:solidFill>
          </a:ln>
        </p:spPr>
        <p:txBody>
          <a:bodyPr/>
          <a:lstStyle/>
          <a:p>
            <a:endParaRPr lang="he-IL"/>
          </a:p>
        </p:txBody>
      </p:sp>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985" y="3234079"/>
            <a:ext cx="4005263" cy="2951163"/>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284248" y="2849322"/>
            <a:ext cx="4366043" cy="307777"/>
          </a:xfrm>
          <a:prstGeom prst="rect">
            <a:avLst/>
          </a:prstGeom>
          <a:noFill/>
        </p:spPr>
        <p:txBody>
          <a:bodyPr wrap="square" rtlCol="1">
            <a:spAutoFit/>
          </a:bodyPr>
          <a:lstStyle/>
          <a:p>
            <a:pPr algn="r" rtl="1"/>
            <a:r>
              <a:rPr lang="he-IL" b="1" dirty="0"/>
              <a:t>                   משפחת אהרונסון</a:t>
            </a:r>
          </a:p>
        </p:txBody>
      </p:sp>
      <p:sp>
        <p:nvSpPr>
          <p:cNvPr id="7" name="TextBox 6"/>
          <p:cNvSpPr txBox="1"/>
          <p:nvPr/>
        </p:nvSpPr>
        <p:spPr>
          <a:xfrm>
            <a:off x="4469474" y="5445228"/>
            <a:ext cx="4509568" cy="1169551"/>
          </a:xfrm>
          <a:prstGeom prst="rect">
            <a:avLst/>
          </a:prstGeom>
          <a:noFill/>
          <a:ln>
            <a:solidFill>
              <a:srgbClr val="2217F5"/>
            </a:solidFill>
          </a:ln>
        </p:spPr>
        <p:txBody>
          <a:bodyPr wrap="none" rtlCol="1">
            <a:spAutoFit/>
          </a:bodyPr>
          <a:lstStyle/>
          <a:p>
            <a:pPr algn="r" rtl="1"/>
            <a:r>
              <a:rPr lang="he-IL" b="1" dirty="0"/>
              <a:t>הרב קוק התעורר בלילה – בעיית הפרשת </a:t>
            </a:r>
            <a:r>
              <a:rPr lang="he-IL" b="1" dirty="0" err="1"/>
              <a:t>תו"מ</a:t>
            </a:r>
            <a:r>
              <a:rPr lang="he-IL" b="1" dirty="0"/>
              <a:t> מהשמן.</a:t>
            </a:r>
          </a:p>
          <a:p>
            <a:pPr algn="r" rtl="1"/>
            <a:r>
              <a:rPr lang="he-IL" b="1" dirty="0"/>
              <a:t>ניגש לחלון לשמוע את שירת הצעירים שיצאו לזמור בגפנים.</a:t>
            </a:r>
          </a:p>
          <a:p>
            <a:pPr algn="r" rtl="1"/>
            <a:r>
              <a:rPr lang="he-IL" b="1" dirty="0"/>
              <a:t>הרב </a:t>
            </a:r>
            <a:r>
              <a:rPr lang="he-IL" b="1" dirty="0" err="1"/>
              <a:t>חרל"פ</a:t>
            </a:r>
            <a:r>
              <a:rPr lang="he-IL" b="1" dirty="0"/>
              <a:t>: האם שמע את נגינת הקודש שלהם?</a:t>
            </a:r>
          </a:p>
          <a:p>
            <a:pPr algn="r" rtl="1"/>
            <a:r>
              <a:rPr lang="he-IL" b="1" dirty="0"/>
              <a:t>הרב </a:t>
            </a:r>
            <a:r>
              <a:rPr lang="he-IL" b="1" dirty="0" err="1"/>
              <a:t>זוננפלד</a:t>
            </a:r>
            <a:r>
              <a:rPr lang="he-IL" b="1" dirty="0"/>
              <a:t>: תיקון חצות</a:t>
            </a:r>
          </a:p>
          <a:p>
            <a:pPr algn="r" rtl="1"/>
            <a:r>
              <a:rPr lang="he-IL" b="1" dirty="0"/>
              <a:t>הרב קוק: </a:t>
            </a:r>
            <a:r>
              <a:rPr lang="he-IL" b="1" dirty="0">
                <a:solidFill>
                  <a:srgbClr val="FF0000"/>
                </a:solidFill>
              </a:rPr>
              <a:t>הקדימונו בתיקון חצות </a:t>
            </a:r>
            <a:r>
              <a:rPr lang="he-IL" b="1" dirty="0"/>
              <a:t>('האיש נגד הזרם', </a:t>
            </a:r>
            <a:r>
              <a:rPr lang="he-IL" b="1" dirty="0" err="1"/>
              <a:t>הרצב"י</a:t>
            </a:r>
            <a:r>
              <a:rPr lang="he-IL" b="1" dirty="0"/>
              <a:t>)</a:t>
            </a:r>
          </a:p>
        </p:txBody>
      </p:sp>
      <p:sp>
        <p:nvSpPr>
          <p:cNvPr id="8" name="TextBox 7"/>
          <p:cNvSpPr txBox="1"/>
          <p:nvPr/>
        </p:nvSpPr>
        <p:spPr>
          <a:xfrm>
            <a:off x="899592" y="6262222"/>
            <a:ext cx="2653291" cy="307777"/>
          </a:xfrm>
          <a:prstGeom prst="rect">
            <a:avLst/>
          </a:prstGeom>
          <a:noFill/>
        </p:spPr>
        <p:txBody>
          <a:bodyPr wrap="none" rtlCol="1">
            <a:spAutoFit/>
          </a:bodyPr>
          <a:lstStyle/>
          <a:p>
            <a:pPr algn="r" rtl="1"/>
            <a:r>
              <a:rPr lang="he-IL" b="1" dirty="0"/>
              <a:t>משפחות ששיכלו 3, 5, ויותר ילדים</a:t>
            </a:r>
          </a:p>
        </p:txBody>
      </p:sp>
      <p:sp>
        <p:nvSpPr>
          <p:cNvPr id="9" name="TextBox 8"/>
          <p:cNvSpPr txBox="1"/>
          <p:nvPr/>
        </p:nvSpPr>
        <p:spPr>
          <a:xfrm>
            <a:off x="80344" y="2633879"/>
            <a:ext cx="4697120" cy="523220"/>
          </a:xfrm>
          <a:prstGeom prst="rect">
            <a:avLst/>
          </a:prstGeom>
          <a:noFill/>
        </p:spPr>
        <p:txBody>
          <a:bodyPr wrap="none" rtlCol="1">
            <a:spAutoFit/>
          </a:bodyPr>
          <a:lstStyle/>
          <a:p>
            <a:r>
              <a:rPr lang="he-IL" b="1" dirty="0"/>
              <a:t>ניל"י - סיכנו את המושבה, עינויים שיגלו, עוצר, הסגירו את שרה</a:t>
            </a:r>
          </a:p>
          <a:p>
            <a:endParaRPr lang="he-IL"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http://www.nrg.co.il/images/archive/465x349/1/057/498.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248" y="4529656"/>
            <a:ext cx="3099397" cy="2059599"/>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79873" name="Picture 1" descr="C:\Users\123\Pictures\תשע'ד-א'-ד'\023.jpg"/>
          <p:cNvPicPr>
            <a:picLocks noChangeAspect="1" noChangeArrowheads="1"/>
          </p:cNvPicPr>
          <p:nvPr/>
        </p:nvPicPr>
        <p:blipFill rotWithShape="1">
          <a:blip r:embed="rId4"/>
          <a:srcRect t="13418" r="2872" b="7769"/>
          <a:stretch/>
        </p:blipFill>
        <p:spPr bwMode="auto">
          <a:xfrm rot="10800000">
            <a:off x="395536" y="1456387"/>
            <a:ext cx="3456384" cy="2331001"/>
          </a:xfrm>
          <a:prstGeom prst="rect">
            <a:avLst/>
          </a:prstGeom>
          <a:noFill/>
          <a:ln w="38100">
            <a:solidFill>
              <a:srgbClr val="FF0000"/>
            </a:solidFill>
          </a:ln>
        </p:spPr>
      </p:pic>
      <p:sp>
        <p:nvSpPr>
          <p:cNvPr id="2" name="TextBox 1"/>
          <p:cNvSpPr txBox="1"/>
          <p:nvPr/>
        </p:nvSpPr>
        <p:spPr>
          <a:xfrm>
            <a:off x="1043608" y="3851021"/>
            <a:ext cx="2007280" cy="307777"/>
          </a:xfrm>
          <a:prstGeom prst="rect">
            <a:avLst/>
          </a:prstGeom>
          <a:noFill/>
          <a:ln w="38100">
            <a:noFill/>
          </a:ln>
        </p:spPr>
        <p:txBody>
          <a:bodyPr wrap="none" rtlCol="1">
            <a:spAutoFit/>
          </a:bodyPr>
          <a:lstStyle/>
          <a:p>
            <a:r>
              <a:rPr lang="he-IL" b="1" dirty="0"/>
              <a:t>שרידי בית הבד מול היקב</a:t>
            </a:r>
          </a:p>
        </p:txBody>
      </p:sp>
      <p:sp>
        <p:nvSpPr>
          <p:cNvPr id="3" name="TextBox 2"/>
          <p:cNvSpPr txBox="1"/>
          <p:nvPr/>
        </p:nvSpPr>
        <p:spPr>
          <a:xfrm>
            <a:off x="4003359" y="625941"/>
            <a:ext cx="1137281" cy="338554"/>
          </a:xfrm>
          <a:prstGeom prst="rect">
            <a:avLst/>
          </a:prstGeom>
          <a:solidFill>
            <a:srgbClr val="FFFF00"/>
          </a:solidFill>
          <a:ln>
            <a:solidFill>
              <a:schemeClr val="tx1"/>
            </a:solidFill>
          </a:ln>
        </p:spPr>
        <p:txBody>
          <a:bodyPr wrap="square" rtlCol="1">
            <a:spAutoFit/>
          </a:bodyPr>
          <a:lstStyle/>
          <a:p>
            <a:r>
              <a:rPr lang="he-IL" sz="1600" b="1" dirty="0"/>
              <a:t>ביקור ביקב</a:t>
            </a:r>
          </a:p>
        </p:txBody>
      </p:sp>
      <p:sp>
        <p:nvSpPr>
          <p:cNvPr id="4" name="TextBox 3"/>
          <p:cNvSpPr txBox="1"/>
          <p:nvPr/>
        </p:nvSpPr>
        <p:spPr>
          <a:xfrm>
            <a:off x="5643647" y="997624"/>
            <a:ext cx="3164649" cy="307777"/>
          </a:xfrm>
          <a:prstGeom prst="rect">
            <a:avLst/>
          </a:prstGeom>
          <a:solidFill>
            <a:srgbClr val="FFFF00"/>
          </a:solidFill>
          <a:ln>
            <a:solidFill>
              <a:schemeClr val="tx1"/>
            </a:solidFill>
          </a:ln>
        </p:spPr>
        <p:txBody>
          <a:bodyPr wrap="none" rtlCol="1">
            <a:spAutoFit/>
          </a:bodyPr>
          <a:lstStyle/>
          <a:p>
            <a:r>
              <a:rPr lang="he-IL" b="1" dirty="0"/>
              <a:t>נוסד </a:t>
            </a:r>
            <a:r>
              <a:rPr lang="he-IL" b="1" dirty="0" err="1"/>
              <a:t>ב</a:t>
            </a:r>
            <a:r>
              <a:rPr lang="he-IL" b="1" dirty="0" err="1">
                <a:solidFill>
                  <a:srgbClr val="FF0000"/>
                </a:solidFill>
              </a:rPr>
              <a:t>תרמ"ט</a:t>
            </a:r>
            <a:r>
              <a:rPr lang="he-IL" b="1" dirty="0"/>
              <a:t> </a:t>
            </a:r>
            <a:r>
              <a:rPr lang="he-IL" b="1" dirty="0">
                <a:solidFill>
                  <a:srgbClr val="FF0000"/>
                </a:solidFill>
              </a:rPr>
              <a:t>(1890) </a:t>
            </a:r>
            <a:r>
              <a:rPr lang="he-IL" b="1" dirty="0"/>
              <a:t>ע"י הברון רוטשילד</a:t>
            </a:r>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3072" y="1493175"/>
            <a:ext cx="3048000" cy="225742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8" name="TextBox 7"/>
          <p:cNvSpPr txBox="1"/>
          <p:nvPr/>
        </p:nvSpPr>
        <p:spPr>
          <a:xfrm>
            <a:off x="4499992" y="4676129"/>
            <a:ext cx="4371711" cy="523220"/>
          </a:xfrm>
          <a:prstGeom prst="rect">
            <a:avLst/>
          </a:prstGeom>
          <a:noFill/>
          <a:ln>
            <a:solidFill>
              <a:srgbClr val="2217F5"/>
            </a:solidFill>
          </a:ln>
        </p:spPr>
        <p:txBody>
          <a:bodyPr wrap="none" rtlCol="1">
            <a:spAutoFit/>
          </a:bodyPr>
          <a:lstStyle/>
          <a:p>
            <a:pPr algn="r" rtl="1"/>
            <a:r>
              <a:rPr lang="he-IL" b="1" dirty="0"/>
              <a:t>הרבנים דנו האם המוהל של הזיתים כתרומת מעשר לשמן?</a:t>
            </a:r>
          </a:p>
          <a:p>
            <a:pPr algn="r" rtl="1"/>
            <a:r>
              <a:rPr lang="he-IL" b="1" dirty="0"/>
              <a:t>לא הוכרע.</a:t>
            </a:r>
          </a:p>
        </p:txBody>
      </p:sp>
      <p:sp>
        <p:nvSpPr>
          <p:cNvPr id="9" name="TextBox 8"/>
          <p:cNvSpPr txBox="1"/>
          <p:nvPr/>
        </p:nvSpPr>
        <p:spPr>
          <a:xfrm>
            <a:off x="8169267" y="232035"/>
            <a:ext cx="702436" cy="338554"/>
          </a:xfrm>
          <a:prstGeom prst="rect">
            <a:avLst/>
          </a:prstGeom>
          <a:solidFill>
            <a:srgbClr val="76E3FF"/>
          </a:solidFill>
          <a:ln>
            <a:solidFill>
              <a:schemeClr val="tx1"/>
            </a:solidFill>
          </a:ln>
        </p:spPr>
        <p:txBody>
          <a:bodyPr wrap="none" rtlCol="1">
            <a:spAutoFit/>
          </a:bodyPr>
          <a:lstStyle/>
          <a:p>
            <a:r>
              <a:rPr lang="he-IL" sz="1600" b="1" dirty="0"/>
              <a:t>בבוקר</a:t>
            </a:r>
          </a:p>
        </p:txBody>
      </p:sp>
      <p:sp>
        <p:nvSpPr>
          <p:cNvPr id="5" name="TextBox 4"/>
          <p:cNvSpPr txBox="1"/>
          <p:nvPr/>
        </p:nvSpPr>
        <p:spPr>
          <a:xfrm>
            <a:off x="4924604" y="3941317"/>
            <a:ext cx="3744936" cy="307777"/>
          </a:xfrm>
          <a:prstGeom prst="rect">
            <a:avLst/>
          </a:prstGeom>
          <a:noFill/>
          <a:ln>
            <a:solidFill>
              <a:srgbClr val="2217F5"/>
            </a:solidFill>
          </a:ln>
        </p:spPr>
        <p:txBody>
          <a:bodyPr wrap="none" rtlCol="1">
            <a:spAutoFit/>
          </a:bodyPr>
          <a:lstStyle/>
          <a:p>
            <a:r>
              <a:rPr lang="he-IL" b="1" dirty="0"/>
              <a:t>הרב קוק שוחח עם המנהל </a:t>
            </a:r>
            <a:r>
              <a:rPr lang="he-IL" b="1" dirty="0">
                <a:solidFill>
                  <a:srgbClr val="FF0000"/>
                </a:solidFill>
              </a:rPr>
              <a:t>על פרטי כשרות היקב</a:t>
            </a:r>
            <a:r>
              <a:rPr lang="he-IL" b="1" dirty="0"/>
              <a:t>.</a:t>
            </a:r>
          </a:p>
        </p:txBody>
      </p:sp>
      <p:pic>
        <p:nvPicPr>
          <p:cNvPr id="6" name="תמונה 5"/>
          <p:cNvPicPr>
            <a:picLocks noChangeAspect="1"/>
          </p:cNvPicPr>
          <p:nvPr/>
        </p:nvPicPr>
        <p:blipFill>
          <a:blip r:embed="rId6"/>
          <a:stretch>
            <a:fillRect/>
          </a:stretch>
        </p:blipFill>
        <p:spPr>
          <a:xfrm>
            <a:off x="6156176" y="5461156"/>
            <a:ext cx="1515703" cy="1155945"/>
          </a:xfrm>
          <a:prstGeom prst="rect">
            <a:avLst/>
          </a:prstGeom>
          <a:ln w="38100">
            <a:solidFill>
              <a:srgbClr val="FF0000"/>
            </a:solidFill>
          </a:ln>
        </p:spPr>
      </p:pic>
      <p:sp>
        <p:nvSpPr>
          <p:cNvPr id="12" name="TextBox 11"/>
          <p:cNvSpPr txBox="1"/>
          <p:nvPr/>
        </p:nvSpPr>
        <p:spPr>
          <a:xfrm>
            <a:off x="3697685" y="103271"/>
            <a:ext cx="1747594" cy="369332"/>
          </a:xfrm>
          <a:prstGeom prst="rect">
            <a:avLst/>
          </a:prstGeom>
          <a:solidFill>
            <a:srgbClr val="FFFF00"/>
          </a:solidFill>
          <a:ln w="12700">
            <a:solidFill>
              <a:schemeClr val="tx1"/>
            </a:solidFill>
          </a:ln>
        </p:spPr>
        <p:txBody>
          <a:bodyPr wrap="none" rtlCol="1">
            <a:spAutoFit/>
          </a:bodyPr>
          <a:lstStyle/>
          <a:p>
            <a:r>
              <a:rPr lang="he-IL" sz="1800" b="1" dirty="0">
                <a:solidFill>
                  <a:srgbClr val="FF0000"/>
                </a:solidFill>
              </a:rPr>
              <a:t>יום ו', כ"א בחשון</a:t>
            </a:r>
          </a:p>
        </p:txBody>
      </p:sp>
    </p:spTree>
    <p:extLst>
      <p:ext uri="{BB962C8B-B14F-4D97-AF65-F5344CB8AC3E}">
        <p14:creationId xmlns:p14="http://schemas.microsoft.com/office/powerpoint/2010/main" val="597244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www.inature.info/w/images/thumb/5/51/Ohel_yaakov.jpg/320px-Ohel_yaakov.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791038"/>
            <a:ext cx="1871838" cy="2493669"/>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6" name="Picture 2" descr="http://www.berger-sisters.co.il/farmers/cut/gallery/big/1887.jpg">
            <a:hlinkClick r:id="rId4"/>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8621"/>
          <a:stretch/>
        </p:blipFill>
        <p:spPr bwMode="auto">
          <a:xfrm>
            <a:off x="4677432" y="759121"/>
            <a:ext cx="3644505" cy="2410328"/>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7" name="Picture 4" descr="https://encrypted-tbn0.gstatic.com/images?q=tbn:ANd9GcQgPXd9z_LoTIBVRXYAy6owhnSOG4P1qRSTTV5rN99yUW17p0UR">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544" y="696777"/>
            <a:ext cx="3384374" cy="2535015"/>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8" name="Shape 194"/>
          <p:cNvSpPr/>
          <p:nvPr/>
        </p:nvSpPr>
        <p:spPr>
          <a:xfrm>
            <a:off x="4427984" y="3907422"/>
            <a:ext cx="4143404" cy="2285967"/>
          </a:xfrm>
          <a:prstGeom prst="rect">
            <a:avLst/>
          </a:prstGeom>
          <a:blipFill>
            <a:blip r:embed="rId8"/>
            <a:stretch>
              <a:fillRect/>
            </a:stretch>
          </a:blipFill>
          <a:ln w="38100">
            <a:solidFill>
              <a:srgbClr val="FF0000"/>
            </a:solidFill>
          </a:ln>
        </p:spPr>
        <p:txBody>
          <a:bodyPr/>
          <a:lstStyle/>
          <a:p>
            <a:endParaRPr lang="he-IL"/>
          </a:p>
        </p:txBody>
      </p:sp>
      <p:sp>
        <p:nvSpPr>
          <p:cNvPr id="2" name="TextBox 1"/>
          <p:cNvSpPr txBox="1"/>
          <p:nvPr/>
        </p:nvSpPr>
        <p:spPr>
          <a:xfrm>
            <a:off x="2772469" y="102462"/>
            <a:ext cx="3599062" cy="338554"/>
          </a:xfrm>
          <a:prstGeom prst="rect">
            <a:avLst/>
          </a:prstGeom>
          <a:solidFill>
            <a:srgbClr val="FFFF00"/>
          </a:solidFill>
          <a:ln>
            <a:solidFill>
              <a:schemeClr val="tx1"/>
            </a:solidFill>
          </a:ln>
        </p:spPr>
        <p:txBody>
          <a:bodyPr wrap="none" rtlCol="1">
            <a:spAutoFit/>
          </a:bodyPr>
          <a:lstStyle/>
          <a:p>
            <a:r>
              <a:rPr lang="he-IL" sz="1600" b="1" dirty="0"/>
              <a:t>בית הכנסת "אוהל יעקב", </a:t>
            </a:r>
            <a:r>
              <a:rPr lang="he-IL" sz="1600" b="1" dirty="0">
                <a:solidFill>
                  <a:srgbClr val="FF0000"/>
                </a:solidFill>
              </a:rPr>
              <a:t>תרמ"ו (1886) </a:t>
            </a:r>
          </a:p>
        </p:txBody>
      </p:sp>
      <p:sp>
        <p:nvSpPr>
          <p:cNvPr id="9" name="TextBox 8"/>
          <p:cNvSpPr txBox="1"/>
          <p:nvPr/>
        </p:nvSpPr>
        <p:spPr>
          <a:xfrm>
            <a:off x="4497353" y="3230658"/>
            <a:ext cx="4067139" cy="307777"/>
          </a:xfrm>
          <a:prstGeom prst="rect">
            <a:avLst/>
          </a:prstGeom>
          <a:noFill/>
        </p:spPr>
        <p:txBody>
          <a:bodyPr wrap="none" rtlCol="1">
            <a:spAutoFit/>
          </a:bodyPr>
          <a:lstStyle/>
          <a:p>
            <a:pPr algn="r" rtl="1"/>
            <a:r>
              <a:rPr lang="he-IL" b="1" dirty="0"/>
              <a:t>התחיל כאורווה, שמו גג (א"א להרוס), הוחלט </a:t>
            </a:r>
            <a:r>
              <a:rPr lang="he-IL" b="1" dirty="0" err="1"/>
              <a:t>בהכנ"ס</a:t>
            </a:r>
            <a:r>
              <a:rPr lang="he-IL" b="1" dirty="0"/>
              <a:t> </a:t>
            </a:r>
          </a:p>
        </p:txBody>
      </p:sp>
      <p:sp>
        <p:nvSpPr>
          <p:cNvPr id="10" name="TextBox 9"/>
          <p:cNvSpPr txBox="1"/>
          <p:nvPr/>
        </p:nvSpPr>
        <p:spPr>
          <a:xfrm>
            <a:off x="12204" y="3279515"/>
            <a:ext cx="4099264" cy="523220"/>
          </a:xfrm>
          <a:prstGeom prst="rect">
            <a:avLst/>
          </a:prstGeom>
          <a:noFill/>
        </p:spPr>
        <p:txBody>
          <a:bodyPr wrap="none" rtlCol="1">
            <a:spAutoFit/>
          </a:bodyPr>
          <a:lstStyle/>
          <a:p>
            <a:pPr algn="r" rtl="1"/>
            <a:r>
              <a:rPr lang="he-IL" b="1" dirty="0"/>
              <a:t>פקידי הברון: המבנה צריך להיות מאורך כמו הבסטיליה</a:t>
            </a:r>
          </a:p>
          <a:p>
            <a:pPr algn="r" rtl="1"/>
            <a:r>
              <a:rPr lang="he-IL" b="1" dirty="0"/>
              <a:t>דומה לכנסיה</a:t>
            </a:r>
          </a:p>
        </p:txBody>
      </p:sp>
      <p:sp>
        <p:nvSpPr>
          <p:cNvPr id="4" name="TextBox 3"/>
          <p:cNvSpPr txBox="1"/>
          <p:nvPr/>
        </p:nvSpPr>
        <p:spPr>
          <a:xfrm>
            <a:off x="1239953" y="6368366"/>
            <a:ext cx="6949338" cy="338554"/>
          </a:xfrm>
          <a:prstGeom prst="rect">
            <a:avLst/>
          </a:prstGeom>
          <a:solidFill>
            <a:srgbClr val="FFFF00"/>
          </a:solidFill>
          <a:ln>
            <a:solidFill>
              <a:schemeClr val="tx1"/>
            </a:solidFill>
          </a:ln>
        </p:spPr>
        <p:txBody>
          <a:bodyPr wrap="none" rtlCol="1">
            <a:spAutoFit/>
          </a:bodyPr>
          <a:lstStyle/>
          <a:p>
            <a:r>
              <a:rPr lang="he-IL" sz="1600" b="1" dirty="0"/>
              <a:t>פקידי הברון רוטשילד ניהלו את ענייני המושבה. חשש מהשפעת התרבות הצרפתית</a:t>
            </a:r>
          </a:p>
        </p:txBody>
      </p:sp>
      <p:sp>
        <p:nvSpPr>
          <p:cNvPr id="5" name="תיבת טקסט 4">
            <a:extLst>
              <a:ext uri="{FF2B5EF4-FFF2-40B4-BE49-F238E27FC236}">
                <a16:creationId xmlns:a16="http://schemas.microsoft.com/office/drawing/2014/main" id="{4F41C827-C3FB-E05B-4F13-EA170E89C4AE}"/>
              </a:ext>
            </a:extLst>
          </p:cNvPr>
          <p:cNvSpPr txBox="1"/>
          <p:nvPr/>
        </p:nvSpPr>
        <p:spPr>
          <a:xfrm>
            <a:off x="3477063" y="6018759"/>
            <a:ext cx="481222" cy="307777"/>
          </a:xfrm>
          <a:prstGeom prst="rect">
            <a:avLst/>
          </a:prstGeom>
          <a:noFill/>
        </p:spPr>
        <p:txBody>
          <a:bodyPr wrap="none" rtlCol="1">
            <a:spAutoFit/>
          </a:bodyPr>
          <a:lstStyle/>
          <a:p>
            <a:r>
              <a:rPr lang="he-IL" b="1" dirty="0"/>
              <a:t>כיום</a:t>
            </a:r>
          </a:p>
        </p:txBody>
      </p:sp>
    </p:spTree>
    <p:extLst>
      <p:ext uri="{BB962C8B-B14F-4D97-AF65-F5344CB8AC3E}">
        <p14:creationId xmlns:p14="http://schemas.microsoft.com/office/powerpoint/2010/main" val="1434187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זכרון יעקב, zichron yaakov, אתרו של חיליק לייטנר: בית הכנסת אוהל יעקב: המצב לפני השיפוץ האחרון. רצפת השיש והנברשות היפות ותקרת העץ המיוחדת."/>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44" y="3728064"/>
            <a:ext cx="3397002" cy="236348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6" name="Picture 2" descr="http://myzy1882.files.wordpress.com/2012/09/d794d79ed7a6d791-d79cd7a4d7a0d799-d794d7a9d799d7a4d795d7a5-d794d790d797d7a8d795d79f-d7a8d7a6d7a4d7aa-d794d7a9d799d7a9-d795d794d7a0d791.jpg">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72" t="5331" r="6728" b="3104"/>
          <a:stretch/>
        </p:blipFill>
        <p:spPr bwMode="auto">
          <a:xfrm>
            <a:off x="5248893" y="667100"/>
            <a:ext cx="2917786" cy="217575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7" name="Picture 4" descr="http://www.ynet.co.il/PicServer2/04062007/1208869/5.jpg">
            <a:hlinkClick r:id="rId5"/>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398" t="6516" r="5407" b="9853"/>
          <a:stretch/>
        </p:blipFill>
        <p:spPr bwMode="auto">
          <a:xfrm>
            <a:off x="405076" y="667100"/>
            <a:ext cx="3397002" cy="2107752"/>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2605" y="6228532"/>
            <a:ext cx="3439070" cy="523220"/>
          </a:xfrm>
          <a:prstGeom prst="rect">
            <a:avLst/>
          </a:prstGeom>
          <a:noFill/>
          <a:ln>
            <a:solidFill>
              <a:srgbClr val="2217F5"/>
            </a:solidFill>
          </a:ln>
        </p:spPr>
        <p:txBody>
          <a:bodyPr wrap="square" rtlCol="1">
            <a:spAutoFit/>
          </a:bodyPr>
          <a:lstStyle/>
          <a:p>
            <a:pPr algn="r" rtl="1"/>
            <a:r>
              <a:rPr lang="he-IL" b="1" dirty="0"/>
              <a:t>ד"ר אליקים גולדברג הרופא בראש המתנגדים לבימה, הצעירים הורסים אותה</a:t>
            </a:r>
          </a:p>
        </p:txBody>
      </p:sp>
      <p:sp>
        <p:nvSpPr>
          <p:cNvPr id="4" name="TextBox 3"/>
          <p:cNvSpPr txBox="1"/>
          <p:nvPr/>
        </p:nvSpPr>
        <p:spPr>
          <a:xfrm>
            <a:off x="3249155" y="132601"/>
            <a:ext cx="184731" cy="400110"/>
          </a:xfrm>
          <a:prstGeom prst="rect">
            <a:avLst/>
          </a:prstGeom>
          <a:noFill/>
          <a:ln>
            <a:noFill/>
          </a:ln>
        </p:spPr>
        <p:txBody>
          <a:bodyPr wrap="none" rtlCol="1">
            <a:spAutoFit/>
          </a:bodyPr>
          <a:lstStyle/>
          <a:p>
            <a:endParaRPr lang="he-IL" sz="2000" b="1" dirty="0"/>
          </a:p>
        </p:txBody>
      </p:sp>
      <p:sp>
        <p:nvSpPr>
          <p:cNvPr id="8" name="TextBox 7"/>
          <p:cNvSpPr txBox="1"/>
          <p:nvPr/>
        </p:nvSpPr>
        <p:spPr>
          <a:xfrm>
            <a:off x="3779912" y="3400857"/>
            <a:ext cx="5080302" cy="3323987"/>
          </a:xfrm>
          <a:prstGeom prst="rect">
            <a:avLst/>
          </a:prstGeom>
          <a:noFill/>
          <a:ln>
            <a:solidFill>
              <a:srgbClr val="2217F5"/>
            </a:solidFill>
          </a:ln>
        </p:spPr>
        <p:txBody>
          <a:bodyPr wrap="none" rtlCol="1">
            <a:spAutoFit/>
          </a:bodyPr>
          <a:lstStyle/>
          <a:p>
            <a:pPr algn="r" rtl="1"/>
            <a:r>
              <a:rPr lang="he-IL" b="1" dirty="0"/>
              <a:t>הבימה ליד ארון הקודש – תוכנן ע"י אדריכל צרפתי, </a:t>
            </a:r>
            <a:r>
              <a:rPr lang="he-IL" b="1" dirty="0" err="1"/>
              <a:t>מאלזס</a:t>
            </a:r>
            <a:r>
              <a:rPr lang="he-IL" b="1" dirty="0"/>
              <a:t>.</a:t>
            </a:r>
          </a:p>
          <a:p>
            <a:pPr algn="r" rtl="1"/>
            <a:r>
              <a:rPr lang="he-IL" b="1" dirty="0"/>
              <a:t>הרבנים הודיעו שלא יכנסו, </a:t>
            </a:r>
            <a:r>
              <a:rPr lang="he-IL" b="1" dirty="0" err="1"/>
              <a:t>מהועד</a:t>
            </a:r>
            <a:r>
              <a:rPr lang="he-IL" b="1" dirty="0"/>
              <a:t> - יזיזו עד מוצ"ש, לחודש, חודשיים</a:t>
            </a:r>
          </a:p>
          <a:p>
            <a:pPr algn="r" rtl="1"/>
            <a:r>
              <a:rPr lang="he-IL" b="1" dirty="0"/>
              <a:t>אסיפת הועד – חצי שעה לפני שבת הביאו מכתב – </a:t>
            </a:r>
          </a:p>
          <a:p>
            <a:pPr algn="r" rtl="1"/>
            <a:r>
              <a:rPr lang="he-IL" b="1" dirty="0"/>
              <a:t>יעשו </a:t>
            </a:r>
            <a:r>
              <a:rPr lang="he-IL" b="1" dirty="0" err="1"/>
              <a:t>הכל</a:t>
            </a:r>
            <a:r>
              <a:rPr lang="he-IL" b="1" dirty="0"/>
              <a:t> לתקן.         מבוכה, ויכוח</a:t>
            </a:r>
          </a:p>
          <a:p>
            <a:pPr algn="r" rtl="1"/>
            <a:endParaRPr lang="he-IL" b="1" dirty="0"/>
          </a:p>
          <a:p>
            <a:pPr algn="r" rtl="1"/>
            <a:r>
              <a:rPr lang="he-IL" b="1" dirty="0"/>
              <a:t>קבלת שבת באכסניה – רעש ועלבון, בית הכנסת ריק. </a:t>
            </a:r>
          </a:p>
          <a:p>
            <a:pPr algn="r" rtl="1"/>
            <a:r>
              <a:rPr lang="he-IL" b="1" dirty="0"/>
              <a:t>בלילה – הרבנים החליטו, אם יבואו לבקש, ילכו.</a:t>
            </a:r>
          </a:p>
          <a:p>
            <a:pPr algn="r" rtl="1"/>
            <a:r>
              <a:rPr lang="he-IL" b="1" dirty="0"/>
              <a:t>בבוקר - בא ראש הועד והגבאי והבטיחו לתקן.</a:t>
            </a:r>
          </a:p>
          <a:p>
            <a:pPr algn="r" rtl="1"/>
            <a:r>
              <a:rPr lang="he-IL" b="1" dirty="0"/>
              <a:t>הרב </a:t>
            </a:r>
            <a:r>
              <a:rPr lang="he-IL" b="1" dirty="0" err="1"/>
              <a:t>זוננפלד</a:t>
            </a:r>
            <a:r>
              <a:rPr lang="he-IL" b="1" dirty="0"/>
              <a:t> כבר התפלל שחרית </a:t>
            </a:r>
            <a:r>
              <a:rPr lang="he-IL" b="1" dirty="0" err="1"/>
              <a:t>בבימ"ד</a:t>
            </a:r>
            <a:r>
              <a:rPr lang="he-IL" b="1" dirty="0"/>
              <a:t> של החסידים (הצטער),</a:t>
            </a:r>
          </a:p>
          <a:p>
            <a:pPr algn="r" rtl="1"/>
            <a:r>
              <a:rPr lang="he-IL" b="1" dirty="0"/>
              <a:t>הלכו אליו. ויחד הלכו להתפלל בבית הכנסת.</a:t>
            </a:r>
          </a:p>
          <a:p>
            <a:pPr algn="r" rtl="1"/>
            <a:r>
              <a:rPr lang="he-IL" b="1" dirty="0">
                <a:solidFill>
                  <a:srgbClr val="FF0000"/>
                </a:solidFill>
              </a:rPr>
              <a:t>הרב </a:t>
            </a:r>
            <a:r>
              <a:rPr lang="he-IL" b="1" dirty="0" err="1">
                <a:solidFill>
                  <a:srgbClr val="FF0000"/>
                </a:solidFill>
              </a:rPr>
              <a:t>זוננפלד</a:t>
            </a:r>
            <a:r>
              <a:rPr lang="he-IL" b="1" dirty="0">
                <a:solidFill>
                  <a:srgbClr val="FF0000"/>
                </a:solidFill>
              </a:rPr>
              <a:t>: "אם הרב </a:t>
            </a:r>
            <a:r>
              <a:rPr lang="he-IL" b="1" dirty="0" err="1">
                <a:solidFill>
                  <a:srgbClr val="FF0000"/>
                </a:solidFill>
              </a:rPr>
              <a:t>דיפו</a:t>
            </a:r>
            <a:r>
              <a:rPr lang="he-IL" b="1" dirty="0">
                <a:solidFill>
                  <a:srgbClr val="FF0000"/>
                </a:solidFill>
              </a:rPr>
              <a:t> מצווה אותי ללכת לבית הכנסת – אלך!"</a:t>
            </a:r>
          </a:p>
          <a:p>
            <a:pPr algn="r" rtl="1"/>
            <a:r>
              <a:rPr lang="he-IL" b="1" dirty="0"/>
              <a:t>שולחן הקריאה הורד מהבימה גם העמוד</a:t>
            </a:r>
          </a:p>
          <a:p>
            <a:pPr algn="r" rtl="1"/>
            <a:r>
              <a:rPr lang="he-IL" b="1" dirty="0"/>
              <a:t>הרב קוק דורש: : </a:t>
            </a:r>
            <a:r>
              <a:rPr lang="he-IL" b="1" dirty="0">
                <a:solidFill>
                  <a:srgbClr val="FF0000"/>
                </a:solidFill>
              </a:rPr>
              <a:t>"הסירו את </a:t>
            </a:r>
            <a:r>
              <a:rPr lang="he-IL" b="1" dirty="0" err="1">
                <a:solidFill>
                  <a:srgbClr val="FF0000"/>
                </a:solidFill>
              </a:rPr>
              <a:t>אלהי</a:t>
            </a:r>
            <a:r>
              <a:rPr lang="he-IL" b="1" dirty="0">
                <a:solidFill>
                  <a:srgbClr val="FF0000"/>
                </a:solidFill>
              </a:rPr>
              <a:t> </a:t>
            </a:r>
            <a:r>
              <a:rPr lang="he-IL" b="1" dirty="0" err="1">
                <a:solidFill>
                  <a:srgbClr val="FF0000"/>
                </a:solidFill>
              </a:rPr>
              <a:t>נכר</a:t>
            </a:r>
            <a:r>
              <a:rPr lang="he-IL" b="1" dirty="0">
                <a:solidFill>
                  <a:srgbClr val="FF0000"/>
                </a:solidFill>
              </a:rPr>
              <a:t> הארץ", התבוללות, לבוא אל </a:t>
            </a:r>
          </a:p>
          <a:p>
            <a:pPr algn="r" rtl="1"/>
            <a:r>
              <a:rPr lang="he-IL" b="1" dirty="0">
                <a:solidFill>
                  <a:srgbClr val="FF0000"/>
                </a:solidFill>
              </a:rPr>
              <a:t>הקודש </a:t>
            </a:r>
            <a:r>
              <a:rPr lang="he-IL" b="1" dirty="0" err="1">
                <a:solidFill>
                  <a:srgbClr val="FF0000"/>
                </a:solidFill>
              </a:rPr>
              <a:t>האמיתי</a:t>
            </a:r>
            <a:r>
              <a:rPr lang="he-IL" b="1" dirty="0">
                <a:solidFill>
                  <a:srgbClr val="FF0000"/>
                </a:solidFill>
              </a:rPr>
              <a:t>.</a:t>
            </a:r>
          </a:p>
          <a:p>
            <a:pPr algn="r" rtl="1"/>
            <a:r>
              <a:rPr lang="he-IL" b="1" dirty="0"/>
              <a:t>הרב קוק לפני מנחה - </a:t>
            </a:r>
            <a:r>
              <a:rPr lang="he-IL" b="1" dirty="0">
                <a:solidFill>
                  <a:srgbClr val="FF0000"/>
                </a:solidFill>
              </a:rPr>
              <a:t>ערך השפה וקדושתה.</a:t>
            </a:r>
          </a:p>
        </p:txBody>
      </p:sp>
      <p:sp>
        <p:nvSpPr>
          <p:cNvPr id="9" name="TextBox 8"/>
          <p:cNvSpPr txBox="1"/>
          <p:nvPr/>
        </p:nvSpPr>
        <p:spPr>
          <a:xfrm>
            <a:off x="644684" y="2920436"/>
            <a:ext cx="2917786" cy="523220"/>
          </a:xfrm>
          <a:prstGeom prst="rect">
            <a:avLst/>
          </a:prstGeom>
          <a:noFill/>
          <a:ln>
            <a:solidFill>
              <a:srgbClr val="2217F5"/>
            </a:solidFill>
          </a:ln>
        </p:spPr>
        <p:txBody>
          <a:bodyPr wrap="none" rtlCol="1">
            <a:spAutoFit/>
          </a:bodyPr>
          <a:lstStyle/>
          <a:p>
            <a:pPr algn="r" rtl="1"/>
            <a:r>
              <a:rPr lang="he-IL" b="1" dirty="0"/>
              <a:t>הרב שמואל </a:t>
            </a:r>
            <a:r>
              <a:rPr lang="he-IL" b="1" dirty="0" err="1"/>
              <a:t>מוהליבר</a:t>
            </a:r>
            <a:r>
              <a:rPr lang="he-IL" b="1" dirty="0"/>
              <a:t> והרב נפתלי הרץ</a:t>
            </a:r>
          </a:p>
          <a:p>
            <a:pPr algn="r" rtl="1"/>
            <a:r>
              <a:rPr lang="he-IL" b="1" dirty="0"/>
              <a:t> רבה של יפו לא הצליחו לשנות</a:t>
            </a:r>
            <a:r>
              <a:rPr lang="he-IL" dirty="0"/>
              <a:t> </a:t>
            </a:r>
          </a:p>
        </p:txBody>
      </p:sp>
      <p:sp>
        <p:nvSpPr>
          <p:cNvPr id="2" name="TextBox 1"/>
          <p:cNvSpPr txBox="1"/>
          <p:nvPr/>
        </p:nvSpPr>
        <p:spPr>
          <a:xfrm>
            <a:off x="5940152" y="2874269"/>
            <a:ext cx="1846980" cy="307777"/>
          </a:xfrm>
          <a:prstGeom prst="rect">
            <a:avLst/>
          </a:prstGeom>
          <a:noFill/>
        </p:spPr>
        <p:txBody>
          <a:bodyPr wrap="none" rtlCol="1">
            <a:spAutoFit/>
          </a:bodyPr>
          <a:lstStyle/>
          <a:p>
            <a:r>
              <a:rPr lang="he-IL" b="1" dirty="0"/>
              <a:t>הבימה ליד ארון הקודש</a:t>
            </a:r>
          </a:p>
        </p:txBody>
      </p:sp>
      <p:sp>
        <p:nvSpPr>
          <p:cNvPr id="5" name="TextBox 2"/>
          <p:cNvSpPr txBox="1"/>
          <p:nvPr/>
        </p:nvSpPr>
        <p:spPr>
          <a:xfrm>
            <a:off x="3637546" y="93790"/>
            <a:ext cx="1880643" cy="369332"/>
          </a:xfrm>
          <a:prstGeom prst="rect">
            <a:avLst/>
          </a:prstGeom>
          <a:solidFill>
            <a:srgbClr val="FFFF00"/>
          </a:solidFill>
          <a:ln>
            <a:solidFill>
              <a:schemeClr val="tx1"/>
            </a:solidFill>
          </a:ln>
        </p:spPr>
        <p:txBody>
          <a:bodyPr wrap="none" rtlCol="1">
            <a:spAutoFit/>
          </a:bodyPr>
          <a:lstStyle/>
          <a:p>
            <a:r>
              <a:rPr lang="he-IL" sz="1800" b="1" dirty="0"/>
              <a:t>שבת – </a:t>
            </a:r>
            <a:r>
              <a:rPr lang="he-IL" sz="1800" b="1" dirty="0">
                <a:solidFill>
                  <a:srgbClr val="FF0000"/>
                </a:solidFill>
              </a:rPr>
              <a:t>כ"ב בחשון</a:t>
            </a:r>
          </a:p>
        </p:txBody>
      </p:sp>
      <p:sp>
        <p:nvSpPr>
          <p:cNvPr id="11" name="TextBox 10"/>
          <p:cNvSpPr txBox="1"/>
          <p:nvPr/>
        </p:nvSpPr>
        <p:spPr>
          <a:xfrm>
            <a:off x="7502150" y="191851"/>
            <a:ext cx="1358064" cy="338554"/>
          </a:xfrm>
          <a:prstGeom prst="rect">
            <a:avLst/>
          </a:prstGeom>
          <a:solidFill>
            <a:srgbClr val="76E3FF"/>
          </a:solidFill>
          <a:ln>
            <a:solidFill>
              <a:srgbClr val="7030A0"/>
            </a:solidFill>
          </a:ln>
        </p:spPr>
        <p:txBody>
          <a:bodyPr wrap="none" rtlCol="1">
            <a:spAutoFit/>
          </a:bodyPr>
          <a:lstStyle/>
          <a:p>
            <a:r>
              <a:rPr lang="he-IL" sz="1600" b="1" dirty="0"/>
              <a:t>פרשת תולדות</a:t>
            </a:r>
          </a:p>
        </p:txBody>
      </p:sp>
    </p:spTree>
    <p:extLst>
      <p:ext uri="{BB962C8B-B14F-4D97-AF65-F5344CB8AC3E}">
        <p14:creationId xmlns:p14="http://schemas.microsoft.com/office/powerpoint/2010/main" val="2886694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01"/>
          <p:cNvSpPr/>
          <p:nvPr/>
        </p:nvSpPr>
        <p:spPr>
          <a:xfrm>
            <a:off x="4283968" y="332660"/>
            <a:ext cx="4572032" cy="2571721"/>
          </a:xfrm>
          <a:prstGeom prst="rect">
            <a:avLst/>
          </a:prstGeom>
          <a:blipFill>
            <a:blip r:embed="rId2"/>
            <a:stretch>
              <a:fillRect/>
            </a:stretch>
          </a:blipFill>
          <a:ln w="38100">
            <a:solidFill>
              <a:srgbClr val="FF0000"/>
            </a:solidFill>
          </a:ln>
        </p:spPr>
        <p:txBody>
          <a:bodyPr/>
          <a:lstStyle/>
          <a:p>
            <a:endParaRPr lang="he-IL"/>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3782183"/>
            <a:ext cx="3203159" cy="2408776"/>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3" name="TextBox 2"/>
          <p:cNvSpPr txBox="1"/>
          <p:nvPr/>
        </p:nvSpPr>
        <p:spPr>
          <a:xfrm>
            <a:off x="1496691" y="6200122"/>
            <a:ext cx="1144864" cy="307777"/>
          </a:xfrm>
          <a:prstGeom prst="rect">
            <a:avLst/>
          </a:prstGeom>
          <a:noFill/>
          <a:ln w="38100">
            <a:noFill/>
          </a:ln>
        </p:spPr>
        <p:txBody>
          <a:bodyPr wrap="none" rtlCol="1">
            <a:spAutoFit/>
          </a:bodyPr>
          <a:lstStyle/>
          <a:p>
            <a:r>
              <a:rPr lang="he-IL" b="1" dirty="0"/>
              <a:t>בית הפקידות</a:t>
            </a:r>
          </a:p>
        </p:txBody>
      </p:sp>
      <p:sp>
        <p:nvSpPr>
          <p:cNvPr id="4" name="TextBox 3"/>
          <p:cNvSpPr txBox="1"/>
          <p:nvPr/>
        </p:nvSpPr>
        <p:spPr>
          <a:xfrm>
            <a:off x="3422756" y="2906435"/>
            <a:ext cx="1374094" cy="307777"/>
          </a:xfrm>
          <a:prstGeom prst="rect">
            <a:avLst/>
          </a:prstGeom>
          <a:noFill/>
          <a:ln w="38100">
            <a:noFill/>
          </a:ln>
        </p:spPr>
        <p:txBody>
          <a:bodyPr wrap="none" rtlCol="1">
            <a:spAutoFit/>
          </a:bodyPr>
          <a:lstStyle/>
          <a:p>
            <a:r>
              <a:rPr lang="he-IL" b="1" dirty="0"/>
              <a:t>בית הכנסת היום</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52469"/>
            <a:ext cx="3384376" cy="255191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7771107" y="3104019"/>
            <a:ext cx="1114408" cy="338554"/>
          </a:xfrm>
          <a:prstGeom prst="rect">
            <a:avLst/>
          </a:prstGeom>
          <a:solidFill>
            <a:srgbClr val="76E3FF"/>
          </a:solidFill>
          <a:ln>
            <a:solidFill>
              <a:schemeClr val="tx1"/>
            </a:solidFill>
          </a:ln>
        </p:spPr>
        <p:txBody>
          <a:bodyPr wrap="none" rtlCol="1">
            <a:spAutoFit/>
          </a:bodyPr>
          <a:lstStyle/>
          <a:p>
            <a:r>
              <a:rPr lang="he-IL" sz="1600" b="1" dirty="0"/>
              <a:t>מוצאי שבת</a:t>
            </a:r>
          </a:p>
        </p:txBody>
      </p:sp>
      <p:sp>
        <p:nvSpPr>
          <p:cNvPr id="11" name="TextBox 10"/>
          <p:cNvSpPr txBox="1"/>
          <p:nvPr/>
        </p:nvSpPr>
        <p:spPr>
          <a:xfrm>
            <a:off x="3872809" y="3580566"/>
            <a:ext cx="5012706" cy="3108543"/>
          </a:xfrm>
          <a:prstGeom prst="rect">
            <a:avLst/>
          </a:prstGeom>
          <a:noFill/>
          <a:ln>
            <a:solidFill>
              <a:srgbClr val="2217F5"/>
            </a:solidFill>
          </a:ln>
        </p:spPr>
        <p:txBody>
          <a:bodyPr wrap="square" rtlCol="1">
            <a:spAutoFit/>
          </a:bodyPr>
          <a:lstStyle/>
          <a:p>
            <a:pPr algn="r" rtl="1"/>
            <a:r>
              <a:rPr lang="he-IL" b="1" dirty="0"/>
              <a:t>ישיבה בבית הועד – ויכוחים סוערים על מצב החינוך.</a:t>
            </a:r>
          </a:p>
          <a:p>
            <a:pPr algn="r" rtl="1"/>
            <a:r>
              <a:rPr lang="he-IL" b="1" dirty="0"/>
              <a:t>הרב קוק: 'חדר' לרוצים חינוך תורני, ומורה לענייני הדת בבה"ס. "</a:t>
            </a:r>
            <a:r>
              <a:rPr lang="he-IL" b="1" dirty="0">
                <a:solidFill>
                  <a:srgbClr val="FF0000"/>
                </a:solidFill>
              </a:rPr>
              <a:t>גם את הרחוקים לא ניתן להזניח"</a:t>
            </a:r>
            <a:r>
              <a:rPr lang="he-IL" b="1" dirty="0"/>
              <a:t>, לתקן </a:t>
            </a:r>
            <a:r>
              <a:rPr lang="he-IL" b="1" dirty="0" err="1"/>
              <a:t>תו"מ</a:t>
            </a:r>
            <a:r>
              <a:rPr lang="he-IL" b="1" dirty="0"/>
              <a:t>, חופה מחוץ </a:t>
            </a:r>
            <a:r>
              <a:rPr lang="he-IL" b="1" dirty="0" err="1"/>
              <a:t>לבהכנ"ס</a:t>
            </a:r>
            <a:r>
              <a:rPr lang="he-IL" b="1" dirty="0"/>
              <a:t>, לא להחזיר הבימה, חינוך נפרד, שמירת שבת וחג, הסרת הכתובת בצרפתית </a:t>
            </a:r>
            <a:r>
              <a:rPr lang="he-IL" b="1" dirty="0" err="1"/>
              <a:t>בבהכנ"ס</a:t>
            </a:r>
            <a:r>
              <a:rPr lang="he-IL" b="1" dirty="0"/>
              <a:t>.</a:t>
            </a:r>
          </a:p>
          <a:p>
            <a:pPr algn="r" rtl="1"/>
            <a:endParaRPr lang="he-IL" b="1" dirty="0"/>
          </a:p>
          <a:p>
            <a:pPr algn="r" rtl="1"/>
            <a:r>
              <a:rPr lang="he-IL" b="1" dirty="0"/>
              <a:t>בחצות הגיע ראש הועד: מסכימים </a:t>
            </a:r>
            <a:r>
              <a:rPr lang="he-IL" b="1" dirty="0" err="1"/>
              <a:t>לתו"מ</a:t>
            </a:r>
            <a:r>
              <a:rPr lang="he-IL" b="1" dirty="0"/>
              <a:t>, (חזרו בהם – הבימה רק לשבת זו, פרשו לאכסניה).</a:t>
            </a:r>
          </a:p>
          <a:p>
            <a:pPr algn="r" rtl="1"/>
            <a:r>
              <a:rPr lang="he-IL" b="1" dirty="0"/>
              <a:t>אחרי שחרית – הרבנים תרמו להזזת הבימה.</a:t>
            </a:r>
          </a:p>
          <a:p>
            <a:pPr algn="r" rtl="1"/>
            <a:r>
              <a:rPr lang="he-IL" b="1" dirty="0"/>
              <a:t>על השאר הביאו מכתב למחרת לשפיה: מקבלים, הבימה תדון באסיפה ימליצו בעד, חינוך </a:t>
            </a:r>
            <a:r>
              <a:rPr lang="he-IL" b="1" dirty="0" err="1"/>
              <a:t>בועד</a:t>
            </a:r>
            <a:r>
              <a:rPr lang="he-IL" b="1" dirty="0"/>
              <a:t> בית הספר – הסכימו למורה לדת</a:t>
            </a:r>
          </a:p>
          <a:p>
            <a:pPr algn="r" rtl="1"/>
            <a:r>
              <a:rPr lang="he-IL" b="1" dirty="0"/>
              <a:t>ומקצועות קודש מקצוע חובה.</a:t>
            </a:r>
          </a:p>
          <a:p>
            <a:pPr algn="r" rtl="1"/>
            <a:endParaRPr lang="he-IL" b="1" dirty="0"/>
          </a:p>
          <a:p>
            <a:pPr algn="r" rtl="1"/>
            <a:r>
              <a:rPr lang="he-IL" b="1" dirty="0">
                <a:solidFill>
                  <a:srgbClr val="FF0000"/>
                </a:solidFill>
              </a:rPr>
              <a:t>י' שבט </a:t>
            </a:r>
            <a:r>
              <a:rPr lang="he-IL" b="1" dirty="0">
                <a:solidFill>
                  <a:schemeClr val="tx1"/>
                </a:solidFill>
              </a:rPr>
              <a:t>כתב לרב הורביץ: </a:t>
            </a:r>
            <a:r>
              <a:rPr lang="he-IL" b="1" dirty="0">
                <a:solidFill>
                  <a:srgbClr val="FF0000"/>
                </a:solidFill>
              </a:rPr>
              <a:t>הבימה בכשרות</a:t>
            </a:r>
            <a:r>
              <a:rPr lang="he-IL" b="1" dirty="0">
                <a:solidFill>
                  <a:schemeClr val="accent4">
                    <a:lumMod val="50000"/>
                  </a:schemeClr>
                </a:solidFill>
              </a:rPr>
              <a:t>.</a:t>
            </a:r>
            <a:r>
              <a:rPr lang="he-IL" b="1" dirty="0"/>
              <a:t> (</a:t>
            </a:r>
            <a:r>
              <a:rPr lang="he-IL" b="1" dirty="0" err="1"/>
              <a:t>אג"ר</a:t>
            </a:r>
            <a:r>
              <a:rPr lang="he-IL" b="1" dirty="0"/>
              <a:t> ב, תרנו, עמ' רעב) </a:t>
            </a:r>
          </a:p>
        </p:txBody>
      </p:sp>
      <p:sp>
        <p:nvSpPr>
          <p:cNvPr id="12" name="TextBox 11"/>
          <p:cNvSpPr txBox="1"/>
          <p:nvPr/>
        </p:nvSpPr>
        <p:spPr>
          <a:xfrm>
            <a:off x="359954" y="2885047"/>
            <a:ext cx="2436886" cy="307777"/>
          </a:xfrm>
          <a:prstGeom prst="rect">
            <a:avLst/>
          </a:prstGeom>
          <a:noFill/>
        </p:spPr>
        <p:txBody>
          <a:bodyPr wrap="none" rtlCol="1">
            <a:spAutoFit/>
          </a:bodyPr>
          <a:lstStyle/>
          <a:p>
            <a:pPr algn="r" rtl="1"/>
            <a:r>
              <a:rPr lang="he-IL" b="1" dirty="0"/>
              <a:t>["ואהבת לרעך" היה בצרפתית]</a:t>
            </a:r>
          </a:p>
        </p:txBody>
      </p:sp>
      <p:pic>
        <p:nvPicPr>
          <p:cNvPr id="1026" name="Picture 2" descr="C:\Users\123\Pictures\תשע'ד-ב'-כ'\003.jpg"/>
          <p:cNvPicPr>
            <a:picLocks noChangeAspect="1" noChangeArrowheads="1"/>
          </p:cNvPicPr>
          <p:nvPr/>
        </p:nvPicPr>
        <p:blipFill>
          <a:blip r:embed="rId5"/>
          <a:srcRect l="16461" t="39907" r="5663" b="50425"/>
          <a:stretch>
            <a:fillRect/>
          </a:stretch>
        </p:blipFill>
        <p:spPr bwMode="auto">
          <a:xfrm>
            <a:off x="143508" y="3580566"/>
            <a:ext cx="8856984" cy="1512168"/>
          </a:xfrm>
          <a:prstGeom prst="rect">
            <a:avLst/>
          </a:prstGeom>
          <a:noFill/>
          <a:ln w="38100">
            <a:solidFill>
              <a:srgbClr val="2217F5"/>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0" fill="hold"/>
                                        <p:tgtEl>
                                          <p:spTgt spid="1026"/>
                                        </p:tgtEl>
                                        <p:attrNameLst>
                                          <p:attrName>ppt_x</p:attrName>
                                        </p:attrNameLst>
                                      </p:cBhvr>
                                      <p:tavLst>
                                        <p:tav tm="0">
                                          <p:val>
                                            <p:strVal val="#ppt_x"/>
                                          </p:val>
                                        </p:tav>
                                        <p:tav tm="100000">
                                          <p:val>
                                            <p:strVal val="#ppt_x"/>
                                          </p:val>
                                        </p:tav>
                                      </p:tavLst>
                                    </p:anim>
                                    <p:anim calcmode="lin" valueType="num">
                                      <p:cBhvr additive="base">
                                        <p:cTn id="8" dur="50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123\Pictures\תשע'ג-י'ב-כ'א\004.jpg"/>
          <p:cNvPicPr>
            <a:picLocks noChangeAspect="1" noChangeArrowheads="1"/>
          </p:cNvPicPr>
          <p:nvPr/>
        </p:nvPicPr>
        <p:blipFill rotWithShape="1">
          <a:blip r:embed="rId2"/>
          <a:srcRect t="2957" r="2019" b="8834"/>
          <a:stretch/>
        </p:blipFill>
        <p:spPr bwMode="auto">
          <a:xfrm>
            <a:off x="3587584" y="948431"/>
            <a:ext cx="4966623" cy="3103808"/>
          </a:xfrm>
          <a:prstGeom prst="rect">
            <a:avLst/>
          </a:prstGeom>
          <a:noFill/>
          <a:ln w="38100">
            <a:solidFill>
              <a:srgbClr val="FF0000"/>
            </a:solidFill>
          </a:ln>
        </p:spPr>
      </p:pic>
      <p:sp>
        <p:nvSpPr>
          <p:cNvPr id="6" name="TextBox 5"/>
          <p:cNvSpPr txBox="1"/>
          <p:nvPr/>
        </p:nvSpPr>
        <p:spPr>
          <a:xfrm>
            <a:off x="312728" y="664667"/>
            <a:ext cx="184731" cy="307777"/>
          </a:xfrm>
          <a:prstGeom prst="rect">
            <a:avLst/>
          </a:prstGeom>
          <a:noFill/>
          <a:ln w="38100">
            <a:noFill/>
          </a:ln>
        </p:spPr>
        <p:txBody>
          <a:bodyPr wrap="none" rtlCol="1">
            <a:spAutoFit/>
          </a:bodyPr>
          <a:lstStyle/>
          <a:p>
            <a:endParaRPr lang="he-IL" dirty="0"/>
          </a:p>
        </p:txBody>
      </p:sp>
      <p:sp>
        <p:nvSpPr>
          <p:cNvPr id="2" name="TextBox 1"/>
          <p:cNvSpPr txBox="1"/>
          <p:nvPr/>
        </p:nvSpPr>
        <p:spPr>
          <a:xfrm>
            <a:off x="3622391" y="4150042"/>
            <a:ext cx="4769255" cy="523220"/>
          </a:xfrm>
          <a:prstGeom prst="rect">
            <a:avLst/>
          </a:prstGeom>
          <a:noFill/>
        </p:spPr>
        <p:txBody>
          <a:bodyPr wrap="none" rtlCol="1">
            <a:spAutoFit/>
          </a:bodyPr>
          <a:lstStyle/>
          <a:p>
            <a:pPr algn="r" rtl="1"/>
            <a:r>
              <a:rPr lang="he-IL" b="1" dirty="0"/>
              <a:t>הרבנים הראשיים, הרב ישראל מאיר לאו והרב אליהו בקשי דורון </a:t>
            </a:r>
          </a:p>
          <a:p>
            <a:pPr algn="r" rtl="1"/>
            <a:r>
              <a:rPr lang="he-IL" b="1" dirty="0"/>
              <a:t>משחזרים את המסע, ישיבת מועצת הרבנות הראשית במקום.</a:t>
            </a:r>
          </a:p>
        </p:txBody>
      </p:sp>
      <p:sp>
        <p:nvSpPr>
          <p:cNvPr id="7" name="TextBox 6"/>
          <p:cNvSpPr txBox="1"/>
          <p:nvPr/>
        </p:nvSpPr>
        <p:spPr>
          <a:xfrm>
            <a:off x="3154277" y="260648"/>
            <a:ext cx="3906711" cy="523220"/>
          </a:xfrm>
          <a:prstGeom prst="rect">
            <a:avLst/>
          </a:prstGeom>
          <a:noFill/>
        </p:spPr>
        <p:txBody>
          <a:bodyPr wrap="none" rtlCol="1">
            <a:spAutoFit/>
          </a:bodyPr>
          <a:lstStyle/>
          <a:p>
            <a:pPr algn="r" rtl="1"/>
            <a:endParaRPr lang="he-IL" b="1" dirty="0"/>
          </a:p>
          <a:p>
            <a:endParaRPr lang="he-IL" dirty="0"/>
          </a:p>
        </p:txBody>
      </p:sp>
      <p:sp>
        <p:nvSpPr>
          <p:cNvPr id="8" name="TextBox 7"/>
          <p:cNvSpPr txBox="1"/>
          <p:nvPr/>
        </p:nvSpPr>
        <p:spPr>
          <a:xfrm>
            <a:off x="2025562" y="177509"/>
            <a:ext cx="5054843" cy="369332"/>
          </a:xfrm>
          <a:prstGeom prst="rect">
            <a:avLst/>
          </a:prstGeom>
          <a:solidFill>
            <a:srgbClr val="FFFF00"/>
          </a:solidFill>
          <a:ln>
            <a:solidFill>
              <a:schemeClr val="tx1"/>
            </a:solidFill>
          </a:ln>
        </p:spPr>
        <p:txBody>
          <a:bodyPr wrap="square" rtlCol="1">
            <a:spAutoFit/>
          </a:bodyPr>
          <a:lstStyle/>
          <a:p>
            <a:pPr algn="r" rtl="1"/>
            <a:r>
              <a:rPr lang="he-IL" sz="1800" b="1" dirty="0"/>
              <a:t>120 שנה למושבה, שיחזור המסע - </a:t>
            </a:r>
            <a:r>
              <a:rPr lang="he-IL" sz="1800" b="1" dirty="0">
                <a:solidFill>
                  <a:srgbClr val="FF0000"/>
                </a:solidFill>
              </a:rPr>
              <a:t>ערב פסח תשס"ב  </a:t>
            </a:r>
          </a:p>
        </p:txBody>
      </p:sp>
      <p:pic>
        <p:nvPicPr>
          <p:cNvPr id="4" name="תמונה 3"/>
          <p:cNvPicPr>
            <a:picLocks noChangeAspect="1"/>
          </p:cNvPicPr>
          <p:nvPr/>
        </p:nvPicPr>
        <p:blipFill rotWithShape="1">
          <a:blip r:embed="rId3"/>
          <a:srcRect l="15827" t="7163" r="67456" b="25523"/>
          <a:stretch/>
        </p:blipFill>
        <p:spPr>
          <a:xfrm>
            <a:off x="1865571" y="4875012"/>
            <a:ext cx="994573" cy="1436605"/>
          </a:xfrm>
          <a:prstGeom prst="rect">
            <a:avLst/>
          </a:prstGeom>
          <a:ln w="38100">
            <a:solidFill>
              <a:srgbClr val="2217F5"/>
            </a:solidFill>
          </a:ln>
        </p:spPr>
      </p:pic>
      <p:pic>
        <p:nvPicPr>
          <p:cNvPr id="11" name="תמונה 10"/>
          <p:cNvPicPr>
            <a:picLocks noChangeAspect="1"/>
          </p:cNvPicPr>
          <p:nvPr/>
        </p:nvPicPr>
        <p:blipFill rotWithShape="1">
          <a:blip r:embed="rId3"/>
          <a:srcRect l="68587" t="7163" r="12839" b="25523"/>
          <a:stretch/>
        </p:blipFill>
        <p:spPr>
          <a:xfrm>
            <a:off x="5934470" y="4875012"/>
            <a:ext cx="1105080" cy="1436605"/>
          </a:xfrm>
          <a:prstGeom prst="rect">
            <a:avLst/>
          </a:prstGeom>
          <a:ln w="38100">
            <a:solidFill>
              <a:srgbClr val="2217F5"/>
            </a:solidFill>
          </a:ln>
        </p:spPr>
      </p:pic>
      <p:sp>
        <p:nvSpPr>
          <p:cNvPr id="5" name="TextBox 4"/>
          <p:cNvSpPr txBox="1"/>
          <p:nvPr/>
        </p:nvSpPr>
        <p:spPr>
          <a:xfrm>
            <a:off x="5607602" y="6333742"/>
            <a:ext cx="1758815" cy="307777"/>
          </a:xfrm>
          <a:prstGeom prst="rect">
            <a:avLst/>
          </a:prstGeom>
          <a:noFill/>
        </p:spPr>
        <p:txBody>
          <a:bodyPr wrap="none" rtlCol="1">
            <a:spAutoFit/>
          </a:bodyPr>
          <a:lstStyle/>
          <a:p>
            <a:r>
              <a:rPr lang="he-IL" b="1" dirty="0"/>
              <a:t>הרב  ישראל מאיר לאו</a:t>
            </a:r>
          </a:p>
        </p:txBody>
      </p:sp>
      <p:sp>
        <p:nvSpPr>
          <p:cNvPr id="10" name="TextBox 9"/>
          <p:cNvSpPr txBox="1"/>
          <p:nvPr/>
        </p:nvSpPr>
        <p:spPr>
          <a:xfrm>
            <a:off x="1478640" y="6372714"/>
            <a:ext cx="1768433" cy="307777"/>
          </a:xfrm>
          <a:prstGeom prst="rect">
            <a:avLst/>
          </a:prstGeom>
          <a:noFill/>
        </p:spPr>
        <p:txBody>
          <a:bodyPr wrap="none" rtlCol="1">
            <a:spAutoFit/>
          </a:bodyPr>
          <a:lstStyle/>
          <a:p>
            <a:r>
              <a:rPr lang="he-IL" b="1" dirty="0"/>
              <a:t>הרב אליהו בקשי דורון</a:t>
            </a:r>
          </a:p>
        </p:txBody>
      </p:sp>
      <p:pic>
        <p:nvPicPr>
          <p:cNvPr id="9" name="תמונה 8">
            <a:extLst>
              <a:ext uri="{FF2B5EF4-FFF2-40B4-BE49-F238E27FC236}">
                <a16:creationId xmlns:a16="http://schemas.microsoft.com/office/drawing/2014/main" id="{FDC9AA12-63C1-C771-0FFD-8E65D1CA2467}"/>
              </a:ext>
            </a:extLst>
          </p:cNvPr>
          <p:cNvPicPr>
            <a:picLocks noChangeAspect="1"/>
          </p:cNvPicPr>
          <p:nvPr/>
        </p:nvPicPr>
        <p:blipFill>
          <a:blip r:embed="rId4"/>
          <a:stretch>
            <a:fillRect/>
          </a:stretch>
        </p:blipFill>
        <p:spPr>
          <a:xfrm>
            <a:off x="448111" y="972444"/>
            <a:ext cx="2602810" cy="3177598"/>
          </a:xfrm>
          <a:prstGeom prst="rect">
            <a:avLst/>
          </a:prstGeom>
          <a:ln w="38100">
            <a:solidFill>
              <a:srgbClr val="FF0000"/>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123\Pictures\תשע'ד-א'-ד'\004.jpg"/>
          <p:cNvPicPr>
            <a:picLocks noChangeAspect="1" noChangeArrowheads="1"/>
          </p:cNvPicPr>
          <p:nvPr/>
        </p:nvPicPr>
        <p:blipFill rotWithShape="1">
          <a:blip r:embed="rId2"/>
          <a:srcRect t="53718" r="3453"/>
          <a:stretch/>
        </p:blipFill>
        <p:spPr bwMode="auto">
          <a:xfrm rot="10800000">
            <a:off x="622860" y="1000109"/>
            <a:ext cx="3466703" cy="2657493"/>
          </a:xfrm>
          <a:prstGeom prst="rect">
            <a:avLst/>
          </a:prstGeom>
          <a:noFill/>
          <a:ln w="38100">
            <a:solidFill>
              <a:srgbClr val="FF0000"/>
            </a:solidFill>
          </a:ln>
        </p:spPr>
      </p:pic>
      <p:pic>
        <p:nvPicPr>
          <p:cNvPr id="5" name="Picture 2" descr="C:\Users\123\Pictures\תשע'ד-א'-ד'\004.jpg"/>
          <p:cNvPicPr>
            <a:picLocks noChangeAspect="1" noChangeArrowheads="1"/>
          </p:cNvPicPr>
          <p:nvPr/>
        </p:nvPicPr>
        <p:blipFill rotWithShape="1">
          <a:blip r:embed="rId2"/>
          <a:srcRect t="6603" r="3979" b="54742"/>
          <a:stretch/>
        </p:blipFill>
        <p:spPr bwMode="auto">
          <a:xfrm rot="10800000">
            <a:off x="5054439" y="1598134"/>
            <a:ext cx="3240360" cy="2086051"/>
          </a:xfrm>
          <a:prstGeom prst="rect">
            <a:avLst/>
          </a:prstGeom>
          <a:noFill/>
          <a:ln w="38100">
            <a:solidFill>
              <a:srgbClr val="FF0000"/>
            </a:solidFill>
          </a:ln>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48" y="4409309"/>
            <a:ext cx="3526914" cy="2304644"/>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4571999" y="3765323"/>
            <a:ext cx="3977291" cy="307777"/>
          </a:xfrm>
          <a:prstGeom prst="rect">
            <a:avLst/>
          </a:prstGeom>
          <a:noFill/>
          <a:ln w="38100">
            <a:noFill/>
          </a:ln>
        </p:spPr>
        <p:txBody>
          <a:bodyPr wrap="square" rtlCol="1">
            <a:spAutoFit/>
          </a:bodyPr>
          <a:lstStyle/>
          <a:p>
            <a:pPr algn="r" rtl="1"/>
            <a:r>
              <a:rPr lang="he-IL" b="1" dirty="0"/>
              <a:t>קבלת פנים ליד ביתו של האגרונום ד"ר מקס </a:t>
            </a:r>
            <a:r>
              <a:rPr lang="he-IL" b="1" dirty="0" err="1"/>
              <a:t>לעויטה</a:t>
            </a:r>
            <a:r>
              <a:rPr lang="he-IL" b="1" dirty="0"/>
              <a:t>.</a:t>
            </a:r>
          </a:p>
        </p:txBody>
      </p:sp>
      <p:sp>
        <p:nvSpPr>
          <p:cNvPr id="6" name="TextBox 5"/>
          <p:cNvSpPr txBox="1"/>
          <p:nvPr/>
        </p:nvSpPr>
        <p:spPr>
          <a:xfrm>
            <a:off x="2641286" y="156590"/>
            <a:ext cx="3861427" cy="369332"/>
          </a:xfrm>
          <a:prstGeom prst="rect">
            <a:avLst/>
          </a:prstGeom>
          <a:solidFill>
            <a:srgbClr val="FFFF00"/>
          </a:solidFill>
          <a:ln w="12700">
            <a:solidFill>
              <a:schemeClr val="tx1"/>
            </a:solidFill>
          </a:ln>
        </p:spPr>
        <p:txBody>
          <a:bodyPr wrap="square" rtlCol="1">
            <a:spAutoFit/>
          </a:bodyPr>
          <a:lstStyle/>
          <a:p>
            <a:r>
              <a:rPr lang="he-IL" sz="1800" b="1" dirty="0"/>
              <a:t>המושבה בת שלמה – </a:t>
            </a:r>
            <a:r>
              <a:rPr lang="he-IL" sz="1800" b="1" dirty="0">
                <a:solidFill>
                  <a:srgbClr val="FF0000"/>
                </a:solidFill>
              </a:rPr>
              <a:t>יום א', כ"ג בחשון</a:t>
            </a:r>
          </a:p>
        </p:txBody>
      </p:sp>
      <p:sp>
        <p:nvSpPr>
          <p:cNvPr id="2" name="TextBox 1"/>
          <p:cNvSpPr txBox="1"/>
          <p:nvPr/>
        </p:nvSpPr>
        <p:spPr>
          <a:xfrm>
            <a:off x="8045227" y="198355"/>
            <a:ext cx="824265" cy="338554"/>
          </a:xfrm>
          <a:prstGeom prst="rect">
            <a:avLst/>
          </a:prstGeom>
          <a:solidFill>
            <a:srgbClr val="76E3FF"/>
          </a:solidFill>
          <a:ln>
            <a:solidFill>
              <a:schemeClr val="tx1"/>
            </a:solidFill>
          </a:ln>
        </p:spPr>
        <p:txBody>
          <a:bodyPr wrap="none" rtlCol="1">
            <a:spAutoFit/>
          </a:bodyPr>
          <a:lstStyle/>
          <a:p>
            <a:r>
              <a:rPr lang="he-IL" sz="1600" b="1" dirty="0"/>
              <a:t>בצהרים</a:t>
            </a:r>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t="30595"/>
          <a:stretch>
            <a:fillRect/>
          </a:stretch>
        </p:blipFill>
        <p:spPr bwMode="auto">
          <a:xfrm>
            <a:off x="4824532" y="4884585"/>
            <a:ext cx="3700174" cy="180020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11" name="TextBox 10"/>
          <p:cNvSpPr txBox="1"/>
          <p:nvPr/>
        </p:nvSpPr>
        <p:spPr>
          <a:xfrm>
            <a:off x="5560559" y="692696"/>
            <a:ext cx="3308983"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1889 – </a:t>
            </a:r>
            <a:r>
              <a:rPr lang="he-IL" b="1" dirty="0"/>
              <a:t>ע"י הברון רוטשילד, ע"ש אבי אשתו</a:t>
            </a:r>
          </a:p>
          <a:p>
            <a:pPr algn="r" rtl="1"/>
            <a:r>
              <a:rPr lang="he-IL" b="1" dirty="0"/>
              <a:t>12 משפחות, חקלאות, מחלבה</a:t>
            </a:r>
          </a:p>
          <a:p>
            <a:pPr algn="r" rtl="1"/>
            <a:r>
              <a:rPr lang="he-IL" b="1" dirty="0"/>
              <a:t>המקווה חרב</a:t>
            </a:r>
          </a:p>
        </p:txBody>
      </p:sp>
      <p:sp>
        <p:nvSpPr>
          <p:cNvPr id="12" name="TextBox 11"/>
          <p:cNvSpPr txBox="1"/>
          <p:nvPr/>
        </p:nvSpPr>
        <p:spPr>
          <a:xfrm>
            <a:off x="324873" y="3765324"/>
            <a:ext cx="3914854" cy="307777"/>
          </a:xfrm>
          <a:prstGeom prst="rect">
            <a:avLst/>
          </a:prstGeom>
          <a:noFill/>
          <a:ln>
            <a:solidFill>
              <a:srgbClr val="2217F5"/>
            </a:solidFill>
          </a:ln>
        </p:spPr>
        <p:txBody>
          <a:bodyPr wrap="none" rtlCol="1">
            <a:spAutoFit/>
          </a:bodyPr>
          <a:lstStyle/>
          <a:p>
            <a:pPr algn="r" rtl="1"/>
            <a:r>
              <a:rPr lang="he-IL" b="1" dirty="0"/>
              <a:t>בבית הכנסת –  הרב קוק: על תקנות </a:t>
            </a:r>
            <a:r>
              <a:rPr lang="he-IL" b="1" dirty="0" err="1"/>
              <a:t>לתו"מ</a:t>
            </a:r>
            <a:r>
              <a:rPr lang="he-IL" b="1" dirty="0"/>
              <a:t> ומפקח. </a:t>
            </a:r>
          </a:p>
        </p:txBody>
      </p:sp>
      <p:sp>
        <p:nvSpPr>
          <p:cNvPr id="13" name="TextBox 12"/>
          <p:cNvSpPr txBox="1"/>
          <p:nvPr/>
        </p:nvSpPr>
        <p:spPr>
          <a:xfrm>
            <a:off x="4138982" y="4205578"/>
            <a:ext cx="4482317" cy="523220"/>
          </a:xfrm>
          <a:prstGeom prst="rect">
            <a:avLst/>
          </a:prstGeom>
          <a:noFill/>
          <a:ln>
            <a:solidFill>
              <a:srgbClr val="2217F5"/>
            </a:solidFill>
          </a:ln>
        </p:spPr>
        <p:txBody>
          <a:bodyPr wrap="none" rtlCol="1">
            <a:spAutoFit/>
          </a:bodyPr>
          <a:lstStyle/>
          <a:p>
            <a:pPr algn="r" rtl="1"/>
            <a:r>
              <a:rPr lang="he-IL" b="1" dirty="0">
                <a:solidFill>
                  <a:srgbClr val="FF0000"/>
                </a:solidFill>
              </a:rPr>
              <a:t>מורה צעיר: </a:t>
            </a:r>
            <a:r>
              <a:rPr lang="he-IL" b="1" dirty="0"/>
              <a:t>שידאגו גם לעניינים חומריים. שולל מטרת המסע</a:t>
            </a:r>
          </a:p>
          <a:p>
            <a:pPr algn="r" rtl="1"/>
            <a:r>
              <a:rPr lang="he-IL" b="1" dirty="0"/>
              <a:t>הרב קוק גער בו על חוצפתו.     לבו הורך, נפרדו בכבוד.</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903" t="1773" r="3855" b="19246"/>
          <a:stretch/>
        </p:blipFill>
        <p:spPr bwMode="auto">
          <a:xfrm>
            <a:off x="6588224" y="2018476"/>
            <a:ext cx="1152128" cy="1679376"/>
          </a:xfrm>
          <a:prstGeom prst="rect">
            <a:avLst/>
          </a:prstGeom>
          <a:noFill/>
          <a:ln w="38100">
            <a:solidFill>
              <a:srgbClr val="2217F5"/>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868" r="3305" b="13855"/>
          <a:stretch/>
        </p:blipFill>
        <p:spPr bwMode="auto">
          <a:xfrm>
            <a:off x="564005" y="1399405"/>
            <a:ext cx="4077261" cy="278402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869451" y="115846"/>
            <a:ext cx="3405098" cy="369332"/>
          </a:xfrm>
          <a:prstGeom prst="rect">
            <a:avLst/>
          </a:prstGeom>
          <a:solidFill>
            <a:srgbClr val="FFFF00"/>
          </a:solidFill>
          <a:ln w="12700">
            <a:solidFill>
              <a:schemeClr val="tx1"/>
            </a:solidFill>
          </a:ln>
        </p:spPr>
        <p:txBody>
          <a:bodyPr wrap="none" rtlCol="1">
            <a:spAutoFit/>
          </a:bodyPr>
          <a:lstStyle/>
          <a:p>
            <a:r>
              <a:rPr lang="he-IL" sz="1800" b="1" dirty="0"/>
              <a:t>במושבה שפיה – </a:t>
            </a:r>
            <a:r>
              <a:rPr lang="he-IL" sz="1800" b="1" dirty="0">
                <a:solidFill>
                  <a:srgbClr val="FF0000"/>
                </a:solidFill>
              </a:rPr>
              <a:t>יום א', כ"ג בחשון</a:t>
            </a:r>
          </a:p>
        </p:txBody>
      </p:sp>
      <p:sp>
        <p:nvSpPr>
          <p:cNvPr id="3" name="TextBox 2"/>
          <p:cNvSpPr txBox="1"/>
          <p:nvPr/>
        </p:nvSpPr>
        <p:spPr>
          <a:xfrm>
            <a:off x="5580112" y="3798083"/>
            <a:ext cx="2981970" cy="1600438"/>
          </a:xfrm>
          <a:prstGeom prst="rect">
            <a:avLst/>
          </a:prstGeom>
          <a:noFill/>
          <a:ln w="38100">
            <a:noFill/>
          </a:ln>
        </p:spPr>
        <p:txBody>
          <a:bodyPr wrap="none" rtlCol="1">
            <a:spAutoFit/>
          </a:bodyPr>
          <a:lstStyle/>
          <a:p>
            <a:pPr algn="r" rtl="1"/>
            <a:r>
              <a:rPr lang="he-IL" b="1" dirty="0"/>
              <a:t>       ר' נחום </a:t>
            </a:r>
            <a:r>
              <a:rPr lang="he-IL" b="1" dirty="0" err="1"/>
              <a:t>ויספיש</a:t>
            </a:r>
            <a:r>
              <a:rPr lang="he-IL" b="1" dirty="0"/>
              <a:t> בן דוד </a:t>
            </a:r>
            <a:r>
              <a:rPr lang="he-IL" b="1" dirty="0" err="1"/>
              <a:t>בהר"ן</a:t>
            </a:r>
            <a:endParaRPr lang="he-IL" b="1" dirty="0"/>
          </a:p>
          <a:p>
            <a:pPr algn="r" rtl="1"/>
            <a:r>
              <a:rPr lang="he-IL" b="1" dirty="0"/>
              <a:t>         חניך ישיבת 'עץ חיים' </a:t>
            </a:r>
          </a:p>
          <a:p>
            <a:pPr algn="r" rtl="1"/>
            <a:endParaRPr lang="he-IL" b="1" dirty="0"/>
          </a:p>
          <a:p>
            <a:pPr algn="r" rtl="1"/>
            <a:r>
              <a:rPr lang="he-IL" b="1" dirty="0"/>
              <a:t>[נרצח במאורעות תרפ"א בצומת </a:t>
            </a:r>
            <a:r>
              <a:rPr lang="he-IL" b="1" dirty="0" err="1"/>
              <a:t>פרדיס</a:t>
            </a:r>
            <a:endParaRPr lang="he-IL" b="1" dirty="0"/>
          </a:p>
          <a:p>
            <a:pPr algn="r" rtl="1"/>
            <a:r>
              <a:rPr lang="he-IL" b="1" dirty="0"/>
              <a:t>כשחילק חלב, הערבים לא נגעו בחלב </a:t>
            </a:r>
          </a:p>
          <a:p>
            <a:pPr algn="r" rtl="1"/>
            <a:r>
              <a:rPr lang="he-IL" b="1" dirty="0"/>
              <a:t>3 חודשים, משום כבודו]</a:t>
            </a:r>
          </a:p>
          <a:p>
            <a:pPr algn="r" rtl="1"/>
            <a:endParaRPr lang="he-IL" b="1" dirty="0"/>
          </a:p>
        </p:txBody>
      </p:sp>
      <p:sp>
        <p:nvSpPr>
          <p:cNvPr id="4" name="TextBox 3"/>
          <p:cNvSpPr txBox="1"/>
          <p:nvPr/>
        </p:nvSpPr>
        <p:spPr>
          <a:xfrm>
            <a:off x="498533" y="4290525"/>
            <a:ext cx="4208203" cy="307777"/>
          </a:xfrm>
          <a:prstGeom prst="rect">
            <a:avLst/>
          </a:prstGeom>
          <a:noFill/>
        </p:spPr>
        <p:txBody>
          <a:bodyPr wrap="none" rtlCol="1">
            <a:spAutoFit/>
          </a:bodyPr>
          <a:lstStyle/>
          <a:p>
            <a:r>
              <a:rPr lang="he-IL" b="1" dirty="0"/>
              <a:t>נכנסו לביתם של ר' חיים דב קנטור וחתנו ר' נחום </a:t>
            </a:r>
            <a:r>
              <a:rPr lang="he-IL" b="1" dirty="0" err="1"/>
              <a:t>ויספיש</a:t>
            </a:r>
            <a:endParaRPr lang="he-IL" b="1" dirty="0"/>
          </a:p>
        </p:txBody>
      </p:sp>
      <p:sp>
        <p:nvSpPr>
          <p:cNvPr id="5" name="TextBox 4"/>
          <p:cNvSpPr txBox="1"/>
          <p:nvPr/>
        </p:nvSpPr>
        <p:spPr>
          <a:xfrm>
            <a:off x="8207658" y="212370"/>
            <a:ext cx="708848" cy="338554"/>
          </a:xfrm>
          <a:prstGeom prst="rect">
            <a:avLst/>
          </a:prstGeom>
          <a:solidFill>
            <a:srgbClr val="76E3FF"/>
          </a:solidFill>
          <a:ln>
            <a:solidFill>
              <a:schemeClr val="tx1"/>
            </a:solidFill>
          </a:ln>
        </p:spPr>
        <p:txBody>
          <a:bodyPr wrap="none" rtlCol="1">
            <a:spAutoFit/>
          </a:bodyPr>
          <a:lstStyle/>
          <a:p>
            <a:r>
              <a:rPr lang="he-IL" sz="1600" b="1" dirty="0"/>
              <a:t>14:00</a:t>
            </a:r>
          </a:p>
        </p:txBody>
      </p:sp>
      <p:sp>
        <p:nvSpPr>
          <p:cNvPr id="8" name="TextBox 7"/>
          <p:cNvSpPr txBox="1"/>
          <p:nvPr/>
        </p:nvSpPr>
        <p:spPr>
          <a:xfrm>
            <a:off x="4887772" y="764704"/>
            <a:ext cx="4054315"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1890 – </a:t>
            </a:r>
            <a:r>
              <a:rPr lang="he-IL" b="1" dirty="0"/>
              <a:t>ע"י הברון רוטשילד</a:t>
            </a:r>
          </a:p>
          <a:p>
            <a:pPr algn="r" rtl="1"/>
            <a:r>
              <a:rPr lang="he-IL" b="1" dirty="0"/>
              <a:t>מאיר שפיה – ע"ש אבי השושלת, מאיר אנשל רוטשילד</a:t>
            </a:r>
          </a:p>
          <a:p>
            <a:pPr algn="r" rtl="1"/>
            <a:r>
              <a:rPr lang="he-IL" b="1" dirty="0"/>
              <a:t>6 משפחות</a:t>
            </a:r>
          </a:p>
        </p:txBody>
      </p:sp>
      <p:sp>
        <p:nvSpPr>
          <p:cNvPr id="9" name="TextBox 8"/>
          <p:cNvSpPr txBox="1"/>
          <p:nvPr/>
        </p:nvSpPr>
        <p:spPr>
          <a:xfrm>
            <a:off x="354892" y="4797152"/>
            <a:ext cx="4680520" cy="1815882"/>
          </a:xfrm>
          <a:prstGeom prst="rect">
            <a:avLst/>
          </a:prstGeom>
          <a:noFill/>
          <a:ln>
            <a:solidFill>
              <a:srgbClr val="2217F5"/>
            </a:solidFill>
          </a:ln>
        </p:spPr>
        <p:txBody>
          <a:bodyPr wrap="square" rtlCol="1">
            <a:spAutoFit/>
          </a:bodyPr>
          <a:lstStyle/>
          <a:p>
            <a:pPr algn="r" rtl="1"/>
            <a:r>
              <a:rPr lang="he-IL" b="1" dirty="0"/>
              <a:t>הרבנים דרשו לבטל את הלימוד בבית הספר בגילוי ראש</a:t>
            </a:r>
          </a:p>
          <a:p>
            <a:pPr algn="r" rtl="1"/>
            <a:r>
              <a:rPr lang="he-IL" b="1" dirty="0"/>
              <a:t>החינוך מעורב</a:t>
            </a:r>
          </a:p>
          <a:p>
            <a:pPr algn="r" rtl="1"/>
            <a:r>
              <a:rPr lang="he-IL" b="1" dirty="0"/>
              <a:t>מקווה חרב</a:t>
            </a:r>
          </a:p>
          <a:p>
            <a:pPr algn="r" rtl="1"/>
            <a:r>
              <a:rPr lang="he-IL" b="1" dirty="0">
                <a:solidFill>
                  <a:schemeClr val="tx1"/>
                </a:solidFill>
              </a:rPr>
              <a:t>אחד האיכרים: </a:t>
            </a:r>
            <a:r>
              <a:rPr lang="he-IL" b="1" dirty="0">
                <a:solidFill>
                  <a:srgbClr val="FF0000"/>
                </a:solidFill>
              </a:rPr>
              <a:t>אין רשות לשנות ללא ידיעת המנהל, מחה על תקנות </a:t>
            </a:r>
            <a:r>
              <a:rPr lang="he-IL" b="1" dirty="0" err="1">
                <a:solidFill>
                  <a:srgbClr val="FF0000"/>
                </a:solidFill>
              </a:rPr>
              <a:t>תו"מ</a:t>
            </a:r>
            <a:r>
              <a:rPr lang="he-IL" b="1" dirty="0">
                <a:solidFill>
                  <a:srgbClr val="FF0000"/>
                </a:solidFill>
              </a:rPr>
              <a:t>.</a:t>
            </a:r>
          </a:p>
          <a:p>
            <a:pPr algn="r" rtl="1"/>
            <a:r>
              <a:rPr lang="he-IL" b="1" dirty="0"/>
              <a:t>הרב קוק: הוכיחו בנועם, בסוף חתם.</a:t>
            </a:r>
          </a:p>
          <a:p>
            <a:pPr algn="r" rtl="1"/>
            <a:endParaRPr lang="he-IL" b="1" dirty="0"/>
          </a:p>
          <a:p>
            <a:pPr algn="r" rtl="1"/>
            <a:r>
              <a:rPr lang="he-IL" b="1" dirty="0"/>
              <a:t>שתו מים </a:t>
            </a:r>
            <a:r>
              <a:rPr lang="he-IL" b="1" dirty="0" err="1"/>
              <a:t>מהמעין</a:t>
            </a:r>
            <a:r>
              <a:rPr lang="he-IL" b="1" dirty="0"/>
              <a:t>, התעוררות מגבול הגליל, שרו: </a:t>
            </a:r>
            <a:r>
              <a:rPr lang="he-IL" b="1" dirty="0">
                <a:solidFill>
                  <a:srgbClr val="FF0000"/>
                </a:solidFill>
              </a:rPr>
              <a:t>"יבנה הגליל".</a:t>
            </a:r>
            <a:endParaRPr lang="he-IL" b="1" dirty="0"/>
          </a:p>
        </p:txBody>
      </p:sp>
    </p:spTree>
    <p:extLst>
      <p:ext uri="{BB962C8B-B14F-4D97-AF65-F5344CB8AC3E}">
        <p14:creationId xmlns:p14="http://schemas.microsoft.com/office/powerpoint/2010/main" val="3152480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401338" y="167830"/>
            <a:ext cx="4233851" cy="369332"/>
          </a:xfrm>
          <a:prstGeom prst="rect">
            <a:avLst/>
          </a:prstGeom>
          <a:solidFill>
            <a:srgbClr val="FFFF00"/>
          </a:solidFill>
          <a:ln w="12700">
            <a:solidFill>
              <a:schemeClr val="tx1"/>
            </a:solidFill>
          </a:ln>
        </p:spPr>
        <p:txBody>
          <a:bodyPr wrap="none" rtlCol="1">
            <a:spAutoFit/>
          </a:bodyPr>
          <a:lstStyle/>
          <a:p>
            <a:r>
              <a:rPr lang="he-IL" sz="1800" b="1" dirty="0"/>
              <a:t>במושבה עתלית (</a:t>
            </a:r>
            <a:r>
              <a:rPr lang="he-IL" sz="1800" b="1" dirty="0" err="1"/>
              <a:t>תרומיה</a:t>
            </a:r>
            <a:r>
              <a:rPr lang="he-IL" sz="1800" b="1" dirty="0"/>
              <a:t>) - </a:t>
            </a:r>
            <a:r>
              <a:rPr lang="he-IL" sz="1800" b="1" dirty="0">
                <a:solidFill>
                  <a:srgbClr val="FF0000"/>
                </a:solidFill>
              </a:rPr>
              <a:t>יום א', כ"ג חשון</a:t>
            </a:r>
          </a:p>
        </p:txBody>
      </p:sp>
      <p:pic>
        <p:nvPicPr>
          <p:cNvPr id="819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651" t="6521" r="3813" b="14542"/>
          <a:stretch/>
        </p:blipFill>
        <p:spPr bwMode="auto">
          <a:xfrm>
            <a:off x="611562" y="1340768"/>
            <a:ext cx="3228934" cy="2280574"/>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1884429" y="3651406"/>
            <a:ext cx="582211" cy="307777"/>
          </a:xfrm>
          <a:prstGeom prst="rect">
            <a:avLst/>
          </a:prstGeom>
          <a:noFill/>
        </p:spPr>
        <p:txBody>
          <a:bodyPr wrap="none" rtlCol="1">
            <a:spAutoFit/>
          </a:bodyPr>
          <a:lstStyle/>
          <a:p>
            <a:r>
              <a:rPr lang="he-IL" b="1" dirty="0"/>
              <a:t>1912</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45811"/>
            <a:ext cx="840821" cy="785344"/>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30" y="4149080"/>
            <a:ext cx="3641275" cy="2329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8172401" y="260648"/>
            <a:ext cx="641521" cy="338554"/>
          </a:xfrm>
          <a:prstGeom prst="rect">
            <a:avLst/>
          </a:prstGeom>
          <a:solidFill>
            <a:srgbClr val="76E3FF"/>
          </a:solidFill>
          <a:ln>
            <a:solidFill>
              <a:schemeClr val="tx1"/>
            </a:solidFill>
          </a:ln>
        </p:spPr>
        <p:txBody>
          <a:bodyPr wrap="none" rtlCol="1">
            <a:spAutoFit/>
          </a:bodyPr>
          <a:lstStyle/>
          <a:p>
            <a:r>
              <a:rPr lang="he-IL" sz="1600" b="1" dirty="0"/>
              <a:t>בערב</a:t>
            </a:r>
          </a:p>
        </p:txBody>
      </p:sp>
      <p:sp>
        <p:nvSpPr>
          <p:cNvPr id="10" name="TextBox 9"/>
          <p:cNvSpPr txBox="1"/>
          <p:nvPr/>
        </p:nvSpPr>
        <p:spPr>
          <a:xfrm>
            <a:off x="7600653" y="908720"/>
            <a:ext cx="1404552"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1903 – </a:t>
            </a:r>
            <a:r>
              <a:rPr lang="he-IL" b="1" dirty="0"/>
              <a:t>ע"י </a:t>
            </a:r>
            <a:r>
              <a:rPr lang="he-IL" b="1" dirty="0" err="1"/>
              <a:t>יק"א</a:t>
            </a:r>
            <a:endParaRPr lang="he-IL" b="1" dirty="0"/>
          </a:p>
          <a:p>
            <a:pPr algn="r" rtl="1"/>
            <a:r>
              <a:rPr lang="he-IL" b="1" dirty="0"/>
              <a:t>סבלו ממלריה</a:t>
            </a:r>
          </a:p>
          <a:p>
            <a:pPr algn="r" rtl="1"/>
            <a:r>
              <a:rPr lang="he-IL" b="1" dirty="0"/>
              <a:t>12 משפחות</a:t>
            </a:r>
          </a:p>
        </p:txBody>
      </p:sp>
      <p:sp>
        <p:nvSpPr>
          <p:cNvPr id="11" name="TextBox 10"/>
          <p:cNvSpPr txBox="1"/>
          <p:nvPr/>
        </p:nvSpPr>
        <p:spPr>
          <a:xfrm>
            <a:off x="6497116" y="836716"/>
            <a:ext cx="184730" cy="307777"/>
          </a:xfrm>
          <a:prstGeom prst="rect">
            <a:avLst/>
          </a:prstGeom>
          <a:noFill/>
          <a:ln w="28575">
            <a:noFill/>
          </a:ln>
        </p:spPr>
        <p:txBody>
          <a:bodyPr wrap="none" rtlCol="1">
            <a:spAutoFit/>
          </a:bodyPr>
          <a:lstStyle/>
          <a:p>
            <a:pPr algn="r" rtl="1"/>
            <a:endParaRPr lang="he-IL" dirty="0"/>
          </a:p>
        </p:txBody>
      </p:sp>
      <p:sp>
        <p:nvSpPr>
          <p:cNvPr id="12" name="TextBox 11"/>
          <p:cNvSpPr txBox="1"/>
          <p:nvPr/>
        </p:nvSpPr>
        <p:spPr>
          <a:xfrm>
            <a:off x="4040320" y="3356992"/>
            <a:ext cx="4964885" cy="3323987"/>
          </a:xfrm>
          <a:prstGeom prst="rect">
            <a:avLst/>
          </a:prstGeom>
          <a:noFill/>
          <a:ln>
            <a:solidFill>
              <a:srgbClr val="2217F5"/>
            </a:solidFill>
          </a:ln>
        </p:spPr>
        <p:txBody>
          <a:bodyPr wrap="none" rtlCol="1">
            <a:spAutoFit/>
          </a:bodyPr>
          <a:lstStyle/>
          <a:p>
            <a:pPr algn="r" rtl="1"/>
            <a:r>
              <a:rPr lang="he-IL" b="1" dirty="0"/>
              <a:t>הרב </a:t>
            </a:r>
            <a:r>
              <a:rPr lang="he-IL" b="1" dirty="0" err="1"/>
              <a:t>זוננפלד</a:t>
            </a:r>
            <a:r>
              <a:rPr lang="he-IL" b="1" dirty="0"/>
              <a:t> לילד בן 8: </a:t>
            </a:r>
            <a:r>
              <a:rPr lang="he-IL" b="1" dirty="0">
                <a:solidFill>
                  <a:srgbClr val="FF0000"/>
                </a:solidFill>
              </a:rPr>
              <a:t>"פסוק פסוקך מהסידור". </a:t>
            </a:r>
            <a:r>
              <a:rPr lang="he-IL" b="1" dirty="0"/>
              <a:t>לא יודע תפילות</a:t>
            </a:r>
          </a:p>
          <a:p>
            <a:pPr algn="r" rtl="1"/>
            <a:r>
              <a:rPr lang="he-IL" b="1" dirty="0"/>
              <a:t>ולא מכיר האבות. מורה מתרגז: </a:t>
            </a:r>
            <a:r>
              <a:rPr lang="he-IL" b="1" dirty="0">
                <a:solidFill>
                  <a:srgbClr val="FF0000"/>
                </a:solidFill>
              </a:rPr>
              <a:t>"אתם מרוחקים מהחיים, אין לכם</a:t>
            </a:r>
          </a:p>
          <a:p>
            <a:pPr algn="r" rtl="1"/>
            <a:r>
              <a:rPr lang="he-IL" b="1" dirty="0">
                <a:solidFill>
                  <a:srgbClr val="FF0000"/>
                </a:solidFill>
              </a:rPr>
              <a:t>ידיעה מהנעשה במושבות...הדת למורת רוחנו אין בה צורך בא"י!"</a:t>
            </a:r>
            <a:endParaRPr lang="he-IL" b="1" dirty="0"/>
          </a:p>
          <a:p>
            <a:pPr algn="r" rtl="1"/>
            <a:r>
              <a:rPr lang="he-IL" b="1" dirty="0"/>
              <a:t>אסיפה בבית הכנסת עם הועד: הסכימו מיד </a:t>
            </a:r>
            <a:r>
              <a:rPr lang="he-IL" b="1" dirty="0" err="1"/>
              <a:t>לתו"מ</a:t>
            </a:r>
            <a:r>
              <a:rPr lang="he-IL" b="1" dirty="0"/>
              <a:t>.</a:t>
            </a:r>
          </a:p>
          <a:p>
            <a:pPr algn="r" rtl="1"/>
            <a:r>
              <a:rPr lang="he-IL" b="1" dirty="0"/>
              <a:t>הרב קוק: דרש על שבת, חינוך, תפילה.</a:t>
            </a:r>
          </a:p>
          <a:p>
            <a:pPr algn="r" rtl="1"/>
            <a:r>
              <a:rPr lang="he-IL" b="1" dirty="0">
                <a:solidFill>
                  <a:schemeClr val="tx1"/>
                </a:solidFill>
              </a:rPr>
              <a:t>אחד המורים: </a:t>
            </a:r>
            <a:r>
              <a:rPr lang="he-IL" b="1" dirty="0">
                <a:solidFill>
                  <a:srgbClr val="FF0000"/>
                </a:solidFill>
              </a:rPr>
              <a:t>הרבנים באו מפינה נידחת ולא מכירים את המושבה.</a:t>
            </a:r>
          </a:p>
          <a:p>
            <a:pPr algn="r" rtl="1"/>
            <a:r>
              <a:rPr lang="he-IL" b="1" dirty="0"/>
              <a:t>הועד מבקש שם עברי, מתנגד לשם </a:t>
            </a:r>
            <a:r>
              <a:rPr lang="he-IL" b="1" dirty="0" err="1"/>
              <a:t>מגדיאל</a:t>
            </a:r>
            <a:r>
              <a:rPr lang="he-IL" b="1" dirty="0"/>
              <a:t> (פרופ' </a:t>
            </a:r>
            <a:r>
              <a:rPr lang="he-IL" b="1" dirty="0" err="1"/>
              <a:t>קלויזנר</a:t>
            </a:r>
            <a:r>
              <a:rPr lang="he-IL" b="1" dirty="0"/>
              <a:t>) – רומי.</a:t>
            </a:r>
          </a:p>
          <a:p>
            <a:pPr algn="r" rtl="1"/>
            <a:r>
              <a:rPr lang="he-IL" b="1" dirty="0">
                <a:solidFill>
                  <a:schemeClr val="tx1"/>
                </a:solidFill>
              </a:rPr>
              <a:t>המורה צועק: </a:t>
            </a:r>
            <a:r>
              <a:rPr lang="he-IL" b="1" dirty="0">
                <a:solidFill>
                  <a:srgbClr val="FF0000"/>
                </a:solidFill>
              </a:rPr>
              <a:t>אין רשות למושבה, אינם דתיים, מאיים.</a:t>
            </a:r>
          </a:p>
          <a:p>
            <a:pPr algn="r" rtl="1"/>
            <a:r>
              <a:rPr lang="he-IL" b="1" dirty="0"/>
              <a:t>הרב קוק מנסה להרגיעו. </a:t>
            </a:r>
          </a:p>
          <a:p>
            <a:pPr algn="r" rtl="1"/>
            <a:r>
              <a:rPr lang="he-IL" b="1" dirty="0"/>
              <a:t>הרב קוק הציע את השם </a:t>
            </a:r>
            <a:r>
              <a:rPr lang="he-IL" b="1" dirty="0" err="1">
                <a:solidFill>
                  <a:srgbClr val="FF0000"/>
                </a:solidFill>
              </a:rPr>
              <a:t>תרומיה</a:t>
            </a:r>
            <a:r>
              <a:rPr lang="he-IL" b="1" dirty="0"/>
              <a:t> (יחזקאל מח, </a:t>
            </a:r>
            <a:r>
              <a:rPr lang="he-IL" b="1" dirty="0" err="1"/>
              <a:t>יב</a:t>
            </a:r>
            <a:r>
              <a:rPr lang="he-IL" b="1" dirty="0"/>
              <a:t>) – התקבל.</a:t>
            </a:r>
          </a:p>
          <a:p>
            <a:pPr algn="r" rtl="1"/>
            <a:endParaRPr lang="he-IL" b="1" dirty="0"/>
          </a:p>
          <a:p>
            <a:pPr algn="r" rtl="1"/>
            <a:r>
              <a:rPr lang="he-IL" b="1" dirty="0"/>
              <a:t>האסיפה הסתיימה אחרי חצות, ריקודים של שמחה איתם,</a:t>
            </a:r>
          </a:p>
          <a:p>
            <a:pPr algn="r" rtl="1"/>
            <a:r>
              <a:rPr lang="he-IL" b="1" dirty="0"/>
              <a:t>אוכלים. הרב קוק מברך: </a:t>
            </a:r>
            <a:r>
              <a:rPr lang="he-IL" b="1" dirty="0">
                <a:solidFill>
                  <a:srgbClr val="FF0000"/>
                </a:solidFill>
              </a:rPr>
              <a:t>"השמחה במעונו"!</a:t>
            </a:r>
            <a:endParaRPr lang="he-IL" b="1" dirty="0"/>
          </a:p>
          <a:p>
            <a:pPr algn="r" rtl="1"/>
            <a:r>
              <a:rPr lang="he-IL" b="1" dirty="0"/>
              <a:t>בבוקר – הרב </a:t>
            </a:r>
            <a:r>
              <a:rPr lang="he-IL" b="1" dirty="0" err="1"/>
              <a:t>יאדלר</a:t>
            </a:r>
            <a:r>
              <a:rPr lang="he-IL" b="1" dirty="0"/>
              <a:t> הפריש </a:t>
            </a:r>
            <a:r>
              <a:rPr lang="he-IL" b="1" dirty="0" err="1"/>
              <a:t>תו"מ</a:t>
            </a:r>
            <a:r>
              <a:rPr lang="he-IL" b="1" dirty="0"/>
              <a:t>. </a:t>
            </a:r>
            <a:r>
              <a:rPr lang="he-IL" b="1" dirty="0">
                <a:solidFill>
                  <a:schemeClr val="tx1"/>
                </a:solidFill>
              </a:rPr>
              <a:t>הבטיחו </a:t>
            </a:r>
            <a:r>
              <a:rPr lang="he-IL" b="1" dirty="0"/>
              <a:t>לספק ס"ת יקראו </a:t>
            </a:r>
          </a:p>
          <a:p>
            <a:pPr algn="r" rtl="1"/>
            <a:r>
              <a:rPr lang="he-IL" b="1" dirty="0"/>
              <a:t>לראשונה בפרשת 'תרומה'. הכינו מעטפות עם שם זה לשבת זו.</a:t>
            </a: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5882" y="678846"/>
            <a:ext cx="1970245" cy="2584305"/>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4" name="אליפסה 3"/>
          <p:cNvSpPr/>
          <p:nvPr/>
        </p:nvSpPr>
        <p:spPr>
          <a:xfrm>
            <a:off x="4644008" y="1844828"/>
            <a:ext cx="144016" cy="1083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TextBox 12"/>
          <p:cNvSpPr txBox="1"/>
          <p:nvPr/>
        </p:nvSpPr>
        <p:spPr>
          <a:xfrm>
            <a:off x="1008279" y="6478210"/>
            <a:ext cx="2271776" cy="307777"/>
          </a:xfrm>
          <a:prstGeom prst="rect">
            <a:avLst/>
          </a:prstGeom>
          <a:noFill/>
        </p:spPr>
        <p:txBody>
          <a:bodyPr wrap="none" rtlCol="1">
            <a:spAutoFit/>
          </a:bodyPr>
          <a:lstStyle/>
          <a:p>
            <a:r>
              <a:rPr lang="he-IL" b="1" dirty="0"/>
              <a:t>מחנה המעצר בעתלית, 1939</a:t>
            </a:r>
          </a:p>
        </p:txBody>
      </p:sp>
      <p:sp>
        <p:nvSpPr>
          <p:cNvPr id="14" name="TextBox 13"/>
          <p:cNvSpPr txBox="1"/>
          <p:nvPr/>
        </p:nvSpPr>
        <p:spPr>
          <a:xfrm>
            <a:off x="6394517" y="1844828"/>
            <a:ext cx="2632516" cy="1384995"/>
          </a:xfrm>
          <a:prstGeom prst="rect">
            <a:avLst/>
          </a:prstGeom>
          <a:noFill/>
          <a:ln w="12700">
            <a:solidFill>
              <a:srgbClr val="2217F5"/>
            </a:solidFill>
          </a:ln>
        </p:spPr>
        <p:txBody>
          <a:bodyPr wrap="none" rtlCol="1">
            <a:spAutoFit/>
          </a:bodyPr>
          <a:lstStyle/>
          <a:p>
            <a:pPr algn="r" rtl="1"/>
            <a:r>
              <a:rPr lang="he-IL" b="1" dirty="0"/>
              <a:t>המקווה סגור בהוראת ד"ר הלל</a:t>
            </a:r>
          </a:p>
          <a:p>
            <a:pPr algn="r" rtl="1"/>
            <a:r>
              <a:rPr lang="he-IL" b="1" dirty="0"/>
              <a:t>יפה </a:t>
            </a:r>
            <a:r>
              <a:rPr lang="he-IL" b="1" dirty="0" err="1"/>
              <a:t>מזכרון</a:t>
            </a:r>
            <a:r>
              <a:rPr lang="he-IL" b="1" dirty="0"/>
              <a:t>, כי תגביר את המלריה.</a:t>
            </a:r>
          </a:p>
          <a:p>
            <a:pPr algn="r" rtl="1"/>
            <a:r>
              <a:rPr lang="he-IL" b="1" dirty="0"/>
              <a:t>הרב קוק: עוד הלילה אשלח אגרת.</a:t>
            </a:r>
          </a:p>
          <a:p>
            <a:pPr algn="r" rtl="1"/>
            <a:endParaRPr lang="he-IL" b="1" dirty="0"/>
          </a:p>
          <a:p>
            <a:pPr algn="r" rtl="1"/>
            <a:r>
              <a:rPr lang="he-IL" b="1" dirty="0">
                <a:solidFill>
                  <a:srgbClr val="FF0000"/>
                </a:solidFill>
              </a:rPr>
              <a:t>י' שבט </a:t>
            </a:r>
            <a:r>
              <a:rPr lang="he-IL" b="1" dirty="0">
                <a:solidFill>
                  <a:schemeClr val="tx1"/>
                </a:solidFill>
              </a:rPr>
              <a:t>כתב לרב הורוביץ: </a:t>
            </a:r>
            <a:r>
              <a:rPr lang="he-IL" b="1" dirty="0"/>
              <a:t>הסכים </a:t>
            </a:r>
          </a:p>
          <a:p>
            <a:pPr algn="r" rtl="1"/>
            <a:r>
              <a:rPr lang="he-IL" b="1" dirty="0"/>
              <a:t>בהשגחתו.  (</a:t>
            </a:r>
            <a:r>
              <a:rPr lang="he-IL" b="1" dirty="0" err="1"/>
              <a:t>אג"ר</a:t>
            </a:r>
            <a:r>
              <a:rPr lang="he-IL" b="1" dirty="0"/>
              <a:t> ב' תרנו,  רעב)</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8597326-EE68-1420-B60B-01436EAB67AE}"/>
              </a:ext>
            </a:extLst>
          </p:cNvPr>
          <p:cNvPicPr>
            <a:picLocks noChangeAspect="1"/>
          </p:cNvPicPr>
          <p:nvPr/>
        </p:nvPicPr>
        <p:blipFill>
          <a:blip r:embed="rId2"/>
          <a:stretch>
            <a:fillRect/>
          </a:stretch>
        </p:blipFill>
        <p:spPr>
          <a:xfrm>
            <a:off x="271462" y="836712"/>
            <a:ext cx="8601075" cy="4524375"/>
          </a:xfrm>
          <a:prstGeom prst="rect">
            <a:avLst/>
          </a:prstGeom>
          <a:ln w="38100">
            <a:solidFill>
              <a:srgbClr val="FF0000"/>
            </a:solidFill>
          </a:ln>
        </p:spPr>
      </p:pic>
    </p:spTree>
    <p:extLst>
      <p:ext uri="{BB962C8B-B14F-4D97-AF65-F5344CB8AC3E}">
        <p14:creationId xmlns:p14="http://schemas.microsoft.com/office/powerpoint/2010/main" val="3884198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3861048"/>
            <a:ext cx="2404840" cy="2718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r="9136"/>
          <a:stretch>
            <a:fillRect/>
          </a:stretch>
        </p:blipFill>
        <p:spPr bwMode="auto">
          <a:xfrm>
            <a:off x="1187625" y="764704"/>
            <a:ext cx="3816424" cy="2795710"/>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6" y="836716"/>
            <a:ext cx="1573213" cy="2414587"/>
          </a:xfrm>
          <a:prstGeom prst="rect">
            <a:avLst/>
          </a:prstGeom>
          <a:noFill/>
          <a:ln w="9525">
            <a:solidFill>
              <a:srgbClr val="2217F5"/>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571289" y="3664102"/>
            <a:ext cx="3259226" cy="307777"/>
          </a:xfrm>
          <a:prstGeom prst="rect">
            <a:avLst/>
          </a:prstGeom>
          <a:noFill/>
        </p:spPr>
        <p:txBody>
          <a:bodyPr wrap="none" rtlCol="1">
            <a:spAutoFit/>
          </a:bodyPr>
          <a:lstStyle/>
          <a:p>
            <a:r>
              <a:rPr lang="he-IL" b="1" dirty="0"/>
              <a:t>חוות ניסיונות של האגרונום אהרון אהרונסון</a:t>
            </a:r>
          </a:p>
        </p:txBody>
      </p:sp>
      <p:pic>
        <p:nvPicPr>
          <p:cNvPr id="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5762445"/>
            <a:ext cx="1428750"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2051720" y="143689"/>
            <a:ext cx="5291833" cy="369332"/>
          </a:xfrm>
          <a:prstGeom prst="rect">
            <a:avLst/>
          </a:prstGeom>
          <a:solidFill>
            <a:srgbClr val="FFFF00"/>
          </a:solidFill>
          <a:ln w="12700">
            <a:solidFill>
              <a:schemeClr val="tx1"/>
            </a:solidFill>
          </a:ln>
        </p:spPr>
        <p:txBody>
          <a:bodyPr wrap="none" rtlCol="1">
            <a:spAutoFit/>
          </a:bodyPr>
          <a:lstStyle/>
          <a:p>
            <a:r>
              <a:rPr lang="he-IL" sz="1800" b="1" dirty="0"/>
              <a:t>חוות הניסיונות של אהרון אהרונסון – </a:t>
            </a:r>
            <a:r>
              <a:rPr lang="he-IL" sz="1800" b="1" dirty="0">
                <a:solidFill>
                  <a:srgbClr val="FF0000"/>
                </a:solidFill>
              </a:rPr>
              <a:t>יום ב', כ"ד בחשון </a:t>
            </a:r>
          </a:p>
        </p:txBody>
      </p:sp>
      <p:sp>
        <p:nvSpPr>
          <p:cNvPr id="8" name="TextBox 7"/>
          <p:cNvSpPr txBox="1"/>
          <p:nvPr/>
        </p:nvSpPr>
        <p:spPr>
          <a:xfrm>
            <a:off x="8172400" y="232135"/>
            <a:ext cx="702436" cy="338554"/>
          </a:xfrm>
          <a:prstGeom prst="rect">
            <a:avLst/>
          </a:prstGeom>
          <a:solidFill>
            <a:srgbClr val="76E3FF"/>
          </a:solidFill>
          <a:ln>
            <a:solidFill>
              <a:schemeClr val="tx1"/>
            </a:solidFill>
          </a:ln>
        </p:spPr>
        <p:txBody>
          <a:bodyPr wrap="none" rtlCol="1">
            <a:spAutoFit/>
          </a:bodyPr>
          <a:lstStyle/>
          <a:p>
            <a:r>
              <a:rPr lang="he-IL" sz="1600" b="1" dirty="0"/>
              <a:t>בבוקר</a:t>
            </a:r>
          </a:p>
        </p:txBody>
      </p:sp>
      <p:sp>
        <p:nvSpPr>
          <p:cNvPr id="9" name="TextBox 8"/>
          <p:cNvSpPr txBox="1"/>
          <p:nvPr/>
        </p:nvSpPr>
        <p:spPr>
          <a:xfrm>
            <a:off x="6372200" y="3284984"/>
            <a:ext cx="1277914" cy="307777"/>
          </a:xfrm>
          <a:prstGeom prst="rect">
            <a:avLst/>
          </a:prstGeom>
          <a:noFill/>
        </p:spPr>
        <p:txBody>
          <a:bodyPr wrap="none" rtlCol="1">
            <a:spAutoFit/>
          </a:bodyPr>
          <a:lstStyle/>
          <a:p>
            <a:pPr algn="r" rtl="1"/>
            <a:r>
              <a:rPr lang="he-IL" b="1" dirty="0"/>
              <a:t>אהרון אהרונסון</a:t>
            </a:r>
            <a:endParaRPr lang="he-IL" dirty="0"/>
          </a:p>
        </p:txBody>
      </p:sp>
      <p:sp>
        <p:nvSpPr>
          <p:cNvPr id="10" name="TextBox 9"/>
          <p:cNvSpPr txBox="1"/>
          <p:nvPr/>
        </p:nvSpPr>
        <p:spPr>
          <a:xfrm>
            <a:off x="1331640" y="4181429"/>
            <a:ext cx="3738524" cy="1169551"/>
          </a:xfrm>
          <a:prstGeom prst="rect">
            <a:avLst/>
          </a:prstGeom>
          <a:noFill/>
          <a:ln>
            <a:solidFill>
              <a:srgbClr val="2217F5"/>
            </a:solidFill>
          </a:ln>
        </p:spPr>
        <p:txBody>
          <a:bodyPr wrap="none" rtlCol="1">
            <a:spAutoFit/>
          </a:bodyPr>
          <a:lstStyle/>
          <a:p>
            <a:pPr algn="r" rtl="1"/>
            <a:r>
              <a:rPr lang="he-IL" b="1" dirty="0"/>
              <a:t>סגנו הסכים בכתב להפרשת תרומות ומעשרות .</a:t>
            </a:r>
          </a:p>
          <a:p>
            <a:pPr algn="r" rtl="1"/>
            <a:r>
              <a:rPr lang="he-IL" b="1" dirty="0"/>
              <a:t>הרב </a:t>
            </a:r>
            <a:r>
              <a:rPr lang="he-IL" b="1" dirty="0" err="1"/>
              <a:t>יאדלר</a:t>
            </a:r>
            <a:r>
              <a:rPr lang="he-IL" b="1" dirty="0"/>
              <a:t> מפריש </a:t>
            </a:r>
            <a:r>
              <a:rPr lang="he-IL" b="1" dirty="0" err="1"/>
              <a:t>תו"מ</a:t>
            </a:r>
            <a:r>
              <a:rPr lang="he-IL" b="1" dirty="0"/>
              <a:t> נותן לרב קוק</a:t>
            </a:r>
          </a:p>
          <a:p>
            <a:pPr algn="r" rtl="1"/>
            <a:r>
              <a:rPr lang="he-IL" b="1" dirty="0"/>
              <a:t>פסק: למכור התרומה בזול </a:t>
            </a:r>
            <a:r>
              <a:rPr lang="he-IL" b="1" dirty="0" err="1"/>
              <a:t>לכהנים</a:t>
            </a:r>
            <a:r>
              <a:rPr lang="he-IL" b="1" dirty="0"/>
              <a:t> והם יאכילו בה </a:t>
            </a:r>
          </a:p>
          <a:p>
            <a:pPr algn="r" rtl="1"/>
            <a:r>
              <a:rPr lang="he-IL" b="1" dirty="0"/>
              <a:t>את הבהמות.</a:t>
            </a:r>
          </a:p>
          <a:p>
            <a:pPr algn="r" rtl="1"/>
            <a:r>
              <a:rPr lang="he-IL" b="1" dirty="0"/>
              <a:t>תרומת-מעשר נשלחה לכהן </a:t>
            </a:r>
            <a:r>
              <a:rPr lang="he-IL" b="1" dirty="0" err="1"/>
              <a:t>ב'תרומיה</a:t>
            </a:r>
            <a:r>
              <a:rPr lang="he-IL" b="1" dirty="0"/>
              <a:t>'.</a:t>
            </a:r>
          </a:p>
        </p:txBody>
      </p:sp>
    </p:spTree>
    <p:extLst>
      <p:ext uri="{BB962C8B-B14F-4D97-AF65-F5344CB8AC3E}">
        <p14:creationId xmlns:p14="http://schemas.microsoft.com/office/powerpoint/2010/main" val="3249023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http://www.nelech.co.il/Info/Track/TrackImages/2_e1c12838-faff-4523-9a85-cae53fa2867f.JPG"/>
          <p:cNvPicPr>
            <a:picLocks noChangeAspect="1" noChangeArrowheads="1"/>
          </p:cNvPicPr>
          <p:nvPr/>
        </p:nvPicPr>
        <p:blipFill>
          <a:blip r:embed="rId2"/>
          <a:srcRect/>
          <a:stretch>
            <a:fillRect/>
          </a:stretch>
        </p:blipFill>
        <p:spPr bwMode="auto">
          <a:xfrm>
            <a:off x="683568" y="836712"/>
            <a:ext cx="3167074" cy="2375306"/>
          </a:xfrm>
          <a:prstGeom prst="rect">
            <a:avLst/>
          </a:prstGeom>
          <a:noFill/>
          <a:ln w="38100">
            <a:solidFill>
              <a:srgbClr val="FF0000"/>
            </a:solidFill>
          </a:ln>
        </p:spPr>
      </p:pic>
      <p:pic>
        <p:nvPicPr>
          <p:cNvPr id="5" name="Picture 2" descr="page image"/>
          <p:cNvPicPr>
            <a:picLocks noChangeAspect="1" noChangeArrowheads="1"/>
          </p:cNvPicPr>
          <p:nvPr/>
        </p:nvPicPr>
        <p:blipFill>
          <a:blip r:embed="rId3"/>
          <a:srcRect l="12473" t="43500" r="62053" b="35500"/>
          <a:stretch>
            <a:fillRect/>
          </a:stretch>
        </p:blipFill>
        <p:spPr bwMode="auto">
          <a:xfrm>
            <a:off x="5004048" y="836712"/>
            <a:ext cx="1397574" cy="1714512"/>
          </a:xfrm>
          <a:prstGeom prst="rect">
            <a:avLst/>
          </a:prstGeom>
          <a:noFill/>
          <a:ln w="38100">
            <a:solidFill>
              <a:srgbClr val="2217F5"/>
            </a:solidFill>
          </a:ln>
        </p:spPr>
      </p:pic>
      <p:sp>
        <p:nvSpPr>
          <p:cNvPr id="6" name="TextBox 5"/>
          <p:cNvSpPr txBox="1"/>
          <p:nvPr/>
        </p:nvSpPr>
        <p:spPr>
          <a:xfrm>
            <a:off x="5038965" y="2584776"/>
            <a:ext cx="1383712" cy="738664"/>
          </a:xfrm>
          <a:prstGeom prst="rect">
            <a:avLst/>
          </a:prstGeom>
          <a:noFill/>
          <a:ln w="38100">
            <a:noFill/>
          </a:ln>
        </p:spPr>
        <p:txBody>
          <a:bodyPr wrap="none" rtlCol="1">
            <a:spAutoFit/>
          </a:bodyPr>
          <a:lstStyle/>
          <a:p>
            <a:pPr algn="r" rtl="1"/>
            <a:r>
              <a:rPr lang="he-IL" b="1" dirty="0"/>
              <a:t>הרב ברוך מרכוס</a:t>
            </a:r>
          </a:p>
          <a:p>
            <a:pPr algn="r" rtl="1"/>
            <a:r>
              <a:rPr lang="he-IL" b="1" dirty="0"/>
              <a:t>  רבה של חיפה</a:t>
            </a:r>
          </a:p>
          <a:p>
            <a:pPr algn="r" rtl="1"/>
            <a:r>
              <a:rPr lang="he-IL" b="1" dirty="0"/>
              <a:t> הצטרף למסע</a:t>
            </a:r>
          </a:p>
        </p:txBody>
      </p:sp>
      <p:sp>
        <p:nvSpPr>
          <p:cNvPr id="3" name="TextBox 2"/>
          <p:cNvSpPr txBox="1"/>
          <p:nvPr/>
        </p:nvSpPr>
        <p:spPr>
          <a:xfrm>
            <a:off x="3340583" y="107340"/>
            <a:ext cx="2549095" cy="369332"/>
          </a:xfrm>
          <a:prstGeom prst="rect">
            <a:avLst/>
          </a:prstGeom>
          <a:solidFill>
            <a:srgbClr val="FFFF00"/>
          </a:solidFill>
          <a:ln w="12700">
            <a:solidFill>
              <a:schemeClr val="tx1"/>
            </a:solidFill>
          </a:ln>
        </p:spPr>
        <p:txBody>
          <a:bodyPr wrap="none" rtlCol="1">
            <a:spAutoFit/>
          </a:bodyPr>
          <a:lstStyle/>
          <a:p>
            <a:r>
              <a:rPr lang="he-IL" sz="1800" b="1" dirty="0"/>
              <a:t>חיפה – </a:t>
            </a:r>
            <a:r>
              <a:rPr lang="he-IL" sz="1800" b="1" dirty="0">
                <a:solidFill>
                  <a:srgbClr val="FF0000"/>
                </a:solidFill>
              </a:rPr>
              <a:t>יום ב', כ"ד בחשון</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5153" y="1052736"/>
            <a:ext cx="792087" cy="1205970"/>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pic>
        <p:nvPicPr>
          <p:cNvPr id="5123"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1886" t="4362" r="4097" b="5858"/>
          <a:stretch/>
        </p:blipFill>
        <p:spPr bwMode="auto">
          <a:xfrm>
            <a:off x="4788025" y="4077076"/>
            <a:ext cx="3706010" cy="2251663"/>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3933060"/>
            <a:ext cx="3240360" cy="2434899"/>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150151" y="3284984"/>
            <a:ext cx="3772186" cy="307777"/>
          </a:xfrm>
          <a:prstGeom prst="rect">
            <a:avLst/>
          </a:prstGeom>
          <a:noFill/>
        </p:spPr>
        <p:txBody>
          <a:bodyPr wrap="none" rtlCol="1">
            <a:spAutoFit/>
          </a:bodyPr>
          <a:lstStyle/>
          <a:p>
            <a:pPr algn="r" rtl="1"/>
            <a:r>
              <a:rPr lang="he-IL" b="1" dirty="0"/>
              <a:t>תפילת מנחה במערת אליהו, פזמון 'אליהו הנביא', </a:t>
            </a:r>
          </a:p>
        </p:txBody>
      </p:sp>
      <p:sp>
        <p:nvSpPr>
          <p:cNvPr id="10" name="TextBox 9"/>
          <p:cNvSpPr txBox="1"/>
          <p:nvPr/>
        </p:nvSpPr>
        <p:spPr>
          <a:xfrm>
            <a:off x="7684770" y="182264"/>
            <a:ext cx="1184940" cy="369332"/>
          </a:xfrm>
          <a:prstGeom prst="rect">
            <a:avLst/>
          </a:prstGeom>
          <a:solidFill>
            <a:srgbClr val="76E3FF"/>
          </a:solidFill>
          <a:ln>
            <a:solidFill>
              <a:schemeClr val="tx1"/>
            </a:solidFill>
          </a:ln>
        </p:spPr>
        <p:txBody>
          <a:bodyPr wrap="none" rtlCol="1">
            <a:spAutoFit/>
          </a:bodyPr>
          <a:lstStyle/>
          <a:p>
            <a:r>
              <a:rPr lang="he-IL" sz="1800" b="1" dirty="0"/>
              <a:t>לפנות </a:t>
            </a:r>
            <a:r>
              <a:rPr lang="he-IL" sz="1600" b="1" dirty="0"/>
              <a:t>ערב</a:t>
            </a:r>
          </a:p>
        </p:txBody>
      </p:sp>
      <p:sp>
        <p:nvSpPr>
          <p:cNvPr id="11" name="TextBox 10"/>
          <p:cNvSpPr txBox="1"/>
          <p:nvPr/>
        </p:nvSpPr>
        <p:spPr>
          <a:xfrm>
            <a:off x="4163084" y="3356992"/>
            <a:ext cx="4519186" cy="523220"/>
          </a:xfrm>
          <a:prstGeom prst="rect">
            <a:avLst/>
          </a:prstGeom>
          <a:noFill/>
          <a:ln>
            <a:solidFill>
              <a:srgbClr val="2217F5"/>
            </a:solidFill>
          </a:ln>
        </p:spPr>
        <p:txBody>
          <a:bodyPr wrap="none" rtlCol="1">
            <a:spAutoFit/>
          </a:bodyPr>
          <a:lstStyle/>
          <a:p>
            <a:pPr algn="r" rtl="1"/>
            <a:r>
              <a:rPr lang="he-IL" b="1" dirty="0"/>
              <a:t>במלון, הרב קוק דרש: </a:t>
            </a:r>
            <a:r>
              <a:rPr lang="he-IL" b="1" dirty="0">
                <a:solidFill>
                  <a:srgbClr val="FF0000"/>
                </a:solidFill>
              </a:rPr>
              <a:t>ההבדל בין קדושת ערים לכפרים בא"י.</a:t>
            </a:r>
          </a:p>
          <a:p>
            <a:pPr algn="r" rtl="1"/>
            <a:r>
              <a:rPr lang="he-IL" b="1" dirty="0"/>
              <a:t>בבית הרב מרכוס: </a:t>
            </a:r>
            <a:r>
              <a:rPr lang="he-IL" b="1" dirty="0">
                <a:solidFill>
                  <a:srgbClr val="FF0000"/>
                </a:solidFill>
              </a:rPr>
              <a:t>דרש על שני ס"ת של המלך.</a:t>
            </a:r>
          </a:p>
        </p:txBody>
      </p:sp>
      <p:sp>
        <p:nvSpPr>
          <p:cNvPr id="12" name="TextBox 11"/>
          <p:cNvSpPr txBox="1"/>
          <p:nvPr/>
        </p:nvSpPr>
        <p:spPr>
          <a:xfrm>
            <a:off x="5540333" y="6367959"/>
            <a:ext cx="2600392" cy="307777"/>
          </a:xfrm>
          <a:prstGeom prst="rect">
            <a:avLst/>
          </a:prstGeom>
          <a:noFill/>
        </p:spPr>
        <p:txBody>
          <a:bodyPr wrap="none" rtlCol="1">
            <a:spAutoFit/>
          </a:bodyPr>
          <a:lstStyle/>
          <a:p>
            <a:pPr algn="r" rtl="1"/>
            <a:r>
              <a:rPr lang="he-IL" b="1" dirty="0"/>
              <a:t>24.000 תושבים, רק 4000 יהודים</a:t>
            </a:r>
          </a:p>
        </p:txBody>
      </p:sp>
      <p:sp>
        <p:nvSpPr>
          <p:cNvPr id="13" name="TextBox 12"/>
          <p:cNvSpPr txBox="1"/>
          <p:nvPr/>
        </p:nvSpPr>
        <p:spPr>
          <a:xfrm>
            <a:off x="1187623" y="6453340"/>
            <a:ext cx="2416046" cy="307777"/>
          </a:xfrm>
          <a:prstGeom prst="rect">
            <a:avLst/>
          </a:prstGeom>
          <a:noFill/>
        </p:spPr>
        <p:txBody>
          <a:bodyPr wrap="none" rtlCol="1">
            <a:spAutoFit/>
          </a:bodyPr>
          <a:lstStyle/>
          <a:p>
            <a:r>
              <a:rPr lang="he-IL" b="1" dirty="0"/>
              <a:t>270.000 תושבים, 80% יהודים</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l="2249" r="242" b="10427"/>
          <a:stretch>
            <a:fillRect/>
          </a:stretch>
        </p:blipFill>
        <p:spPr bwMode="auto">
          <a:xfrm>
            <a:off x="4855492" y="4005064"/>
            <a:ext cx="4128521" cy="2592288"/>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9" y="3919194"/>
            <a:ext cx="4248472" cy="2678158"/>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1198" y="188640"/>
            <a:ext cx="4968552" cy="2670596"/>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1547664" y="3094354"/>
            <a:ext cx="5607625" cy="523220"/>
          </a:xfrm>
          <a:prstGeom prst="rect">
            <a:avLst/>
          </a:prstGeom>
          <a:noFill/>
          <a:ln>
            <a:solidFill>
              <a:srgbClr val="2217F5"/>
            </a:solidFill>
          </a:ln>
        </p:spPr>
        <p:txBody>
          <a:bodyPr wrap="none" rtlCol="1">
            <a:spAutoFit/>
          </a:bodyPr>
          <a:lstStyle/>
          <a:p>
            <a:pPr algn="r" rtl="1"/>
            <a:r>
              <a:rPr lang="he-IL" b="1" dirty="0"/>
              <a:t>הרב מרכוס מסר לרבנים: רבה של טבריה ורוכבים </a:t>
            </a:r>
            <a:r>
              <a:rPr lang="he-IL" b="1" dirty="0" err="1"/>
              <a:t>ממסחה</a:t>
            </a:r>
            <a:r>
              <a:rPr lang="he-IL" b="1" dirty="0"/>
              <a:t> הגיעו לפני שבוע.</a:t>
            </a:r>
          </a:p>
          <a:p>
            <a:pPr algn="r" rtl="1"/>
            <a:r>
              <a:rPr lang="he-IL" b="1" dirty="0"/>
              <a:t>(מיפו נשלחה טלגרמה שהמסע נדחה במספר ימים.)</a:t>
            </a:r>
          </a:p>
        </p:txBody>
      </p:sp>
    </p:spTree>
    <p:extLst>
      <p:ext uri="{BB962C8B-B14F-4D97-AF65-F5344CB8AC3E}">
        <p14:creationId xmlns:p14="http://schemas.microsoft.com/office/powerpoint/2010/main" val="14677194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kvgeva.org.il/~info/daf/archive/1701/1701_g.files/image001.jpg"/>
          <p:cNvPicPr>
            <a:picLocks noChangeAspect="1" noChangeArrowheads="1"/>
          </p:cNvPicPr>
          <p:nvPr/>
        </p:nvPicPr>
        <p:blipFill>
          <a:blip r:embed="rId2">
            <a:extLst>
              <a:ext uri="{28A0092B-C50C-407E-A947-70E740481C1C}">
                <a14:useLocalDpi xmlns:a14="http://schemas.microsoft.com/office/drawing/2010/main" val="0"/>
              </a:ext>
            </a:extLst>
          </a:blip>
          <a:srcRect l="3706" t="5866" r="5501" b="15735"/>
          <a:stretch>
            <a:fillRect/>
          </a:stretch>
        </p:blipFill>
        <p:spPr bwMode="auto">
          <a:xfrm>
            <a:off x="539554" y="836712"/>
            <a:ext cx="3528392" cy="201622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2052" name="Picture 4" descr="http://www.kvgeva.org.il/~info/daf/archive/1701/1701_g.files/image002.jpg"/>
          <p:cNvPicPr>
            <a:picLocks noChangeAspect="1" noChangeArrowheads="1"/>
          </p:cNvPicPr>
          <p:nvPr/>
        </p:nvPicPr>
        <p:blipFill>
          <a:blip r:embed="rId3">
            <a:extLst>
              <a:ext uri="{28A0092B-C50C-407E-A947-70E740481C1C}">
                <a14:useLocalDpi xmlns:a14="http://schemas.microsoft.com/office/drawing/2010/main" val="0"/>
              </a:ext>
            </a:extLst>
          </a:blip>
          <a:srcRect l="4664" t="14066" r="4543" b="7535"/>
          <a:stretch>
            <a:fillRect/>
          </a:stretch>
        </p:blipFill>
        <p:spPr bwMode="auto">
          <a:xfrm>
            <a:off x="539554" y="3429000"/>
            <a:ext cx="3528392" cy="201622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2054" name="Picture 6" descr="http://www.kvgeva.org.il/~info/daf/archive/1701/1701_g.files/image004.jpg"/>
          <p:cNvPicPr>
            <a:picLocks noChangeAspect="1" noChangeArrowheads="1"/>
          </p:cNvPicPr>
          <p:nvPr/>
        </p:nvPicPr>
        <p:blipFill>
          <a:blip r:embed="rId4">
            <a:extLst>
              <a:ext uri="{28A0092B-C50C-407E-A947-70E740481C1C}">
                <a14:useLocalDpi xmlns:a14="http://schemas.microsoft.com/office/drawing/2010/main" val="0"/>
              </a:ext>
            </a:extLst>
          </a:blip>
          <a:srcRect l="4619" t="10358" r="4588" b="8444"/>
          <a:stretch>
            <a:fillRect/>
          </a:stretch>
        </p:blipFill>
        <p:spPr bwMode="auto">
          <a:xfrm>
            <a:off x="5076058" y="4293100"/>
            <a:ext cx="3366995" cy="1992711"/>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259635" y="5517236"/>
            <a:ext cx="2079415" cy="307777"/>
          </a:xfrm>
          <a:prstGeom prst="rect">
            <a:avLst/>
          </a:prstGeom>
          <a:noFill/>
          <a:ln w="38100">
            <a:noFill/>
          </a:ln>
        </p:spPr>
        <p:txBody>
          <a:bodyPr wrap="none" rtlCol="1">
            <a:spAutoFit/>
          </a:bodyPr>
          <a:lstStyle/>
          <a:p>
            <a:r>
              <a:rPr lang="he-IL" b="1" dirty="0"/>
              <a:t>תחנת פולה (עפולה) </a:t>
            </a:r>
            <a:r>
              <a:rPr lang="he-IL" b="1" dirty="0">
                <a:solidFill>
                  <a:srgbClr val="FF0000"/>
                </a:solidFill>
              </a:rPr>
              <a:t>1930</a:t>
            </a:r>
          </a:p>
        </p:txBody>
      </p:sp>
      <p:sp>
        <p:nvSpPr>
          <p:cNvPr id="3" name="TextBox 2"/>
          <p:cNvSpPr txBox="1"/>
          <p:nvPr/>
        </p:nvSpPr>
        <p:spPr>
          <a:xfrm>
            <a:off x="6228184" y="6370879"/>
            <a:ext cx="1438214" cy="307777"/>
          </a:xfrm>
          <a:prstGeom prst="rect">
            <a:avLst/>
          </a:prstGeom>
          <a:noFill/>
          <a:ln w="38100">
            <a:noFill/>
          </a:ln>
        </p:spPr>
        <p:txBody>
          <a:bodyPr wrap="square" rtlCol="1">
            <a:spAutoFit/>
          </a:bodyPr>
          <a:lstStyle/>
          <a:p>
            <a:r>
              <a:rPr lang="he-IL" b="1" dirty="0"/>
              <a:t>בין מרחביה לגבע</a:t>
            </a:r>
          </a:p>
        </p:txBody>
      </p:sp>
      <p:sp>
        <p:nvSpPr>
          <p:cNvPr id="4" name="TextBox 3"/>
          <p:cNvSpPr txBox="1"/>
          <p:nvPr/>
        </p:nvSpPr>
        <p:spPr>
          <a:xfrm>
            <a:off x="1835698" y="2924948"/>
            <a:ext cx="957313" cy="307777"/>
          </a:xfrm>
          <a:prstGeom prst="rect">
            <a:avLst/>
          </a:prstGeom>
          <a:noFill/>
          <a:ln w="38100">
            <a:noFill/>
          </a:ln>
        </p:spPr>
        <p:txBody>
          <a:bodyPr wrap="none" rtlCol="1">
            <a:spAutoFit/>
          </a:bodyPr>
          <a:lstStyle/>
          <a:p>
            <a:r>
              <a:rPr lang="he-IL" b="1" dirty="0"/>
              <a:t>כפר יהושע</a:t>
            </a:r>
          </a:p>
        </p:txBody>
      </p:sp>
      <p:sp>
        <p:nvSpPr>
          <p:cNvPr id="9" name="TextBox 8"/>
          <p:cNvSpPr txBox="1"/>
          <p:nvPr/>
        </p:nvSpPr>
        <p:spPr>
          <a:xfrm>
            <a:off x="3005705" y="175574"/>
            <a:ext cx="3132589" cy="369332"/>
          </a:xfrm>
          <a:prstGeom prst="rect">
            <a:avLst/>
          </a:prstGeom>
          <a:solidFill>
            <a:srgbClr val="FFFF00"/>
          </a:solidFill>
          <a:ln w="12700">
            <a:solidFill>
              <a:schemeClr val="tx1"/>
            </a:solidFill>
          </a:ln>
        </p:spPr>
        <p:txBody>
          <a:bodyPr wrap="none" rtlCol="1">
            <a:spAutoFit/>
          </a:bodyPr>
          <a:lstStyle/>
          <a:p>
            <a:r>
              <a:rPr lang="he-IL" sz="1800" b="1" dirty="0">
                <a:solidFill>
                  <a:srgbClr val="FF0000"/>
                </a:solidFill>
              </a:rPr>
              <a:t>יום ג', כ"ה בחשון</a:t>
            </a:r>
            <a:r>
              <a:rPr lang="en-US" sz="1800" b="1" dirty="0">
                <a:solidFill>
                  <a:srgbClr val="FF0000"/>
                </a:solidFill>
              </a:rPr>
              <a:t> </a:t>
            </a:r>
            <a:r>
              <a:rPr lang="en-US" sz="1800" b="1" dirty="0"/>
              <a:t>- </a:t>
            </a:r>
            <a:r>
              <a:rPr lang="he-IL" sz="1800" b="1" dirty="0"/>
              <a:t>רכבת העמק</a:t>
            </a:r>
          </a:p>
        </p:txBody>
      </p:sp>
      <p:sp>
        <p:nvSpPr>
          <p:cNvPr id="11" name="TextBox 10"/>
          <p:cNvSpPr txBox="1"/>
          <p:nvPr/>
        </p:nvSpPr>
        <p:spPr>
          <a:xfrm>
            <a:off x="4427984" y="3861048"/>
            <a:ext cx="184731" cy="338554"/>
          </a:xfrm>
          <a:prstGeom prst="rect">
            <a:avLst/>
          </a:prstGeom>
          <a:noFill/>
          <a:ln w="38100">
            <a:noFill/>
          </a:ln>
        </p:spPr>
        <p:txBody>
          <a:bodyPr wrap="none" rtlCol="1">
            <a:spAutoFit/>
          </a:bodyPr>
          <a:lstStyle/>
          <a:p>
            <a:endParaRPr lang="he-IL" sz="1600" b="1" dirty="0"/>
          </a:p>
        </p:txBody>
      </p:sp>
      <p:pic>
        <p:nvPicPr>
          <p:cNvPr id="1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8445" y="1052736"/>
            <a:ext cx="3802265" cy="280831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13" name="TextBox 12"/>
          <p:cNvSpPr txBox="1"/>
          <p:nvPr/>
        </p:nvSpPr>
        <p:spPr>
          <a:xfrm>
            <a:off x="7016812" y="186501"/>
            <a:ext cx="1920718" cy="738664"/>
          </a:xfrm>
          <a:prstGeom prst="rect">
            <a:avLst/>
          </a:prstGeom>
          <a:solidFill>
            <a:srgbClr val="FFFF00"/>
          </a:solidFill>
          <a:ln>
            <a:solidFill>
              <a:schemeClr val="tx1"/>
            </a:solidFill>
          </a:ln>
        </p:spPr>
        <p:txBody>
          <a:bodyPr wrap="none" rtlCol="1">
            <a:spAutoFit/>
          </a:bodyPr>
          <a:lstStyle/>
          <a:p>
            <a:pPr algn="r" rtl="1"/>
            <a:r>
              <a:rPr lang="he-IL" b="1" dirty="0">
                <a:solidFill>
                  <a:srgbClr val="0096D5"/>
                </a:solidFill>
              </a:rPr>
              <a:t>בבוקר – </a:t>
            </a:r>
            <a:r>
              <a:rPr lang="he-IL" b="1" dirty="0"/>
              <a:t>תפילת שחרית,</a:t>
            </a:r>
          </a:p>
          <a:p>
            <a:pPr algn="r" rtl="1"/>
            <a:r>
              <a:rPr lang="he-IL" b="1" dirty="0"/>
              <a:t>הרב קוק - ברכת כהנים </a:t>
            </a:r>
          </a:p>
          <a:p>
            <a:pPr algn="r" rtl="1"/>
            <a:r>
              <a:rPr lang="he-IL" b="1" dirty="0"/>
              <a:t>לעיני הערבים</a:t>
            </a:r>
          </a:p>
        </p:txBody>
      </p:sp>
      <p:sp>
        <p:nvSpPr>
          <p:cNvPr id="14" name="TextBox 13"/>
          <p:cNvSpPr txBox="1"/>
          <p:nvPr/>
        </p:nvSpPr>
        <p:spPr>
          <a:xfrm>
            <a:off x="5818454" y="3933057"/>
            <a:ext cx="1645002" cy="307777"/>
          </a:xfrm>
          <a:prstGeom prst="rect">
            <a:avLst/>
          </a:prstGeom>
          <a:noFill/>
        </p:spPr>
        <p:txBody>
          <a:bodyPr wrap="none" rtlCol="1">
            <a:spAutoFit/>
          </a:bodyPr>
          <a:lstStyle/>
          <a:p>
            <a:pPr algn="r" rtl="1"/>
            <a:r>
              <a:rPr lang="he-IL" b="1" dirty="0">
                <a:solidFill>
                  <a:srgbClr val="FF0000"/>
                </a:solidFill>
              </a:rPr>
              <a:t>1905</a:t>
            </a:r>
            <a:r>
              <a:rPr lang="en-US" b="1" dirty="0"/>
              <a:t> - </a:t>
            </a:r>
            <a:r>
              <a:rPr lang="he-IL" b="1" dirty="0"/>
              <a:t>החלה לפעול</a:t>
            </a:r>
          </a:p>
        </p:txBody>
      </p:sp>
      <p:sp>
        <p:nvSpPr>
          <p:cNvPr id="5" name="TextBox 4"/>
          <p:cNvSpPr txBox="1"/>
          <p:nvPr/>
        </p:nvSpPr>
        <p:spPr>
          <a:xfrm>
            <a:off x="107504" y="5939992"/>
            <a:ext cx="4814139" cy="738664"/>
          </a:xfrm>
          <a:prstGeom prst="rect">
            <a:avLst/>
          </a:prstGeom>
          <a:noFill/>
          <a:ln>
            <a:solidFill>
              <a:srgbClr val="2217F5"/>
            </a:solidFill>
          </a:ln>
        </p:spPr>
        <p:txBody>
          <a:bodyPr wrap="none" rtlCol="1">
            <a:spAutoFit/>
          </a:bodyPr>
          <a:lstStyle/>
          <a:p>
            <a:pPr algn="r" rtl="1"/>
            <a:r>
              <a:rPr lang="he-IL" b="1" dirty="0"/>
              <a:t>אחד המתין, הודיע שהגיעו, שיפצו עגלת זבל, ריפדו בקש ושקים, </a:t>
            </a:r>
          </a:p>
          <a:p>
            <a:pPr algn="r" rtl="1"/>
            <a:r>
              <a:rPr lang="he-IL" b="1" dirty="0"/>
              <a:t>המנהל </a:t>
            </a:r>
            <a:r>
              <a:rPr lang="he-IL" b="1" dirty="0" err="1"/>
              <a:t>דיק</a:t>
            </a:r>
            <a:r>
              <a:rPr lang="he-IL" b="1" dirty="0"/>
              <a:t> התנצל. הרב קוק: כבוד לנו לנסוע בעגלה של עמלים.</a:t>
            </a:r>
          </a:p>
          <a:p>
            <a:pPr algn="r" rtl="1"/>
            <a:r>
              <a:rPr lang="he-IL" b="1" dirty="0"/>
              <a:t>שרו "</a:t>
            </a:r>
            <a:r>
              <a:rPr lang="he-IL" b="1" dirty="0">
                <a:solidFill>
                  <a:srgbClr val="FF0000"/>
                </a:solidFill>
              </a:rPr>
              <a:t>יבנה הגליל יאדיר הגליל" </a:t>
            </a:r>
            <a:r>
              <a:rPr lang="he-IL" b="1" dirty="0">
                <a:solidFill>
                  <a:schemeClr val="tx1"/>
                </a:solidFill>
              </a:rPr>
              <a:t>בדמעות מרוב שמחה.</a:t>
            </a:r>
          </a:p>
        </p:txBody>
      </p:sp>
      <p:sp>
        <p:nvSpPr>
          <p:cNvPr id="15" name="אליפסה 14"/>
          <p:cNvSpPr/>
          <p:nvPr/>
        </p:nvSpPr>
        <p:spPr>
          <a:xfrm>
            <a:off x="6588225" y="2708920"/>
            <a:ext cx="144016" cy="12231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855552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מרחביה - יישוב יהודי ראשון בעמק יזרעאל, 1911. צילום: ארכיון הצילומים של קק''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187" y="3946895"/>
            <a:ext cx="3528392" cy="2434437"/>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228668" y="6381332"/>
            <a:ext cx="582211" cy="307777"/>
          </a:xfrm>
          <a:prstGeom prst="rect">
            <a:avLst/>
          </a:prstGeom>
          <a:noFill/>
          <a:ln w="38100">
            <a:noFill/>
          </a:ln>
        </p:spPr>
        <p:txBody>
          <a:bodyPr wrap="none" rtlCol="1">
            <a:spAutoFit/>
          </a:bodyPr>
          <a:lstStyle/>
          <a:p>
            <a:r>
              <a:rPr lang="en-US" b="1" dirty="0"/>
              <a:t>1911</a:t>
            </a:r>
            <a:endParaRPr lang="he-IL" b="1" dirty="0"/>
          </a:p>
        </p:txBody>
      </p:sp>
      <p:pic>
        <p:nvPicPr>
          <p:cNvPr id="4" name="Picture 14" descr="http://www.bet-alon.co.il/var/img/maps/city/thumb/map333">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9023" y="1635404"/>
            <a:ext cx="1836852" cy="165997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5" name="Picture 6" descr="http://www.ynet.co.il/PicServer2/24012010/2554771/14.jpg_wa.jpg">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b="5837"/>
          <a:stretch>
            <a:fillRect/>
          </a:stretch>
        </p:blipFill>
        <p:spPr bwMode="auto">
          <a:xfrm>
            <a:off x="5074927" y="4188228"/>
            <a:ext cx="3312368" cy="2232248"/>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6" name="Picture 4" descr="https://encrypted-tbn0.gstatic.com/images?q=tbn:ANd9GcSJ1qLZJ9Id_FnOX3GQ58BWS5RC1aLsiYt_hA3yvNoAf1JUEhil"/>
          <p:cNvPicPr>
            <a:picLocks noChangeAspect="1" noChangeArrowheads="1"/>
          </p:cNvPicPr>
          <p:nvPr/>
        </p:nvPicPr>
        <p:blipFill>
          <a:blip r:embed="rId7">
            <a:extLst>
              <a:ext uri="{28A0092B-C50C-407E-A947-70E740481C1C}">
                <a14:useLocalDpi xmlns:a14="http://schemas.microsoft.com/office/drawing/2010/main" val="0"/>
              </a:ext>
            </a:extLst>
          </a:blip>
          <a:srcRect b="9091"/>
          <a:stretch>
            <a:fillRect/>
          </a:stretch>
        </p:blipFill>
        <p:spPr bwMode="auto">
          <a:xfrm>
            <a:off x="755578" y="1196752"/>
            <a:ext cx="3743611" cy="216024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939768" y="161060"/>
            <a:ext cx="3419526" cy="369332"/>
          </a:xfrm>
          <a:prstGeom prst="rect">
            <a:avLst/>
          </a:prstGeom>
          <a:solidFill>
            <a:srgbClr val="FFFF00"/>
          </a:solidFill>
          <a:ln w="12700">
            <a:solidFill>
              <a:schemeClr val="tx1"/>
            </a:solidFill>
          </a:ln>
        </p:spPr>
        <p:txBody>
          <a:bodyPr wrap="none" rtlCol="1">
            <a:spAutoFit/>
          </a:bodyPr>
          <a:lstStyle/>
          <a:p>
            <a:r>
              <a:rPr lang="he-IL" sz="1800" b="1" dirty="0"/>
              <a:t>בחוות מרחביה – </a:t>
            </a:r>
            <a:r>
              <a:rPr lang="he-IL" sz="1800" b="1" dirty="0">
                <a:solidFill>
                  <a:srgbClr val="FF0000"/>
                </a:solidFill>
              </a:rPr>
              <a:t>יום ג', כ"ה בחשון</a:t>
            </a:r>
          </a:p>
        </p:txBody>
      </p:sp>
      <p:sp>
        <p:nvSpPr>
          <p:cNvPr id="8" name="TextBox 7"/>
          <p:cNvSpPr txBox="1"/>
          <p:nvPr/>
        </p:nvSpPr>
        <p:spPr>
          <a:xfrm>
            <a:off x="7630114" y="188640"/>
            <a:ext cx="1247457" cy="338554"/>
          </a:xfrm>
          <a:prstGeom prst="rect">
            <a:avLst/>
          </a:prstGeom>
          <a:solidFill>
            <a:srgbClr val="76E3FF"/>
          </a:solidFill>
          <a:ln>
            <a:solidFill>
              <a:schemeClr val="tx1"/>
            </a:solidFill>
          </a:ln>
        </p:spPr>
        <p:txBody>
          <a:bodyPr wrap="none" rtlCol="1">
            <a:spAutoFit/>
          </a:bodyPr>
          <a:lstStyle/>
          <a:p>
            <a:r>
              <a:rPr lang="he-IL" sz="1600" b="1" dirty="0"/>
              <a:t>לפני הצהרים</a:t>
            </a:r>
          </a:p>
        </p:txBody>
      </p:sp>
      <p:sp>
        <p:nvSpPr>
          <p:cNvPr id="3" name="TextBox 2"/>
          <p:cNvSpPr txBox="1"/>
          <p:nvPr/>
        </p:nvSpPr>
        <p:spPr>
          <a:xfrm>
            <a:off x="6109787" y="6447086"/>
            <a:ext cx="1242648" cy="307777"/>
          </a:xfrm>
          <a:prstGeom prst="rect">
            <a:avLst/>
          </a:prstGeom>
          <a:noFill/>
        </p:spPr>
        <p:txBody>
          <a:bodyPr wrap="none" rtlCol="1">
            <a:spAutoFit/>
          </a:bodyPr>
          <a:lstStyle/>
          <a:p>
            <a:r>
              <a:rPr lang="he-IL" b="1" dirty="0"/>
              <a:t>חצר </a:t>
            </a:r>
            <a:r>
              <a:rPr lang="he-IL" b="1" dirty="0" err="1"/>
              <a:t>הקופרציה</a:t>
            </a:r>
            <a:endParaRPr lang="he-IL" dirty="0"/>
          </a:p>
        </p:txBody>
      </p:sp>
      <p:sp>
        <p:nvSpPr>
          <p:cNvPr id="10" name="TextBox 9"/>
          <p:cNvSpPr txBox="1"/>
          <p:nvPr/>
        </p:nvSpPr>
        <p:spPr>
          <a:xfrm>
            <a:off x="4583007" y="713566"/>
            <a:ext cx="4394152"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1910 – </a:t>
            </a:r>
            <a:r>
              <a:rPr lang="he-IL" b="1" dirty="0"/>
              <a:t>נרכש ע"י קק"ל</a:t>
            </a:r>
          </a:p>
          <a:p>
            <a:pPr algn="r" rtl="1"/>
            <a:r>
              <a:rPr lang="he-IL" b="1" dirty="0">
                <a:solidFill>
                  <a:srgbClr val="FF0000"/>
                </a:solidFill>
              </a:rPr>
              <a:t>1910 חורף </a:t>
            </a:r>
            <a:r>
              <a:rPr lang="he-IL" b="1" dirty="0"/>
              <a:t>– המשרד הארצישראלי מראשוני חברי 'השומר'</a:t>
            </a:r>
          </a:p>
          <a:p>
            <a:pPr algn="r" rtl="1"/>
            <a:r>
              <a:rPr lang="he-IL" b="1" dirty="0">
                <a:solidFill>
                  <a:srgbClr val="FF0000"/>
                </a:solidFill>
              </a:rPr>
              <a:t>1911 – </a:t>
            </a:r>
            <a:r>
              <a:rPr lang="he-IL" b="1" dirty="0"/>
              <a:t>חווה קואופרטיבית, 60 פועלים, 50 גברים 10 נשים </a:t>
            </a:r>
          </a:p>
        </p:txBody>
      </p:sp>
      <p:sp>
        <p:nvSpPr>
          <p:cNvPr id="11" name="TextBox 10"/>
          <p:cNvSpPr txBox="1"/>
          <p:nvPr/>
        </p:nvSpPr>
        <p:spPr>
          <a:xfrm>
            <a:off x="5074927" y="3438221"/>
            <a:ext cx="3802644" cy="523220"/>
          </a:xfrm>
          <a:prstGeom prst="rect">
            <a:avLst/>
          </a:prstGeom>
          <a:solidFill>
            <a:srgbClr val="FFFF00"/>
          </a:solidFill>
          <a:ln>
            <a:solidFill>
              <a:schemeClr val="tx1"/>
            </a:solidFill>
          </a:ln>
        </p:spPr>
        <p:txBody>
          <a:bodyPr wrap="none" rtlCol="1">
            <a:spAutoFit/>
          </a:bodyPr>
          <a:lstStyle/>
          <a:p>
            <a:pPr algn="r"/>
            <a:r>
              <a:rPr lang="he-IL" b="1" dirty="0" err="1"/>
              <a:t>פרופ</a:t>
            </a:r>
            <a:r>
              <a:rPr lang="he-IL" b="1" dirty="0"/>
              <a:t>' פרנץ </a:t>
            </a:r>
            <a:r>
              <a:rPr lang="he-IL" b="1" dirty="0" err="1"/>
              <a:t>אופינהימר</a:t>
            </a:r>
            <a:r>
              <a:rPr lang="he-IL" b="1" dirty="0"/>
              <a:t> – כלכלן יהודי-גרמני</a:t>
            </a:r>
          </a:p>
          <a:p>
            <a:pPr algn="r"/>
            <a:r>
              <a:rPr lang="he-IL" b="1" dirty="0"/>
              <a:t>המצאה שלו - עבודה משותפת רווחים לפי מומחיות</a:t>
            </a:r>
          </a:p>
        </p:txBody>
      </p:sp>
      <p:sp>
        <p:nvSpPr>
          <p:cNvPr id="12" name="TextBox 11"/>
          <p:cNvSpPr txBox="1"/>
          <p:nvPr/>
        </p:nvSpPr>
        <p:spPr>
          <a:xfrm>
            <a:off x="8110443" y="1603845"/>
            <a:ext cx="827470" cy="523220"/>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1918 </a:t>
            </a:r>
            <a:r>
              <a:rPr lang="he-IL" b="1" dirty="0"/>
              <a:t>– </a:t>
            </a:r>
          </a:p>
          <a:p>
            <a:pPr algn="r" rtl="1"/>
            <a:r>
              <a:rPr lang="he-IL" b="1" dirty="0"/>
              <a:t>התפרקה</a:t>
            </a:r>
          </a:p>
        </p:txBody>
      </p:sp>
      <p:sp>
        <p:nvSpPr>
          <p:cNvPr id="13" name="TextBox 12"/>
          <p:cNvSpPr txBox="1"/>
          <p:nvPr/>
        </p:nvSpPr>
        <p:spPr>
          <a:xfrm>
            <a:off x="539554" y="188640"/>
            <a:ext cx="1808507" cy="338554"/>
          </a:xfrm>
          <a:prstGeom prst="rect">
            <a:avLst/>
          </a:prstGeom>
          <a:solidFill>
            <a:srgbClr val="2217F5"/>
          </a:solidFill>
          <a:ln>
            <a:solidFill>
              <a:schemeClr val="tx1"/>
            </a:solidFill>
          </a:ln>
        </p:spPr>
        <p:txBody>
          <a:bodyPr wrap="none" rtlCol="1">
            <a:spAutoFit/>
          </a:bodyPr>
          <a:lstStyle/>
          <a:p>
            <a:r>
              <a:rPr lang="he-IL" sz="1600" b="1" dirty="0">
                <a:solidFill>
                  <a:schemeClr val="bg1"/>
                </a:solidFill>
              </a:rPr>
              <a:t>יישוב ראשון לא דתי</a:t>
            </a:r>
          </a:p>
        </p:txBody>
      </p:sp>
    </p:spTree>
    <p:extLst>
      <p:ext uri="{BB962C8B-B14F-4D97-AF65-F5344CB8AC3E}">
        <p14:creationId xmlns:p14="http://schemas.microsoft.com/office/powerpoint/2010/main" val="23975563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05"/>
          <p:cNvSpPr/>
          <p:nvPr/>
        </p:nvSpPr>
        <p:spPr>
          <a:xfrm>
            <a:off x="4860033" y="260652"/>
            <a:ext cx="3384376" cy="2020215"/>
          </a:xfrm>
          <a:prstGeom prst="rect">
            <a:avLst/>
          </a:prstGeom>
          <a:blipFill>
            <a:blip r:embed="rId2"/>
            <a:stretch>
              <a:fillRect/>
            </a:stretch>
          </a:blipFill>
          <a:ln w="38100">
            <a:solidFill>
              <a:srgbClr val="FF0000"/>
            </a:solidFill>
          </a:ln>
        </p:spPr>
        <p:txBody>
          <a:bodyPr/>
          <a:lstStyle/>
          <a:p>
            <a:endParaRPr lang="he-IL"/>
          </a:p>
        </p:txBody>
      </p:sp>
      <p:sp>
        <p:nvSpPr>
          <p:cNvPr id="4" name="Shape 312"/>
          <p:cNvSpPr/>
          <p:nvPr/>
        </p:nvSpPr>
        <p:spPr>
          <a:xfrm>
            <a:off x="323530" y="404668"/>
            <a:ext cx="3936500" cy="1919087"/>
          </a:xfrm>
          <a:prstGeom prst="rect">
            <a:avLst/>
          </a:prstGeom>
          <a:blipFill>
            <a:blip r:embed="rId3"/>
            <a:stretch>
              <a:fillRect/>
            </a:stretch>
          </a:blipFill>
          <a:ln w="38100">
            <a:solidFill>
              <a:srgbClr val="FF0000"/>
            </a:solidFill>
          </a:ln>
        </p:spPr>
        <p:txBody>
          <a:bodyPr/>
          <a:lstStyle/>
          <a:p>
            <a:endParaRPr lang="he-IL"/>
          </a:p>
        </p:txBody>
      </p:sp>
      <p:sp>
        <p:nvSpPr>
          <p:cNvPr id="5" name="TextBox 4"/>
          <p:cNvSpPr txBox="1"/>
          <p:nvPr/>
        </p:nvSpPr>
        <p:spPr>
          <a:xfrm>
            <a:off x="1034007" y="2570739"/>
            <a:ext cx="7997702" cy="738664"/>
          </a:xfrm>
          <a:prstGeom prst="rect">
            <a:avLst/>
          </a:prstGeom>
          <a:noFill/>
          <a:ln>
            <a:solidFill>
              <a:srgbClr val="2217F5"/>
            </a:solidFill>
          </a:ln>
        </p:spPr>
        <p:txBody>
          <a:bodyPr wrap="none" rtlCol="1">
            <a:spAutoFit/>
          </a:bodyPr>
          <a:lstStyle/>
          <a:p>
            <a:pPr algn="r" rtl="1"/>
            <a:r>
              <a:rPr lang="he-IL" b="1" dirty="0"/>
              <a:t>המנהל שלמה </a:t>
            </a:r>
            <a:r>
              <a:rPr lang="he-IL" b="1" dirty="0" err="1"/>
              <a:t>דיק</a:t>
            </a:r>
            <a:r>
              <a:rPr lang="he-IL" b="1" dirty="0"/>
              <a:t> קנה וקבע 14 מזוזות בפתח משרדו, בית החולים ובית התבשיל. קנה כלים חדשים טבולים. </a:t>
            </a:r>
          </a:p>
          <a:p>
            <a:pPr algn="r" rtl="1"/>
            <a:r>
              <a:rPr lang="he-IL" b="1" dirty="0"/>
              <a:t>מאכלי חלב כשרים הוכנו ע"י האיכר ר' נח </a:t>
            </a:r>
            <a:r>
              <a:rPr lang="he-IL" b="1" dirty="0" err="1"/>
              <a:t>זברסקי</a:t>
            </a:r>
            <a:r>
              <a:rPr lang="he-IL" b="1" dirty="0"/>
              <a:t>. (התקין בית כנסת, תקע בשופר)</a:t>
            </a:r>
          </a:p>
          <a:p>
            <a:pPr algn="r" rtl="1"/>
            <a:r>
              <a:rPr lang="he-IL" b="1" dirty="0"/>
              <a:t>[כמה מניחים תפילין, מנין וצמו ביום הכיפורים. שנתיים קודם אחד נרצח, </a:t>
            </a:r>
            <a:r>
              <a:rPr lang="he-IL" b="1" dirty="0" err="1"/>
              <a:t>דיק</a:t>
            </a:r>
            <a:r>
              <a:rPr lang="he-IL" b="1" dirty="0"/>
              <a:t> ביקש לומר קדיש על קברו – מחו]</a:t>
            </a:r>
          </a:p>
        </p:txBody>
      </p:sp>
      <p:sp>
        <p:nvSpPr>
          <p:cNvPr id="6" name="TextBox 5"/>
          <p:cNvSpPr txBox="1"/>
          <p:nvPr/>
        </p:nvSpPr>
        <p:spPr>
          <a:xfrm>
            <a:off x="146643" y="1135066"/>
            <a:ext cx="8692877" cy="2062103"/>
          </a:xfrm>
          <a:prstGeom prst="rect">
            <a:avLst/>
          </a:prstGeom>
          <a:solidFill>
            <a:schemeClr val="tx1"/>
          </a:solidFill>
          <a:ln w="38100">
            <a:solidFill>
              <a:srgbClr val="FF0000"/>
            </a:solidFill>
          </a:ln>
        </p:spPr>
        <p:txBody>
          <a:bodyPr wrap="square" rtlCol="1">
            <a:spAutoFit/>
          </a:bodyPr>
          <a:lstStyle/>
          <a:p>
            <a:pPr algn="r" rtl="1"/>
            <a:r>
              <a:rPr lang="he-IL" sz="3200" b="1" dirty="0">
                <a:solidFill>
                  <a:srgbClr val="FFFF00"/>
                </a:solidFill>
              </a:rPr>
              <a:t>אחד הפועלים: "חבל על העבודה והדיבורים שלכם – פה לא תשפיעו כלום!"</a:t>
            </a:r>
          </a:p>
          <a:p>
            <a:pPr algn="r" rtl="1"/>
            <a:r>
              <a:rPr lang="he-IL" sz="3200" b="1" dirty="0">
                <a:solidFill>
                  <a:srgbClr val="FFFF00"/>
                </a:solidFill>
              </a:rPr>
              <a:t>הרב קוק: "לא באנו להשפיע, אלא להיות מושפעים</a:t>
            </a:r>
          </a:p>
          <a:p>
            <a:pPr algn="r" rtl="1"/>
            <a:r>
              <a:rPr lang="he-IL" sz="3200" b="1" dirty="0">
                <a:solidFill>
                  <a:srgbClr val="FFFF00"/>
                </a:solidFill>
              </a:rPr>
              <a:t>מהמסירות נפש שלכם!"</a:t>
            </a:r>
          </a:p>
        </p:txBody>
      </p:sp>
      <p:pic>
        <p:nvPicPr>
          <p:cNvPr id="7" name="Picture 14" descr="http://upload.wikimedia.org/wikipedia/he/8/88/Rabbi_Moshe_Kliers.jpg"/>
          <p:cNvPicPr>
            <a:picLocks noChangeAspect="1" noChangeArrowheads="1"/>
          </p:cNvPicPr>
          <p:nvPr/>
        </p:nvPicPr>
        <p:blipFill rotWithShape="1">
          <a:blip r:embed="rId4"/>
          <a:srcRect l="16768" t="1710" r="16514" b="29229"/>
          <a:stretch/>
        </p:blipFill>
        <p:spPr bwMode="auto">
          <a:xfrm>
            <a:off x="570255" y="4399495"/>
            <a:ext cx="1049417" cy="1333761"/>
          </a:xfrm>
          <a:prstGeom prst="rect">
            <a:avLst/>
          </a:prstGeom>
          <a:noFill/>
          <a:ln w="38100">
            <a:solidFill>
              <a:srgbClr val="2217F5"/>
            </a:solidFill>
          </a:ln>
        </p:spPr>
      </p:pic>
      <p:sp>
        <p:nvSpPr>
          <p:cNvPr id="8" name="TextBox 7"/>
          <p:cNvSpPr txBox="1"/>
          <p:nvPr/>
        </p:nvSpPr>
        <p:spPr>
          <a:xfrm>
            <a:off x="3109652" y="6093296"/>
            <a:ext cx="5817618" cy="523220"/>
          </a:xfrm>
          <a:prstGeom prst="rect">
            <a:avLst/>
          </a:prstGeom>
          <a:solidFill>
            <a:srgbClr val="FFFF00"/>
          </a:solidFill>
          <a:ln w="12700">
            <a:solidFill>
              <a:srgbClr val="2217F5"/>
            </a:solidFill>
          </a:ln>
        </p:spPr>
        <p:txBody>
          <a:bodyPr wrap="none" rtlCol="1">
            <a:spAutoFit/>
          </a:bodyPr>
          <a:lstStyle/>
          <a:p>
            <a:pPr algn="r" rtl="1"/>
            <a:r>
              <a:rPr lang="he-IL" b="1" dirty="0">
                <a:solidFill>
                  <a:srgbClr val="FF0000"/>
                </a:solidFill>
              </a:rPr>
              <a:t>1913 – </a:t>
            </a:r>
            <a:r>
              <a:rPr lang="he-IL" b="1" dirty="0">
                <a:solidFill>
                  <a:schemeClr val="tx1"/>
                </a:solidFill>
              </a:rPr>
              <a:t>הוקמה</a:t>
            </a:r>
            <a:r>
              <a:rPr lang="he-IL" b="1" dirty="0">
                <a:solidFill>
                  <a:srgbClr val="FF0000"/>
                </a:solidFill>
              </a:rPr>
              <a:t> </a:t>
            </a:r>
            <a:r>
              <a:rPr lang="he-IL" b="1" dirty="0"/>
              <a:t>המושבה מרחביה, סיפקה שירותים לחווה.  </a:t>
            </a:r>
          </a:p>
          <a:p>
            <a:pPr algn="r" rtl="1"/>
            <a:r>
              <a:rPr lang="he-IL" b="1" dirty="0"/>
              <a:t>3 מבניה באו לחווה, מסכימים לדרישתם, ביקשו: שוחט, מלמד, מקווה, </a:t>
            </a:r>
            <a:r>
              <a:rPr lang="he-IL" b="1" dirty="0" err="1"/>
              <a:t>ביהכנ"ס</a:t>
            </a:r>
            <a:r>
              <a:rPr lang="he-IL" b="1" dirty="0"/>
              <a:t>.</a:t>
            </a:r>
          </a:p>
        </p:txBody>
      </p:sp>
      <p:sp>
        <p:nvSpPr>
          <p:cNvPr id="9" name="TextBox 8"/>
          <p:cNvSpPr txBox="1"/>
          <p:nvPr/>
        </p:nvSpPr>
        <p:spPr>
          <a:xfrm>
            <a:off x="371555" y="5736201"/>
            <a:ext cx="1388522" cy="738664"/>
          </a:xfrm>
          <a:prstGeom prst="rect">
            <a:avLst/>
          </a:prstGeom>
          <a:noFill/>
        </p:spPr>
        <p:txBody>
          <a:bodyPr wrap="none" rtlCol="1">
            <a:spAutoFit/>
          </a:bodyPr>
          <a:lstStyle/>
          <a:p>
            <a:pPr algn="r" rtl="1"/>
            <a:r>
              <a:rPr lang="he-IL" b="1" dirty="0"/>
              <a:t>הרב משה </a:t>
            </a:r>
            <a:r>
              <a:rPr lang="he-IL" b="1" dirty="0" err="1"/>
              <a:t>קלירס</a:t>
            </a:r>
            <a:endParaRPr lang="he-IL" b="1" dirty="0"/>
          </a:p>
          <a:p>
            <a:pPr algn="r" rtl="1"/>
            <a:r>
              <a:rPr lang="he-IL" b="1" dirty="0"/>
              <a:t>רבה של טבריה</a:t>
            </a:r>
          </a:p>
          <a:p>
            <a:pPr algn="r" rtl="1"/>
            <a:r>
              <a:rPr lang="he-IL" b="1" dirty="0"/>
              <a:t>הגיע לפנות ערב</a:t>
            </a:r>
          </a:p>
        </p:txBody>
      </p:sp>
      <p:sp>
        <p:nvSpPr>
          <p:cNvPr id="10" name="TextBox 9"/>
          <p:cNvSpPr txBox="1"/>
          <p:nvPr/>
        </p:nvSpPr>
        <p:spPr>
          <a:xfrm>
            <a:off x="179450" y="3429000"/>
            <a:ext cx="1697965" cy="738664"/>
          </a:xfrm>
          <a:prstGeom prst="rect">
            <a:avLst/>
          </a:prstGeom>
          <a:noFill/>
          <a:ln w="12700">
            <a:solidFill>
              <a:srgbClr val="2217F5"/>
            </a:solidFill>
          </a:ln>
        </p:spPr>
        <p:txBody>
          <a:bodyPr wrap="none" rtlCol="1">
            <a:spAutoFit/>
          </a:bodyPr>
          <a:lstStyle/>
          <a:p>
            <a:pPr algn="r" rtl="1"/>
            <a:r>
              <a:rPr lang="he-IL" b="1" dirty="0" err="1">
                <a:solidFill>
                  <a:schemeClr val="tx1"/>
                </a:solidFill>
              </a:rPr>
              <a:t>דיק</a:t>
            </a:r>
            <a:r>
              <a:rPr lang="he-IL" b="1" dirty="0">
                <a:solidFill>
                  <a:schemeClr val="tx1"/>
                </a:solidFill>
              </a:rPr>
              <a:t> הסכים </a:t>
            </a:r>
          </a:p>
          <a:p>
            <a:pPr algn="r" rtl="1"/>
            <a:r>
              <a:rPr lang="he-IL" b="1" dirty="0" err="1">
                <a:solidFill>
                  <a:schemeClr val="tx1"/>
                </a:solidFill>
              </a:rPr>
              <a:t>לתו"מ</a:t>
            </a:r>
            <a:r>
              <a:rPr lang="he-IL" b="1" dirty="0">
                <a:solidFill>
                  <a:schemeClr val="tx1"/>
                </a:solidFill>
              </a:rPr>
              <a:t>, </a:t>
            </a:r>
            <a:r>
              <a:rPr lang="he-IL" b="1" dirty="0" err="1">
                <a:solidFill>
                  <a:schemeClr val="tx1"/>
                </a:solidFill>
              </a:rPr>
              <a:t>מקוה</a:t>
            </a:r>
            <a:r>
              <a:rPr lang="he-IL" b="1" dirty="0">
                <a:solidFill>
                  <a:schemeClr val="tx1"/>
                </a:solidFill>
              </a:rPr>
              <a:t>, כשרות</a:t>
            </a:r>
          </a:p>
          <a:p>
            <a:pPr algn="r" rtl="1"/>
            <a:r>
              <a:rPr lang="he-IL" b="1" dirty="0">
                <a:solidFill>
                  <a:schemeClr val="tx1"/>
                </a:solidFill>
              </a:rPr>
              <a:t>הרב </a:t>
            </a:r>
            <a:r>
              <a:rPr lang="he-IL" b="1" dirty="0" err="1">
                <a:solidFill>
                  <a:schemeClr val="tx1"/>
                </a:solidFill>
              </a:rPr>
              <a:t>יאדלר</a:t>
            </a:r>
            <a:r>
              <a:rPr lang="he-IL" b="1" dirty="0">
                <a:solidFill>
                  <a:schemeClr val="tx1"/>
                </a:solidFill>
              </a:rPr>
              <a:t> הפריש</a:t>
            </a:r>
          </a:p>
        </p:txBody>
      </p:sp>
      <p:sp>
        <p:nvSpPr>
          <p:cNvPr id="11" name="TextBox 10"/>
          <p:cNvSpPr txBox="1"/>
          <p:nvPr/>
        </p:nvSpPr>
        <p:spPr>
          <a:xfrm>
            <a:off x="2301918" y="3429004"/>
            <a:ext cx="6729791" cy="2462213"/>
          </a:xfrm>
          <a:prstGeom prst="rect">
            <a:avLst/>
          </a:prstGeom>
          <a:noFill/>
          <a:ln>
            <a:solidFill>
              <a:srgbClr val="2217F5"/>
            </a:solidFill>
          </a:ln>
        </p:spPr>
        <p:txBody>
          <a:bodyPr wrap="none" rtlCol="1">
            <a:spAutoFit/>
          </a:bodyPr>
          <a:lstStyle/>
          <a:p>
            <a:pPr algn="r" rtl="1"/>
            <a:r>
              <a:rPr lang="he-IL" b="1" dirty="0"/>
              <a:t>התקבלו בקרירות, בחדר האוכל דממה.</a:t>
            </a:r>
          </a:p>
          <a:p>
            <a:pPr algn="r" rtl="1"/>
            <a:r>
              <a:rPr lang="he-IL" b="1" dirty="0"/>
              <a:t>הרב קוק דיבר שעה: יש כאן נשמות גדולות עם מסירות נפש לכלל ישראל.</a:t>
            </a:r>
          </a:p>
          <a:p>
            <a:pPr algn="r" rtl="1"/>
            <a:r>
              <a:rPr lang="he-IL" b="1" dirty="0">
                <a:solidFill>
                  <a:schemeClr val="tx1"/>
                </a:solidFill>
              </a:rPr>
              <a:t>אחד הפועלים צעק: </a:t>
            </a:r>
            <a:r>
              <a:rPr lang="he-IL" b="1" dirty="0">
                <a:solidFill>
                  <a:srgbClr val="2217F5"/>
                </a:solidFill>
              </a:rPr>
              <a:t>"לי אין נשמה, את הנשמה השארתי </a:t>
            </a:r>
            <a:r>
              <a:rPr lang="he-IL" b="1" dirty="0" err="1">
                <a:solidFill>
                  <a:srgbClr val="2217F5"/>
                </a:solidFill>
              </a:rPr>
              <a:t>בסלבודקה</a:t>
            </a:r>
            <a:r>
              <a:rPr lang="he-IL" b="1" dirty="0">
                <a:solidFill>
                  <a:srgbClr val="2217F5"/>
                </a:solidFill>
              </a:rPr>
              <a:t>, השארתי מאחורי את</a:t>
            </a:r>
          </a:p>
          <a:p>
            <a:pPr algn="r" rtl="1"/>
            <a:r>
              <a:rPr lang="he-IL" b="1" dirty="0">
                <a:solidFill>
                  <a:srgbClr val="2217F5"/>
                </a:solidFill>
              </a:rPr>
              <a:t>כל המנהגים הגלותיים".</a:t>
            </a:r>
          </a:p>
          <a:p>
            <a:pPr algn="r" rtl="1"/>
            <a:r>
              <a:rPr lang="he-IL" b="1" dirty="0"/>
              <a:t>הרב קוק: </a:t>
            </a:r>
            <a:r>
              <a:rPr lang="he-IL" b="1" dirty="0">
                <a:solidFill>
                  <a:srgbClr val="FF0000"/>
                </a:solidFill>
              </a:rPr>
              <a:t>אני מאמין שאפילו אצל פושעי ישראל בוערת אש האמונה". </a:t>
            </a:r>
            <a:r>
              <a:rPr lang="he-IL" b="1" dirty="0">
                <a:solidFill>
                  <a:schemeClr val="tx1"/>
                </a:solidFill>
              </a:rPr>
              <a:t>"אשרי המאמין", ויצא.</a:t>
            </a:r>
            <a:endParaRPr lang="he-IL" b="1" dirty="0"/>
          </a:p>
          <a:p>
            <a:pPr algn="r" rtl="1"/>
            <a:r>
              <a:rPr lang="he-IL" b="1" dirty="0"/>
              <a:t>המשיך כשעה - בפעם הראשונה נוסע בעגלה של עמלים בא"י, גשר בין הפועל הצעיר לחסיד </a:t>
            </a:r>
          </a:p>
          <a:p>
            <a:pPr algn="r" rtl="1"/>
            <a:r>
              <a:rPr lang="he-IL" b="1" dirty="0"/>
              <a:t>הישן, שבח עבודת האדמה, שבת, מאכלות אסורות, מחיאות כפים סוערות.</a:t>
            </a:r>
          </a:p>
          <a:p>
            <a:pPr algn="r" rtl="1"/>
            <a:endParaRPr lang="he-IL" b="1" dirty="0"/>
          </a:p>
          <a:p>
            <a:pPr algn="r" rtl="1"/>
            <a:r>
              <a:rPr lang="he-IL" b="1" dirty="0">
                <a:solidFill>
                  <a:schemeClr val="tx1"/>
                </a:solidFill>
              </a:rPr>
              <a:t>אחד הפועלים בלשון פוגעת: </a:t>
            </a:r>
            <a:r>
              <a:rPr lang="he-IL" b="1" dirty="0">
                <a:solidFill>
                  <a:srgbClr val="FF0000"/>
                </a:solidFill>
              </a:rPr>
              <a:t>"הרבנים מחמירים בדיניהם הגלותיים".</a:t>
            </a:r>
          </a:p>
          <a:p>
            <a:pPr algn="r" rtl="1"/>
            <a:endParaRPr lang="he-IL" b="1" dirty="0"/>
          </a:p>
          <a:p>
            <a:pPr algn="r" rtl="1"/>
            <a:r>
              <a:rPr lang="he-IL" b="1" dirty="0"/>
              <a:t>אחת הבנות: </a:t>
            </a:r>
            <a:r>
              <a:rPr lang="he-IL" b="1" dirty="0">
                <a:solidFill>
                  <a:srgbClr val="FF0000"/>
                </a:solidFill>
              </a:rPr>
              <a:t>"עוד מעט תבקש שנדליק נרות", </a:t>
            </a:r>
            <a:r>
              <a:rPr lang="he-IL" b="1" dirty="0"/>
              <a:t>האריך על כך, הבטיחה להדליק!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0" fill="hold"/>
                                        <p:tgtEl>
                                          <p:spTgt spid="6"/>
                                        </p:tgtEl>
                                        <p:attrNameLst>
                                          <p:attrName>ppt_w</p:attrName>
                                        </p:attrNameLst>
                                      </p:cBhvr>
                                      <p:tavLst>
                                        <p:tav tm="0">
                                          <p:val>
                                            <p:fltVal val="0"/>
                                          </p:val>
                                        </p:tav>
                                        <p:tav tm="100000">
                                          <p:val>
                                            <p:strVal val="#ppt_w"/>
                                          </p:val>
                                        </p:tav>
                                      </p:tavLst>
                                    </p:anim>
                                    <p:anim calcmode="lin" valueType="num">
                                      <p:cBhvr>
                                        <p:cTn id="8" dur="50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fbcdn-sphotos-g-a.akamaihd.net/hphotos-ak-ash3/s720x720/575339_570658822974255_1378531532_n.jpg"/>
          <p:cNvPicPr>
            <a:picLocks noChangeAspect="1" noChangeArrowheads="1"/>
          </p:cNvPicPr>
          <p:nvPr/>
        </p:nvPicPr>
        <p:blipFill>
          <a:blip r:embed="rId2"/>
          <a:srcRect/>
          <a:stretch>
            <a:fillRect/>
          </a:stretch>
        </p:blipFill>
        <p:spPr bwMode="auto">
          <a:xfrm>
            <a:off x="440446" y="548680"/>
            <a:ext cx="3384376" cy="2538282"/>
          </a:xfrm>
          <a:prstGeom prst="rect">
            <a:avLst/>
          </a:prstGeom>
          <a:noFill/>
          <a:ln w="38100">
            <a:solidFill>
              <a:srgbClr val="FF0000"/>
            </a:solidFill>
          </a:ln>
        </p:spPr>
      </p:pic>
      <p:sp>
        <p:nvSpPr>
          <p:cNvPr id="3" name="Shape 326"/>
          <p:cNvSpPr/>
          <p:nvPr/>
        </p:nvSpPr>
        <p:spPr>
          <a:xfrm>
            <a:off x="4796579" y="4117849"/>
            <a:ext cx="4012603" cy="2414898"/>
          </a:xfrm>
          <a:prstGeom prst="rect">
            <a:avLst/>
          </a:prstGeom>
          <a:blipFill>
            <a:blip r:embed="rId3"/>
            <a:stretch>
              <a:fillRect/>
            </a:stretch>
          </a:blipFill>
          <a:ln w="38100">
            <a:solidFill>
              <a:srgbClr val="FF0000"/>
            </a:solidFill>
          </a:ln>
        </p:spPr>
        <p:txBody>
          <a:bodyPr/>
          <a:lstStyle/>
          <a:p>
            <a:endParaRPr lang="he-IL"/>
          </a:p>
        </p:txBody>
      </p:sp>
      <p:sp>
        <p:nvSpPr>
          <p:cNvPr id="4" name="Shape 284"/>
          <p:cNvSpPr/>
          <p:nvPr/>
        </p:nvSpPr>
        <p:spPr>
          <a:xfrm>
            <a:off x="440446" y="4164486"/>
            <a:ext cx="3456384" cy="2368261"/>
          </a:xfrm>
          <a:prstGeom prst="rect">
            <a:avLst/>
          </a:prstGeom>
          <a:blipFill>
            <a:blip r:embed="rId4"/>
            <a:stretch>
              <a:fillRect/>
            </a:stretch>
          </a:blipFill>
          <a:ln w="38100">
            <a:solidFill>
              <a:srgbClr val="FF0000"/>
            </a:solidFill>
          </a:ln>
        </p:spPr>
        <p:txBody>
          <a:bodyPr/>
          <a:lstStyle/>
          <a:p>
            <a:endParaRPr lang="he-IL"/>
          </a:p>
        </p:txBody>
      </p:sp>
      <p:sp>
        <p:nvSpPr>
          <p:cNvPr id="5" name="TextBox 4"/>
          <p:cNvSpPr txBox="1"/>
          <p:nvPr/>
        </p:nvSpPr>
        <p:spPr>
          <a:xfrm>
            <a:off x="6084168" y="3429003"/>
            <a:ext cx="243978" cy="307777"/>
          </a:xfrm>
          <a:prstGeom prst="rect">
            <a:avLst/>
          </a:prstGeom>
          <a:noFill/>
        </p:spPr>
        <p:txBody>
          <a:bodyPr wrap="none" rtlCol="1">
            <a:spAutoFit/>
          </a:bodyPr>
          <a:lstStyle/>
          <a:p>
            <a:pPr rtl="1"/>
            <a:r>
              <a:rPr lang="en-US" b="1" dirty="0"/>
              <a:t>-</a:t>
            </a:r>
            <a:endParaRPr lang="he-IL" b="1" dirty="0"/>
          </a:p>
        </p:txBody>
      </p:sp>
      <p:sp>
        <p:nvSpPr>
          <p:cNvPr id="6" name="TextBox 5"/>
          <p:cNvSpPr txBox="1"/>
          <p:nvPr/>
        </p:nvSpPr>
        <p:spPr>
          <a:xfrm>
            <a:off x="4203438" y="260651"/>
            <a:ext cx="4692375" cy="3323987"/>
          </a:xfrm>
          <a:prstGeom prst="rect">
            <a:avLst/>
          </a:prstGeom>
          <a:noFill/>
          <a:ln>
            <a:solidFill>
              <a:srgbClr val="2217F5"/>
            </a:solidFill>
          </a:ln>
        </p:spPr>
        <p:txBody>
          <a:bodyPr wrap="none" rtlCol="1">
            <a:spAutoFit/>
          </a:bodyPr>
          <a:lstStyle/>
          <a:p>
            <a:pPr algn="r" rtl="1"/>
            <a:r>
              <a:rPr lang="he-IL" b="1" dirty="0"/>
              <a:t>הרב </a:t>
            </a:r>
            <a:r>
              <a:rPr lang="he-IL" b="1" dirty="0" err="1"/>
              <a:t>קלירס</a:t>
            </a:r>
            <a:r>
              <a:rPr lang="he-IL" b="1" dirty="0"/>
              <a:t> סיפר: ערב קודם בדגניה נרצח משה ברסקי</a:t>
            </a:r>
          </a:p>
          <a:p>
            <a:pPr algn="r" rtl="1"/>
            <a:r>
              <a:rPr lang="he-IL" b="1" dirty="0"/>
              <a:t>(רכב למנחמיה להביא תרופה לשמואל דיין – על שמו משה דיין)</a:t>
            </a:r>
          </a:p>
          <a:p>
            <a:pPr algn="r" rtl="1"/>
            <a:r>
              <a:rPr lang="he-IL" b="1" dirty="0"/>
              <a:t>ויוסף זלצמן בשדה ליד כנרת.</a:t>
            </a:r>
          </a:p>
          <a:p>
            <a:pPr algn="r" rtl="1"/>
            <a:r>
              <a:rPr lang="he-IL" b="1" dirty="0"/>
              <a:t>נתבקשו להספידם</a:t>
            </a:r>
          </a:p>
          <a:p>
            <a:pPr algn="r" rtl="1"/>
            <a:r>
              <a:rPr lang="he-IL" b="1" dirty="0"/>
              <a:t>אחרי ערבית: </a:t>
            </a:r>
            <a:r>
              <a:rPr lang="he-IL" b="1" dirty="0">
                <a:solidFill>
                  <a:srgbClr val="FF0000"/>
                </a:solidFill>
              </a:rPr>
              <a:t>הרב </a:t>
            </a:r>
            <a:r>
              <a:rPr lang="he-IL" b="1" dirty="0" err="1">
                <a:solidFill>
                  <a:srgbClr val="FF0000"/>
                </a:solidFill>
              </a:rPr>
              <a:t>זוננפלד</a:t>
            </a:r>
            <a:r>
              <a:rPr lang="he-IL" b="1" dirty="0">
                <a:solidFill>
                  <a:srgbClr val="FF0000"/>
                </a:solidFill>
              </a:rPr>
              <a:t> – </a:t>
            </a:r>
            <a:r>
              <a:rPr lang="he-IL" b="1" dirty="0"/>
              <a:t>'</a:t>
            </a:r>
            <a:r>
              <a:rPr lang="he-IL" b="1" dirty="0">
                <a:solidFill>
                  <a:srgbClr val="FF0000"/>
                </a:solidFill>
              </a:rPr>
              <a:t>ידינו לא שפכו את הדם' </a:t>
            </a:r>
            <a:r>
              <a:rPr lang="he-IL" b="1" dirty="0">
                <a:solidFill>
                  <a:schemeClr val="tx1"/>
                </a:solidFill>
              </a:rPr>
              <a:t>[לא לוקח</a:t>
            </a:r>
            <a:endParaRPr lang="he-IL" b="1" dirty="0">
              <a:solidFill>
                <a:srgbClr val="FF0000"/>
              </a:solidFill>
            </a:endParaRPr>
          </a:p>
          <a:p>
            <a:pPr algn="r" rtl="1"/>
            <a:r>
              <a:rPr lang="he-IL" b="1" dirty="0">
                <a:solidFill>
                  <a:schemeClr val="tx1"/>
                </a:solidFill>
              </a:rPr>
              <a:t>אחריות], בכה.</a:t>
            </a:r>
            <a:r>
              <a:rPr lang="he-IL" b="1" dirty="0"/>
              <a:t> 'אב הרחמים' וקדיש.</a:t>
            </a:r>
            <a:endParaRPr lang="he-IL" b="1" dirty="0">
              <a:solidFill>
                <a:schemeClr val="tx1"/>
              </a:solidFill>
            </a:endParaRPr>
          </a:p>
          <a:p>
            <a:pPr algn="r" rtl="1"/>
            <a:r>
              <a:rPr lang="he-IL" b="1" dirty="0">
                <a:solidFill>
                  <a:srgbClr val="FF0000"/>
                </a:solidFill>
              </a:rPr>
              <a:t>הרב קוק: </a:t>
            </a:r>
            <a:r>
              <a:rPr lang="he-IL" b="1" dirty="0"/>
              <a:t>ברגש גדול, שעתיים: קושי להספיד מחללי שבת, אך</a:t>
            </a:r>
          </a:p>
          <a:p>
            <a:pPr algn="r" rtl="1"/>
            <a:r>
              <a:rPr lang="he-IL" b="1" dirty="0"/>
              <a:t>קידוש ה' ומסירות נפש – עבדי ה' הגבוהים ביותר, קדושים!</a:t>
            </a:r>
          </a:p>
          <a:p>
            <a:pPr algn="r" rtl="1"/>
            <a:r>
              <a:rPr lang="he-IL" b="1" dirty="0">
                <a:solidFill>
                  <a:srgbClr val="FF0000"/>
                </a:solidFill>
              </a:rPr>
              <a:t>'כי דם עבדיו יקום', </a:t>
            </a:r>
            <a:r>
              <a:rPr lang="he-IL" b="1" dirty="0"/>
              <a:t>ביקש לכבודם: קדיש כל השנה, שבת</a:t>
            </a:r>
          </a:p>
          <a:p>
            <a:pPr algn="r" rtl="1"/>
            <a:r>
              <a:rPr lang="he-IL" b="1" dirty="0"/>
              <a:t>כשרות, דמעות.</a:t>
            </a:r>
          </a:p>
          <a:p>
            <a:pPr algn="r" rtl="1"/>
            <a:endParaRPr lang="he-IL" b="1" dirty="0"/>
          </a:p>
          <a:p>
            <a:pPr algn="r" rtl="1"/>
            <a:r>
              <a:rPr lang="he-IL" b="1" dirty="0">
                <a:solidFill>
                  <a:schemeClr val="tx1"/>
                </a:solidFill>
              </a:rPr>
              <a:t>אחד הפועלים: </a:t>
            </a:r>
            <a:r>
              <a:rPr lang="he-IL" b="1" dirty="0">
                <a:solidFill>
                  <a:srgbClr val="FF0000"/>
                </a:solidFill>
              </a:rPr>
              <a:t>מדוע החמיר בשמיטה, לעג על המצוות והרבנים.</a:t>
            </a:r>
          </a:p>
          <a:p>
            <a:pPr algn="r" rtl="1"/>
            <a:r>
              <a:rPr lang="he-IL" b="1" dirty="0" err="1">
                <a:solidFill>
                  <a:srgbClr val="FF0000"/>
                </a:solidFill>
              </a:rPr>
              <a:t>דיק</a:t>
            </a:r>
            <a:r>
              <a:rPr lang="he-IL" b="1" dirty="0">
                <a:solidFill>
                  <a:srgbClr val="FF0000"/>
                </a:solidFill>
              </a:rPr>
              <a:t> - </a:t>
            </a:r>
            <a:r>
              <a:rPr lang="he-IL" b="1" dirty="0"/>
              <a:t>כעס על הסגנון והפסיקו.</a:t>
            </a:r>
          </a:p>
          <a:p>
            <a:pPr algn="r" rtl="1"/>
            <a:r>
              <a:rPr lang="he-IL" b="1" dirty="0">
                <a:solidFill>
                  <a:srgbClr val="FF0000"/>
                </a:solidFill>
              </a:rPr>
              <a:t>פרידמן – </a:t>
            </a:r>
            <a:r>
              <a:rPr lang="he-IL" b="1" dirty="0"/>
              <a:t>מחה בפועל הביע תודת כולם, מעוניינים בתיקונים.</a:t>
            </a:r>
          </a:p>
          <a:p>
            <a:pPr algn="r" rtl="1"/>
            <a:r>
              <a:rPr lang="he-IL" b="1" dirty="0">
                <a:solidFill>
                  <a:srgbClr val="FF0000"/>
                </a:solidFill>
              </a:rPr>
              <a:t>פועל נוסף: </a:t>
            </a:r>
            <a:r>
              <a:rPr lang="he-IL" b="1" dirty="0"/>
              <a:t>לא מסכים לפרידמן.</a:t>
            </a:r>
          </a:p>
        </p:txBody>
      </p:sp>
      <p:sp>
        <p:nvSpPr>
          <p:cNvPr id="7" name="TextBox 6"/>
          <p:cNvSpPr txBox="1"/>
          <p:nvPr/>
        </p:nvSpPr>
        <p:spPr>
          <a:xfrm>
            <a:off x="1436720" y="3711223"/>
            <a:ext cx="7459093" cy="307777"/>
          </a:xfrm>
          <a:prstGeom prst="rect">
            <a:avLst/>
          </a:prstGeom>
          <a:solidFill>
            <a:srgbClr val="FFFF00"/>
          </a:solidFill>
          <a:ln>
            <a:solidFill>
              <a:schemeClr val="tx1"/>
            </a:solidFill>
          </a:ln>
        </p:spPr>
        <p:txBody>
          <a:bodyPr wrap="none" rtlCol="1">
            <a:spAutoFit/>
          </a:bodyPr>
          <a:lstStyle/>
          <a:p>
            <a:r>
              <a:rPr lang="he-IL" b="1" dirty="0"/>
              <a:t>הרבנים שאלו: למה אתם שומרים בשבת? – פיקוח נפש; למה אתם לא חולבים ע"י גוים? - ירצחו אותנו.</a:t>
            </a:r>
          </a:p>
        </p:txBody>
      </p:sp>
      <p:sp>
        <p:nvSpPr>
          <p:cNvPr id="8" name="TextBox 7"/>
          <p:cNvSpPr txBox="1"/>
          <p:nvPr/>
        </p:nvSpPr>
        <p:spPr>
          <a:xfrm>
            <a:off x="1547664" y="6518892"/>
            <a:ext cx="1361270" cy="307777"/>
          </a:xfrm>
          <a:prstGeom prst="rect">
            <a:avLst/>
          </a:prstGeom>
          <a:noFill/>
        </p:spPr>
        <p:txBody>
          <a:bodyPr wrap="none" rtlCol="1">
            <a:spAutoFit/>
          </a:bodyPr>
          <a:lstStyle/>
          <a:p>
            <a:pPr algn="r" rtl="1"/>
            <a:r>
              <a:rPr lang="he-IL" b="1" dirty="0"/>
              <a:t>הרבנים במוזיאון</a:t>
            </a:r>
          </a:p>
        </p:txBody>
      </p:sp>
      <p:sp>
        <p:nvSpPr>
          <p:cNvPr id="9" name="TextBox 8"/>
          <p:cNvSpPr txBox="1"/>
          <p:nvPr/>
        </p:nvSpPr>
        <p:spPr>
          <a:xfrm>
            <a:off x="5399458" y="6532747"/>
            <a:ext cx="3130985" cy="307777"/>
          </a:xfrm>
          <a:prstGeom prst="rect">
            <a:avLst/>
          </a:prstGeom>
          <a:noFill/>
        </p:spPr>
        <p:txBody>
          <a:bodyPr wrap="none" rtlCol="1">
            <a:spAutoFit/>
          </a:bodyPr>
          <a:lstStyle/>
          <a:p>
            <a:pPr algn="r" rtl="1"/>
            <a:r>
              <a:rPr lang="he-IL" b="1" dirty="0"/>
              <a:t>מסע רבני בתי הספר, ט"ז באלול תשע"ג </a:t>
            </a:r>
          </a:p>
        </p:txBody>
      </p:sp>
    </p:spTree>
    <p:extLst>
      <p:ext uri="{BB962C8B-B14F-4D97-AF65-F5344CB8AC3E}">
        <p14:creationId xmlns:p14="http://schemas.microsoft.com/office/powerpoint/2010/main" val="38327992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123\Documents\Scan0281.jpg"/>
          <p:cNvPicPr>
            <a:picLocks noChangeAspect="1" noChangeArrowheads="1"/>
          </p:cNvPicPr>
          <p:nvPr/>
        </p:nvPicPr>
        <p:blipFill>
          <a:blip r:embed="rId2"/>
          <a:srcRect b="4687"/>
          <a:stretch>
            <a:fillRect/>
          </a:stretch>
        </p:blipFill>
        <p:spPr bwMode="auto">
          <a:xfrm>
            <a:off x="329276" y="836712"/>
            <a:ext cx="8485451" cy="4896544"/>
          </a:xfrm>
          <a:prstGeom prst="rect">
            <a:avLst/>
          </a:prstGeom>
          <a:noFill/>
          <a:ln w="38100">
            <a:solidFill>
              <a:srgbClr val="FF0000"/>
            </a:solidFill>
          </a:ln>
        </p:spPr>
      </p:pic>
      <p:sp>
        <p:nvSpPr>
          <p:cNvPr id="3" name="TextBox 2"/>
          <p:cNvSpPr txBox="1"/>
          <p:nvPr/>
        </p:nvSpPr>
        <p:spPr>
          <a:xfrm>
            <a:off x="1540562" y="116632"/>
            <a:ext cx="6062878" cy="369332"/>
          </a:xfrm>
          <a:prstGeom prst="rect">
            <a:avLst/>
          </a:prstGeom>
          <a:solidFill>
            <a:srgbClr val="FFFF00"/>
          </a:solidFill>
          <a:ln>
            <a:solidFill>
              <a:schemeClr val="tx1"/>
            </a:solidFill>
          </a:ln>
        </p:spPr>
        <p:txBody>
          <a:bodyPr wrap="none" rtlCol="1">
            <a:spAutoFit/>
          </a:bodyPr>
          <a:lstStyle/>
          <a:p>
            <a:pPr algn="r" rtl="1"/>
            <a:r>
              <a:rPr lang="he-IL" sz="1800" b="1" dirty="0"/>
              <a:t>הרב הראשי, הרב דוד לאו, בשחזור המסע, </a:t>
            </a:r>
            <a:r>
              <a:rPr lang="he-IL" sz="1800" b="1" dirty="0">
                <a:solidFill>
                  <a:srgbClr val="FF0000"/>
                </a:solidFill>
              </a:rPr>
              <a:t>כ"ד באדר א' תשע"ד</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8" descr="http://www.ynet.co.il/PicServer2/02012008/1498573/10-h_o&amp;91;1&amp;93;.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826" y="3861048"/>
            <a:ext cx="3598168" cy="2698626"/>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6" name="Picture 2" descr="http://www.emek-tour.org.il/nhsg/touristemekYizraeldoc535.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8024" y="692696"/>
            <a:ext cx="3214710" cy="242027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5" name="Shape 347"/>
          <p:cNvSpPr/>
          <p:nvPr/>
        </p:nvSpPr>
        <p:spPr>
          <a:xfrm>
            <a:off x="4806681" y="3848450"/>
            <a:ext cx="3672978" cy="2711224"/>
          </a:xfrm>
          <a:prstGeom prst="rect">
            <a:avLst/>
          </a:prstGeom>
          <a:blipFill>
            <a:blip r:embed="rId6"/>
            <a:stretch>
              <a:fillRect/>
            </a:stretch>
          </a:blipFill>
          <a:ln w="38100">
            <a:solidFill>
              <a:srgbClr val="FF0000"/>
            </a:solidFill>
          </a:ln>
        </p:spPr>
        <p:txBody>
          <a:bodyPr/>
          <a:lstStyle/>
          <a:p>
            <a:endParaRPr lang="he-IL"/>
          </a:p>
        </p:txBody>
      </p:sp>
      <p:pic>
        <p:nvPicPr>
          <p:cNvPr id="73730" name="Picture 2" descr="http://upload.wikimedia.org/wikipedia/commons/thumb/5/50/Golda_working_in_kibbutz_Merhavia1.jpg/200px-Golda_working_in_kibbutz_Merhavia1.jpg"/>
          <p:cNvPicPr>
            <a:picLocks noChangeAspect="1" noChangeArrowheads="1"/>
          </p:cNvPicPr>
          <p:nvPr/>
        </p:nvPicPr>
        <p:blipFill>
          <a:blip r:embed="rId7"/>
          <a:srcRect/>
          <a:stretch>
            <a:fillRect/>
          </a:stretch>
        </p:blipFill>
        <p:spPr bwMode="auto">
          <a:xfrm>
            <a:off x="7798828" y="1370593"/>
            <a:ext cx="1296144" cy="1730352"/>
          </a:xfrm>
          <a:prstGeom prst="rect">
            <a:avLst/>
          </a:prstGeom>
          <a:noFill/>
          <a:ln w="38100">
            <a:solidFill>
              <a:srgbClr val="FF0000"/>
            </a:solidFill>
          </a:ln>
        </p:spPr>
      </p:pic>
      <p:pic>
        <p:nvPicPr>
          <p:cNvPr id="73736" name="Picture 8" descr="http://t2.gstatic.com/images?q=tbn:ANd9GcQFxIw4Lf0hgUwgTIsemBvvTfls99EScMMr65H7o5bbQg89xTmOXlGqCK7o"/>
          <p:cNvPicPr>
            <a:picLocks noChangeAspect="1" noChangeArrowheads="1"/>
          </p:cNvPicPr>
          <p:nvPr/>
        </p:nvPicPr>
        <p:blipFill>
          <a:blip r:embed="rId8"/>
          <a:srcRect/>
          <a:stretch>
            <a:fillRect/>
          </a:stretch>
        </p:blipFill>
        <p:spPr bwMode="auto">
          <a:xfrm>
            <a:off x="3609977" y="1628804"/>
            <a:ext cx="962025" cy="1371601"/>
          </a:xfrm>
          <a:prstGeom prst="rect">
            <a:avLst/>
          </a:prstGeom>
          <a:noFill/>
          <a:ln w="38100">
            <a:solidFill>
              <a:srgbClr val="2217F5"/>
            </a:solidFill>
          </a:ln>
        </p:spPr>
      </p:pic>
      <p:pic>
        <p:nvPicPr>
          <p:cNvPr id="8" name="Picture 2" descr="מאיר יערי"/>
          <p:cNvPicPr>
            <a:picLocks noChangeAspect="1" noChangeArrowheads="1"/>
          </p:cNvPicPr>
          <p:nvPr/>
        </p:nvPicPr>
        <p:blipFill>
          <a:blip r:embed="rId9"/>
          <a:srcRect/>
          <a:stretch>
            <a:fillRect/>
          </a:stretch>
        </p:blipFill>
        <p:spPr bwMode="auto">
          <a:xfrm>
            <a:off x="337716" y="307919"/>
            <a:ext cx="1235880" cy="1621475"/>
          </a:xfrm>
          <a:prstGeom prst="rect">
            <a:avLst/>
          </a:prstGeom>
          <a:noFill/>
          <a:ln w="38100">
            <a:solidFill>
              <a:srgbClr val="2217F5"/>
            </a:solidFill>
          </a:ln>
        </p:spPr>
      </p:pic>
      <p:pic>
        <p:nvPicPr>
          <p:cNvPr id="9"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33807" y="274165"/>
            <a:ext cx="1182284" cy="1688976"/>
          </a:xfrm>
          <a:prstGeom prst="rect">
            <a:avLst/>
          </a:prstGeom>
          <a:noFill/>
          <a:ln w="38100">
            <a:solidFill>
              <a:srgbClr val="2217F5"/>
            </a:solidFill>
          </a:ln>
          <a:extLst>
            <a:ext uri="{909E8E84-426E-40DD-AFC4-6F175D3DCCD1}">
              <a14:hiddenFill xmlns:a14="http://schemas.microsoft.com/office/drawing/2010/main">
                <a:solidFill>
                  <a:schemeClr val="accent1"/>
                </a:solidFill>
              </a14:hiddenFill>
            </a:ext>
          </a:extLst>
        </p:spPr>
      </p:pic>
      <p:pic>
        <p:nvPicPr>
          <p:cNvPr id="10" name="Picture 4" descr="http://upload.wikimedia.org/wikipedia/he/thumb/a/a7/Semel_-_Painted.png/220px-Semel_-_Painted.png"/>
          <p:cNvPicPr>
            <a:picLocks noChangeAspect="1" noChangeArrowheads="1"/>
          </p:cNvPicPr>
          <p:nvPr/>
        </p:nvPicPr>
        <p:blipFill>
          <a:blip r:embed="rId11"/>
          <a:srcRect/>
          <a:stretch>
            <a:fillRect/>
          </a:stretch>
        </p:blipFill>
        <p:spPr bwMode="auto">
          <a:xfrm>
            <a:off x="1547479" y="2445773"/>
            <a:ext cx="880014" cy="920014"/>
          </a:xfrm>
          <a:prstGeom prst="rect">
            <a:avLst/>
          </a:prstGeom>
          <a:noFill/>
          <a:ln w="38100">
            <a:solidFill>
              <a:srgbClr val="FF0000"/>
            </a:solidFill>
          </a:ln>
        </p:spPr>
      </p:pic>
      <p:sp>
        <p:nvSpPr>
          <p:cNvPr id="2" name="TextBox 1"/>
          <p:cNvSpPr txBox="1"/>
          <p:nvPr/>
        </p:nvSpPr>
        <p:spPr>
          <a:xfrm>
            <a:off x="3593850" y="3121227"/>
            <a:ext cx="1276311" cy="523220"/>
          </a:xfrm>
          <a:prstGeom prst="rect">
            <a:avLst/>
          </a:prstGeom>
          <a:noFill/>
        </p:spPr>
        <p:txBody>
          <a:bodyPr wrap="none" rtlCol="1">
            <a:spAutoFit/>
          </a:bodyPr>
          <a:lstStyle/>
          <a:p>
            <a:r>
              <a:rPr lang="he-IL" b="1" dirty="0"/>
              <a:t>גולדה מאיר</a:t>
            </a:r>
          </a:p>
          <a:p>
            <a:r>
              <a:rPr lang="he-IL" b="1" dirty="0"/>
              <a:t> ראש הממשלה</a:t>
            </a:r>
          </a:p>
        </p:txBody>
      </p:sp>
      <p:sp>
        <p:nvSpPr>
          <p:cNvPr id="3" name="TextBox 2"/>
          <p:cNvSpPr txBox="1"/>
          <p:nvPr/>
        </p:nvSpPr>
        <p:spPr>
          <a:xfrm>
            <a:off x="7858736" y="3100945"/>
            <a:ext cx="1236236" cy="307777"/>
          </a:xfrm>
          <a:prstGeom prst="rect">
            <a:avLst/>
          </a:prstGeom>
          <a:noFill/>
        </p:spPr>
        <p:txBody>
          <a:bodyPr wrap="none" rtlCol="1">
            <a:spAutoFit/>
          </a:bodyPr>
          <a:lstStyle/>
          <a:p>
            <a:pPr algn="r" rtl="1"/>
            <a:r>
              <a:rPr lang="he-IL" b="1" dirty="0"/>
              <a:t>גולדה מאירסון</a:t>
            </a:r>
          </a:p>
        </p:txBody>
      </p:sp>
      <p:sp>
        <p:nvSpPr>
          <p:cNvPr id="4" name="TextBox 3"/>
          <p:cNvSpPr txBox="1"/>
          <p:nvPr/>
        </p:nvSpPr>
        <p:spPr>
          <a:xfrm>
            <a:off x="1950511" y="2013224"/>
            <a:ext cx="1218603" cy="307777"/>
          </a:xfrm>
          <a:prstGeom prst="rect">
            <a:avLst/>
          </a:prstGeom>
          <a:noFill/>
        </p:spPr>
        <p:txBody>
          <a:bodyPr wrap="none" rtlCol="1">
            <a:spAutoFit/>
          </a:bodyPr>
          <a:lstStyle/>
          <a:p>
            <a:r>
              <a:rPr lang="he-IL" b="1" dirty="0"/>
              <a:t>ח"כ מאיר יערי</a:t>
            </a:r>
          </a:p>
        </p:txBody>
      </p:sp>
      <p:sp>
        <p:nvSpPr>
          <p:cNvPr id="7" name="TextBox 6"/>
          <p:cNvSpPr txBox="1"/>
          <p:nvPr/>
        </p:nvSpPr>
        <p:spPr>
          <a:xfrm>
            <a:off x="451739" y="1969685"/>
            <a:ext cx="1162498" cy="307777"/>
          </a:xfrm>
          <a:prstGeom prst="rect">
            <a:avLst/>
          </a:prstGeom>
          <a:noFill/>
        </p:spPr>
        <p:txBody>
          <a:bodyPr wrap="none" rtlCol="1">
            <a:spAutoFit/>
          </a:bodyPr>
          <a:lstStyle/>
          <a:p>
            <a:r>
              <a:rPr lang="he-IL" b="1" dirty="0"/>
              <a:t>ח"כ מאיר חזן</a:t>
            </a:r>
          </a:p>
        </p:txBody>
      </p:sp>
      <p:sp>
        <p:nvSpPr>
          <p:cNvPr id="11" name="TextBox 10"/>
          <p:cNvSpPr txBox="1"/>
          <p:nvPr/>
        </p:nvSpPr>
        <p:spPr>
          <a:xfrm>
            <a:off x="1152962" y="3428499"/>
            <a:ext cx="1669047" cy="307777"/>
          </a:xfrm>
          <a:prstGeom prst="rect">
            <a:avLst/>
          </a:prstGeom>
          <a:noFill/>
        </p:spPr>
        <p:txBody>
          <a:bodyPr wrap="none" rtlCol="1">
            <a:spAutoFit/>
          </a:bodyPr>
          <a:lstStyle/>
          <a:p>
            <a:r>
              <a:rPr lang="he-IL" b="1" dirty="0"/>
              <a:t>הקמת השומר הצעיר</a:t>
            </a:r>
          </a:p>
        </p:txBody>
      </p:sp>
      <p:sp>
        <p:nvSpPr>
          <p:cNvPr id="15" name="TextBox 14"/>
          <p:cNvSpPr txBox="1"/>
          <p:nvPr/>
        </p:nvSpPr>
        <p:spPr>
          <a:xfrm>
            <a:off x="6300192" y="188640"/>
            <a:ext cx="2611612" cy="338554"/>
          </a:xfrm>
          <a:prstGeom prst="rect">
            <a:avLst/>
          </a:prstGeom>
          <a:solidFill>
            <a:srgbClr val="FFFF00"/>
          </a:solidFill>
          <a:ln>
            <a:solidFill>
              <a:schemeClr val="tx1"/>
            </a:solidFill>
          </a:ln>
        </p:spPr>
        <p:txBody>
          <a:bodyPr wrap="none" rtlCol="1">
            <a:spAutoFit/>
          </a:bodyPr>
          <a:lstStyle/>
          <a:p>
            <a:r>
              <a:rPr lang="he-IL" sz="1600" b="1" dirty="0">
                <a:solidFill>
                  <a:srgbClr val="FF0000"/>
                </a:solidFill>
              </a:rPr>
              <a:t>1929 – </a:t>
            </a:r>
            <a:r>
              <a:rPr lang="he-IL" sz="1600" b="1" dirty="0"/>
              <a:t>הקמת קיבוץ מרחביה</a:t>
            </a:r>
          </a:p>
        </p:txBody>
      </p:sp>
      <p:sp>
        <p:nvSpPr>
          <p:cNvPr id="12" name="TextBox 8">
            <a:extLst>
              <a:ext uri="{FF2B5EF4-FFF2-40B4-BE49-F238E27FC236}">
                <a16:creationId xmlns:a16="http://schemas.microsoft.com/office/drawing/2014/main" id="{95E5E82D-81F4-509A-C3F6-17A3C1AD4E2A}"/>
              </a:ext>
            </a:extLst>
          </p:cNvPr>
          <p:cNvSpPr txBox="1"/>
          <p:nvPr/>
        </p:nvSpPr>
        <p:spPr>
          <a:xfrm>
            <a:off x="4932040" y="6550223"/>
            <a:ext cx="3283271" cy="307777"/>
          </a:xfrm>
          <a:prstGeom prst="rect">
            <a:avLst/>
          </a:prstGeom>
          <a:noFill/>
        </p:spPr>
        <p:txBody>
          <a:bodyPr wrap="none" rtlCol="1">
            <a:spAutoFit/>
          </a:bodyPr>
          <a:lstStyle/>
          <a:p>
            <a:pPr algn="r" rtl="1"/>
            <a:r>
              <a:rPr lang="he-IL" b="1" dirty="0"/>
              <a:t>מסע רבני בתי הספר, ט"ז באלול תשע"ג. </a:t>
            </a:r>
          </a:p>
        </p:txBody>
      </p:sp>
      <p:sp>
        <p:nvSpPr>
          <p:cNvPr id="13" name="תיבת טקסט 12">
            <a:extLst>
              <a:ext uri="{FF2B5EF4-FFF2-40B4-BE49-F238E27FC236}">
                <a16:creationId xmlns:a16="http://schemas.microsoft.com/office/drawing/2014/main" id="{6917D239-EB9E-F0FC-2C78-5A00F1A2B726}"/>
              </a:ext>
            </a:extLst>
          </p:cNvPr>
          <p:cNvSpPr txBox="1"/>
          <p:nvPr/>
        </p:nvSpPr>
        <p:spPr>
          <a:xfrm>
            <a:off x="2094620" y="6550223"/>
            <a:ext cx="481222" cy="307777"/>
          </a:xfrm>
          <a:prstGeom prst="rect">
            <a:avLst/>
          </a:prstGeom>
          <a:noFill/>
        </p:spPr>
        <p:txBody>
          <a:bodyPr wrap="none" rtlCol="1">
            <a:spAutoFit/>
          </a:bodyPr>
          <a:lstStyle/>
          <a:p>
            <a:r>
              <a:rPr lang="he-IL" b="1" dirty="0"/>
              <a:t>כיום</a:t>
            </a:r>
          </a:p>
        </p:txBody>
      </p:sp>
    </p:spTree>
    <p:extLst>
      <p:ext uri="{BB962C8B-B14F-4D97-AF65-F5344CB8AC3E}">
        <p14:creationId xmlns:p14="http://schemas.microsoft.com/office/powerpoint/2010/main" val="3619353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encrypted-tbn0.gstatic.com/images?q=tbn:ANd9GcQkjqQ5iNMIruvnF_oO9ukkOeH7c1eewAUBFDa1A8h-GFFKr_KE"/>
          <p:cNvPicPr>
            <a:picLocks noChangeAspect="1" noChangeArrowheads="1"/>
          </p:cNvPicPr>
          <p:nvPr/>
        </p:nvPicPr>
        <p:blipFill>
          <a:blip r:embed="rId2">
            <a:extLst>
              <a:ext uri="{28A0092B-C50C-407E-A947-70E740481C1C}">
                <a14:useLocalDpi xmlns:a14="http://schemas.microsoft.com/office/drawing/2010/main" val="0"/>
              </a:ext>
            </a:extLst>
          </a:blip>
          <a:srcRect l="3834"/>
          <a:stretch>
            <a:fillRect/>
          </a:stretch>
        </p:blipFill>
        <p:spPr bwMode="auto">
          <a:xfrm>
            <a:off x="755577" y="1268760"/>
            <a:ext cx="3600400" cy="249142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3088" name="Picture 16" descr="http://www.kehilanet.co.il/gallery/pictures/2011/5/12958/top.pn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l="997" t="3404" r="1263" b="1280"/>
          <a:stretch>
            <a:fillRect/>
          </a:stretch>
        </p:blipFill>
        <p:spPr bwMode="auto">
          <a:xfrm>
            <a:off x="971601" y="4293096"/>
            <a:ext cx="7056784" cy="201622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5" name="Picture 4" descr="http://upload.wikimedia.org/wikipedia/commons/8/82/PikiWiki_Israel_7620_Merhavia_fields.jpg">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040" y="1340768"/>
            <a:ext cx="3096344" cy="2322258"/>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55776" y="764704"/>
            <a:ext cx="184731" cy="338554"/>
          </a:xfrm>
          <a:prstGeom prst="rect">
            <a:avLst/>
          </a:prstGeom>
          <a:noFill/>
          <a:ln>
            <a:noFill/>
          </a:ln>
        </p:spPr>
        <p:txBody>
          <a:bodyPr wrap="none" rtlCol="1">
            <a:spAutoFit/>
          </a:bodyPr>
          <a:lstStyle/>
          <a:p>
            <a:endParaRPr lang="he-IL" sz="1600" b="1" dirty="0"/>
          </a:p>
        </p:txBody>
      </p:sp>
      <p:sp>
        <p:nvSpPr>
          <p:cNvPr id="8" name="TextBox 7"/>
          <p:cNvSpPr txBox="1"/>
          <p:nvPr/>
        </p:nvSpPr>
        <p:spPr>
          <a:xfrm>
            <a:off x="3707905" y="188640"/>
            <a:ext cx="1606529" cy="369332"/>
          </a:xfrm>
          <a:prstGeom prst="rect">
            <a:avLst/>
          </a:prstGeom>
          <a:solidFill>
            <a:srgbClr val="FFFF00"/>
          </a:solidFill>
          <a:ln>
            <a:solidFill>
              <a:schemeClr val="tx1"/>
            </a:solidFill>
          </a:ln>
        </p:spPr>
        <p:txBody>
          <a:bodyPr wrap="none" rtlCol="1">
            <a:spAutoFit/>
          </a:bodyPr>
          <a:lstStyle/>
          <a:p>
            <a:r>
              <a:rPr lang="he-IL" sz="1800" b="1" dirty="0"/>
              <a:t>יום ד', </a:t>
            </a:r>
            <a:r>
              <a:rPr lang="he-IL" sz="1800" b="1" dirty="0">
                <a:solidFill>
                  <a:srgbClr val="FF0000"/>
                </a:solidFill>
              </a:rPr>
              <a:t>כ"ו חשון</a:t>
            </a:r>
          </a:p>
        </p:txBody>
      </p:sp>
      <p:sp>
        <p:nvSpPr>
          <p:cNvPr id="9" name="TextBox 8"/>
          <p:cNvSpPr txBox="1"/>
          <p:nvPr/>
        </p:nvSpPr>
        <p:spPr>
          <a:xfrm>
            <a:off x="3977139" y="6360406"/>
            <a:ext cx="1208984" cy="307777"/>
          </a:xfrm>
          <a:prstGeom prst="rect">
            <a:avLst/>
          </a:prstGeom>
          <a:noFill/>
        </p:spPr>
        <p:txBody>
          <a:bodyPr wrap="none" rtlCol="1">
            <a:spAutoFit/>
          </a:bodyPr>
          <a:lstStyle/>
          <a:p>
            <a:r>
              <a:rPr lang="he-IL" b="1" dirty="0"/>
              <a:t>קיבוץ מרחביה</a:t>
            </a:r>
          </a:p>
        </p:txBody>
      </p:sp>
      <p:sp>
        <p:nvSpPr>
          <p:cNvPr id="10" name="TextBox 9"/>
          <p:cNvSpPr txBox="1"/>
          <p:nvPr/>
        </p:nvSpPr>
        <p:spPr>
          <a:xfrm>
            <a:off x="5769277" y="224934"/>
            <a:ext cx="3195105" cy="738664"/>
          </a:xfrm>
          <a:prstGeom prst="rect">
            <a:avLst/>
          </a:prstGeom>
          <a:noFill/>
          <a:ln>
            <a:solidFill>
              <a:srgbClr val="2217F5"/>
            </a:solidFill>
          </a:ln>
        </p:spPr>
        <p:txBody>
          <a:bodyPr wrap="none" rtlCol="1">
            <a:spAutoFit/>
          </a:bodyPr>
          <a:lstStyle/>
          <a:p>
            <a:pPr algn="r" rtl="1"/>
            <a:r>
              <a:rPr lang="he-IL" b="1" dirty="0"/>
              <a:t>אחרי סעודת שחרית הרב קוק לימד את</a:t>
            </a:r>
          </a:p>
          <a:p>
            <a:pPr algn="r" rtl="1"/>
            <a:r>
              <a:rPr lang="he-IL" b="1" dirty="0"/>
              <a:t>המבשלות הכשרת כלים, הבטיחו לשמור.</a:t>
            </a:r>
          </a:p>
          <a:p>
            <a:pPr algn="r" rtl="1"/>
            <a:r>
              <a:rPr lang="he-IL" b="1" dirty="0"/>
              <a:t>למתעניינים – הראה הפרשת </a:t>
            </a:r>
            <a:r>
              <a:rPr lang="he-IL" b="1" dirty="0" err="1"/>
              <a:t>תו"מ</a:t>
            </a:r>
            <a:r>
              <a:rPr lang="he-IL" b="1" dirty="0"/>
              <a:t>.</a:t>
            </a:r>
          </a:p>
        </p:txBody>
      </p:sp>
      <p:sp>
        <p:nvSpPr>
          <p:cNvPr id="11" name="TextBox 10"/>
          <p:cNvSpPr txBox="1"/>
          <p:nvPr/>
        </p:nvSpPr>
        <p:spPr>
          <a:xfrm>
            <a:off x="109690" y="3829573"/>
            <a:ext cx="8943883" cy="307777"/>
          </a:xfrm>
          <a:prstGeom prst="rect">
            <a:avLst/>
          </a:prstGeom>
          <a:solidFill>
            <a:srgbClr val="FFFF00"/>
          </a:solidFill>
          <a:ln>
            <a:solidFill>
              <a:schemeClr val="tx1"/>
            </a:solidFill>
          </a:ln>
        </p:spPr>
        <p:txBody>
          <a:bodyPr wrap="square" rtlCol="1">
            <a:spAutoFit/>
          </a:bodyPr>
          <a:lstStyle/>
          <a:p>
            <a:pPr algn="r" rtl="1"/>
            <a:r>
              <a:rPr lang="he-IL" b="1" dirty="0"/>
              <a:t>הרב </a:t>
            </a:r>
            <a:r>
              <a:rPr lang="he-IL" b="1" dirty="0" err="1"/>
              <a:t>חרל"פ</a:t>
            </a:r>
            <a:r>
              <a:rPr lang="he-IL" b="1" dirty="0"/>
              <a:t>: </a:t>
            </a:r>
            <a:r>
              <a:rPr lang="he-IL" b="1" dirty="0">
                <a:solidFill>
                  <a:srgbClr val="FF0000"/>
                </a:solidFill>
              </a:rPr>
              <a:t>"לבבי רק דואב שעוד מעט יאפס כסף" (הד הרים </a:t>
            </a:r>
            <a:r>
              <a:rPr lang="he-IL" b="1" dirty="0" err="1">
                <a:solidFill>
                  <a:srgbClr val="FF0000"/>
                </a:solidFill>
              </a:rPr>
              <a:t>קג</a:t>
            </a:r>
            <a:r>
              <a:rPr lang="he-IL" b="1" dirty="0">
                <a:solidFill>
                  <a:srgbClr val="FF0000"/>
                </a:solidFill>
              </a:rPr>
              <a:t>).  "רושם נפלא עשתה נסיעתנו על כל הפועלים הצעירים!"</a:t>
            </a:r>
          </a:p>
        </p:txBody>
      </p:sp>
      <p:sp>
        <p:nvSpPr>
          <p:cNvPr id="12" name="TextBox 11"/>
          <p:cNvSpPr txBox="1"/>
          <p:nvPr/>
        </p:nvSpPr>
        <p:spPr>
          <a:xfrm>
            <a:off x="197212" y="206788"/>
            <a:ext cx="3283271" cy="523220"/>
          </a:xfrm>
          <a:prstGeom prst="rect">
            <a:avLst/>
          </a:prstGeom>
          <a:solidFill>
            <a:srgbClr val="76E3FF"/>
          </a:solidFill>
          <a:ln>
            <a:solidFill>
              <a:srgbClr val="2217F5"/>
            </a:solidFill>
          </a:ln>
        </p:spPr>
        <p:txBody>
          <a:bodyPr wrap="none" rtlCol="1">
            <a:spAutoFit/>
          </a:bodyPr>
          <a:lstStyle/>
          <a:p>
            <a:pPr algn="r" rtl="1"/>
            <a:r>
              <a:rPr lang="he-IL" b="1" dirty="0">
                <a:solidFill>
                  <a:srgbClr val="FF0000"/>
                </a:solidFill>
              </a:rPr>
              <a:t>עזבו ב- 10:00</a:t>
            </a:r>
            <a:r>
              <a:rPr lang="he-IL" b="1" dirty="0"/>
              <a:t> - בשתי עגלות פשוטות, ולא </a:t>
            </a:r>
          </a:p>
          <a:p>
            <a:pPr algn="r" rtl="1"/>
            <a:r>
              <a:rPr lang="he-IL" b="1" dirty="0"/>
              <a:t>בעגלות מפוארות של גויים מנצרת. </a:t>
            </a:r>
          </a:p>
        </p:txBody>
      </p:sp>
    </p:spTree>
    <p:extLst>
      <p:ext uri="{BB962C8B-B14F-4D97-AF65-F5344CB8AC3E}">
        <p14:creationId xmlns:p14="http://schemas.microsoft.com/office/powerpoint/2010/main" val="3038275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6" y="1628804"/>
            <a:ext cx="2510366" cy="2268627"/>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l="1698" t="7317" r="1541" b="12195"/>
          <a:stretch>
            <a:fillRect/>
          </a:stretch>
        </p:blipFill>
        <p:spPr bwMode="auto">
          <a:xfrm>
            <a:off x="461120" y="994991"/>
            <a:ext cx="4104456" cy="2376264"/>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5" name="TextBox 4"/>
          <p:cNvSpPr txBox="1"/>
          <p:nvPr/>
        </p:nvSpPr>
        <p:spPr>
          <a:xfrm>
            <a:off x="2653834" y="222720"/>
            <a:ext cx="3823483" cy="369332"/>
          </a:xfrm>
          <a:prstGeom prst="rect">
            <a:avLst/>
          </a:prstGeom>
          <a:solidFill>
            <a:srgbClr val="FFFF00"/>
          </a:solidFill>
          <a:ln>
            <a:solidFill>
              <a:schemeClr val="tx1"/>
            </a:solidFill>
          </a:ln>
        </p:spPr>
        <p:txBody>
          <a:bodyPr wrap="none" rtlCol="1">
            <a:spAutoFit/>
          </a:bodyPr>
          <a:lstStyle/>
          <a:p>
            <a:r>
              <a:rPr lang="he-IL" sz="1800" b="1" dirty="0"/>
              <a:t>בכפר תבור (מסחה) – </a:t>
            </a:r>
            <a:r>
              <a:rPr lang="he-IL" sz="1800" b="1" dirty="0">
                <a:solidFill>
                  <a:srgbClr val="FF0000"/>
                </a:solidFill>
              </a:rPr>
              <a:t>יום ד', כ"ו בחשון</a:t>
            </a:r>
          </a:p>
        </p:txBody>
      </p:sp>
      <p:sp>
        <p:nvSpPr>
          <p:cNvPr id="6" name="TextBox 5"/>
          <p:cNvSpPr txBox="1"/>
          <p:nvPr/>
        </p:nvSpPr>
        <p:spPr>
          <a:xfrm>
            <a:off x="8036803" y="222720"/>
            <a:ext cx="824265" cy="338554"/>
          </a:xfrm>
          <a:prstGeom prst="rect">
            <a:avLst/>
          </a:prstGeom>
          <a:solidFill>
            <a:srgbClr val="76E3FF"/>
          </a:solidFill>
          <a:ln>
            <a:solidFill>
              <a:schemeClr val="tx1"/>
            </a:solidFill>
          </a:ln>
        </p:spPr>
        <p:txBody>
          <a:bodyPr wrap="none" rtlCol="1">
            <a:spAutoFit/>
          </a:bodyPr>
          <a:lstStyle/>
          <a:p>
            <a:r>
              <a:rPr lang="he-IL" sz="1600" b="1" dirty="0"/>
              <a:t>בצהרים</a:t>
            </a:r>
          </a:p>
        </p:txBody>
      </p:sp>
      <p:sp>
        <p:nvSpPr>
          <p:cNvPr id="7" name="TextBox 6"/>
          <p:cNvSpPr txBox="1"/>
          <p:nvPr/>
        </p:nvSpPr>
        <p:spPr>
          <a:xfrm>
            <a:off x="3338911" y="4077072"/>
            <a:ext cx="5618910" cy="2677656"/>
          </a:xfrm>
          <a:prstGeom prst="rect">
            <a:avLst/>
          </a:prstGeom>
          <a:noFill/>
          <a:ln>
            <a:solidFill>
              <a:srgbClr val="2217F5"/>
            </a:solidFill>
          </a:ln>
        </p:spPr>
        <p:txBody>
          <a:bodyPr wrap="none" rtlCol="1">
            <a:spAutoFit/>
          </a:bodyPr>
          <a:lstStyle/>
          <a:p>
            <a:pPr algn="r" rtl="1"/>
            <a:r>
              <a:rPr lang="he-IL" b="1" dirty="0"/>
              <a:t>קבלת פנים של כל בני הכפר ברח' הראשי, צעירים</a:t>
            </a:r>
          </a:p>
          <a:p>
            <a:pPr algn="r" rtl="1"/>
            <a:r>
              <a:rPr lang="he-IL" b="1" dirty="0"/>
              <a:t>על סוסים, ירו 7 יריות. </a:t>
            </a:r>
            <a:r>
              <a:rPr lang="he-IL" b="1" dirty="0">
                <a:solidFill>
                  <a:srgbClr val="FF0000"/>
                </a:solidFill>
              </a:rPr>
              <a:t>"לא ידענו שיש עוד רבנים בארץ!".</a:t>
            </a:r>
            <a:endParaRPr lang="he-IL" b="1" dirty="0"/>
          </a:p>
          <a:p>
            <a:pPr algn="r" rtl="1"/>
            <a:r>
              <a:rPr lang="he-IL" b="1" dirty="0"/>
              <a:t>אחרי מנחה –</a:t>
            </a:r>
          </a:p>
          <a:p>
            <a:pPr algn="r" rtl="1"/>
            <a:r>
              <a:rPr lang="he-IL" b="1" dirty="0"/>
              <a:t>הרב קוק דרש, הרב </a:t>
            </a:r>
            <a:r>
              <a:rPr lang="he-IL" b="1" dirty="0" err="1"/>
              <a:t>זוננפלד</a:t>
            </a:r>
            <a:r>
              <a:rPr lang="he-IL" b="1" dirty="0"/>
              <a:t> ערך אזכרה לשני הנרצחים.</a:t>
            </a:r>
          </a:p>
          <a:p>
            <a:pPr algn="r" rtl="1"/>
            <a:r>
              <a:rPr lang="he-IL" b="1" dirty="0"/>
              <a:t>חברי הועד התאוננו על בית הספר, פוחדים </a:t>
            </a:r>
            <a:r>
              <a:rPr lang="he-IL" b="1" dirty="0" err="1"/>
              <a:t>מיק"א</a:t>
            </a:r>
            <a:endParaRPr lang="he-IL" b="1" dirty="0"/>
          </a:p>
          <a:p>
            <a:pPr algn="r" rtl="1"/>
            <a:r>
              <a:rPr lang="he-IL" b="1" dirty="0">
                <a:solidFill>
                  <a:schemeClr val="tx1"/>
                </a:solidFill>
              </a:rPr>
              <a:t>הסכימו לכל הדרישות.</a:t>
            </a:r>
          </a:p>
          <a:p>
            <a:pPr algn="r" rtl="1"/>
            <a:endParaRPr lang="he-IL" b="1" dirty="0">
              <a:solidFill>
                <a:schemeClr val="tx1"/>
              </a:solidFill>
            </a:endParaRPr>
          </a:p>
          <a:p>
            <a:pPr algn="r" rtl="1"/>
            <a:r>
              <a:rPr lang="he-IL" b="1" dirty="0">
                <a:solidFill>
                  <a:schemeClr val="tx1"/>
                </a:solidFill>
              </a:rPr>
              <a:t>המורים סרבו שהתלמידים יקבלו פניהם.</a:t>
            </a:r>
          </a:p>
          <a:p>
            <a:pPr algn="r" rtl="1"/>
            <a:r>
              <a:rPr lang="he-IL" b="1" dirty="0"/>
              <a:t>דברו עם התלמידים, הם התרגשו </a:t>
            </a:r>
            <a:r>
              <a:rPr lang="he-IL" b="1" dirty="0">
                <a:solidFill>
                  <a:srgbClr val="FF0000"/>
                </a:solidFill>
              </a:rPr>
              <a:t>לא ידעו שיש רבנים בישראל.</a:t>
            </a:r>
          </a:p>
          <a:p>
            <a:pPr algn="r" rtl="1"/>
            <a:endParaRPr lang="he-IL" b="1" dirty="0">
              <a:solidFill>
                <a:srgbClr val="FF0000"/>
              </a:solidFill>
            </a:endParaRPr>
          </a:p>
          <a:p>
            <a:pPr algn="r" rtl="1"/>
            <a:r>
              <a:rPr lang="he-IL" b="1" dirty="0">
                <a:solidFill>
                  <a:srgbClr val="FF0000"/>
                </a:solidFill>
              </a:rPr>
              <a:t>ב14:00 </a:t>
            </a:r>
            <a:r>
              <a:rPr lang="he-IL" b="1" dirty="0">
                <a:solidFill>
                  <a:schemeClr val="tx1"/>
                </a:solidFill>
              </a:rPr>
              <a:t>הרב </a:t>
            </a:r>
            <a:r>
              <a:rPr lang="he-IL" b="1" dirty="0" err="1">
                <a:solidFill>
                  <a:schemeClr val="tx1"/>
                </a:solidFill>
              </a:rPr>
              <a:t>זוננפלד</a:t>
            </a:r>
            <a:r>
              <a:rPr lang="he-IL" b="1" dirty="0">
                <a:solidFill>
                  <a:schemeClr val="tx1"/>
                </a:solidFill>
              </a:rPr>
              <a:t> ש"ץ בתפילת מנחה (ברחוב), בחזרה 'תפילת הדרך'.</a:t>
            </a:r>
          </a:p>
          <a:p>
            <a:pPr algn="r" rtl="1"/>
            <a:r>
              <a:rPr lang="he-IL" b="1" dirty="0">
                <a:solidFill>
                  <a:schemeClr val="tx1"/>
                </a:solidFill>
              </a:rPr>
              <a:t>אחד האיכרים: </a:t>
            </a:r>
            <a:r>
              <a:rPr lang="he-IL" b="1" dirty="0">
                <a:solidFill>
                  <a:srgbClr val="FF0000"/>
                </a:solidFill>
              </a:rPr>
              <a:t>"זו הפעם הראשונה שאני טועם טעם אמיתי בתפילת מנחה!".</a:t>
            </a:r>
            <a:endParaRPr lang="he-IL" b="1" dirty="0">
              <a:solidFill>
                <a:schemeClr val="tx1"/>
              </a:solidFill>
            </a:endParaRPr>
          </a:p>
        </p:txBody>
      </p:sp>
      <p:sp>
        <p:nvSpPr>
          <p:cNvPr id="8" name="TextBox 7"/>
          <p:cNvSpPr txBox="1"/>
          <p:nvPr/>
        </p:nvSpPr>
        <p:spPr>
          <a:xfrm>
            <a:off x="7316196" y="980728"/>
            <a:ext cx="1404552" cy="523220"/>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1901 – </a:t>
            </a:r>
            <a:r>
              <a:rPr lang="he-IL" b="1" dirty="0"/>
              <a:t>ע"י </a:t>
            </a:r>
            <a:r>
              <a:rPr lang="he-IL" b="1" dirty="0" err="1"/>
              <a:t>יק"א</a:t>
            </a:r>
            <a:endParaRPr lang="he-IL" b="1" dirty="0"/>
          </a:p>
          <a:p>
            <a:pPr algn="r" rtl="1"/>
            <a:r>
              <a:rPr lang="he-IL" b="1" dirty="0"/>
              <a:t>36 משפחות</a:t>
            </a:r>
          </a:p>
        </p:txBody>
      </p:sp>
      <p:pic>
        <p:nvPicPr>
          <p:cNvPr id="9" name="Picture 22" descr="ksvk">
            <a:hlinkClick r:id="rId5"/>
          </p:cNvPr>
          <p:cNvPicPr>
            <a:picLocks noChangeAspect="1" noChangeArrowheads="1"/>
          </p:cNvPicPr>
          <p:nvPr/>
        </p:nvPicPr>
        <p:blipFill>
          <a:blip r:embed="rId6"/>
          <a:srcRect/>
          <a:stretch>
            <a:fillRect/>
          </a:stretch>
        </p:blipFill>
        <p:spPr bwMode="auto">
          <a:xfrm>
            <a:off x="1762879" y="6113400"/>
            <a:ext cx="719658" cy="485894"/>
          </a:xfrm>
          <a:prstGeom prst="rect">
            <a:avLst/>
          </a:prstGeom>
          <a:noFill/>
          <a:ln w="38100">
            <a:solidFill>
              <a:srgbClr val="0000FF"/>
            </a:solidFill>
            <a:miter lim="800000"/>
            <a:headEnd/>
            <a:tailEnd/>
          </a:ln>
        </p:spPr>
      </p:pic>
      <p:pic>
        <p:nvPicPr>
          <p:cNvPr id="56322" name="Picture 2" descr="http://www.bet-alon.co.il/var/img/people/8929"/>
          <p:cNvPicPr>
            <a:picLocks noChangeAspect="1" noChangeArrowheads="1"/>
          </p:cNvPicPr>
          <p:nvPr/>
        </p:nvPicPr>
        <p:blipFill>
          <a:blip r:embed="rId7"/>
          <a:srcRect/>
          <a:stretch>
            <a:fillRect/>
          </a:stretch>
        </p:blipFill>
        <p:spPr bwMode="auto">
          <a:xfrm>
            <a:off x="611349" y="3576717"/>
            <a:ext cx="3810000" cy="2381250"/>
          </a:xfrm>
          <a:prstGeom prst="rect">
            <a:avLst/>
          </a:prstGeom>
          <a:noFill/>
          <a:ln w="38100">
            <a:solidFill>
              <a:srgbClr val="FF0000"/>
            </a:solidFill>
          </a:ln>
        </p:spPr>
      </p:pic>
      <p:pic>
        <p:nvPicPr>
          <p:cNvPr id="56324" name="Picture 4" descr="Kfar Tavor COA.png"/>
          <p:cNvPicPr>
            <a:picLocks noChangeAspect="1" noChangeArrowheads="1"/>
          </p:cNvPicPr>
          <p:nvPr/>
        </p:nvPicPr>
        <p:blipFill>
          <a:blip r:embed="rId8"/>
          <a:srcRect/>
          <a:stretch>
            <a:fillRect/>
          </a:stretch>
        </p:blipFill>
        <p:spPr bwMode="auto">
          <a:xfrm>
            <a:off x="6089638" y="732796"/>
            <a:ext cx="723870" cy="73352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anim calcmode="lin" valueType="num">
                                      <p:cBhvr>
                                        <p:cTn id="8" dur="2000" fill="hold"/>
                                        <p:tgtEl>
                                          <p:spTgt spid="9"/>
                                        </p:tgtEl>
                                        <p:attrNameLst>
                                          <p:attrName>style.rotation</p:attrName>
                                        </p:attrNameLst>
                                      </p:cBhvr>
                                      <p:tavLst>
                                        <p:tav tm="0">
                                          <p:val>
                                            <p:fltVal val="720"/>
                                          </p:val>
                                        </p:tav>
                                        <p:tav tm="100000">
                                          <p:val>
                                            <p:fltVal val="0"/>
                                          </p:val>
                                        </p:tav>
                                      </p:tavLst>
                                    </p:anim>
                                    <p:anim calcmode="lin" valueType="num">
                                      <p:cBhvr>
                                        <p:cTn id="9" dur="2000" fill="hold"/>
                                        <p:tgtEl>
                                          <p:spTgt spid="9"/>
                                        </p:tgtEl>
                                        <p:attrNameLst>
                                          <p:attrName>ppt_h</p:attrName>
                                        </p:attrNameLst>
                                      </p:cBhvr>
                                      <p:tavLst>
                                        <p:tav tm="0">
                                          <p:val>
                                            <p:fltVal val="0"/>
                                          </p:val>
                                        </p:tav>
                                        <p:tav tm="100000">
                                          <p:val>
                                            <p:strVal val="#ppt_h"/>
                                          </p:val>
                                        </p:tav>
                                      </p:tavLst>
                                    </p:anim>
                                    <p:anim calcmode="lin" valueType="num">
                                      <p:cBhvr>
                                        <p:cTn id="10" dur="2000" fill="hold"/>
                                        <p:tgtEl>
                                          <p:spTgt spid="9"/>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par>
                          <p:cTn id="11" fill="hold">
                            <p:stCondLst>
                              <p:cond delay="2000"/>
                            </p:stCondLst>
                            <p:childTnLst>
                              <p:par>
                                <p:cTn id="12" presetID="35"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2000"/>
                                        <p:tgtEl>
                                          <p:spTgt spid="9"/>
                                        </p:tgtEl>
                                      </p:cBhvr>
                                    </p:animEffect>
                                    <p:anim calcmode="lin" valueType="num">
                                      <p:cBhvr>
                                        <p:cTn id="15" dur="2000" fill="hold"/>
                                        <p:tgtEl>
                                          <p:spTgt spid="9"/>
                                        </p:tgtEl>
                                        <p:attrNameLst>
                                          <p:attrName>style.rotation</p:attrName>
                                        </p:attrNameLst>
                                      </p:cBhvr>
                                      <p:tavLst>
                                        <p:tav tm="0">
                                          <p:val>
                                            <p:fltVal val="720"/>
                                          </p:val>
                                        </p:tav>
                                        <p:tav tm="100000">
                                          <p:val>
                                            <p:fltVal val="0"/>
                                          </p:val>
                                        </p:tav>
                                      </p:tavLst>
                                    </p:anim>
                                    <p:anim calcmode="lin" valueType="num">
                                      <p:cBhvr>
                                        <p:cTn id="16" dur="2000" fill="hold"/>
                                        <p:tgtEl>
                                          <p:spTgt spid="9"/>
                                        </p:tgtEl>
                                        <p:attrNameLst>
                                          <p:attrName>ppt_h</p:attrName>
                                        </p:attrNameLst>
                                      </p:cBhvr>
                                      <p:tavLst>
                                        <p:tav tm="0">
                                          <p:val>
                                            <p:fltVal val="0"/>
                                          </p:val>
                                        </p:tav>
                                        <p:tav tm="100000">
                                          <p:val>
                                            <p:strVal val="#ppt_h"/>
                                          </p:val>
                                        </p:tav>
                                      </p:tavLst>
                                    </p:anim>
                                    <p:anim calcmode="lin" valueType="num">
                                      <p:cBhvr>
                                        <p:cTn id="17" dur="2000" fill="hold"/>
                                        <p:tgtEl>
                                          <p:spTgt spid="9"/>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2"/>
                                            </p:cond>
                                          </p:stCondLst>
                                          <p:endCondLst>
                                            <p:cond evt="onStopAudio" delay="0">
                                              <p:tgtEl>
                                                <p:sldTgt/>
                                              </p:tgtEl>
                                            </p:cond>
                                          </p:endCondLst>
                                        </p:cTn>
                                        <p:tgtEl>
                                          <p:sndTgt r:embed="rId2" name="explode.wav"/>
                                        </p:tgtEl>
                                      </p:cMediaNode>
                                    </p:audio>
                                  </p:subTnLst>
                                </p:cTn>
                              </p:par>
                            </p:childTnLst>
                          </p:cTn>
                        </p:par>
                        <p:par>
                          <p:cTn id="18" fill="hold">
                            <p:stCondLst>
                              <p:cond delay="4000"/>
                            </p:stCondLst>
                            <p:childTnLst>
                              <p:par>
                                <p:cTn id="19" presetID="35"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0"/>
                                        <p:tgtEl>
                                          <p:spTgt spid="9"/>
                                        </p:tgtEl>
                                      </p:cBhvr>
                                    </p:animEffect>
                                    <p:anim calcmode="lin" valueType="num">
                                      <p:cBhvr>
                                        <p:cTn id="22" dur="2000" fill="hold"/>
                                        <p:tgtEl>
                                          <p:spTgt spid="9"/>
                                        </p:tgtEl>
                                        <p:attrNameLst>
                                          <p:attrName>style.rotation</p:attrName>
                                        </p:attrNameLst>
                                      </p:cBhvr>
                                      <p:tavLst>
                                        <p:tav tm="0">
                                          <p:val>
                                            <p:fltVal val="720"/>
                                          </p:val>
                                        </p:tav>
                                        <p:tav tm="100000">
                                          <p:val>
                                            <p:fltVal val="0"/>
                                          </p:val>
                                        </p:tav>
                                      </p:tavLst>
                                    </p:anim>
                                    <p:anim calcmode="lin" valueType="num">
                                      <p:cBhvr>
                                        <p:cTn id="23" dur="2000" fill="hold"/>
                                        <p:tgtEl>
                                          <p:spTgt spid="9"/>
                                        </p:tgtEl>
                                        <p:attrNameLst>
                                          <p:attrName>ppt_h</p:attrName>
                                        </p:attrNameLst>
                                      </p:cBhvr>
                                      <p:tavLst>
                                        <p:tav tm="0">
                                          <p:val>
                                            <p:fltVal val="0"/>
                                          </p:val>
                                        </p:tav>
                                        <p:tav tm="100000">
                                          <p:val>
                                            <p:strVal val="#ppt_h"/>
                                          </p:val>
                                        </p:tav>
                                      </p:tavLst>
                                    </p:anim>
                                    <p:anim calcmode="lin" valueType="num">
                                      <p:cBhvr>
                                        <p:cTn id="24" dur="2000" fill="hold"/>
                                        <p:tgtEl>
                                          <p:spTgt spid="9"/>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9"/>
                                            </p:cond>
                                          </p:stCondLst>
                                          <p:endCondLst>
                                            <p:cond evt="onStopAudio" delay="0">
                                              <p:tgtEl>
                                                <p:sldTgt/>
                                              </p:tgtEl>
                                            </p:cond>
                                          </p:endCondLst>
                                        </p:cTn>
                                        <p:tgtEl>
                                          <p:sndTgt r:embed="rId2"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ynet.co.il/PicServer2/01082004/527449/D23-062_wh.jpg"/>
          <p:cNvPicPr>
            <a:picLocks noChangeAspect="1" noChangeArrowheads="1"/>
          </p:cNvPicPr>
          <p:nvPr/>
        </p:nvPicPr>
        <p:blipFill>
          <a:blip r:embed="rId2"/>
          <a:srcRect/>
          <a:stretch>
            <a:fillRect/>
          </a:stretch>
        </p:blipFill>
        <p:spPr bwMode="auto">
          <a:xfrm>
            <a:off x="4809178" y="1140633"/>
            <a:ext cx="3672408" cy="2856317"/>
          </a:xfrm>
          <a:prstGeom prst="rect">
            <a:avLst/>
          </a:prstGeom>
          <a:noFill/>
          <a:ln w="38100">
            <a:solidFill>
              <a:srgbClr val="FF0000"/>
            </a:solidFill>
          </a:ln>
        </p:spPr>
      </p:pic>
      <p:sp>
        <p:nvSpPr>
          <p:cNvPr id="6" name="TextBox 5"/>
          <p:cNvSpPr txBox="1"/>
          <p:nvPr/>
        </p:nvSpPr>
        <p:spPr>
          <a:xfrm>
            <a:off x="4496650" y="537134"/>
            <a:ext cx="3732112" cy="307777"/>
          </a:xfrm>
          <a:prstGeom prst="rect">
            <a:avLst/>
          </a:prstGeom>
          <a:solidFill>
            <a:srgbClr val="FFFF00"/>
          </a:solidFill>
          <a:ln w="12700">
            <a:solidFill>
              <a:schemeClr val="tx1"/>
            </a:solidFill>
          </a:ln>
        </p:spPr>
        <p:txBody>
          <a:bodyPr wrap="none" rtlCol="1">
            <a:spAutoFit/>
          </a:bodyPr>
          <a:lstStyle/>
          <a:p>
            <a:pPr algn="r" rtl="1"/>
            <a:r>
              <a:rPr lang="he-IL" b="1" dirty="0">
                <a:solidFill>
                  <a:srgbClr val="FF0000"/>
                </a:solidFill>
              </a:rPr>
              <a:t>1909 – </a:t>
            </a:r>
            <a:r>
              <a:rPr lang="he-IL" b="1" dirty="0">
                <a:solidFill>
                  <a:schemeClr val="tx1"/>
                </a:solidFill>
              </a:rPr>
              <a:t>כאן</a:t>
            </a:r>
            <a:r>
              <a:rPr lang="he-IL" b="1" dirty="0">
                <a:solidFill>
                  <a:srgbClr val="FF0000"/>
                </a:solidFill>
              </a:rPr>
              <a:t> </a:t>
            </a:r>
            <a:r>
              <a:rPr lang="he-IL" b="1" dirty="0"/>
              <a:t>נוסד ארגון 'השומר', תפקד עד </a:t>
            </a:r>
            <a:r>
              <a:rPr lang="he-IL" b="1" dirty="0">
                <a:solidFill>
                  <a:srgbClr val="FF0000"/>
                </a:solidFill>
              </a:rPr>
              <a:t>1920.</a:t>
            </a:r>
          </a:p>
        </p:txBody>
      </p:sp>
      <p:sp>
        <p:nvSpPr>
          <p:cNvPr id="7" name="TextBox 6"/>
          <p:cNvSpPr txBox="1"/>
          <p:nvPr/>
        </p:nvSpPr>
        <p:spPr>
          <a:xfrm>
            <a:off x="6300193" y="4365108"/>
            <a:ext cx="184731" cy="307777"/>
          </a:xfrm>
          <a:prstGeom prst="rect">
            <a:avLst/>
          </a:prstGeom>
          <a:noFill/>
          <a:ln w="38100">
            <a:noFill/>
          </a:ln>
        </p:spPr>
        <p:txBody>
          <a:bodyPr wrap="none" rtlCol="1">
            <a:spAutoFit/>
          </a:bodyPr>
          <a:lstStyle/>
          <a:p>
            <a:endParaRPr lang="he-IL"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l="5453" t="5648" r="5489" b="6814"/>
          <a:stretch>
            <a:fillRect/>
          </a:stretch>
        </p:blipFill>
        <p:spPr bwMode="auto">
          <a:xfrm>
            <a:off x="627208" y="1125915"/>
            <a:ext cx="3528392" cy="2232248"/>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55297" name="Picture 1" descr="C:\Users\123\Pictures\תשע'ד-ב'-י'ט\004.jpg"/>
          <p:cNvPicPr>
            <a:picLocks noChangeAspect="1" noChangeArrowheads="1"/>
          </p:cNvPicPr>
          <p:nvPr/>
        </p:nvPicPr>
        <p:blipFill>
          <a:blip r:embed="rId4"/>
          <a:srcRect l="20382" t="33800" r="60162" b="47662"/>
          <a:stretch>
            <a:fillRect/>
          </a:stretch>
        </p:blipFill>
        <p:spPr bwMode="auto">
          <a:xfrm rot="10800000">
            <a:off x="6277274" y="4427146"/>
            <a:ext cx="1154023" cy="1512168"/>
          </a:xfrm>
          <a:prstGeom prst="rect">
            <a:avLst/>
          </a:prstGeom>
          <a:noFill/>
          <a:ln w="38100">
            <a:solidFill>
              <a:srgbClr val="2217F5"/>
            </a:solidFill>
          </a:ln>
        </p:spPr>
      </p:pic>
      <p:sp>
        <p:nvSpPr>
          <p:cNvPr id="10" name="TextBox 9"/>
          <p:cNvSpPr txBox="1"/>
          <p:nvPr/>
        </p:nvSpPr>
        <p:spPr>
          <a:xfrm>
            <a:off x="5787309" y="5973130"/>
            <a:ext cx="2133951" cy="738664"/>
          </a:xfrm>
          <a:prstGeom prst="rect">
            <a:avLst/>
          </a:prstGeom>
          <a:noFill/>
        </p:spPr>
        <p:txBody>
          <a:bodyPr wrap="square" rtlCol="1">
            <a:spAutoFit/>
          </a:bodyPr>
          <a:lstStyle/>
          <a:p>
            <a:pPr algn="r" rtl="1"/>
            <a:r>
              <a:rPr lang="he-IL" b="1" dirty="0"/>
              <a:t>          יהודה </a:t>
            </a:r>
            <a:r>
              <a:rPr lang="he-IL" b="1" dirty="0" err="1"/>
              <a:t>ענטבי</a:t>
            </a:r>
            <a:endParaRPr lang="he-IL" b="1" dirty="0"/>
          </a:p>
          <a:p>
            <a:pPr algn="r" rtl="1"/>
            <a:r>
              <a:rPr lang="he-IL" b="1" dirty="0"/>
              <a:t>מנהל בית הספר הלא דתי</a:t>
            </a:r>
          </a:p>
          <a:p>
            <a:pPr algn="r" rtl="1"/>
            <a:r>
              <a:rPr lang="he-IL" b="1" dirty="0"/>
              <a:t>   הנהיג תפילה, בוטל</a:t>
            </a:r>
          </a:p>
        </p:txBody>
      </p:sp>
      <p:sp>
        <p:nvSpPr>
          <p:cNvPr id="11" name="TextBox 10"/>
          <p:cNvSpPr txBox="1"/>
          <p:nvPr/>
        </p:nvSpPr>
        <p:spPr>
          <a:xfrm>
            <a:off x="197017" y="5995863"/>
            <a:ext cx="4176464" cy="738664"/>
          </a:xfrm>
          <a:prstGeom prst="rect">
            <a:avLst/>
          </a:prstGeom>
          <a:noFill/>
          <a:ln>
            <a:solidFill>
              <a:srgbClr val="2217F5"/>
            </a:solidFill>
          </a:ln>
        </p:spPr>
        <p:txBody>
          <a:bodyPr wrap="square" rtlCol="1">
            <a:spAutoFit/>
          </a:bodyPr>
          <a:lstStyle/>
          <a:p>
            <a:pPr algn="r" rtl="1"/>
            <a:r>
              <a:rPr lang="he-IL" b="1" dirty="0"/>
              <a:t>הרב </a:t>
            </a:r>
            <a:r>
              <a:rPr lang="he-IL" b="1" dirty="0" err="1"/>
              <a:t>יאדלר</a:t>
            </a:r>
            <a:r>
              <a:rPr lang="he-IL" b="1" dirty="0"/>
              <a:t> דרש: המשלחת דומה לועידת רופאים הבאה </a:t>
            </a:r>
          </a:p>
          <a:p>
            <a:pPr algn="r" rtl="1"/>
            <a:r>
              <a:rPr lang="he-IL" b="1" dirty="0"/>
              <a:t>לטקס עצה על דעת כולם כיצד להביא רפואה רוחנית למושבות.</a:t>
            </a:r>
          </a:p>
        </p:txBody>
      </p:sp>
      <p:pic>
        <p:nvPicPr>
          <p:cNvPr id="5" name="תמונה 4">
            <a:extLst>
              <a:ext uri="{FF2B5EF4-FFF2-40B4-BE49-F238E27FC236}">
                <a16:creationId xmlns:a16="http://schemas.microsoft.com/office/drawing/2014/main" id="{D9F7419A-2E49-5395-CF25-5B8EBD11DB1D}"/>
              </a:ext>
            </a:extLst>
          </p:cNvPr>
          <p:cNvPicPr>
            <a:picLocks noChangeAspect="1"/>
          </p:cNvPicPr>
          <p:nvPr/>
        </p:nvPicPr>
        <p:blipFill>
          <a:blip r:embed="rId5"/>
          <a:srcRect t="5576" r="3619"/>
          <a:stretch>
            <a:fillRect/>
          </a:stretch>
        </p:blipFill>
        <p:spPr>
          <a:xfrm>
            <a:off x="786871" y="3687263"/>
            <a:ext cx="3209066" cy="1966501"/>
          </a:xfrm>
          <a:prstGeom prst="rect">
            <a:avLst/>
          </a:prstGeom>
          <a:ln w="38100">
            <a:solidFill>
              <a:srgbClr val="FF0000"/>
            </a:solidFill>
          </a:ln>
        </p:spPr>
      </p:pic>
      <p:sp>
        <p:nvSpPr>
          <p:cNvPr id="9" name="תיבת טקסט 8">
            <a:extLst>
              <a:ext uri="{FF2B5EF4-FFF2-40B4-BE49-F238E27FC236}">
                <a16:creationId xmlns:a16="http://schemas.microsoft.com/office/drawing/2014/main" id="{B291C3B5-CE1E-783F-0FBE-E5C082DBB8AA}"/>
              </a:ext>
            </a:extLst>
          </p:cNvPr>
          <p:cNvSpPr txBox="1"/>
          <p:nvPr/>
        </p:nvSpPr>
        <p:spPr>
          <a:xfrm>
            <a:off x="1330055" y="5631538"/>
            <a:ext cx="2122697" cy="307777"/>
          </a:xfrm>
          <a:prstGeom prst="rect">
            <a:avLst/>
          </a:prstGeom>
          <a:noFill/>
        </p:spPr>
        <p:txBody>
          <a:bodyPr wrap="none" rtlCol="1">
            <a:spAutoFit/>
          </a:bodyPr>
          <a:lstStyle/>
          <a:p>
            <a:pPr algn="r" rtl="1"/>
            <a:r>
              <a:rPr lang="he-IL" b="1" dirty="0"/>
              <a:t>הרב קוק עם חברי המושבה</a:t>
            </a:r>
          </a:p>
        </p:txBody>
      </p:sp>
      <p:sp>
        <p:nvSpPr>
          <p:cNvPr id="12" name="תיבת טקסט 11">
            <a:extLst>
              <a:ext uri="{FF2B5EF4-FFF2-40B4-BE49-F238E27FC236}">
                <a16:creationId xmlns:a16="http://schemas.microsoft.com/office/drawing/2014/main" id="{044D619F-C56B-7A6C-99F9-6D0D7CB6BD67}"/>
              </a:ext>
            </a:extLst>
          </p:cNvPr>
          <p:cNvSpPr txBox="1"/>
          <p:nvPr/>
        </p:nvSpPr>
        <p:spPr>
          <a:xfrm>
            <a:off x="1628213" y="3345949"/>
            <a:ext cx="1526380" cy="307777"/>
          </a:xfrm>
          <a:prstGeom prst="rect">
            <a:avLst/>
          </a:prstGeom>
          <a:noFill/>
        </p:spPr>
        <p:txBody>
          <a:bodyPr wrap="none" rtlCol="1">
            <a:spAutoFit/>
          </a:bodyPr>
          <a:lstStyle/>
          <a:p>
            <a:pPr algn="r" rtl="1"/>
            <a:r>
              <a:rPr lang="he-IL" b="1" dirty="0"/>
              <a:t>בני וחברי המושבה</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393"/>
          <p:cNvSpPr/>
          <p:nvPr/>
        </p:nvSpPr>
        <p:spPr>
          <a:xfrm>
            <a:off x="4572001" y="476673"/>
            <a:ext cx="4176464" cy="3136955"/>
          </a:xfrm>
          <a:prstGeom prst="rect">
            <a:avLst/>
          </a:prstGeom>
          <a:blipFill>
            <a:blip r:embed="rId2"/>
            <a:stretch>
              <a:fillRect/>
            </a:stretch>
          </a:blipFill>
          <a:ln w="38100">
            <a:solidFill>
              <a:srgbClr val="FF0000"/>
            </a:solidFill>
          </a:ln>
        </p:spPr>
        <p:txBody>
          <a:bodyPr/>
          <a:lstStyle/>
          <a:p>
            <a:endParaRPr lang="he-IL"/>
          </a:p>
        </p:txBody>
      </p:sp>
      <p:sp>
        <p:nvSpPr>
          <p:cNvPr id="3" name="Shape 415"/>
          <p:cNvSpPr/>
          <p:nvPr/>
        </p:nvSpPr>
        <p:spPr>
          <a:xfrm>
            <a:off x="187801" y="486394"/>
            <a:ext cx="4286280" cy="2428843"/>
          </a:xfrm>
          <a:prstGeom prst="rect">
            <a:avLst/>
          </a:prstGeom>
          <a:blipFill>
            <a:blip r:embed="rId3"/>
            <a:stretch>
              <a:fillRect/>
            </a:stretch>
          </a:blipFill>
          <a:ln w="38100">
            <a:solidFill>
              <a:srgbClr val="FF0000"/>
            </a:solidFill>
          </a:ln>
        </p:spPr>
        <p:txBody>
          <a:bodyPr/>
          <a:lstStyle/>
          <a:p>
            <a:endParaRPr lang="he-IL"/>
          </a:p>
        </p:txBody>
      </p:sp>
      <p:sp>
        <p:nvSpPr>
          <p:cNvPr id="6" name="Shape 475"/>
          <p:cNvSpPr/>
          <p:nvPr/>
        </p:nvSpPr>
        <p:spPr>
          <a:xfrm>
            <a:off x="72949" y="4031266"/>
            <a:ext cx="4515984" cy="2597498"/>
          </a:xfrm>
          <a:prstGeom prst="rect">
            <a:avLst/>
          </a:prstGeom>
          <a:blipFill>
            <a:blip r:embed="rId4"/>
            <a:stretch>
              <a:fillRect/>
            </a:stretch>
          </a:blipFill>
          <a:ln w="38100">
            <a:solidFill>
              <a:srgbClr val="FF0000"/>
            </a:solidFill>
          </a:ln>
        </p:spPr>
        <p:txBody>
          <a:bodyPr/>
          <a:lstStyle/>
          <a:p>
            <a:endParaRPr lang="he-IL"/>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064" y="4077072"/>
            <a:ext cx="3334524" cy="252028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1187624" y="2972355"/>
            <a:ext cx="1904689" cy="307777"/>
          </a:xfrm>
          <a:prstGeom prst="rect">
            <a:avLst/>
          </a:prstGeom>
          <a:noFill/>
        </p:spPr>
        <p:txBody>
          <a:bodyPr wrap="none" rtlCol="1">
            <a:spAutoFit/>
          </a:bodyPr>
          <a:lstStyle/>
          <a:p>
            <a:r>
              <a:rPr lang="he-IL" b="1" dirty="0"/>
              <a:t>שער צר של חומת החצר</a:t>
            </a:r>
          </a:p>
        </p:txBody>
      </p:sp>
      <p:sp>
        <p:nvSpPr>
          <p:cNvPr id="8" name="TextBox 7"/>
          <p:cNvSpPr txBox="1"/>
          <p:nvPr/>
        </p:nvSpPr>
        <p:spPr>
          <a:xfrm>
            <a:off x="4503232" y="3613628"/>
            <a:ext cx="4314001" cy="307777"/>
          </a:xfrm>
          <a:prstGeom prst="rect">
            <a:avLst/>
          </a:prstGeom>
          <a:noFill/>
        </p:spPr>
        <p:txBody>
          <a:bodyPr wrap="none" rtlCol="1">
            <a:spAutoFit/>
          </a:bodyPr>
          <a:lstStyle/>
          <a:p>
            <a:pPr algn="r" rtl="1"/>
            <a:r>
              <a:rPr lang="he-IL" b="1" dirty="0"/>
              <a:t>שבתאי גלאון. סבו, ר' שלמה גולדמן, קיבל את פני הרבנים</a:t>
            </a:r>
          </a:p>
        </p:txBody>
      </p:sp>
      <p:sp>
        <p:nvSpPr>
          <p:cNvPr id="4" name="תיבת טקסט 3">
            <a:extLst>
              <a:ext uri="{FF2B5EF4-FFF2-40B4-BE49-F238E27FC236}">
                <a16:creationId xmlns:a16="http://schemas.microsoft.com/office/drawing/2014/main" id="{7FF4E022-2C09-8B73-1100-710DAD19FB7D}"/>
              </a:ext>
            </a:extLst>
          </p:cNvPr>
          <p:cNvSpPr txBox="1"/>
          <p:nvPr/>
        </p:nvSpPr>
        <p:spPr>
          <a:xfrm>
            <a:off x="4159628" y="6597352"/>
            <a:ext cx="1491114" cy="307777"/>
          </a:xfrm>
          <a:prstGeom prst="rect">
            <a:avLst/>
          </a:prstGeom>
          <a:noFill/>
        </p:spPr>
        <p:txBody>
          <a:bodyPr wrap="none" rtlCol="1">
            <a:spAutoFit/>
          </a:bodyPr>
          <a:lstStyle/>
          <a:p>
            <a:r>
              <a:rPr lang="he-IL" b="1" dirty="0"/>
              <a:t>חצר המושבה כיום</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36"/>
          <p:cNvSpPr/>
          <p:nvPr/>
        </p:nvSpPr>
        <p:spPr>
          <a:xfrm>
            <a:off x="4931830" y="140358"/>
            <a:ext cx="3606328" cy="2348086"/>
          </a:xfrm>
          <a:prstGeom prst="rect">
            <a:avLst/>
          </a:prstGeom>
          <a:blipFill>
            <a:blip r:embed="rId3"/>
            <a:stretch>
              <a:fillRect/>
            </a:stretch>
          </a:blipFill>
          <a:ln w="38100">
            <a:solidFill>
              <a:srgbClr val="FF0000"/>
            </a:solidFill>
          </a:ln>
        </p:spPr>
        <p:txBody>
          <a:bodyPr/>
          <a:lstStyle/>
          <a:p>
            <a:endParaRPr lang="he-IL"/>
          </a:p>
        </p:txBody>
      </p:sp>
      <p:sp>
        <p:nvSpPr>
          <p:cNvPr id="3" name="Shape 460"/>
          <p:cNvSpPr/>
          <p:nvPr/>
        </p:nvSpPr>
        <p:spPr>
          <a:xfrm>
            <a:off x="431540" y="140358"/>
            <a:ext cx="3744416" cy="2348086"/>
          </a:xfrm>
          <a:prstGeom prst="rect">
            <a:avLst/>
          </a:prstGeom>
          <a:blipFill>
            <a:blip r:embed="rId4"/>
            <a:stretch>
              <a:fillRect/>
            </a:stretch>
          </a:blipFill>
          <a:ln w="38100">
            <a:solidFill>
              <a:srgbClr val="FF0000"/>
            </a:solidFill>
          </a:ln>
        </p:spPr>
        <p:txBody>
          <a:bodyPr/>
          <a:lstStyle/>
          <a:p>
            <a:endParaRPr lang="he-IL"/>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l="2083" t="5045" r="2083" b="14236"/>
          <a:stretch>
            <a:fillRect/>
          </a:stretch>
        </p:blipFill>
        <p:spPr bwMode="auto">
          <a:xfrm>
            <a:off x="4995268" y="2951946"/>
            <a:ext cx="3375374" cy="2348086"/>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8460432" y="2951946"/>
            <a:ext cx="582211" cy="307777"/>
          </a:xfrm>
          <a:prstGeom prst="rect">
            <a:avLst/>
          </a:prstGeom>
          <a:solidFill>
            <a:srgbClr val="FFFF00"/>
          </a:solidFill>
          <a:ln>
            <a:solidFill>
              <a:schemeClr val="tx1"/>
            </a:solidFill>
          </a:ln>
        </p:spPr>
        <p:txBody>
          <a:bodyPr wrap="none" rtlCol="1">
            <a:spAutoFit/>
          </a:bodyPr>
          <a:lstStyle/>
          <a:p>
            <a:r>
              <a:rPr lang="he-IL" b="1" dirty="0"/>
              <a:t>1912</a:t>
            </a:r>
          </a:p>
        </p:txBody>
      </p:sp>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603" y="2920840"/>
            <a:ext cx="3528392" cy="2642888"/>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5076058" y="5763535"/>
            <a:ext cx="3802644" cy="954107"/>
          </a:xfrm>
          <a:prstGeom prst="rect">
            <a:avLst/>
          </a:prstGeom>
          <a:noFill/>
          <a:ln>
            <a:solidFill>
              <a:srgbClr val="2217F5"/>
            </a:solidFill>
          </a:ln>
        </p:spPr>
        <p:txBody>
          <a:bodyPr wrap="none" rtlCol="1">
            <a:spAutoFit/>
          </a:bodyPr>
          <a:lstStyle/>
          <a:p>
            <a:pPr algn="r" rtl="1"/>
            <a:r>
              <a:rPr lang="he-IL" b="1" dirty="0"/>
              <a:t>ירד גשם, דרך בוצית, מסוכנת.</a:t>
            </a:r>
          </a:p>
          <a:p>
            <a:pPr algn="r" rtl="1"/>
            <a:r>
              <a:rPr lang="he-IL" b="1" dirty="0"/>
              <a:t>הרב </a:t>
            </a:r>
            <a:r>
              <a:rPr lang="he-IL" b="1" dirty="0" err="1"/>
              <a:t>זוננפלד</a:t>
            </a:r>
            <a:r>
              <a:rPr lang="he-IL" b="1" dirty="0"/>
              <a:t> צעד עם בנו עד סג'רה – </a:t>
            </a:r>
            <a:r>
              <a:rPr lang="he-IL" b="1" dirty="0">
                <a:solidFill>
                  <a:srgbClr val="FF0000"/>
                </a:solidFill>
              </a:rPr>
              <a:t>אסור לפחד! </a:t>
            </a:r>
          </a:p>
          <a:p>
            <a:pPr algn="r" rtl="1"/>
            <a:r>
              <a:rPr lang="he-IL" b="1" dirty="0"/>
              <a:t>הגיעו אחר חצות, לומד. בעגלה עם פנס אחריו.</a:t>
            </a:r>
          </a:p>
          <a:p>
            <a:pPr algn="r" rtl="1"/>
            <a:r>
              <a:rPr lang="he-IL" b="1" dirty="0"/>
              <a:t>חוליית ערבים ניסתה לגנוב בקצה הכפר, יריות נסו.</a:t>
            </a:r>
          </a:p>
        </p:txBody>
      </p:sp>
      <p:pic>
        <p:nvPicPr>
          <p:cNvPr id="8" name="Picture 22" descr="ksvk">
            <a:hlinkClick r:id="rId7"/>
          </p:cNvPr>
          <p:cNvPicPr>
            <a:picLocks noChangeAspect="1" noChangeArrowheads="1"/>
          </p:cNvPicPr>
          <p:nvPr/>
        </p:nvPicPr>
        <p:blipFill>
          <a:blip r:embed="rId8"/>
          <a:srcRect/>
          <a:stretch>
            <a:fillRect/>
          </a:stretch>
        </p:blipFill>
        <p:spPr bwMode="auto">
          <a:xfrm>
            <a:off x="4212172" y="5763535"/>
            <a:ext cx="719658" cy="485894"/>
          </a:xfrm>
          <a:prstGeom prst="rect">
            <a:avLst/>
          </a:prstGeom>
          <a:noFill/>
          <a:ln w="38100">
            <a:solidFill>
              <a:srgbClr val="0000FF"/>
            </a:solidFill>
            <a:miter lim="800000"/>
            <a:headEnd/>
            <a:tailEnd/>
          </a:ln>
        </p:spPr>
      </p:pic>
      <p:sp>
        <p:nvSpPr>
          <p:cNvPr id="5" name="תיבת טקסט 4">
            <a:extLst>
              <a:ext uri="{FF2B5EF4-FFF2-40B4-BE49-F238E27FC236}">
                <a16:creationId xmlns:a16="http://schemas.microsoft.com/office/drawing/2014/main" id="{C2DAE615-ADF0-275B-4F16-C84127798CF0}"/>
              </a:ext>
            </a:extLst>
          </p:cNvPr>
          <p:cNvSpPr txBox="1"/>
          <p:nvPr/>
        </p:nvSpPr>
        <p:spPr>
          <a:xfrm>
            <a:off x="4148720" y="2488444"/>
            <a:ext cx="777777" cy="307777"/>
          </a:xfrm>
          <a:prstGeom prst="rect">
            <a:avLst/>
          </a:prstGeom>
          <a:noFill/>
        </p:spPr>
        <p:txBody>
          <a:bodyPr wrap="none" rtlCol="1">
            <a:spAutoFit/>
          </a:bodyPr>
          <a:lstStyle/>
          <a:p>
            <a:r>
              <a:rPr lang="he-IL" b="1" dirty="0"/>
              <a:t>במוזיאון</a:t>
            </a:r>
          </a:p>
        </p:txBody>
      </p:sp>
      <p:sp>
        <p:nvSpPr>
          <p:cNvPr id="6" name="תיבת טקסט 5">
            <a:extLst>
              <a:ext uri="{FF2B5EF4-FFF2-40B4-BE49-F238E27FC236}">
                <a16:creationId xmlns:a16="http://schemas.microsoft.com/office/drawing/2014/main" id="{651BEF19-E995-5111-8AC5-68509B0D8D3C}"/>
              </a:ext>
            </a:extLst>
          </p:cNvPr>
          <p:cNvSpPr txBox="1"/>
          <p:nvPr/>
        </p:nvSpPr>
        <p:spPr>
          <a:xfrm>
            <a:off x="1259632" y="5580074"/>
            <a:ext cx="2278188" cy="307777"/>
          </a:xfrm>
          <a:prstGeom prst="rect">
            <a:avLst/>
          </a:prstGeom>
          <a:noFill/>
        </p:spPr>
        <p:txBody>
          <a:bodyPr wrap="none" rtlCol="1">
            <a:spAutoFit/>
          </a:bodyPr>
          <a:lstStyle/>
          <a:p>
            <a:r>
              <a:rPr lang="he-IL" b="1" dirty="0"/>
              <a:t>המושבה כיום, מול הר התבור</a:t>
            </a:r>
          </a:p>
        </p:txBody>
      </p:sp>
      <p:sp>
        <p:nvSpPr>
          <p:cNvPr id="9" name="תיבת טקסט 8">
            <a:extLst>
              <a:ext uri="{FF2B5EF4-FFF2-40B4-BE49-F238E27FC236}">
                <a16:creationId xmlns:a16="http://schemas.microsoft.com/office/drawing/2014/main" id="{C072685F-0932-D84F-0114-DEB13CDF3709}"/>
              </a:ext>
            </a:extLst>
          </p:cNvPr>
          <p:cNvSpPr txBox="1"/>
          <p:nvPr/>
        </p:nvSpPr>
        <p:spPr>
          <a:xfrm>
            <a:off x="532232" y="6026251"/>
            <a:ext cx="3438763" cy="523220"/>
          </a:xfrm>
          <a:prstGeom prst="rect">
            <a:avLst/>
          </a:prstGeom>
          <a:noFill/>
          <a:ln w="19050">
            <a:solidFill>
              <a:srgbClr val="2217F5"/>
            </a:solidFill>
          </a:ln>
        </p:spPr>
        <p:txBody>
          <a:bodyPr wrap="none" rtlCol="1">
            <a:spAutoFit/>
          </a:bodyPr>
          <a:lstStyle/>
          <a:p>
            <a:pPr algn="r"/>
            <a:r>
              <a:rPr lang="he-IL" b="1" dirty="0" err="1">
                <a:solidFill>
                  <a:srgbClr val="FF0000"/>
                </a:solidFill>
              </a:rPr>
              <a:t>בתרצ"ב</a:t>
            </a:r>
            <a:r>
              <a:rPr lang="he-IL" b="1" dirty="0">
                <a:solidFill>
                  <a:srgbClr val="FF0000"/>
                </a:solidFill>
              </a:rPr>
              <a:t> (1932) - </a:t>
            </a:r>
            <a:r>
              <a:rPr lang="he-IL" b="1" dirty="0">
                <a:solidFill>
                  <a:schemeClr val="tx1"/>
                </a:solidFill>
              </a:rPr>
              <a:t>הרב קוק שלח את תלמידו, </a:t>
            </a:r>
          </a:p>
          <a:p>
            <a:pPr algn="r"/>
            <a:r>
              <a:rPr lang="he-IL" b="1" dirty="0">
                <a:solidFill>
                  <a:schemeClr val="tx1"/>
                </a:solidFill>
              </a:rPr>
              <a:t>הרב בן ציון לוין, לשמש כרב המושבה.</a:t>
            </a:r>
            <a:endParaRPr lang="he-IL"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style.rotation</p:attrName>
                                        </p:attrNameLst>
                                      </p:cBhvr>
                                      <p:tavLst>
                                        <p:tav tm="0">
                                          <p:val>
                                            <p:fltVal val="720"/>
                                          </p:val>
                                        </p:tav>
                                        <p:tav tm="100000">
                                          <p:val>
                                            <p:fltVal val="0"/>
                                          </p:val>
                                        </p:tav>
                                      </p:tavLst>
                                    </p:anim>
                                    <p:anim calcmode="lin" valueType="num">
                                      <p:cBhvr>
                                        <p:cTn id="9" dur="2000" fill="hold"/>
                                        <p:tgtEl>
                                          <p:spTgt spid="8"/>
                                        </p:tgtEl>
                                        <p:attrNameLst>
                                          <p:attrName>ppt_h</p:attrName>
                                        </p:attrNameLst>
                                      </p:cBhvr>
                                      <p:tavLst>
                                        <p:tav tm="0">
                                          <p:val>
                                            <p:fltVal val="0"/>
                                          </p:val>
                                        </p:tav>
                                        <p:tav tm="100000">
                                          <p:val>
                                            <p:strVal val="#ppt_h"/>
                                          </p:val>
                                        </p:tav>
                                      </p:tavLst>
                                    </p:anim>
                                    <p:anim calcmode="lin" valueType="num">
                                      <p:cBhvr>
                                        <p:cTn id="10" dur="2000" fill="hold"/>
                                        <p:tgtEl>
                                          <p:spTgt spid="8"/>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par>
                          <p:cTn id="11" fill="hold">
                            <p:stCondLst>
                              <p:cond delay="2000"/>
                            </p:stCondLst>
                            <p:childTnLst>
                              <p:par>
                                <p:cTn id="12" presetID="35"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2000"/>
                                        <p:tgtEl>
                                          <p:spTgt spid="8"/>
                                        </p:tgtEl>
                                      </p:cBhvr>
                                    </p:animEffect>
                                    <p:anim calcmode="lin" valueType="num">
                                      <p:cBhvr>
                                        <p:cTn id="15" dur="2000" fill="hold"/>
                                        <p:tgtEl>
                                          <p:spTgt spid="8"/>
                                        </p:tgtEl>
                                        <p:attrNameLst>
                                          <p:attrName>style.rotation</p:attrName>
                                        </p:attrNameLst>
                                      </p:cBhvr>
                                      <p:tavLst>
                                        <p:tav tm="0">
                                          <p:val>
                                            <p:fltVal val="720"/>
                                          </p:val>
                                        </p:tav>
                                        <p:tav tm="100000">
                                          <p:val>
                                            <p:fltVal val="0"/>
                                          </p:val>
                                        </p:tav>
                                      </p:tavLst>
                                    </p:anim>
                                    <p:anim calcmode="lin" valueType="num">
                                      <p:cBhvr>
                                        <p:cTn id="16" dur="2000" fill="hold"/>
                                        <p:tgtEl>
                                          <p:spTgt spid="8"/>
                                        </p:tgtEl>
                                        <p:attrNameLst>
                                          <p:attrName>ppt_h</p:attrName>
                                        </p:attrNameLst>
                                      </p:cBhvr>
                                      <p:tavLst>
                                        <p:tav tm="0">
                                          <p:val>
                                            <p:fltVal val="0"/>
                                          </p:val>
                                        </p:tav>
                                        <p:tav tm="100000">
                                          <p:val>
                                            <p:strVal val="#ppt_h"/>
                                          </p:val>
                                        </p:tav>
                                      </p:tavLst>
                                    </p:anim>
                                    <p:anim calcmode="lin" valueType="num">
                                      <p:cBhvr>
                                        <p:cTn id="17" dur="2000" fill="hold"/>
                                        <p:tgtEl>
                                          <p:spTgt spid="8"/>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2"/>
                                            </p:cond>
                                          </p:stCondLst>
                                          <p:endCondLst>
                                            <p:cond evt="onStopAudio" delay="0">
                                              <p:tgtEl>
                                                <p:sldTgt/>
                                              </p:tgtEl>
                                            </p:cond>
                                          </p:endCondLst>
                                        </p:cTn>
                                        <p:tgtEl>
                                          <p:sndTgt r:embed="rId2" name="explode.wav"/>
                                        </p:tgtEl>
                                      </p:cMediaNode>
                                    </p:audio>
                                  </p:subTnLst>
                                </p:cTn>
                              </p:par>
                            </p:childTnLst>
                          </p:cTn>
                        </p:par>
                        <p:par>
                          <p:cTn id="18" fill="hold">
                            <p:stCondLst>
                              <p:cond delay="4000"/>
                            </p:stCondLst>
                            <p:childTnLst>
                              <p:par>
                                <p:cTn id="19" presetID="35"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0"/>
                                        <p:tgtEl>
                                          <p:spTgt spid="8"/>
                                        </p:tgtEl>
                                      </p:cBhvr>
                                    </p:animEffect>
                                    <p:anim calcmode="lin" valueType="num">
                                      <p:cBhvr>
                                        <p:cTn id="22" dur="2000" fill="hold"/>
                                        <p:tgtEl>
                                          <p:spTgt spid="8"/>
                                        </p:tgtEl>
                                        <p:attrNameLst>
                                          <p:attrName>style.rotation</p:attrName>
                                        </p:attrNameLst>
                                      </p:cBhvr>
                                      <p:tavLst>
                                        <p:tav tm="0">
                                          <p:val>
                                            <p:fltVal val="720"/>
                                          </p:val>
                                        </p:tav>
                                        <p:tav tm="100000">
                                          <p:val>
                                            <p:fltVal val="0"/>
                                          </p:val>
                                        </p:tav>
                                      </p:tavLst>
                                    </p:anim>
                                    <p:anim calcmode="lin" valueType="num">
                                      <p:cBhvr>
                                        <p:cTn id="23" dur="2000" fill="hold"/>
                                        <p:tgtEl>
                                          <p:spTgt spid="8"/>
                                        </p:tgtEl>
                                        <p:attrNameLst>
                                          <p:attrName>ppt_h</p:attrName>
                                        </p:attrNameLst>
                                      </p:cBhvr>
                                      <p:tavLst>
                                        <p:tav tm="0">
                                          <p:val>
                                            <p:fltVal val="0"/>
                                          </p:val>
                                        </p:tav>
                                        <p:tav tm="100000">
                                          <p:val>
                                            <p:strVal val="#ppt_h"/>
                                          </p:val>
                                        </p:tav>
                                      </p:tavLst>
                                    </p:anim>
                                    <p:anim calcmode="lin" valueType="num">
                                      <p:cBhvr>
                                        <p:cTn id="24" dur="2000" fill="hold"/>
                                        <p:tgtEl>
                                          <p:spTgt spid="8"/>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9"/>
                                            </p:cond>
                                          </p:stCondLst>
                                          <p:endCondLst>
                                            <p:cond evt="onStopAudio" delay="0">
                                              <p:tgtEl>
                                                <p:sldTgt/>
                                              </p:tgtEl>
                                            </p:cond>
                                          </p:endCondLst>
                                        </p:cTn>
                                        <p:tgtEl>
                                          <p:sndTgt r:embed="rId2"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l="1730" t="4386" r="3105" b="24183"/>
          <a:stretch>
            <a:fillRect/>
          </a:stretch>
        </p:blipFill>
        <p:spPr bwMode="auto">
          <a:xfrm>
            <a:off x="261300" y="926068"/>
            <a:ext cx="2717672" cy="1609614"/>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7499" y="4365540"/>
            <a:ext cx="2008964" cy="215844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4617569" y="6510118"/>
            <a:ext cx="582211" cy="307777"/>
          </a:xfrm>
          <a:prstGeom prst="rect">
            <a:avLst/>
          </a:prstGeom>
          <a:noFill/>
          <a:ln w="38100">
            <a:noFill/>
          </a:ln>
        </p:spPr>
        <p:txBody>
          <a:bodyPr wrap="none" rtlCol="1">
            <a:spAutoFit/>
          </a:bodyPr>
          <a:lstStyle/>
          <a:p>
            <a:r>
              <a:rPr lang="he-IL" b="1" dirty="0"/>
              <a:t>1945</a:t>
            </a:r>
          </a:p>
        </p:txBody>
      </p:sp>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418" y="4401419"/>
            <a:ext cx="2749008" cy="2061756"/>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33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180" y="4467081"/>
            <a:ext cx="2795792" cy="1974528"/>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331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717" y="1730875"/>
            <a:ext cx="2151386" cy="1944216"/>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10" name="TextBox 9"/>
          <p:cNvSpPr txBox="1"/>
          <p:nvPr/>
        </p:nvSpPr>
        <p:spPr>
          <a:xfrm>
            <a:off x="1357549" y="2578068"/>
            <a:ext cx="582211" cy="307777"/>
          </a:xfrm>
          <a:prstGeom prst="rect">
            <a:avLst/>
          </a:prstGeom>
          <a:noFill/>
        </p:spPr>
        <p:txBody>
          <a:bodyPr wrap="none" rtlCol="1">
            <a:spAutoFit/>
          </a:bodyPr>
          <a:lstStyle/>
          <a:p>
            <a:r>
              <a:rPr lang="he-IL" b="1" dirty="0"/>
              <a:t>1912</a:t>
            </a:r>
          </a:p>
        </p:txBody>
      </p:sp>
      <p:sp>
        <p:nvSpPr>
          <p:cNvPr id="11" name="TextBox 10"/>
          <p:cNvSpPr txBox="1"/>
          <p:nvPr/>
        </p:nvSpPr>
        <p:spPr>
          <a:xfrm>
            <a:off x="2420533" y="66009"/>
            <a:ext cx="4400564" cy="369332"/>
          </a:xfrm>
          <a:prstGeom prst="rect">
            <a:avLst/>
          </a:prstGeom>
          <a:solidFill>
            <a:srgbClr val="FFFF00"/>
          </a:solidFill>
          <a:ln>
            <a:solidFill>
              <a:schemeClr val="tx1"/>
            </a:solidFill>
          </a:ln>
        </p:spPr>
        <p:txBody>
          <a:bodyPr wrap="none" rtlCol="1">
            <a:spAutoFit/>
          </a:bodyPr>
          <a:lstStyle/>
          <a:p>
            <a:r>
              <a:rPr lang="he-IL" sz="1800" b="1" dirty="0"/>
              <a:t>במושבה סג'רה (</a:t>
            </a:r>
            <a:r>
              <a:rPr lang="he-IL" sz="1800" b="1" dirty="0" err="1"/>
              <a:t>אילניה</a:t>
            </a:r>
            <a:r>
              <a:rPr lang="he-IL" sz="1800" b="1" dirty="0"/>
              <a:t>) – </a:t>
            </a:r>
            <a:r>
              <a:rPr lang="he-IL" sz="1800" b="1" dirty="0">
                <a:solidFill>
                  <a:srgbClr val="FF0000"/>
                </a:solidFill>
              </a:rPr>
              <a:t>יום ה', כ"ז בחשון  </a:t>
            </a:r>
            <a:endParaRPr lang="en-US" sz="1800" b="1" dirty="0">
              <a:solidFill>
                <a:srgbClr val="FF0000"/>
              </a:solidFill>
            </a:endParaRPr>
          </a:p>
        </p:txBody>
      </p:sp>
      <p:sp>
        <p:nvSpPr>
          <p:cNvPr id="12" name="TextBox 11"/>
          <p:cNvSpPr txBox="1"/>
          <p:nvPr/>
        </p:nvSpPr>
        <p:spPr>
          <a:xfrm>
            <a:off x="6948266" y="404668"/>
            <a:ext cx="1856039" cy="307777"/>
          </a:xfrm>
          <a:prstGeom prst="rect">
            <a:avLst/>
          </a:prstGeom>
          <a:noFill/>
          <a:ln>
            <a:noFill/>
          </a:ln>
        </p:spPr>
        <p:txBody>
          <a:bodyPr wrap="square" rtlCol="1">
            <a:spAutoFit/>
          </a:bodyPr>
          <a:lstStyle/>
          <a:p>
            <a:pPr algn="r" rtl="1"/>
            <a:endParaRPr lang="he-IL" b="1" dirty="0"/>
          </a:p>
        </p:txBody>
      </p:sp>
      <p:sp>
        <p:nvSpPr>
          <p:cNvPr id="13" name="TextBox 12"/>
          <p:cNvSpPr txBox="1"/>
          <p:nvPr/>
        </p:nvSpPr>
        <p:spPr>
          <a:xfrm>
            <a:off x="6591274" y="548684"/>
            <a:ext cx="2501069" cy="954107"/>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1899 – </a:t>
            </a:r>
            <a:r>
              <a:rPr lang="he-IL" b="1" dirty="0"/>
              <a:t>ע"י </a:t>
            </a:r>
            <a:r>
              <a:rPr lang="he-IL" b="1" dirty="0" err="1"/>
              <a:t>יק"א</a:t>
            </a:r>
            <a:r>
              <a:rPr lang="he-IL" b="1" dirty="0"/>
              <a:t>, חווה </a:t>
            </a:r>
            <a:r>
              <a:rPr lang="he-IL" b="1" dirty="0" err="1"/>
              <a:t>מקלאית</a:t>
            </a:r>
            <a:endParaRPr lang="he-IL" b="1" dirty="0"/>
          </a:p>
          <a:p>
            <a:pPr algn="r" rtl="1"/>
            <a:r>
              <a:rPr lang="he-IL" b="1" dirty="0">
                <a:solidFill>
                  <a:srgbClr val="FF0000"/>
                </a:solidFill>
              </a:rPr>
              <a:t>1911 – </a:t>
            </a:r>
            <a:r>
              <a:rPr lang="he-IL" b="1" dirty="0"/>
              <a:t>נעזבה הוחכרה </a:t>
            </a:r>
            <a:r>
              <a:rPr lang="he-IL" b="1" dirty="0" err="1"/>
              <a:t>ל'נטעים</a:t>
            </a:r>
            <a:r>
              <a:rPr lang="he-IL" b="1" dirty="0"/>
              <a:t>'</a:t>
            </a:r>
          </a:p>
          <a:p>
            <a:pPr algn="r" rtl="1"/>
            <a:r>
              <a:rPr lang="he-IL" b="1" dirty="0"/>
              <a:t>27 משפחות</a:t>
            </a:r>
          </a:p>
          <a:p>
            <a:pPr algn="r" rtl="1"/>
            <a:r>
              <a:rPr lang="he-IL" b="1" dirty="0"/>
              <a:t>אין שבת וחינוך דתי</a:t>
            </a:r>
          </a:p>
        </p:txBody>
      </p:sp>
      <p:sp>
        <p:nvSpPr>
          <p:cNvPr id="14" name="TextBox 13"/>
          <p:cNvSpPr txBox="1"/>
          <p:nvPr/>
        </p:nvSpPr>
        <p:spPr>
          <a:xfrm>
            <a:off x="4932040" y="3914172"/>
            <a:ext cx="2598788" cy="307777"/>
          </a:xfrm>
          <a:prstGeom prst="rect">
            <a:avLst/>
          </a:prstGeom>
          <a:solidFill>
            <a:srgbClr val="FFFF00"/>
          </a:solidFill>
          <a:ln>
            <a:solidFill>
              <a:schemeClr val="tx1"/>
            </a:solidFill>
          </a:ln>
        </p:spPr>
        <p:txBody>
          <a:bodyPr wrap="none" rtlCol="1">
            <a:spAutoFit/>
          </a:bodyPr>
          <a:lstStyle/>
          <a:p>
            <a:r>
              <a:rPr lang="he-IL" b="1" dirty="0">
                <a:solidFill>
                  <a:srgbClr val="FF0000"/>
                </a:solidFill>
              </a:rPr>
              <a:t>1907 – </a:t>
            </a:r>
            <a:r>
              <a:rPr lang="he-IL" b="1" dirty="0">
                <a:solidFill>
                  <a:schemeClr val="tx1"/>
                </a:solidFill>
              </a:rPr>
              <a:t>כאן</a:t>
            </a:r>
            <a:r>
              <a:rPr lang="he-IL" b="1" dirty="0">
                <a:solidFill>
                  <a:srgbClr val="FF0000"/>
                </a:solidFill>
              </a:rPr>
              <a:t> </a:t>
            </a:r>
            <a:r>
              <a:rPr lang="he-IL" b="1" dirty="0"/>
              <a:t>נוסד ארגון 'בר-גיורא'</a:t>
            </a:r>
          </a:p>
        </p:txBody>
      </p:sp>
      <p:sp>
        <p:nvSpPr>
          <p:cNvPr id="15" name="TextBox 14"/>
          <p:cNvSpPr txBox="1"/>
          <p:nvPr/>
        </p:nvSpPr>
        <p:spPr>
          <a:xfrm>
            <a:off x="8281938" y="81398"/>
            <a:ext cx="641521" cy="338554"/>
          </a:xfrm>
          <a:prstGeom prst="rect">
            <a:avLst/>
          </a:prstGeom>
          <a:solidFill>
            <a:srgbClr val="76E3FF"/>
          </a:solidFill>
          <a:ln>
            <a:solidFill>
              <a:schemeClr val="tx1"/>
            </a:solidFill>
          </a:ln>
        </p:spPr>
        <p:txBody>
          <a:bodyPr wrap="none" rtlCol="1">
            <a:spAutoFit/>
          </a:bodyPr>
          <a:lstStyle/>
          <a:p>
            <a:r>
              <a:rPr lang="he-IL" sz="1600" b="1" dirty="0"/>
              <a:t>בערב</a:t>
            </a:r>
          </a:p>
        </p:txBody>
      </p:sp>
      <p:sp>
        <p:nvSpPr>
          <p:cNvPr id="18" name="TextBox 17"/>
          <p:cNvSpPr txBox="1"/>
          <p:nvPr/>
        </p:nvSpPr>
        <p:spPr>
          <a:xfrm>
            <a:off x="3275856" y="692700"/>
            <a:ext cx="3265639" cy="1169551"/>
          </a:xfrm>
          <a:prstGeom prst="rect">
            <a:avLst/>
          </a:prstGeom>
          <a:noFill/>
          <a:ln>
            <a:solidFill>
              <a:srgbClr val="2217F5"/>
            </a:solidFill>
          </a:ln>
        </p:spPr>
        <p:txBody>
          <a:bodyPr wrap="none" rtlCol="1">
            <a:spAutoFit/>
          </a:bodyPr>
          <a:lstStyle/>
          <a:p>
            <a:pPr algn="r" rtl="1"/>
            <a:r>
              <a:rPr lang="he-IL" b="1" dirty="0">
                <a:solidFill>
                  <a:srgbClr val="FF0000"/>
                </a:solidFill>
              </a:rPr>
              <a:t>תפילת שחרית </a:t>
            </a:r>
            <a:r>
              <a:rPr lang="he-IL" b="1" dirty="0"/>
              <a:t>בחדרם. הרב קוק משוחח </a:t>
            </a:r>
          </a:p>
          <a:p>
            <a:pPr algn="r" rtl="1"/>
            <a:r>
              <a:rPr lang="he-IL" b="1" dirty="0"/>
              <a:t>עם השומרים, ביקר במשקים בעיקר ממוצא </a:t>
            </a:r>
          </a:p>
          <a:p>
            <a:pPr algn="r" rtl="1"/>
            <a:r>
              <a:rPr lang="he-IL" b="1" dirty="0"/>
              <a:t>רוסי שהתגיירו.</a:t>
            </a:r>
          </a:p>
          <a:p>
            <a:pPr algn="r" rtl="1"/>
            <a:r>
              <a:rPr lang="he-IL" b="1" dirty="0"/>
              <a:t>איחר לתפילה. לרב </a:t>
            </a:r>
            <a:r>
              <a:rPr lang="he-IL" b="1" dirty="0" err="1"/>
              <a:t>חרל"פ</a:t>
            </a:r>
            <a:r>
              <a:rPr lang="he-IL" b="1" dirty="0"/>
              <a:t>: </a:t>
            </a:r>
            <a:r>
              <a:rPr lang="he-IL" b="1" dirty="0">
                <a:solidFill>
                  <a:srgbClr val="FF0000"/>
                </a:solidFill>
              </a:rPr>
              <a:t>תקפה אותו </a:t>
            </a:r>
          </a:p>
          <a:p>
            <a:pPr algn="r" rtl="1"/>
            <a:r>
              <a:rPr lang="he-IL" b="1" dirty="0">
                <a:solidFill>
                  <a:srgbClr val="FF0000"/>
                </a:solidFill>
              </a:rPr>
              <a:t>אהבה עד כלות הנפש לישראל וא"י.</a:t>
            </a:r>
          </a:p>
        </p:txBody>
      </p:sp>
      <p:sp>
        <p:nvSpPr>
          <p:cNvPr id="16" name="TextBox 15"/>
          <p:cNvSpPr txBox="1"/>
          <p:nvPr/>
        </p:nvSpPr>
        <p:spPr>
          <a:xfrm>
            <a:off x="341680" y="3092582"/>
            <a:ext cx="2664512" cy="307777"/>
          </a:xfrm>
          <a:prstGeom prst="rect">
            <a:avLst/>
          </a:prstGeom>
          <a:noFill/>
          <a:ln w="12700">
            <a:solidFill>
              <a:srgbClr val="2217F5"/>
            </a:solidFill>
          </a:ln>
        </p:spPr>
        <p:txBody>
          <a:bodyPr wrap="none" rtlCol="1">
            <a:spAutoFit/>
          </a:bodyPr>
          <a:lstStyle/>
          <a:p>
            <a:pPr algn="r" rtl="1"/>
            <a:r>
              <a:rPr lang="he-IL" b="1" dirty="0"/>
              <a:t>מכתב </a:t>
            </a:r>
            <a:r>
              <a:rPr lang="he-IL" b="1" dirty="0">
                <a:solidFill>
                  <a:schemeClr val="tx1"/>
                </a:solidFill>
              </a:rPr>
              <a:t>מחברי</a:t>
            </a:r>
            <a:r>
              <a:rPr lang="he-IL" b="1" dirty="0"/>
              <a:t> הועד שידונו באסיפה</a:t>
            </a:r>
          </a:p>
        </p:txBody>
      </p:sp>
      <p:sp>
        <p:nvSpPr>
          <p:cNvPr id="17" name="TextBox 16"/>
          <p:cNvSpPr txBox="1"/>
          <p:nvPr/>
        </p:nvSpPr>
        <p:spPr>
          <a:xfrm>
            <a:off x="571275" y="3671663"/>
            <a:ext cx="2154757" cy="523220"/>
          </a:xfrm>
          <a:prstGeom prst="rect">
            <a:avLst/>
          </a:prstGeom>
          <a:noFill/>
          <a:ln w="12700">
            <a:solidFill>
              <a:srgbClr val="2217F5"/>
            </a:solidFill>
          </a:ln>
        </p:spPr>
        <p:txBody>
          <a:bodyPr wrap="none" rtlCol="1">
            <a:spAutoFit/>
          </a:bodyPr>
          <a:lstStyle/>
          <a:p>
            <a:pPr algn="r" rtl="1"/>
            <a:r>
              <a:rPr lang="he-IL" b="1" dirty="0"/>
              <a:t>בדרך ליבנאל העגלות שקעו</a:t>
            </a:r>
          </a:p>
          <a:p>
            <a:pPr algn="r" rtl="1"/>
            <a:r>
              <a:rPr lang="he-IL" b="1" dirty="0"/>
              <a:t>בבוץ, עזרו לנקות הגלגלים.</a:t>
            </a:r>
          </a:p>
        </p:txBody>
      </p:sp>
      <p:sp>
        <p:nvSpPr>
          <p:cNvPr id="19" name="TextBox 18"/>
          <p:cNvSpPr txBox="1"/>
          <p:nvPr/>
        </p:nvSpPr>
        <p:spPr>
          <a:xfrm>
            <a:off x="5364091" y="6453340"/>
            <a:ext cx="184731" cy="307777"/>
          </a:xfrm>
          <a:prstGeom prst="rect">
            <a:avLst/>
          </a:prstGeom>
          <a:noFill/>
        </p:spPr>
        <p:txBody>
          <a:bodyPr wrap="none" rtlCol="1">
            <a:spAutoFit/>
          </a:bodyPr>
          <a:lstStyle/>
          <a:p>
            <a:endParaRPr lang="he-IL" b="1" dirty="0"/>
          </a:p>
        </p:txBody>
      </p:sp>
      <p:sp>
        <p:nvSpPr>
          <p:cNvPr id="20" name="TextBox 19"/>
          <p:cNvSpPr txBox="1"/>
          <p:nvPr/>
        </p:nvSpPr>
        <p:spPr>
          <a:xfrm>
            <a:off x="3133190" y="2348884"/>
            <a:ext cx="3374643" cy="1169551"/>
          </a:xfrm>
          <a:prstGeom prst="rect">
            <a:avLst/>
          </a:prstGeom>
          <a:noFill/>
          <a:ln>
            <a:solidFill>
              <a:srgbClr val="2217F5"/>
            </a:solidFill>
          </a:ln>
        </p:spPr>
        <p:txBody>
          <a:bodyPr wrap="none" rtlCol="1">
            <a:spAutoFit/>
          </a:bodyPr>
          <a:lstStyle/>
          <a:p>
            <a:pPr algn="r" rtl="1"/>
            <a:r>
              <a:rPr lang="he-IL" b="1" dirty="0"/>
              <a:t>הרב קוק: דיבר על דרישת הרבנים.</a:t>
            </a:r>
          </a:p>
          <a:p>
            <a:pPr algn="r" rtl="1"/>
            <a:r>
              <a:rPr lang="he-IL" b="1" dirty="0">
                <a:solidFill>
                  <a:schemeClr val="tx1"/>
                </a:solidFill>
              </a:rPr>
              <a:t>עוזר מהנדס – מחר ידרשו עוד מצוות. הסביר</a:t>
            </a:r>
          </a:p>
          <a:p>
            <a:pPr algn="r" rtl="1"/>
            <a:r>
              <a:rPr lang="he-IL" b="1" dirty="0">
                <a:solidFill>
                  <a:schemeClr val="tx1"/>
                </a:solidFill>
              </a:rPr>
              <a:t>מטרתם להראות לגולה שהצילו את התורה</a:t>
            </a:r>
          </a:p>
          <a:p>
            <a:pPr algn="r" rtl="1"/>
            <a:r>
              <a:rPr lang="he-IL" b="1" dirty="0">
                <a:solidFill>
                  <a:schemeClr val="tx1"/>
                </a:solidFill>
              </a:rPr>
              <a:t>מאויביה. תקנו את הישוב הישן </a:t>
            </a:r>
            <a:r>
              <a:rPr lang="he-IL" b="1" dirty="0" err="1">
                <a:solidFill>
                  <a:schemeClr val="tx1"/>
                </a:solidFill>
              </a:rPr>
              <a:t>מ'החלוקה</a:t>
            </a:r>
            <a:r>
              <a:rPr lang="he-IL" b="1" dirty="0">
                <a:solidFill>
                  <a:schemeClr val="tx1"/>
                </a:solidFill>
              </a:rPr>
              <a:t>'.</a:t>
            </a:r>
          </a:p>
          <a:p>
            <a:pPr algn="r" rtl="1"/>
            <a:r>
              <a:rPr lang="he-IL" b="1" dirty="0"/>
              <a:t>הרב קוק: </a:t>
            </a:r>
            <a:r>
              <a:rPr lang="he-IL" b="1" dirty="0">
                <a:solidFill>
                  <a:srgbClr val="FF0000"/>
                </a:solidFill>
              </a:rPr>
              <a:t>'</a:t>
            </a:r>
            <a:r>
              <a:rPr lang="he-IL" b="1" dirty="0" err="1">
                <a:solidFill>
                  <a:srgbClr val="FF0000"/>
                </a:solidFill>
              </a:rPr>
              <a:t>חוצפתא</a:t>
            </a:r>
            <a:r>
              <a:rPr lang="he-IL" b="1" dirty="0">
                <a:solidFill>
                  <a:srgbClr val="FF0000"/>
                </a:solidFill>
              </a:rPr>
              <a:t> </a:t>
            </a:r>
            <a:r>
              <a:rPr lang="he-IL" b="1" dirty="0" err="1">
                <a:solidFill>
                  <a:srgbClr val="FF0000"/>
                </a:solidFill>
              </a:rPr>
              <a:t>ישגא</a:t>
            </a:r>
            <a:r>
              <a:rPr lang="he-IL" b="1" dirty="0">
                <a:solidFill>
                  <a:srgbClr val="FF0000"/>
                </a:solidFill>
              </a:rPr>
              <a:t>'.</a:t>
            </a:r>
          </a:p>
        </p:txBody>
      </p:sp>
      <p:sp>
        <p:nvSpPr>
          <p:cNvPr id="21" name="TextBox 20"/>
          <p:cNvSpPr txBox="1"/>
          <p:nvPr/>
        </p:nvSpPr>
        <p:spPr>
          <a:xfrm>
            <a:off x="5651294" y="1957523"/>
            <a:ext cx="824265" cy="338554"/>
          </a:xfrm>
          <a:prstGeom prst="rect">
            <a:avLst/>
          </a:prstGeom>
          <a:solidFill>
            <a:srgbClr val="76E3FF"/>
          </a:solidFill>
          <a:ln>
            <a:solidFill>
              <a:schemeClr val="tx1"/>
            </a:solidFill>
          </a:ln>
        </p:spPr>
        <p:txBody>
          <a:bodyPr wrap="none" rtlCol="1">
            <a:spAutoFit/>
          </a:bodyPr>
          <a:lstStyle/>
          <a:p>
            <a:pPr algn="r" rtl="1"/>
            <a:r>
              <a:rPr lang="he-IL" sz="1600" b="1" dirty="0">
                <a:solidFill>
                  <a:schemeClr val="tx1"/>
                </a:solidFill>
              </a:rPr>
              <a:t>בצהרים</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86118" y="285732"/>
            <a:ext cx="2831801" cy="307777"/>
          </a:xfrm>
          <a:prstGeom prst="rect">
            <a:avLst/>
          </a:prstGeom>
          <a:noFill/>
          <a:ln w="38100">
            <a:noFill/>
          </a:ln>
        </p:spPr>
        <p:txBody>
          <a:bodyPr wrap="square" rtlCol="1">
            <a:spAutoFit/>
          </a:bodyPr>
          <a:lstStyle/>
          <a:p>
            <a:endParaRPr lang="he-IL" dirty="0"/>
          </a:p>
        </p:txBody>
      </p:sp>
      <p:pic>
        <p:nvPicPr>
          <p:cNvPr id="16386" name="Picture 2" descr="Yavneel local sign 01.jpg"/>
          <p:cNvPicPr>
            <a:picLocks noChangeAspect="1" noChangeArrowheads="1"/>
          </p:cNvPicPr>
          <p:nvPr/>
        </p:nvPicPr>
        <p:blipFill>
          <a:blip r:embed="rId2"/>
          <a:srcRect/>
          <a:stretch>
            <a:fillRect/>
          </a:stretch>
        </p:blipFill>
        <p:spPr bwMode="auto">
          <a:xfrm>
            <a:off x="7020272" y="188644"/>
            <a:ext cx="1728192" cy="691277"/>
          </a:xfrm>
          <a:prstGeom prst="rect">
            <a:avLst/>
          </a:prstGeom>
          <a:noFill/>
          <a:ln w="38100">
            <a:solidFill>
              <a:srgbClr val="FF0000"/>
            </a:solidFill>
          </a:ln>
        </p:spPr>
      </p:pic>
      <p:pic>
        <p:nvPicPr>
          <p:cNvPr id="16388" name="Picture 4" descr="קובץ:Yavneel early 20s.jpg"/>
          <p:cNvPicPr>
            <a:picLocks noChangeAspect="1" noChangeArrowheads="1"/>
          </p:cNvPicPr>
          <p:nvPr/>
        </p:nvPicPr>
        <p:blipFill>
          <a:blip r:embed="rId3"/>
          <a:srcRect/>
          <a:stretch>
            <a:fillRect/>
          </a:stretch>
        </p:blipFill>
        <p:spPr bwMode="auto">
          <a:xfrm>
            <a:off x="179512" y="1845256"/>
            <a:ext cx="2865706" cy="1859127"/>
          </a:xfrm>
          <a:prstGeom prst="rect">
            <a:avLst/>
          </a:prstGeom>
          <a:noFill/>
          <a:ln w="38100">
            <a:solidFill>
              <a:srgbClr val="FF0000"/>
            </a:solidFill>
          </a:ln>
        </p:spPr>
      </p:pic>
      <p:pic>
        <p:nvPicPr>
          <p:cNvPr id="57345" name="Picture 1" descr="C:\Users\123\Pictures\תשע'ד-א'-ד'\009.jpg"/>
          <p:cNvPicPr>
            <a:picLocks noChangeAspect="1" noChangeArrowheads="1"/>
          </p:cNvPicPr>
          <p:nvPr/>
        </p:nvPicPr>
        <p:blipFill>
          <a:blip r:embed="rId4"/>
          <a:srcRect l="2484" t="2802" r="637" b="26934"/>
          <a:stretch>
            <a:fillRect/>
          </a:stretch>
        </p:blipFill>
        <p:spPr bwMode="auto">
          <a:xfrm>
            <a:off x="5634042" y="4295055"/>
            <a:ext cx="3183284" cy="2047028"/>
          </a:xfrm>
          <a:prstGeom prst="rect">
            <a:avLst/>
          </a:prstGeom>
          <a:noFill/>
          <a:ln w="38100">
            <a:solidFill>
              <a:srgbClr val="FF0000"/>
            </a:solidFill>
          </a:ln>
        </p:spPr>
      </p:pic>
      <p:sp>
        <p:nvSpPr>
          <p:cNvPr id="9" name="TextBox 8"/>
          <p:cNvSpPr txBox="1"/>
          <p:nvPr/>
        </p:nvSpPr>
        <p:spPr>
          <a:xfrm>
            <a:off x="1643042" y="6215086"/>
            <a:ext cx="184731" cy="307777"/>
          </a:xfrm>
          <a:prstGeom prst="rect">
            <a:avLst/>
          </a:prstGeom>
          <a:noFill/>
          <a:ln w="38100">
            <a:noFill/>
          </a:ln>
        </p:spPr>
        <p:txBody>
          <a:bodyPr wrap="none" rtlCol="1">
            <a:spAutoFit/>
          </a:bodyPr>
          <a:lstStyle/>
          <a:p>
            <a:endParaRPr lang="he-IL" dirty="0"/>
          </a:p>
        </p:txBody>
      </p:sp>
      <p:sp>
        <p:nvSpPr>
          <p:cNvPr id="3" name="TextBox 2"/>
          <p:cNvSpPr txBox="1"/>
          <p:nvPr/>
        </p:nvSpPr>
        <p:spPr>
          <a:xfrm>
            <a:off x="2483768" y="3284984"/>
            <a:ext cx="184731" cy="307777"/>
          </a:xfrm>
          <a:prstGeom prst="rect">
            <a:avLst/>
          </a:prstGeom>
          <a:noFill/>
          <a:ln w="38100">
            <a:noFill/>
          </a:ln>
        </p:spPr>
        <p:txBody>
          <a:bodyPr wrap="none" rtlCol="1">
            <a:spAutoFit/>
          </a:bodyPr>
          <a:lstStyle/>
          <a:p>
            <a:endParaRPr lang="he-IL" dirty="0"/>
          </a:p>
        </p:txBody>
      </p:sp>
      <p:pic>
        <p:nvPicPr>
          <p:cNvPr id="143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4250" y="1772820"/>
            <a:ext cx="2144894" cy="1938349"/>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14" name="TextBox 13"/>
          <p:cNvSpPr txBox="1"/>
          <p:nvPr/>
        </p:nvSpPr>
        <p:spPr>
          <a:xfrm>
            <a:off x="2457480" y="105058"/>
            <a:ext cx="4243469" cy="369332"/>
          </a:xfrm>
          <a:prstGeom prst="rect">
            <a:avLst/>
          </a:prstGeom>
          <a:solidFill>
            <a:srgbClr val="FFFF00"/>
          </a:solidFill>
          <a:ln>
            <a:solidFill>
              <a:schemeClr val="tx1"/>
            </a:solidFill>
          </a:ln>
        </p:spPr>
        <p:txBody>
          <a:bodyPr wrap="none" rtlCol="1">
            <a:spAutoFit/>
          </a:bodyPr>
          <a:lstStyle/>
          <a:p>
            <a:pPr algn="r" rtl="1"/>
            <a:r>
              <a:rPr lang="he-IL" sz="1800" b="1" dirty="0"/>
              <a:t>בבית גן, במושבה יבנאל – </a:t>
            </a:r>
            <a:r>
              <a:rPr lang="he-IL" sz="1800" b="1" dirty="0">
                <a:solidFill>
                  <a:srgbClr val="FF0000"/>
                </a:solidFill>
              </a:rPr>
              <a:t>יום ו', כ"ח בחשון</a:t>
            </a:r>
          </a:p>
        </p:txBody>
      </p:sp>
      <p:sp>
        <p:nvSpPr>
          <p:cNvPr id="17" name="TextBox 16"/>
          <p:cNvSpPr txBox="1"/>
          <p:nvPr/>
        </p:nvSpPr>
        <p:spPr>
          <a:xfrm>
            <a:off x="4906552" y="6401696"/>
            <a:ext cx="4227439" cy="307777"/>
          </a:xfrm>
          <a:prstGeom prst="rect">
            <a:avLst/>
          </a:prstGeom>
          <a:noFill/>
        </p:spPr>
        <p:txBody>
          <a:bodyPr wrap="none" rtlCol="1">
            <a:spAutoFit/>
          </a:bodyPr>
          <a:lstStyle/>
          <a:p>
            <a:r>
              <a:rPr lang="he-IL" b="1" dirty="0"/>
              <a:t>כאן נפגשו עם המשלחת, בקומה השנייה היה בית הכנסת</a:t>
            </a:r>
          </a:p>
        </p:txBody>
      </p:sp>
      <p:sp>
        <p:nvSpPr>
          <p:cNvPr id="18" name="TextBox 17"/>
          <p:cNvSpPr txBox="1"/>
          <p:nvPr/>
        </p:nvSpPr>
        <p:spPr>
          <a:xfrm>
            <a:off x="1102903" y="6427565"/>
            <a:ext cx="1991251" cy="307777"/>
          </a:xfrm>
          <a:prstGeom prst="rect">
            <a:avLst/>
          </a:prstGeom>
          <a:noFill/>
        </p:spPr>
        <p:txBody>
          <a:bodyPr wrap="none" rtlCol="1">
            <a:spAutoFit/>
          </a:bodyPr>
          <a:lstStyle/>
          <a:p>
            <a:r>
              <a:rPr lang="he-IL" b="1" dirty="0"/>
              <a:t>בית הספר ביבנאל, 1914</a:t>
            </a:r>
          </a:p>
        </p:txBody>
      </p:sp>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538" y="4005064"/>
            <a:ext cx="3405983" cy="2363906"/>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22" name="TextBox 21"/>
          <p:cNvSpPr txBox="1"/>
          <p:nvPr/>
        </p:nvSpPr>
        <p:spPr>
          <a:xfrm>
            <a:off x="7452384" y="980728"/>
            <a:ext cx="1404552" cy="523220"/>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1901 – </a:t>
            </a:r>
            <a:r>
              <a:rPr lang="he-IL" b="1" dirty="0"/>
              <a:t>ע"י </a:t>
            </a:r>
            <a:r>
              <a:rPr lang="he-IL" b="1" dirty="0" err="1"/>
              <a:t>יק"א</a:t>
            </a:r>
            <a:endParaRPr lang="he-IL" b="1" dirty="0"/>
          </a:p>
          <a:p>
            <a:pPr algn="r" rtl="1"/>
            <a:r>
              <a:rPr lang="he-IL" b="1" dirty="0"/>
              <a:t>40 משפחות</a:t>
            </a:r>
          </a:p>
        </p:txBody>
      </p:sp>
      <p:sp>
        <p:nvSpPr>
          <p:cNvPr id="23" name="TextBox 22"/>
          <p:cNvSpPr txBox="1"/>
          <p:nvPr/>
        </p:nvSpPr>
        <p:spPr>
          <a:xfrm>
            <a:off x="3406925" y="692700"/>
            <a:ext cx="3374706" cy="1169551"/>
          </a:xfrm>
          <a:prstGeom prst="rect">
            <a:avLst/>
          </a:prstGeom>
          <a:noFill/>
          <a:ln>
            <a:solidFill>
              <a:srgbClr val="2217F5"/>
            </a:solidFill>
          </a:ln>
        </p:spPr>
        <p:txBody>
          <a:bodyPr wrap="none" rtlCol="1">
            <a:spAutoFit/>
          </a:bodyPr>
          <a:lstStyle/>
          <a:p>
            <a:pPr algn="r" rtl="1"/>
            <a:r>
              <a:rPr lang="he-IL" b="1" dirty="0"/>
              <a:t>8 </a:t>
            </a:r>
            <a:r>
              <a:rPr lang="he-IL" b="1" dirty="0" err="1"/>
              <a:t>אכרים</a:t>
            </a:r>
            <a:r>
              <a:rPr lang="he-IL" b="1" dirty="0"/>
              <a:t> מיבנאל על סוסים באו לקראתם.</a:t>
            </a:r>
          </a:p>
          <a:p>
            <a:pPr algn="r" rtl="1"/>
            <a:r>
              <a:rPr lang="he-IL" b="1" dirty="0"/>
              <a:t>הרבנים קוק, הורוביץ, </a:t>
            </a:r>
            <a:r>
              <a:rPr lang="he-IL" b="1" dirty="0" err="1"/>
              <a:t>יאדלר</a:t>
            </a:r>
            <a:r>
              <a:rPr lang="he-IL" b="1" dirty="0"/>
              <a:t> – על סוסים.</a:t>
            </a:r>
          </a:p>
          <a:p>
            <a:pPr algn="r" rtl="1"/>
            <a:endParaRPr lang="he-IL" b="1" dirty="0"/>
          </a:p>
          <a:p>
            <a:pPr algn="r" rtl="1"/>
            <a:r>
              <a:rPr lang="he-IL" b="1" dirty="0"/>
              <a:t>נכנסו לבית וגן, הזמינו אותם למוצ"ש ביבנאל</a:t>
            </a:r>
          </a:p>
          <a:p>
            <a:pPr algn="r" rtl="1"/>
            <a:r>
              <a:rPr lang="he-IL" b="1" dirty="0" err="1"/>
              <a:t>בבהכ"ס</a:t>
            </a:r>
            <a:r>
              <a:rPr lang="he-IL" b="1" dirty="0"/>
              <a:t> – גר צדק בכה על החינוך.</a:t>
            </a:r>
          </a:p>
        </p:txBody>
      </p:sp>
      <p:sp>
        <p:nvSpPr>
          <p:cNvPr id="26" name="TextBox 25"/>
          <p:cNvSpPr txBox="1"/>
          <p:nvPr/>
        </p:nvSpPr>
        <p:spPr>
          <a:xfrm>
            <a:off x="5833231" y="3429003"/>
            <a:ext cx="333746" cy="307777"/>
          </a:xfrm>
          <a:prstGeom prst="rect">
            <a:avLst/>
          </a:prstGeom>
          <a:noFill/>
        </p:spPr>
        <p:txBody>
          <a:bodyPr wrap="none" rtlCol="1">
            <a:spAutoFit/>
          </a:bodyPr>
          <a:lstStyle/>
          <a:p>
            <a:pPr algn="r" rtl="1"/>
            <a:r>
              <a:rPr lang="he-IL" b="1" dirty="0"/>
              <a:t>   </a:t>
            </a:r>
          </a:p>
        </p:txBody>
      </p:sp>
      <p:pic>
        <p:nvPicPr>
          <p:cNvPr id="27" name="Picture 3"/>
          <p:cNvPicPr>
            <a:picLocks noChangeAspect="1" noChangeArrowheads="1"/>
          </p:cNvPicPr>
          <p:nvPr/>
        </p:nvPicPr>
        <p:blipFill>
          <a:blip r:embed="rId7">
            <a:extLst>
              <a:ext uri="{28A0092B-C50C-407E-A947-70E740481C1C}">
                <a14:useLocalDpi xmlns:a14="http://schemas.microsoft.com/office/drawing/2010/main" val="0"/>
              </a:ext>
            </a:extLst>
          </a:blip>
          <a:srcRect l="13411" t="8910" r="19438" b="7900"/>
          <a:stretch>
            <a:fillRect/>
          </a:stretch>
        </p:blipFill>
        <p:spPr bwMode="auto">
          <a:xfrm>
            <a:off x="4397888" y="3549616"/>
            <a:ext cx="834759" cy="1186237"/>
          </a:xfrm>
          <a:prstGeom prst="rect">
            <a:avLst/>
          </a:prstGeom>
          <a:noFill/>
          <a:ln w="38100">
            <a:solidFill>
              <a:srgbClr val="2217F5"/>
            </a:solidFill>
          </a:ln>
          <a:extLst>
            <a:ext uri="{909E8E84-426E-40DD-AFC4-6F175D3DCCD1}">
              <a14:hiddenFill xmlns:a14="http://schemas.microsoft.com/office/drawing/2010/main">
                <a:solidFill>
                  <a:schemeClr val="accent1"/>
                </a:solidFill>
              </a14:hiddenFill>
            </a:ext>
          </a:extLst>
        </p:spPr>
      </p:pic>
      <p:sp>
        <p:nvSpPr>
          <p:cNvPr id="28" name="TextBox 27"/>
          <p:cNvSpPr txBox="1"/>
          <p:nvPr/>
        </p:nvSpPr>
        <p:spPr>
          <a:xfrm>
            <a:off x="3811184" y="4795951"/>
            <a:ext cx="1601785" cy="1384995"/>
          </a:xfrm>
          <a:prstGeom prst="rect">
            <a:avLst/>
          </a:prstGeom>
          <a:noFill/>
        </p:spPr>
        <p:txBody>
          <a:bodyPr wrap="none" rtlCol="1">
            <a:spAutoFit/>
          </a:bodyPr>
          <a:lstStyle/>
          <a:p>
            <a:pPr algn="r" rtl="1"/>
            <a:r>
              <a:rPr lang="he-IL" b="1" dirty="0"/>
              <a:t>יואב </a:t>
            </a:r>
            <a:r>
              <a:rPr lang="he-IL" b="1" dirty="0" err="1"/>
              <a:t>דוברובין</a:t>
            </a:r>
            <a:endParaRPr lang="he-IL" b="1" dirty="0"/>
          </a:p>
          <a:p>
            <a:pPr algn="r" rtl="1"/>
            <a:r>
              <a:rPr lang="he-IL" b="1" dirty="0"/>
              <a:t>גר צדק מרוסיה</a:t>
            </a:r>
          </a:p>
          <a:p>
            <a:pPr algn="r" rtl="1"/>
            <a:endParaRPr lang="he-IL" b="1" dirty="0"/>
          </a:p>
          <a:p>
            <a:pPr algn="r" rtl="1"/>
            <a:r>
              <a:rPr lang="he-IL" b="1" dirty="0"/>
              <a:t>ביקש להקים בית</a:t>
            </a:r>
          </a:p>
          <a:p>
            <a:pPr algn="r" rtl="1"/>
            <a:r>
              <a:rPr lang="he-IL" b="1" dirty="0"/>
              <a:t>ספר דתי, כל השבת</a:t>
            </a:r>
          </a:p>
          <a:p>
            <a:pPr algn="r" rtl="1"/>
            <a:r>
              <a:rPr lang="he-IL" b="1" dirty="0"/>
              <a:t>איתם</a:t>
            </a:r>
          </a:p>
        </p:txBody>
      </p:sp>
      <p:sp>
        <p:nvSpPr>
          <p:cNvPr id="21" name="TextBox 20"/>
          <p:cNvSpPr txBox="1"/>
          <p:nvPr/>
        </p:nvSpPr>
        <p:spPr>
          <a:xfrm>
            <a:off x="3202877" y="2413283"/>
            <a:ext cx="3498072" cy="954107"/>
          </a:xfrm>
          <a:prstGeom prst="rect">
            <a:avLst/>
          </a:prstGeom>
          <a:noFill/>
          <a:ln>
            <a:solidFill>
              <a:srgbClr val="2217F5"/>
            </a:solidFill>
          </a:ln>
        </p:spPr>
        <p:txBody>
          <a:bodyPr wrap="none" rtlCol="1">
            <a:spAutoFit/>
          </a:bodyPr>
          <a:lstStyle/>
          <a:p>
            <a:pPr algn="r" rtl="1"/>
            <a:r>
              <a:rPr lang="he-IL" b="1" dirty="0"/>
              <a:t>לאחר קבלת שבת – הרב </a:t>
            </a:r>
            <a:r>
              <a:rPr lang="he-IL" b="1" dirty="0" err="1"/>
              <a:t>קלירס</a:t>
            </a:r>
            <a:r>
              <a:rPr lang="he-IL" b="1" dirty="0"/>
              <a:t> דרש.</a:t>
            </a:r>
          </a:p>
          <a:p>
            <a:pPr algn="r" rtl="1"/>
            <a:r>
              <a:rPr lang="he-IL" b="1" dirty="0"/>
              <a:t>בשחרית - הרב קוק, הרב חרל"פ והרב הורביץ.</a:t>
            </a:r>
          </a:p>
          <a:p>
            <a:pPr algn="r" rtl="1"/>
            <a:r>
              <a:rPr lang="he-IL" b="1" dirty="0"/>
              <a:t>הגיעו 2 </a:t>
            </a:r>
            <a:r>
              <a:rPr lang="he-IL" b="1" dirty="0" err="1"/>
              <a:t>מפוריה</a:t>
            </a:r>
            <a:r>
              <a:rPr lang="he-IL" b="1" dirty="0"/>
              <a:t> ביקשו שיבואו, השאיר אותם </a:t>
            </a:r>
          </a:p>
          <a:p>
            <a:pPr algn="r" rtl="1"/>
            <a:r>
              <a:rPr lang="he-IL" b="1" dirty="0"/>
              <a:t>במקום. רוצים </a:t>
            </a:r>
            <a:r>
              <a:rPr lang="he-IL" b="1" dirty="0" err="1"/>
              <a:t>שיק"א</a:t>
            </a:r>
            <a:r>
              <a:rPr lang="he-IL" b="1" dirty="0"/>
              <a:t> </a:t>
            </a:r>
            <a:r>
              <a:rPr lang="he-IL" b="1" dirty="0" err="1"/>
              <a:t>תתן</a:t>
            </a:r>
            <a:r>
              <a:rPr lang="he-IL" b="1" dirty="0"/>
              <a:t> את ביה"ס.</a:t>
            </a:r>
          </a:p>
        </p:txBody>
      </p:sp>
      <p:sp>
        <p:nvSpPr>
          <p:cNvPr id="29" name="TextBox 28"/>
          <p:cNvSpPr txBox="1"/>
          <p:nvPr/>
        </p:nvSpPr>
        <p:spPr>
          <a:xfrm>
            <a:off x="3577177" y="2025437"/>
            <a:ext cx="2749472" cy="307777"/>
          </a:xfrm>
          <a:prstGeom prst="rect">
            <a:avLst/>
          </a:prstGeom>
          <a:solidFill>
            <a:srgbClr val="76E3FF"/>
          </a:solidFill>
          <a:ln>
            <a:solidFill>
              <a:schemeClr val="tx1"/>
            </a:solidFill>
          </a:ln>
        </p:spPr>
        <p:txBody>
          <a:bodyPr wrap="none" rtlCol="1">
            <a:spAutoFit/>
          </a:bodyPr>
          <a:lstStyle/>
          <a:p>
            <a:pPr algn="r" rtl="1"/>
            <a:r>
              <a:rPr lang="he-IL" b="1" dirty="0"/>
              <a:t>בצהרים ביבנאל. שבת – פרשת ויצא</a:t>
            </a:r>
          </a:p>
        </p:txBody>
      </p:sp>
      <p:sp>
        <p:nvSpPr>
          <p:cNvPr id="30" name="TextBox 29"/>
          <p:cNvSpPr txBox="1"/>
          <p:nvPr/>
        </p:nvSpPr>
        <p:spPr>
          <a:xfrm>
            <a:off x="1053209" y="769791"/>
            <a:ext cx="926857" cy="523220"/>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בבית וגן</a:t>
            </a:r>
            <a:endParaRPr lang="he-IL" b="1" dirty="0"/>
          </a:p>
          <a:p>
            <a:pPr algn="r" rtl="1"/>
            <a:r>
              <a:rPr lang="he-IL" b="1" dirty="0"/>
              <a:t>20 איכרים</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descr="C:\Users\123\Pictures\תשע'ד-א'-ד'\003.jpg"/>
          <p:cNvPicPr>
            <a:picLocks noChangeAspect="1" noChangeArrowheads="1"/>
          </p:cNvPicPr>
          <p:nvPr/>
        </p:nvPicPr>
        <p:blipFill>
          <a:blip r:embed="rId2"/>
          <a:srcRect l="2034" r="2081"/>
          <a:stretch>
            <a:fillRect/>
          </a:stretch>
        </p:blipFill>
        <p:spPr bwMode="auto">
          <a:xfrm rot="10800000">
            <a:off x="5580112" y="332660"/>
            <a:ext cx="3393786" cy="1815529"/>
          </a:xfrm>
          <a:prstGeom prst="rect">
            <a:avLst/>
          </a:prstGeom>
          <a:noFill/>
          <a:ln w="38100">
            <a:solidFill>
              <a:srgbClr val="FF0000"/>
            </a:solidFill>
          </a:ln>
        </p:spPr>
      </p:pic>
      <p:sp>
        <p:nvSpPr>
          <p:cNvPr id="3" name="TextBox 2"/>
          <p:cNvSpPr txBox="1"/>
          <p:nvPr/>
        </p:nvSpPr>
        <p:spPr>
          <a:xfrm>
            <a:off x="6942915" y="2187095"/>
            <a:ext cx="582211" cy="523220"/>
          </a:xfrm>
          <a:prstGeom prst="rect">
            <a:avLst/>
          </a:prstGeom>
          <a:noFill/>
        </p:spPr>
        <p:txBody>
          <a:bodyPr wrap="none" rtlCol="1">
            <a:spAutoFit/>
          </a:bodyPr>
          <a:lstStyle/>
          <a:p>
            <a:r>
              <a:rPr lang="he-IL" b="1" dirty="0"/>
              <a:t>1912</a:t>
            </a:r>
          </a:p>
          <a:p>
            <a:endParaRPr lang="he-IL" b="1" dirty="0"/>
          </a:p>
        </p:txBody>
      </p:sp>
      <p:pic>
        <p:nvPicPr>
          <p:cNvPr id="4" name="Picture 6" descr="קובץ:Yavneel.JPG"/>
          <p:cNvPicPr>
            <a:picLocks noChangeAspect="1" noChangeArrowheads="1"/>
          </p:cNvPicPr>
          <p:nvPr/>
        </p:nvPicPr>
        <p:blipFill>
          <a:blip r:embed="rId3"/>
          <a:srcRect/>
          <a:stretch>
            <a:fillRect/>
          </a:stretch>
        </p:blipFill>
        <p:spPr bwMode="auto">
          <a:xfrm>
            <a:off x="367924" y="308643"/>
            <a:ext cx="2863210" cy="2147408"/>
          </a:xfrm>
          <a:prstGeom prst="rect">
            <a:avLst/>
          </a:prstGeom>
          <a:noFill/>
          <a:ln w="38100">
            <a:solidFill>
              <a:srgbClr val="FF0000"/>
            </a:solidFill>
          </a:ln>
        </p:spPr>
      </p:pic>
      <p:pic>
        <p:nvPicPr>
          <p:cNvPr id="6" name="Picture 2" descr="C:\Users\123\Pictures\תשע'ד-א'-ד'\022.jpg"/>
          <p:cNvPicPr>
            <a:picLocks noChangeAspect="1" noChangeArrowheads="1"/>
          </p:cNvPicPr>
          <p:nvPr/>
        </p:nvPicPr>
        <p:blipFill>
          <a:blip r:embed="rId4"/>
          <a:srcRect l="2831" t="16667" r="5629" b="12500"/>
          <a:stretch>
            <a:fillRect/>
          </a:stretch>
        </p:blipFill>
        <p:spPr bwMode="auto">
          <a:xfrm>
            <a:off x="1979712" y="4797152"/>
            <a:ext cx="6984776" cy="1224136"/>
          </a:xfrm>
          <a:prstGeom prst="rect">
            <a:avLst/>
          </a:prstGeom>
          <a:noFill/>
          <a:ln w="38100">
            <a:solidFill>
              <a:srgbClr val="FF0000"/>
            </a:solidFill>
          </a:ln>
        </p:spPr>
      </p:pic>
      <p:sp>
        <p:nvSpPr>
          <p:cNvPr id="7" name="TextBox 6"/>
          <p:cNvSpPr txBox="1"/>
          <p:nvPr/>
        </p:nvSpPr>
        <p:spPr>
          <a:xfrm>
            <a:off x="1835698" y="4149084"/>
            <a:ext cx="7181774" cy="584775"/>
          </a:xfrm>
          <a:prstGeom prst="rect">
            <a:avLst/>
          </a:prstGeom>
          <a:noFill/>
        </p:spPr>
        <p:txBody>
          <a:bodyPr wrap="none" rtlCol="1">
            <a:spAutoFit/>
          </a:bodyPr>
          <a:lstStyle/>
          <a:p>
            <a:pPr algn="r" rtl="1"/>
            <a:r>
              <a:rPr lang="he-IL" sz="1600" b="1" dirty="0"/>
              <a:t>שמואל, אחיו של חיים צימרמן, יו"ר התאחדות האיכרים בגליל סיפר לרב הרצוג שביקר</a:t>
            </a:r>
          </a:p>
          <a:p>
            <a:pPr algn="r" rtl="1"/>
            <a:r>
              <a:rPr lang="he-IL" sz="1600" b="1" dirty="0"/>
              <a:t>במקום באדר ב' תש"ג: </a:t>
            </a:r>
          </a:p>
        </p:txBody>
      </p:sp>
      <p:pic>
        <p:nvPicPr>
          <p:cNvPr id="8" name="Picture 5"/>
          <p:cNvPicPr>
            <a:picLocks noChangeAspect="1" noChangeArrowheads="1"/>
          </p:cNvPicPr>
          <p:nvPr/>
        </p:nvPicPr>
        <p:blipFill>
          <a:blip r:embed="rId5"/>
          <a:srcRect/>
          <a:stretch>
            <a:fillRect/>
          </a:stretch>
        </p:blipFill>
        <p:spPr bwMode="auto">
          <a:xfrm>
            <a:off x="349350" y="4172398"/>
            <a:ext cx="1090505" cy="1439743"/>
          </a:xfrm>
          <a:prstGeom prst="rect">
            <a:avLst/>
          </a:prstGeom>
          <a:noFill/>
          <a:ln w="38100">
            <a:solidFill>
              <a:srgbClr val="2217F5"/>
            </a:solidFill>
            <a:miter lim="800000"/>
            <a:headEnd/>
            <a:tailEnd/>
          </a:ln>
        </p:spPr>
      </p:pic>
      <p:sp>
        <p:nvSpPr>
          <p:cNvPr id="9" name="TextBox 8"/>
          <p:cNvSpPr txBox="1"/>
          <p:nvPr/>
        </p:nvSpPr>
        <p:spPr>
          <a:xfrm>
            <a:off x="3950416" y="201030"/>
            <a:ext cx="1359668" cy="369332"/>
          </a:xfrm>
          <a:prstGeom prst="rect">
            <a:avLst/>
          </a:prstGeom>
          <a:solidFill>
            <a:srgbClr val="FFFF00"/>
          </a:solidFill>
          <a:ln>
            <a:solidFill>
              <a:schemeClr val="tx1"/>
            </a:solidFill>
          </a:ln>
        </p:spPr>
        <p:txBody>
          <a:bodyPr wrap="none" rtlCol="1">
            <a:spAutoFit/>
          </a:bodyPr>
          <a:lstStyle/>
          <a:p>
            <a:pPr algn="r" rtl="1"/>
            <a:r>
              <a:rPr lang="he-IL" sz="1800" b="1" dirty="0"/>
              <a:t>במוצאי שבת</a:t>
            </a:r>
          </a:p>
        </p:txBody>
      </p:sp>
      <p:sp>
        <p:nvSpPr>
          <p:cNvPr id="10" name="TextBox 9"/>
          <p:cNvSpPr txBox="1"/>
          <p:nvPr/>
        </p:nvSpPr>
        <p:spPr>
          <a:xfrm>
            <a:off x="5486290" y="2698529"/>
            <a:ext cx="3581430" cy="738664"/>
          </a:xfrm>
          <a:prstGeom prst="rect">
            <a:avLst/>
          </a:prstGeom>
          <a:noFill/>
          <a:ln>
            <a:solidFill>
              <a:srgbClr val="2217F5"/>
            </a:solidFill>
          </a:ln>
        </p:spPr>
        <p:txBody>
          <a:bodyPr wrap="none" rtlCol="1">
            <a:spAutoFit/>
          </a:bodyPr>
          <a:lstStyle/>
          <a:p>
            <a:pPr algn="r" rtl="1"/>
            <a:r>
              <a:rPr lang="he-IL" b="1" dirty="0"/>
              <a:t>אסיפה עם חברי הועד. הרב קוק הציג הדרישות.</a:t>
            </a:r>
          </a:p>
          <a:p>
            <a:pPr algn="r" rtl="1"/>
            <a:r>
              <a:rPr lang="he-IL" b="1" dirty="0"/>
              <a:t>חיים צימרמן: התנגד בתוקף, על פי שיטת 'אחד</a:t>
            </a:r>
          </a:p>
          <a:p>
            <a:pPr algn="r" rtl="1"/>
            <a:r>
              <a:rPr lang="he-IL" b="1" dirty="0"/>
              <a:t>העם'. 3 בעד 2 נגד. ב</a:t>
            </a:r>
            <a:r>
              <a:rPr lang="he-IL" b="1" dirty="0">
                <a:solidFill>
                  <a:srgbClr val="FF0000"/>
                </a:solidFill>
              </a:rPr>
              <a:t>02:00 </a:t>
            </a:r>
            <a:r>
              <a:rPr lang="he-IL" b="1" dirty="0"/>
              <a:t>חותמים השלושה.</a:t>
            </a:r>
          </a:p>
        </p:txBody>
      </p:sp>
      <p:sp>
        <p:nvSpPr>
          <p:cNvPr id="11" name="TextBox 10"/>
          <p:cNvSpPr txBox="1"/>
          <p:nvPr/>
        </p:nvSpPr>
        <p:spPr>
          <a:xfrm>
            <a:off x="156154" y="5612141"/>
            <a:ext cx="1553630" cy="523220"/>
          </a:xfrm>
          <a:prstGeom prst="rect">
            <a:avLst/>
          </a:prstGeom>
          <a:noFill/>
        </p:spPr>
        <p:txBody>
          <a:bodyPr wrap="none" rtlCol="1">
            <a:spAutoFit/>
          </a:bodyPr>
          <a:lstStyle/>
          <a:p>
            <a:pPr algn="r" rtl="1"/>
            <a:r>
              <a:rPr lang="he-IL" b="1" dirty="0"/>
              <a:t>   הרב י"א הרצוג</a:t>
            </a:r>
          </a:p>
          <a:p>
            <a:pPr algn="r" rtl="1"/>
            <a:r>
              <a:rPr lang="he-IL" b="1" dirty="0"/>
              <a:t>   הרב הראשי לא"י</a:t>
            </a:r>
          </a:p>
        </p:txBody>
      </p:sp>
      <p:sp>
        <p:nvSpPr>
          <p:cNvPr id="12" name="TextBox 11"/>
          <p:cNvSpPr txBox="1"/>
          <p:nvPr/>
        </p:nvSpPr>
        <p:spPr>
          <a:xfrm>
            <a:off x="5073932" y="3629141"/>
            <a:ext cx="3882794" cy="307777"/>
          </a:xfrm>
          <a:prstGeom prst="rect">
            <a:avLst/>
          </a:prstGeom>
          <a:solidFill>
            <a:srgbClr val="FFFF00"/>
          </a:solidFill>
          <a:ln w="12700">
            <a:solidFill>
              <a:srgbClr val="2217F5"/>
            </a:solidFill>
          </a:ln>
        </p:spPr>
        <p:txBody>
          <a:bodyPr wrap="none" rtlCol="1">
            <a:spAutoFit/>
          </a:bodyPr>
          <a:lstStyle/>
          <a:p>
            <a:pPr algn="r" rtl="1"/>
            <a:r>
              <a:rPr lang="he-IL" b="1" dirty="0"/>
              <a:t>התפללו מנחה, יצאו </a:t>
            </a:r>
            <a:r>
              <a:rPr lang="he-IL" b="1" dirty="0" err="1"/>
              <a:t>לפוריה</a:t>
            </a:r>
            <a:r>
              <a:rPr lang="he-IL" b="1" dirty="0"/>
              <a:t> בלווי פרשים עם רובים.</a:t>
            </a:r>
          </a:p>
        </p:txBody>
      </p:sp>
      <p:pic>
        <p:nvPicPr>
          <p:cNvPr id="13" name="Picture 2" descr="C:\Users\123\Pictures\תשע'ד-ב'-י'ח\002.jpg"/>
          <p:cNvPicPr>
            <a:picLocks noChangeAspect="1" noChangeArrowheads="1"/>
          </p:cNvPicPr>
          <p:nvPr/>
        </p:nvPicPr>
        <p:blipFill>
          <a:blip r:embed="rId6"/>
          <a:srcRect l="20322" t="10502" r="62801" b="72034"/>
          <a:stretch>
            <a:fillRect/>
          </a:stretch>
        </p:blipFill>
        <p:spPr bwMode="auto">
          <a:xfrm>
            <a:off x="4103948" y="885687"/>
            <a:ext cx="936104" cy="1332148"/>
          </a:xfrm>
          <a:prstGeom prst="rect">
            <a:avLst/>
          </a:prstGeom>
          <a:noFill/>
          <a:ln w="38100">
            <a:solidFill>
              <a:srgbClr val="2217F5"/>
            </a:solidFill>
          </a:ln>
        </p:spPr>
      </p:pic>
      <p:sp>
        <p:nvSpPr>
          <p:cNvPr id="15" name="מלבן 14"/>
          <p:cNvSpPr/>
          <p:nvPr/>
        </p:nvSpPr>
        <p:spPr>
          <a:xfrm>
            <a:off x="3917344" y="2302163"/>
            <a:ext cx="1319592" cy="307777"/>
          </a:xfrm>
          <a:prstGeom prst="rect">
            <a:avLst/>
          </a:prstGeom>
        </p:spPr>
        <p:txBody>
          <a:bodyPr wrap="none">
            <a:spAutoFit/>
          </a:bodyPr>
          <a:lstStyle/>
          <a:p>
            <a:r>
              <a:rPr lang="he-IL" b="1" dirty="0"/>
              <a:t>הרב משה פרוש</a:t>
            </a:r>
          </a:p>
        </p:txBody>
      </p:sp>
      <p:sp>
        <p:nvSpPr>
          <p:cNvPr id="16" name="TextBox 15"/>
          <p:cNvSpPr txBox="1"/>
          <p:nvPr/>
        </p:nvSpPr>
        <p:spPr>
          <a:xfrm>
            <a:off x="3375242" y="2590474"/>
            <a:ext cx="2129109" cy="523220"/>
          </a:xfrm>
          <a:prstGeom prst="rect">
            <a:avLst/>
          </a:prstGeom>
          <a:noFill/>
        </p:spPr>
        <p:txBody>
          <a:bodyPr wrap="none" rtlCol="1">
            <a:spAutoFit/>
          </a:bodyPr>
          <a:lstStyle/>
          <a:p>
            <a:pPr algn="r" rtl="1"/>
            <a:r>
              <a:rPr lang="he-IL" b="1" dirty="0">
                <a:solidFill>
                  <a:srgbClr val="FF0000"/>
                </a:solidFill>
              </a:rPr>
              <a:t>תרע"ו - </a:t>
            </a:r>
            <a:r>
              <a:rPr lang="he-IL" b="1" dirty="0"/>
              <a:t>נשלח ע"י הרב קוק</a:t>
            </a:r>
          </a:p>
          <a:p>
            <a:pPr algn="r" rtl="1"/>
            <a:r>
              <a:rPr lang="he-IL" b="1" dirty="0"/>
              <a:t>הקים ת"ת, כולם עברו אליו</a:t>
            </a:r>
          </a:p>
        </p:txBody>
      </p:sp>
      <p:sp>
        <p:nvSpPr>
          <p:cNvPr id="17" name="TextBox 16"/>
          <p:cNvSpPr txBox="1"/>
          <p:nvPr/>
        </p:nvSpPr>
        <p:spPr>
          <a:xfrm>
            <a:off x="178945" y="2808351"/>
            <a:ext cx="3118162" cy="954107"/>
          </a:xfrm>
          <a:prstGeom prst="rect">
            <a:avLst/>
          </a:prstGeom>
          <a:noFill/>
          <a:ln>
            <a:solidFill>
              <a:schemeClr val="tx1"/>
            </a:solidFill>
          </a:ln>
        </p:spPr>
        <p:txBody>
          <a:bodyPr wrap="none" rtlCol="1">
            <a:spAutoFit/>
          </a:bodyPr>
          <a:lstStyle/>
          <a:p>
            <a:pPr algn="r" rtl="1"/>
            <a:r>
              <a:rPr lang="he-IL" b="1" dirty="0"/>
              <a:t>אחד: </a:t>
            </a:r>
            <a:r>
              <a:rPr lang="he-IL" b="1" dirty="0">
                <a:solidFill>
                  <a:srgbClr val="FF0000"/>
                </a:solidFill>
              </a:rPr>
              <a:t>"במקומנו לא יהיה כדבר הזה!"</a:t>
            </a:r>
          </a:p>
          <a:p>
            <a:pPr algn="r" rtl="1"/>
            <a:r>
              <a:rPr lang="he-IL" b="1" dirty="0">
                <a:solidFill>
                  <a:schemeClr val="tx1"/>
                </a:solidFill>
              </a:rPr>
              <a:t>הרב קוק כעס, הטיח בו דברים קשים.</a:t>
            </a:r>
          </a:p>
          <a:p>
            <a:pPr algn="r" rtl="1"/>
            <a:r>
              <a:rPr lang="he-IL" b="1" dirty="0">
                <a:solidFill>
                  <a:schemeClr val="tx1"/>
                </a:solidFill>
              </a:rPr>
              <a:t>הרב </a:t>
            </a:r>
            <a:r>
              <a:rPr lang="he-IL" b="1" dirty="0" err="1">
                <a:solidFill>
                  <a:schemeClr val="tx1"/>
                </a:solidFill>
              </a:rPr>
              <a:t>זוננפלד</a:t>
            </a:r>
            <a:r>
              <a:rPr lang="he-IL" b="1" dirty="0">
                <a:solidFill>
                  <a:schemeClr val="tx1"/>
                </a:solidFill>
              </a:rPr>
              <a:t>: עוד יחזור בתשובה ויפריש.</a:t>
            </a:r>
          </a:p>
          <a:p>
            <a:pPr algn="r" rtl="1"/>
            <a:r>
              <a:rPr lang="he-IL" b="1" dirty="0">
                <a:solidFill>
                  <a:schemeClr val="tx1"/>
                </a:solidFill>
              </a:rPr>
              <a:t>הרב </a:t>
            </a:r>
            <a:r>
              <a:rPr lang="he-IL" b="1" dirty="0" err="1">
                <a:solidFill>
                  <a:schemeClr val="tx1"/>
                </a:solidFill>
              </a:rPr>
              <a:t>יאדלר</a:t>
            </a:r>
            <a:r>
              <a:rPr lang="he-IL" b="1" dirty="0">
                <a:solidFill>
                  <a:schemeClr val="tx1"/>
                </a:solidFill>
              </a:rPr>
              <a:t>: לימים סייע לו בכך.</a:t>
            </a:r>
          </a:p>
        </p:txBody>
      </p:sp>
      <p:sp>
        <p:nvSpPr>
          <p:cNvPr id="18" name="TextBox 17"/>
          <p:cNvSpPr txBox="1"/>
          <p:nvPr/>
        </p:nvSpPr>
        <p:spPr>
          <a:xfrm>
            <a:off x="1265457" y="6381332"/>
            <a:ext cx="7811755" cy="307777"/>
          </a:xfrm>
          <a:prstGeom prst="rect">
            <a:avLst/>
          </a:prstGeom>
          <a:noFill/>
          <a:ln>
            <a:solidFill>
              <a:srgbClr val="2217F5"/>
            </a:solidFill>
          </a:ln>
        </p:spPr>
        <p:txBody>
          <a:bodyPr wrap="none" rtlCol="1">
            <a:spAutoFit/>
          </a:bodyPr>
          <a:lstStyle/>
          <a:p>
            <a:pPr algn="r" rtl="1"/>
            <a:r>
              <a:rPr lang="he-IL" b="1" dirty="0"/>
              <a:t>אבינועם גרינברג: עד שנות הארבעים איש לא יצא לחרוש בשבת.  חברה בכפר תבור, קשר הסוס ביום שישי.</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83"/>
          <p:cNvSpPr/>
          <p:nvPr/>
        </p:nvSpPr>
        <p:spPr>
          <a:xfrm>
            <a:off x="323528" y="4249544"/>
            <a:ext cx="3672408" cy="1584752"/>
          </a:xfrm>
          <a:prstGeom prst="rect">
            <a:avLst/>
          </a:prstGeom>
          <a:blipFill>
            <a:blip r:embed="rId3"/>
            <a:stretch>
              <a:fillRect/>
            </a:stretch>
          </a:blipFill>
          <a:ln w="38100">
            <a:solidFill>
              <a:srgbClr val="FF0000"/>
            </a:solidFill>
          </a:ln>
        </p:spPr>
        <p:txBody>
          <a:bodyPr/>
          <a:lstStyle/>
          <a:p>
            <a:endParaRPr lang="he-IL"/>
          </a:p>
        </p:txBody>
      </p:sp>
      <p:sp>
        <p:nvSpPr>
          <p:cNvPr id="3" name="TextBox 2"/>
          <p:cNvSpPr txBox="1"/>
          <p:nvPr/>
        </p:nvSpPr>
        <p:spPr>
          <a:xfrm>
            <a:off x="1130430" y="2626365"/>
            <a:ext cx="979755" cy="307777"/>
          </a:xfrm>
          <a:prstGeom prst="rect">
            <a:avLst/>
          </a:prstGeom>
          <a:noFill/>
          <a:ln w="38100">
            <a:noFill/>
          </a:ln>
        </p:spPr>
        <p:txBody>
          <a:bodyPr wrap="none" rtlCol="1">
            <a:spAutoFit/>
          </a:bodyPr>
          <a:lstStyle/>
          <a:p>
            <a:pPr lvl="0"/>
            <a:r>
              <a:rPr lang="x-none" b="1" dirty="0"/>
              <a:t>חדר האוכל</a:t>
            </a:r>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153" y="716470"/>
            <a:ext cx="2808310" cy="1871037"/>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536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1543" y="1571542"/>
            <a:ext cx="2304256" cy="2082364"/>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6" name="TextBox 5"/>
          <p:cNvSpPr txBox="1"/>
          <p:nvPr/>
        </p:nvSpPr>
        <p:spPr>
          <a:xfrm>
            <a:off x="3067244" y="125321"/>
            <a:ext cx="3163045" cy="369332"/>
          </a:xfrm>
          <a:prstGeom prst="rect">
            <a:avLst/>
          </a:prstGeom>
          <a:solidFill>
            <a:srgbClr val="FFFF00"/>
          </a:solidFill>
          <a:ln w="12700">
            <a:solidFill>
              <a:schemeClr val="tx1"/>
            </a:solidFill>
          </a:ln>
        </p:spPr>
        <p:txBody>
          <a:bodyPr wrap="none" rtlCol="1">
            <a:spAutoFit/>
          </a:bodyPr>
          <a:lstStyle/>
          <a:p>
            <a:r>
              <a:rPr lang="he-IL" sz="1800" b="1" dirty="0">
                <a:solidFill>
                  <a:srgbClr val="FF0000"/>
                </a:solidFill>
              </a:rPr>
              <a:t>יום א', ר"ח כסלו </a:t>
            </a:r>
            <a:r>
              <a:rPr lang="en-US" sz="1800" b="1" dirty="0">
                <a:solidFill>
                  <a:srgbClr val="FF0000"/>
                </a:solidFill>
              </a:rPr>
              <a:t> </a:t>
            </a:r>
            <a:r>
              <a:rPr lang="en-US" sz="1800" b="1" dirty="0"/>
              <a:t>– </a:t>
            </a:r>
            <a:r>
              <a:rPr lang="he-IL" sz="1800" b="1" dirty="0"/>
              <a:t>בחוות </a:t>
            </a:r>
            <a:r>
              <a:rPr lang="he-IL" sz="1800" b="1" dirty="0" err="1"/>
              <a:t>פוריה</a:t>
            </a:r>
            <a:endParaRPr lang="he-IL" sz="1800" b="1" dirty="0"/>
          </a:p>
        </p:txBody>
      </p:sp>
      <p:pic>
        <p:nvPicPr>
          <p:cNvPr id="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8122" y="4299554"/>
            <a:ext cx="2808312" cy="2106234"/>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10" name="TextBox 9"/>
          <p:cNvSpPr txBox="1"/>
          <p:nvPr/>
        </p:nvSpPr>
        <p:spPr>
          <a:xfrm>
            <a:off x="5952596" y="607264"/>
            <a:ext cx="3033203"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1912 – </a:t>
            </a:r>
            <a:r>
              <a:rPr lang="he-IL" b="1" dirty="0"/>
              <a:t>ע"י חברת 'אחוזה' מסנט לואיס,</a:t>
            </a:r>
          </a:p>
          <a:p>
            <a:pPr algn="r" rtl="1"/>
            <a:r>
              <a:rPr lang="he-IL" b="1" dirty="0"/>
              <a:t>למשוך עשירים מחו"ל.</a:t>
            </a:r>
          </a:p>
          <a:p>
            <a:pPr algn="r" rtl="1"/>
            <a:r>
              <a:rPr lang="he-IL" b="1" dirty="0"/>
              <a:t>60 פועלים, אין </a:t>
            </a:r>
            <a:r>
              <a:rPr lang="he-IL" b="1" dirty="0" err="1"/>
              <a:t>בהכנ"ס</a:t>
            </a:r>
            <a:r>
              <a:rPr lang="he-IL" b="1" dirty="0"/>
              <a:t> </a:t>
            </a:r>
            <a:r>
              <a:rPr lang="he-IL" b="1" dirty="0" err="1"/>
              <a:t>ומקוה</a:t>
            </a:r>
            <a:endParaRPr lang="he-IL" b="1" dirty="0"/>
          </a:p>
        </p:txBody>
      </p:sp>
      <p:sp>
        <p:nvSpPr>
          <p:cNvPr id="11" name="TextBox 10"/>
          <p:cNvSpPr txBox="1"/>
          <p:nvPr/>
        </p:nvSpPr>
        <p:spPr>
          <a:xfrm>
            <a:off x="7713796" y="125321"/>
            <a:ext cx="1244251" cy="338554"/>
          </a:xfrm>
          <a:prstGeom prst="rect">
            <a:avLst/>
          </a:prstGeom>
          <a:solidFill>
            <a:srgbClr val="76E3FF"/>
          </a:solidFill>
          <a:ln>
            <a:solidFill>
              <a:schemeClr val="tx1"/>
            </a:solidFill>
          </a:ln>
        </p:spPr>
        <p:txBody>
          <a:bodyPr wrap="none" rtlCol="1">
            <a:spAutoFit/>
          </a:bodyPr>
          <a:lstStyle/>
          <a:p>
            <a:r>
              <a:rPr lang="he-IL" sz="1600" b="1" dirty="0"/>
              <a:t>אחר הצהרים</a:t>
            </a:r>
          </a:p>
        </p:txBody>
      </p:sp>
      <p:sp>
        <p:nvSpPr>
          <p:cNvPr id="12" name="TextBox 11"/>
          <p:cNvSpPr txBox="1"/>
          <p:nvPr/>
        </p:nvSpPr>
        <p:spPr>
          <a:xfrm>
            <a:off x="3117144" y="1495406"/>
            <a:ext cx="3348994" cy="2677656"/>
          </a:xfrm>
          <a:prstGeom prst="rect">
            <a:avLst/>
          </a:prstGeom>
          <a:noFill/>
          <a:ln>
            <a:solidFill>
              <a:srgbClr val="2217F5"/>
            </a:solidFill>
          </a:ln>
        </p:spPr>
        <p:txBody>
          <a:bodyPr wrap="none" rtlCol="1">
            <a:spAutoFit/>
          </a:bodyPr>
          <a:lstStyle/>
          <a:p>
            <a:pPr algn="r" rtl="1"/>
            <a:r>
              <a:rPr lang="he-IL" b="1" dirty="0"/>
              <a:t>רצו לחזור ליבנאל, ביקשו </a:t>
            </a:r>
            <a:r>
              <a:rPr lang="he-IL" b="1" dirty="0" err="1"/>
              <a:t>שישארו</a:t>
            </a:r>
            <a:r>
              <a:rPr lang="he-IL" b="1" dirty="0"/>
              <a:t>.</a:t>
            </a:r>
          </a:p>
          <a:p>
            <a:pPr algn="r" rtl="1"/>
            <a:r>
              <a:rPr lang="he-IL" b="1" dirty="0"/>
              <a:t>פקיד מראה להם את המטעים, נשמעו יריות</a:t>
            </a:r>
          </a:p>
          <a:p>
            <a:pPr algn="r" rtl="1"/>
            <a:r>
              <a:rPr lang="he-IL" b="1" dirty="0"/>
              <a:t>רצו, תפסו ערבי שגנב מהצאן, אסרו עד</a:t>
            </a:r>
          </a:p>
          <a:p>
            <a:pPr algn="r" rtl="1"/>
            <a:r>
              <a:rPr lang="he-IL" b="1" dirty="0"/>
              <a:t>למחרת, הרב </a:t>
            </a:r>
            <a:r>
              <a:rPr lang="he-IL" b="1" dirty="0" err="1"/>
              <a:t>קוק:</a:t>
            </a:r>
            <a:r>
              <a:rPr lang="he-IL" b="1" dirty="0" err="1">
                <a:solidFill>
                  <a:srgbClr val="FF0000"/>
                </a:solidFill>
              </a:rPr>
              <a:t>"כאן</a:t>
            </a:r>
            <a:r>
              <a:rPr lang="he-IL" b="1" dirty="0">
                <a:solidFill>
                  <a:srgbClr val="FF0000"/>
                </a:solidFill>
              </a:rPr>
              <a:t> ראינו קרן אור מיושר </a:t>
            </a:r>
          </a:p>
          <a:p>
            <a:pPr algn="r" rtl="1"/>
            <a:r>
              <a:rPr lang="he-IL" b="1" dirty="0">
                <a:solidFill>
                  <a:srgbClr val="FF0000"/>
                </a:solidFill>
              </a:rPr>
              <a:t>הלב הישראלי הטבעי".</a:t>
            </a:r>
            <a:endParaRPr lang="he-IL" b="1" dirty="0"/>
          </a:p>
          <a:p>
            <a:pPr algn="r" rtl="1"/>
            <a:r>
              <a:rPr lang="he-IL" b="1" dirty="0"/>
              <a:t>בבית גולדמן אכלו דג מלוח ותה. שמעו </a:t>
            </a:r>
          </a:p>
          <a:p>
            <a:pPr algn="r" rtl="1"/>
            <a:r>
              <a:rPr lang="he-IL" b="1" dirty="0"/>
              <a:t>שירה. הרב קוק הציע להיכנס.</a:t>
            </a:r>
          </a:p>
          <a:p>
            <a:pPr algn="r" rtl="1"/>
            <a:r>
              <a:rPr lang="he-IL" b="1" dirty="0"/>
              <a:t>הרב קוק: </a:t>
            </a:r>
            <a:r>
              <a:rPr lang="he-IL" b="1" dirty="0">
                <a:solidFill>
                  <a:srgbClr val="FF0000"/>
                </a:solidFill>
              </a:rPr>
              <a:t>"הגיעה שעת קירוב לבבות...על</a:t>
            </a:r>
          </a:p>
          <a:p>
            <a:pPr algn="r" rtl="1"/>
            <a:r>
              <a:rPr lang="he-IL" b="1" dirty="0">
                <a:solidFill>
                  <a:srgbClr val="FF0000"/>
                </a:solidFill>
              </a:rPr>
              <a:t>הצעירים להתקרב לזקנים </a:t>
            </a:r>
            <a:r>
              <a:rPr lang="he-IL" b="1" dirty="0"/>
              <a:t>– מוחאים כפיים.</a:t>
            </a:r>
          </a:p>
          <a:p>
            <a:pPr algn="r" rtl="1"/>
            <a:r>
              <a:rPr lang="he-IL" b="1" dirty="0"/>
              <a:t>הרב </a:t>
            </a:r>
            <a:r>
              <a:rPr lang="he-IL" b="1" dirty="0" err="1"/>
              <a:t>זוננפלד</a:t>
            </a:r>
            <a:r>
              <a:rPr lang="he-IL" b="1" dirty="0"/>
              <a:t>, הרב הורוביץ.</a:t>
            </a:r>
          </a:p>
          <a:p>
            <a:pPr algn="r" rtl="1"/>
            <a:r>
              <a:rPr lang="he-IL" b="1" dirty="0"/>
              <a:t>שרו: </a:t>
            </a:r>
            <a:r>
              <a:rPr lang="he-IL" b="1" dirty="0">
                <a:solidFill>
                  <a:srgbClr val="FF0000"/>
                </a:solidFill>
              </a:rPr>
              <a:t>"אדיר יבנה הגליל", </a:t>
            </a:r>
            <a:r>
              <a:rPr lang="he-IL" b="1" dirty="0">
                <a:solidFill>
                  <a:schemeClr val="tx1"/>
                </a:solidFill>
              </a:rPr>
              <a:t>אמר להם</a:t>
            </a:r>
          </a:p>
          <a:p>
            <a:pPr algn="r" rtl="1"/>
            <a:r>
              <a:rPr lang="he-IL" b="1" dirty="0">
                <a:solidFill>
                  <a:schemeClr val="tx1"/>
                </a:solidFill>
              </a:rPr>
              <a:t>שישירו: </a:t>
            </a:r>
            <a:r>
              <a:rPr lang="he-IL" b="1" dirty="0">
                <a:solidFill>
                  <a:srgbClr val="FF0000"/>
                </a:solidFill>
              </a:rPr>
              <a:t>"אל יבנה הגליל".</a:t>
            </a:r>
            <a:endParaRPr lang="he-IL" b="1" dirty="0"/>
          </a:p>
        </p:txBody>
      </p:sp>
      <p:pic>
        <p:nvPicPr>
          <p:cNvPr id="13" name="Picture 22" descr="ksvk">
            <a:hlinkClick r:id="rId7"/>
          </p:cNvPr>
          <p:cNvPicPr>
            <a:picLocks noChangeAspect="1" noChangeArrowheads="1"/>
          </p:cNvPicPr>
          <p:nvPr/>
        </p:nvPicPr>
        <p:blipFill>
          <a:blip r:embed="rId8"/>
          <a:srcRect/>
          <a:stretch>
            <a:fillRect/>
          </a:stretch>
        </p:blipFill>
        <p:spPr bwMode="auto">
          <a:xfrm>
            <a:off x="4572000" y="5013176"/>
            <a:ext cx="719658" cy="485894"/>
          </a:xfrm>
          <a:prstGeom prst="rect">
            <a:avLst/>
          </a:prstGeom>
          <a:noFill/>
          <a:ln w="38100">
            <a:solidFill>
              <a:srgbClr val="0000FF"/>
            </a:solidFill>
            <a:miter lim="800000"/>
            <a:headEnd/>
            <a:tailEnd/>
          </a:ln>
        </p:spPr>
      </p:pic>
      <p:pic>
        <p:nvPicPr>
          <p:cNvPr id="1026" name="Picture 2" descr="C:\Users\123\Pictures\תשע'ד-ג'-ג'\001.jpg"/>
          <p:cNvPicPr>
            <a:picLocks noChangeAspect="1" noChangeArrowheads="1"/>
          </p:cNvPicPr>
          <p:nvPr/>
        </p:nvPicPr>
        <p:blipFill>
          <a:blip r:embed="rId9"/>
          <a:srcRect l="39103" t="66641" r="17931" b="26415"/>
          <a:stretch>
            <a:fillRect/>
          </a:stretch>
        </p:blipFill>
        <p:spPr bwMode="auto">
          <a:xfrm>
            <a:off x="121500" y="2311878"/>
            <a:ext cx="8901000" cy="1978000"/>
          </a:xfrm>
          <a:prstGeom prst="rect">
            <a:avLst/>
          </a:prstGeom>
          <a:noFill/>
          <a:ln w="38100">
            <a:solidFill>
              <a:srgbClr val="2217F5"/>
            </a:solidFill>
          </a:ln>
        </p:spPr>
      </p:pic>
      <p:sp>
        <p:nvSpPr>
          <p:cNvPr id="14" name="TextBox 13"/>
          <p:cNvSpPr txBox="1"/>
          <p:nvPr/>
        </p:nvSpPr>
        <p:spPr>
          <a:xfrm>
            <a:off x="201132" y="5969852"/>
            <a:ext cx="5020926" cy="738664"/>
          </a:xfrm>
          <a:prstGeom prst="rect">
            <a:avLst/>
          </a:prstGeom>
          <a:noFill/>
          <a:ln>
            <a:solidFill>
              <a:srgbClr val="2217F5"/>
            </a:solidFill>
          </a:ln>
        </p:spPr>
        <p:txBody>
          <a:bodyPr wrap="none" rtlCol="1">
            <a:spAutoFit/>
          </a:bodyPr>
          <a:lstStyle/>
          <a:p>
            <a:pPr algn="r" rtl="1"/>
            <a:r>
              <a:rPr lang="he-IL" b="1" dirty="0"/>
              <a:t>ספרו לו ששבעים גם מירקות, תבשיל חם, מפילים אימה על הערבים.</a:t>
            </a:r>
          </a:p>
          <a:p>
            <a:pPr algn="r" rtl="1"/>
            <a:r>
              <a:rPr lang="he-IL" b="1" dirty="0"/>
              <a:t>הרב קוק: </a:t>
            </a:r>
            <a:r>
              <a:rPr lang="he-IL" b="1" dirty="0">
                <a:solidFill>
                  <a:srgbClr val="FF0000"/>
                </a:solidFill>
              </a:rPr>
              <a:t>"החייתם אותי, פעמי משיח מגיעים לאוזני!"</a:t>
            </a:r>
          </a:p>
          <a:p>
            <a:pPr algn="r" rtl="1"/>
            <a:r>
              <a:rPr lang="he-IL" b="1" dirty="0"/>
              <a:t>החל לשיר </a:t>
            </a:r>
            <a:r>
              <a:rPr lang="he-IL" b="1" dirty="0">
                <a:solidFill>
                  <a:srgbClr val="FF0000"/>
                </a:solidFill>
              </a:rPr>
              <a:t>"אליהו הנביא", </a:t>
            </a:r>
            <a:r>
              <a:rPr lang="he-IL" b="1" dirty="0"/>
              <a:t>ויצא בריקוד.</a:t>
            </a:r>
          </a:p>
        </p:txBody>
      </p:sp>
      <p:sp>
        <p:nvSpPr>
          <p:cNvPr id="4" name="TextBox 3"/>
          <p:cNvSpPr txBox="1"/>
          <p:nvPr/>
        </p:nvSpPr>
        <p:spPr>
          <a:xfrm>
            <a:off x="6690759" y="6405788"/>
            <a:ext cx="1023037" cy="307777"/>
          </a:xfrm>
          <a:prstGeom prst="rect">
            <a:avLst/>
          </a:prstGeom>
          <a:noFill/>
        </p:spPr>
        <p:txBody>
          <a:bodyPr wrap="none" rtlCol="1">
            <a:spAutoFit/>
          </a:bodyPr>
          <a:lstStyle/>
          <a:p>
            <a:r>
              <a:rPr lang="he-IL" b="1" dirty="0"/>
              <a:t>מבט לכנרת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anim calcmode="lin" valueType="num">
                                      <p:cBhvr>
                                        <p:cTn id="8" dur="2000" fill="hold"/>
                                        <p:tgtEl>
                                          <p:spTgt spid="13"/>
                                        </p:tgtEl>
                                        <p:attrNameLst>
                                          <p:attrName>style.rotation</p:attrName>
                                        </p:attrNameLst>
                                      </p:cBhvr>
                                      <p:tavLst>
                                        <p:tav tm="0">
                                          <p:val>
                                            <p:fltVal val="720"/>
                                          </p:val>
                                        </p:tav>
                                        <p:tav tm="100000">
                                          <p:val>
                                            <p:fltVal val="0"/>
                                          </p:val>
                                        </p:tav>
                                      </p:tavLst>
                                    </p:anim>
                                    <p:anim calcmode="lin" valueType="num">
                                      <p:cBhvr>
                                        <p:cTn id="9" dur="2000" fill="hold"/>
                                        <p:tgtEl>
                                          <p:spTgt spid="13"/>
                                        </p:tgtEl>
                                        <p:attrNameLst>
                                          <p:attrName>ppt_h</p:attrName>
                                        </p:attrNameLst>
                                      </p:cBhvr>
                                      <p:tavLst>
                                        <p:tav tm="0">
                                          <p:val>
                                            <p:fltVal val="0"/>
                                          </p:val>
                                        </p:tav>
                                        <p:tav tm="100000">
                                          <p:val>
                                            <p:strVal val="#ppt_h"/>
                                          </p:val>
                                        </p:tav>
                                      </p:tavLst>
                                    </p:anim>
                                    <p:anim calcmode="lin" valueType="num">
                                      <p:cBhvr>
                                        <p:cTn id="10" dur="2000" fill="hold"/>
                                        <p:tgtEl>
                                          <p:spTgt spid="13"/>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par>
                          <p:cTn id="11" fill="hold">
                            <p:stCondLst>
                              <p:cond delay="2000"/>
                            </p:stCondLst>
                            <p:childTnLst>
                              <p:par>
                                <p:cTn id="12" presetID="35"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2000"/>
                                        <p:tgtEl>
                                          <p:spTgt spid="13"/>
                                        </p:tgtEl>
                                      </p:cBhvr>
                                    </p:animEffect>
                                    <p:anim calcmode="lin" valueType="num">
                                      <p:cBhvr>
                                        <p:cTn id="15" dur="2000" fill="hold"/>
                                        <p:tgtEl>
                                          <p:spTgt spid="13"/>
                                        </p:tgtEl>
                                        <p:attrNameLst>
                                          <p:attrName>style.rotation</p:attrName>
                                        </p:attrNameLst>
                                      </p:cBhvr>
                                      <p:tavLst>
                                        <p:tav tm="0">
                                          <p:val>
                                            <p:fltVal val="720"/>
                                          </p:val>
                                        </p:tav>
                                        <p:tav tm="100000">
                                          <p:val>
                                            <p:fltVal val="0"/>
                                          </p:val>
                                        </p:tav>
                                      </p:tavLst>
                                    </p:anim>
                                    <p:anim calcmode="lin" valueType="num">
                                      <p:cBhvr>
                                        <p:cTn id="16" dur="2000" fill="hold"/>
                                        <p:tgtEl>
                                          <p:spTgt spid="13"/>
                                        </p:tgtEl>
                                        <p:attrNameLst>
                                          <p:attrName>ppt_h</p:attrName>
                                        </p:attrNameLst>
                                      </p:cBhvr>
                                      <p:tavLst>
                                        <p:tav tm="0">
                                          <p:val>
                                            <p:fltVal val="0"/>
                                          </p:val>
                                        </p:tav>
                                        <p:tav tm="100000">
                                          <p:val>
                                            <p:strVal val="#ppt_h"/>
                                          </p:val>
                                        </p:tav>
                                      </p:tavLst>
                                    </p:anim>
                                    <p:anim calcmode="lin" valueType="num">
                                      <p:cBhvr>
                                        <p:cTn id="17" dur="2000" fill="hold"/>
                                        <p:tgtEl>
                                          <p:spTgt spid="13"/>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2"/>
                                            </p:cond>
                                          </p:stCondLst>
                                          <p:endCondLst>
                                            <p:cond evt="onStopAudio" delay="0">
                                              <p:tgtEl>
                                                <p:sldTgt/>
                                              </p:tgtEl>
                                            </p:cond>
                                          </p:endCondLst>
                                        </p:cTn>
                                        <p:tgtEl>
                                          <p:sndTgt r:embed="rId2" name="explode.wav"/>
                                        </p:tgtEl>
                                      </p:cMediaNode>
                                    </p:audio>
                                  </p:subTnLst>
                                </p:cTn>
                              </p:par>
                            </p:childTnLst>
                          </p:cTn>
                        </p:par>
                        <p:par>
                          <p:cTn id="18" fill="hold">
                            <p:stCondLst>
                              <p:cond delay="4000"/>
                            </p:stCondLst>
                            <p:childTnLst>
                              <p:par>
                                <p:cTn id="19" presetID="35"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000"/>
                                        <p:tgtEl>
                                          <p:spTgt spid="13"/>
                                        </p:tgtEl>
                                      </p:cBhvr>
                                    </p:animEffect>
                                    <p:anim calcmode="lin" valueType="num">
                                      <p:cBhvr>
                                        <p:cTn id="22" dur="2000" fill="hold"/>
                                        <p:tgtEl>
                                          <p:spTgt spid="13"/>
                                        </p:tgtEl>
                                        <p:attrNameLst>
                                          <p:attrName>style.rotation</p:attrName>
                                        </p:attrNameLst>
                                      </p:cBhvr>
                                      <p:tavLst>
                                        <p:tav tm="0">
                                          <p:val>
                                            <p:fltVal val="720"/>
                                          </p:val>
                                        </p:tav>
                                        <p:tav tm="100000">
                                          <p:val>
                                            <p:fltVal val="0"/>
                                          </p:val>
                                        </p:tav>
                                      </p:tavLst>
                                    </p:anim>
                                    <p:anim calcmode="lin" valueType="num">
                                      <p:cBhvr>
                                        <p:cTn id="23" dur="2000" fill="hold"/>
                                        <p:tgtEl>
                                          <p:spTgt spid="13"/>
                                        </p:tgtEl>
                                        <p:attrNameLst>
                                          <p:attrName>ppt_h</p:attrName>
                                        </p:attrNameLst>
                                      </p:cBhvr>
                                      <p:tavLst>
                                        <p:tav tm="0">
                                          <p:val>
                                            <p:fltVal val="0"/>
                                          </p:val>
                                        </p:tav>
                                        <p:tav tm="100000">
                                          <p:val>
                                            <p:strVal val="#ppt_h"/>
                                          </p:val>
                                        </p:tav>
                                      </p:tavLst>
                                    </p:anim>
                                    <p:anim calcmode="lin" valueType="num">
                                      <p:cBhvr>
                                        <p:cTn id="24" dur="2000" fill="hold"/>
                                        <p:tgtEl>
                                          <p:spTgt spid="13"/>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9"/>
                                            </p:cond>
                                          </p:stCondLst>
                                          <p:endCondLst>
                                            <p:cond evt="onStopAudio" delay="0">
                                              <p:tgtEl>
                                                <p:sldTgt/>
                                              </p:tgtEl>
                                            </p:cond>
                                          </p:endCondLst>
                                        </p:cTn>
                                        <p:tgtEl>
                                          <p:sndTgt r:embed="rId2" name="explode.wav"/>
                                        </p:tgtEl>
                                      </p:cMediaNode>
                                    </p:audio>
                                  </p:sub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animEffect transition="in" filter="fade">
                                      <p:cBhvr>
                                        <p:cTn id="29" dur="5000"/>
                                        <p:tgtEl>
                                          <p:spTgt spid="1026"/>
                                        </p:tgtEl>
                                      </p:cBhvr>
                                    </p:animEffect>
                                    <p:anim calcmode="lin" valueType="num">
                                      <p:cBhvr>
                                        <p:cTn id="30" dur="5000" fill="hold"/>
                                        <p:tgtEl>
                                          <p:spTgt spid="1026"/>
                                        </p:tgtEl>
                                        <p:attrNameLst>
                                          <p:attrName>ppt_x</p:attrName>
                                        </p:attrNameLst>
                                      </p:cBhvr>
                                      <p:tavLst>
                                        <p:tav tm="0">
                                          <p:val>
                                            <p:strVal val="#ppt_x"/>
                                          </p:val>
                                        </p:tav>
                                        <p:tav tm="100000">
                                          <p:val>
                                            <p:strVal val="#ppt_x"/>
                                          </p:val>
                                        </p:tav>
                                      </p:tavLst>
                                    </p:anim>
                                    <p:anim calcmode="lin" valueType="num">
                                      <p:cBhvr>
                                        <p:cTn id="31" dur="5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529"/>
          <p:cNvSpPr/>
          <p:nvPr/>
        </p:nvSpPr>
        <p:spPr>
          <a:xfrm>
            <a:off x="395538" y="2780928"/>
            <a:ext cx="6192688" cy="3528392"/>
          </a:xfrm>
          <a:prstGeom prst="rect">
            <a:avLst/>
          </a:prstGeom>
          <a:blipFill>
            <a:blip r:embed="rId2"/>
            <a:stretch>
              <a:fillRect/>
            </a:stretch>
          </a:blipFill>
          <a:ln w="38100">
            <a:solidFill>
              <a:srgbClr val="FF0000"/>
            </a:solidFill>
          </a:ln>
        </p:spPr>
        <p:txBody>
          <a:bodyPr/>
          <a:lstStyle/>
          <a:p>
            <a:endParaRPr lang="he-IL"/>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984" y="560464"/>
            <a:ext cx="2304256" cy="172819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2444030" y="6486686"/>
            <a:ext cx="6683240" cy="307777"/>
          </a:xfrm>
          <a:prstGeom prst="rect">
            <a:avLst/>
          </a:prstGeom>
          <a:solidFill>
            <a:srgbClr val="FFFF00"/>
          </a:solidFill>
          <a:ln w="12700">
            <a:solidFill>
              <a:schemeClr val="tx1"/>
            </a:solidFill>
          </a:ln>
        </p:spPr>
        <p:txBody>
          <a:bodyPr wrap="none" rtlCol="1">
            <a:spAutoFit/>
          </a:bodyPr>
          <a:lstStyle/>
          <a:p>
            <a:r>
              <a:rPr lang="he-IL" b="1" dirty="0">
                <a:solidFill>
                  <a:srgbClr val="0096D5"/>
                </a:solidFill>
              </a:rPr>
              <a:t>בשעה 01:00 - </a:t>
            </a:r>
            <a:r>
              <a:rPr lang="he-IL" b="1" dirty="0"/>
              <a:t>נסעו ליבנאל, הרב קוק והרב חרל"פ נשארו ללון, בבוקר נסעו למושבה כנרת.</a:t>
            </a:r>
          </a:p>
        </p:txBody>
      </p:sp>
      <p:sp>
        <p:nvSpPr>
          <p:cNvPr id="5" name="TextBox 4"/>
          <p:cNvSpPr txBox="1"/>
          <p:nvPr/>
        </p:nvSpPr>
        <p:spPr>
          <a:xfrm>
            <a:off x="2596692" y="179500"/>
            <a:ext cx="5359224" cy="2462213"/>
          </a:xfrm>
          <a:prstGeom prst="rect">
            <a:avLst/>
          </a:prstGeom>
          <a:noFill/>
          <a:ln>
            <a:solidFill>
              <a:srgbClr val="2217F5"/>
            </a:solidFill>
          </a:ln>
        </p:spPr>
        <p:txBody>
          <a:bodyPr wrap="none" rtlCol="1">
            <a:spAutoFit/>
          </a:bodyPr>
          <a:lstStyle/>
          <a:p>
            <a:pPr algn="r" rtl="1"/>
            <a:r>
              <a:rPr lang="he-IL" b="1" dirty="0"/>
              <a:t>יצחק נדב סיפר לרב קוק שתפסו את הרוצחים. התלהב ביקש ממנו את</a:t>
            </a:r>
          </a:p>
          <a:p>
            <a:pPr algn="r" rtl="1"/>
            <a:r>
              <a:rPr lang="he-IL" b="1" dirty="0"/>
              <a:t>הכפייה והרובה. נכנס למעגל, רקד לבד, רקדו בהתלהבות קרא לתשובה, </a:t>
            </a:r>
          </a:p>
          <a:p>
            <a:pPr algn="r" rtl="1"/>
            <a:r>
              <a:rPr lang="he-IL" b="1" dirty="0"/>
              <a:t>יחדלו מחלול שבת, שיקבלו להתלבש בבגדיו – ציצית ותפילין.</a:t>
            </a:r>
          </a:p>
          <a:p>
            <a:pPr algn="r" rtl="1"/>
            <a:r>
              <a:rPr lang="he-IL" b="1" dirty="0"/>
              <a:t>לא יפשוט מעליו עד שיקבל </a:t>
            </a:r>
            <a:r>
              <a:rPr lang="he-IL" b="1" dirty="0" err="1"/>
              <a:t>מהועד</a:t>
            </a:r>
            <a:r>
              <a:rPr lang="he-IL" b="1" dirty="0"/>
              <a:t> מכתב שלא יהיה חילול שבת וכשרות.</a:t>
            </a:r>
          </a:p>
          <a:p>
            <a:pPr algn="r" rtl="1"/>
            <a:r>
              <a:rPr lang="he-IL" b="1" dirty="0"/>
              <a:t>ציוה על הרב </a:t>
            </a:r>
            <a:r>
              <a:rPr lang="he-IL" b="1" dirty="0" err="1"/>
              <a:t>זוננפלד</a:t>
            </a:r>
            <a:r>
              <a:rPr lang="he-IL" b="1" dirty="0"/>
              <a:t> </a:t>
            </a:r>
            <a:r>
              <a:rPr lang="he-IL" b="1" dirty="0" err="1"/>
              <a:t>להכנס</a:t>
            </a:r>
            <a:r>
              <a:rPr lang="he-IL" b="1" dirty="0"/>
              <a:t> ולרקוד.</a:t>
            </a:r>
          </a:p>
          <a:p>
            <a:pPr algn="r" rtl="1"/>
            <a:endParaRPr lang="he-IL" b="1" dirty="0"/>
          </a:p>
          <a:p>
            <a:pPr algn="r" rtl="1"/>
            <a:r>
              <a:rPr lang="he-IL" b="1" dirty="0"/>
              <a:t>הרב </a:t>
            </a:r>
            <a:r>
              <a:rPr lang="he-IL" b="1" dirty="0" err="1"/>
              <a:t>זוננפלד</a:t>
            </a:r>
            <a:r>
              <a:rPr lang="he-IL" b="1" dirty="0"/>
              <a:t> – סיפר על הכוללים בירושלים; שומר – סיפר על השמירה.</a:t>
            </a:r>
          </a:p>
          <a:p>
            <a:pPr algn="r" rtl="1"/>
            <a:r>
              <a:rPr lang="he-IL" b="1" dirty="0">
                <a:solidFill>
                  <a:srgbClr val="FF0000"/>
                </a:solidFill>
              </a:rPr>
              <a:t>הרב קוק – </a:t>
            </a:r>
            <a:r>
              <a:rPr lang="he-IL" b="1" dirty="0"/>
              <a:t>על הגאולה, לכבוש הארץ מידי נוכרים, קדושת א"י והבונים</a:t>
            </a:r>
          </a:p>
          <a:p>
            <a:pPr algn="r" rtl="1"/>
            <a:r>
              <a:rPr lang="he-IL" b="1" dirty="0">
                <a:solidFill>
                  <a:srgbClr val="FF0000"/>
                </a:solidFill>
              </a:rPr>
              <a:t>"לא בורחים מהגלות הנכם, שלוחי ההשגחה להכין שיבת ציון להמונים, </a:t>
            </a:r>
          </a:p>
          <a:p>
            <a:pPr algn="r" rtl="1"/>
            <a:r>
              <a:rPr lang="he-IL" b="1" dirty="0">
                <a:solidFill>
                  <a:srgbClr val="FF0000"/>
                </a:solidFill>
              </a:rPr>
              <a:t>ולבשר לכל עם ישראל את בשורת אתחלתא דגאולה."</a:t>
            </a:r>
            <a:endParaRPr lang="he-IL" b="1" dirty="0"/>
          </a:p>
          <a:p>
            <a:pPr algn="r" rtl="1"/>
            <a:r>
              <a:rPr lang="he-IL" b="1" dirty="0">
                <a:solidFill>
                  <a:schemeClr val="tx1"/>
                </a:solidFill>
              </a:rPr>
              <a:t>רקדו כל הלילה!</a:t>
            </a:r>
          </a:p>
        </p:txBody>
      </p:sp>
      <p:pic>
        <p:nvPicPr>
          <p:cNvPr id="48129" name="Picture 1" descr="C:\Users\123\Pictures\תשע'ד-ב'-כ'\001.jpg"/>
          <p:cNvPicPr>
            <a:picLocks noChangeAspect="1" noChangeArrowheads="1"/>
          </p:cNvPicPr>
          <p:nvPr/>
        </p:nvPicPr>
        <p:blipFill>
          <a:blip r:embed="rId4"/>
          <a:srcRect l="19285" t="58676" r="62772" b="25207"/>
          <a:stretch>
            <a:fillRect/>
          </a:stretch>
        </p:blipFill>
        <p:spPr bwMode="auto">
          <a:xfrm rot="10800000">
            <a:off x="8100392" y="692696"/>
            <a:ext cx="874383" cy="1080120"/>
          </a:xfrm>
          <a:prstGeom prst="rect">
            <a:avLst/>
          </a:prstGeom>
          <a:noFill/>
          <a:ln w="38100">
            <a:solidFill>
              <a:srgbClr val="2217F5"/>
            </a:solidFill>
          </a:ln>
        </p:spPr>
      </p:pic>
      <p:sp>
        <p:nvSpPr>
          <p:cNvPr id="7" name="TextBox 6"/>
          <p:cNvSpPr txBox="1"/>
          <p:nvPr/>
        </p:nvSpPr>
        <p:spPr>
          <a:xfrm>
            <a:off x="2411761" y="3358670"/>
            <a:ext cx="3373039" cy="369332"/>
          </a:xfrm>
          <a:prstGeom prst="rect">
            <a:avLst/>
          </a:prstGeom>
          <a:solidFill>
            <a:srgbClr val="FFFF00"/>
          </a:solidFill>
          <a:ln>
            <a:solidFill>
              <a:schemeClr val="tx1"/>
            </a:solidFill>
          </a:ln>
        </p:spPr>
        <p:txBody>
          <a:bodyPr wrap="none" rtlCol="1">
            <a:spAutoFit/>
          </a:bodyPr>
          <a:lstStyle/>
          <a:p>
            <a:pPr algn="r" rtl="1"/>
            <a:r>
              <a:rPr lang="he-IL" sz="1800" b="1" dirty="0"/>
              <a:t>"הלילה עורר אצלם רגשות נעלים".</a:t>
            </a:r>
          </a:p>
        </p:txBody>
      </p:sp>
      <p:sp>
        <p:nvSpPr>
          <p:cNvPr id="8" name="TextBox 7"/>
          <p:cNvSpPr txBox="1"/>
          <p:nvPr/>
        </p:nvSpPr>
        <p:spPr>
          <a:xfrm>
            <a:off x="250143" y="2753456"/>
            <a:ext cx="8643713" cy="1077218"/>
          </a:xfrm>
          <a:prstGeom prst="rect">
            <a:avLst/>
          </a:prstGeom>
          <a:solidFill>
            <a:srgbClr val="FFFF00"/>
          </a:solidFill>
          <a:ln>
            <a:solidFill>
              <a:schemeClr val="tx1"/>
            </a:solidFill>
          </a:ln>
        </p:spPr>
        <p:txBody>
          <a:bodyPr wrap="none" rtlCol="1">
            <a:spAutoFit/>
          </a:bodyPr>
          <a:lstStyle/>
          <a:p>
            <a:pPr algn="r" rtl="1"/>
            <a:r>
              <a:rPr lang="he-IL" sz="3200" b="1" dirty="0"/>
              <a:t>הרב קוק: "ברוך המקום שזיכני </a:t>
            </a:r>
            <a:r>
              <a:rPr lang="he-IL" sz="3200" b="1" dirty="0" err="1"/>
              <a:t>והגיעני</a:t>
            </a:r>
            <a:r>
              <a:rPr lang="he-IL" sz="3200" b="1" dirty="0"/>
              <a:t> למעמד הזה.</a:t>
            </a:r>
          </a:p>
          <a:p>
            <a:pPr algn="r" rtl="1"/>
            <a:r>
              <a:rPr lang="he-IL" sz="3200" b="1" dirty="0"/>
              <a:t>           אשרי עין ראתה </a:t>
            </a:r>
            <a:r>
              <a:rPr lang="he-IL" sz="3200" b="1" dirty="0" err="1"/>
              <a:t>ריקודין</a:t>
            </a:r>
            <a:r>
              <a:rPr lang="he-IL" sz="3200" b="1" dirty="0"/>
              <a:t> של תשובה."</a:t>
            </a:r>
          </a:p>
        </p:txBody>
      </p:sp>
      <p:sp>
        <p:nvSpPr>
          <p:cNvPr id="9" name="TextBox 8"/>
          <p:cNvSpPr txBox="1"/>
          <p:nvPr/>
        </p:nvSpPr>
        <p:spPr>
          <a:xfrm>
            <a:off x="6740077" y="4365104"/>
            <a:ext cx="2278189" cy="954107"/>
          </a:xfrm>
          <a:prstGeom prst="rect">
            <a:avLst/>
          </a:prstGeom>
          <a:noFill/>
          <a:ln w="12700">
            <a:solidFill>
              <a:srgbClr val="2217F5"/>
            </a:solidFill>
          </a:ln>
        </p:spPr>
        <p:txBody>
          <a:bodyPr wrap="none" rtlCol="1">
            <a:spAutoFit/>
          </a:bodyPr>
          <a:lstStyle/>
          <a:p>
            <a:pPr algn="r" rtl="1"/>
            <a:r>
              <a:rPr lang="he-IL" b="1" dirty="0">
                <a:solidFill>
                  <a:schemeClr val="tx1"/>
                </a:solidFill>
              </a:rPr>
              <a:t>לפני שנפרדו נתנו לו כתב</a:t>
            </a:r>
          </a:p>
          <a:p>
            <a:pPr algn="r" rtl="1"/>
            <a:r>
              <a:rPr lang="he-IL" b="1" dirty="0">
                <a:solidFill>
                  <a:schemeClr val="tx1"/>
                </a:solidFill>
              </a:rPr>
              <a:t>בחתימת כולם:</a:t>
            </a:r>
          </a:p>
          <a:p>
            <a:pPr algn="r" rtl="1"/>
            <a:r>
              <a:rPr lang="he-IL" b="1" dirty="0">
                <a:solidFill>
                  <a:schemeClr val="tx1"/>
                </a:solidFill>
              </a:rPr>
              <a:t>להכשיר את המטבח ולהעסיק</a:t>
            </a:r>
          </a:p>
          <a:p>
            <a:pPr algn="r" rtl="1"/>
            <a:r>
              <a:rPr lang="he-IL" b="1" dirty="0">
                <a:solidFill>
                  <a:schemeClr val="tx1"/>
                </a:solidFill>
              </a:rPr>
              <a:t>טבחית דתייה. </a:t>
            </a:r>
          </a:p>
        </p:txBody>
      </p:sp>
      <p:pic>
        <p:nvPicPr>
          <p:cNvPr id="3" name="תמונה 2">
            <a:extLst>
              <a:ext uri="{FF2B5EF4-FFF2-40B4-BE49-F238E27FC236}">
                <a16:creationId xmlns:a16="http://schemas.microsoft.com/office/drawing/2014/main" id="{EA13D885-6E8D-FEC7-CC02-A49F3469D9E9}"/>
              </a:ext>
            </a:extLst>
          </p:cNvPr>
          <p:cNvPicPr>
            <a:picLocks noChangeAspect="1"/>
          </p:cNvPicPr>
          <p:nvPr/>
        </p:nvPicPr>
        <p:blipFill>
          <a:blip r:embed="rId5"/>
          <a:stretch>
            <a:fillRect/>
          </a:stretch>
        </p:blipFill>
        <p:spPr>
          <a:xfrm>
            <a:off x="2596692" y="6190946"/>
            <a:ext cx="2121592" cy="432854"/>
          </a:xfrm>
          <a:prstGeom prst="rect">
            <a:avLst/>
          </a:prstGeom>
        </p:spPr>
      </p:pic>
      <p:sp>
        <p:nvSpPr>
          <p:cNvPr id="6" name="תיבת טקסט 5">
            <a:extLst>
              <a:ext uri="{FF2B5EF4-FFF2-40B4-BE49-F238E27FC236}">
                <a16:creationId xmlns:a16="http://schemas.microsoft.com/office/drawing/2014/main" id="{AAF142FB-AA37-1EC5-6A61-FFFD231C9BFE}"/>
              </a:ext>
            </a:extLst>
          </p:cNvPr>
          <p:cNvSpPr txBox="1"/>
          <p:nvPr/>
        </p:nvSpPr>
        <p:spPr>
          <a:xfrm>
            <a:off x="1000175" y="2295785"/>
            <a:ext cx="1035861" cy="307777"/>
          </a:xfrm>
          <a:prstGeom prst="rect">
            <a:avLst/>
          </a:prstGeom>
          <a:noFill/>
        </p:spPr>
        <p:txBody>
          <a:bodyPr wrap="none" rtlCol="1">
            <a:spAutoFit/>
          </a:bodyPr>
          <a:lstStyle/>
          <a:p>
            <a:r>
              <a:rPr lang="he-IL" b="1" dirty="0"/>
              <a:t>המושב כיום</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0" fill="hold"/>
                                        <p:tgtEl>
                                          <p:spTgt spid="8"/>
                                        </p:tgtEl>
                                        <p:attrNameLst>
                                          <p:attrName>ppt_w</p:attrName>
                                        </p:attrNameLst>
                                      </p:cBhvr>
                                      <p:tavLst>
                                        <p:tav tm="0">
                                          <p:val>
                                            <p:fltVal val="0"/>
                                          </p:val>
                                        </p:tav>
                                        <p:tav tm="100000">
                                          <p:val>
                                            <p:strVal val="#ppt_w"/>
                                          </p:val>
                                        </p:tav>
                                      </p:tavLst>
                                    </p:anim>
                                    <p:anim calcmode="lin" valueType="num">
                                      <p:cBhvr>
                                        <p:cTn id="8" dur="50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766"/>
          <p:cNvSpPr/>
          <p:nvPr/>
        </p:nvSpPr>
        <p:spPr>
          <a:xfrm>
            <a:off x="467544" y="3948494"/>
            <a:ext cx="4786309" cy="2509117"/>
          </a:xfrm>
          <a:prstGeom prst="rect">
            <a:avLst/>
          </a:prstGeom>
          <a:blipFill>
            <a:blip r:embed="rId2"/>
            <a:stretch>
              <a:fillRect/>
            </a:stretch>
          </a:blipFill>
          <a:ln w="28575">
            <a:solidFill>
              <a:srgbClr val="FF0000"/>
            </a:solidFill>
          </a:ln>
        </p:spPr>
        <p:txBody>
          <a:bodyPr/>
          <a:lstStyle/>
          <a:p>
            <a:endParaRPr lang="he-IL"/>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16" y="2355280"/>
            <a:ext cx="2376264" cy="2147439"/>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pic>
      <p:sp>
        <p:nvSpPr>
          <p:cNvPr id="6" name="TextBox 5"/>
          <p:cNvSpPr txBox="1"/>
          <p:nvPr/>
        </p:nvSpPr>
        <p:spPr>
          <a:xfrm>
            <a:off x="3019507" y="173251"/>
            <a:ext cx="3066865" cy="369332"/>
          </a:xfrm>
          <a:prstGeom prst="rect">
            <a:avLst/>
          </a:prstGeom>
          <a:solidFill>
            <a:srgbClr val="FFFF00"/>
          </a:solidFill>
          <a:ln w="12700">
            <a:solidFill>
              <a:schemeClr val="tx1"/>
            </a:solidFill>
          </a:ln>
        </p:spPr>
        <p:txBody>
          <a:bodyPr wrap="none" rtlCol="1">
            <a:spAutoFit/>
          </a:bodyPr>
          <a:lstStyle/>
          <a:p>
            <a:r>
              <a:rPr lang="he-IL" sz="1800" b="1" dirty="0"/>
              <a:t>בחוות כנרת – </a:t>
            </a:r>
            <a:r>
              <a:rPr lang="he-IL" sz="1800" b="1" dirty="0">
                <a:solidFill>
                  <a:srgbClr val="FF0000"/>
                </a:solidFill>
              </a:rPr>
              <a:t>יום ב', ב' בכסלו </a:t>
            </a:r>
          </a:p>
        </p:txBody>
      </p:sp>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326" y="1196752"/>
            <a:ext cx="4750527" cy="2368477"/>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068215" y="204727"/>
            <a:ext cx="824265" cy="338554"/>
          </a:xfrm>
          <a:prstGeom prst="rect">
            <a:avLst/>
          </a:prstGeom>
          <a:solidFill>
            <a:srgbClr val="76E3FF"/>
          </a:solidFill>
          <a:ln w="12700">
            <a:solidFill>
              <a:schemeClr val="tx1"/>
            </a:solidFill>
          </a:ln>
        </p:spPr>
        <p:txBody>
          <a:bodyPr wrap="none" rtlCol="1">
            <a:spAutoFit/>
          </a:bodyPr>
          <a:lstStyle/>
          <a:p>
            <a:r>
              <a:rPr lang="he-IL" sz="1600" b="1" dirty="0"/>
              <a:t>בצהרים</a:t>
            </a:r>
          </a:p>
        </p:txBody>
      </p:sp>
      <p:sp>
        <p:nvSpPr>
          <p:cNvPr id="9" name="TextBox 8"/>
          <p:cNvSpPr txBox="1"/>
          <p:nvPr/>
        </p:nvSpPr>
        <p:spPr>
          <a:xfrm>
            <a:off x="6077221" y="959417"/>
            <a:ext cx="2815259" cy="1169551"/>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1908 – </a:t>
            </a:r>
            <a:r>
              <a:rPr lang="he-IL" b="1" dirty="0"/>
              <a:t>ע"י המשרד הארצישראלי</a:t>
            </a:r>
          </a:p>
          <a:p>
            <a:pPr algn="r" rtl="1"/>
            <a:r>
              <a:rPr lang="he-IL" b="1" dirty="0"/>
              <a:t>           הכשרה לחיי עמל בכל הארץ</a:t>
            </a:r>
          </a:p>
          <a:p>
            <a:pPr algn="r" rtl="1"/>
            <a:r>
              <a:rPr lang="he-IL" b="1" dirty="0"/>
              <a:t>            20 פועלים</a:t>
            </a:r>
          </a:p>
          <a:p>
            <a:pPr algn="r" rtl="1"/>
            <a:r>
              <a:rPr lang="he-IL" b="1" dirty="0">
                <a:solidFill>
                  <a:srgbClr val="FF0000"/>
                </a:solidFill>
              </a:rPr>
              <a:t>1911 – </a:t>
            </a:r>
            <a:r>
              <a:rPr lang="he-IL" b="1" dirty="0"/>
              <a:t>בי"ס לבנות, "בית הפועלות"</a:t>
            </a:r>
          </a:p>
          <a:p>
            <a:pPr algn="r" rtl="1"/>
            <a:endParaRPr lang="he-IL" b="1" dirty="0"/>
          </a:p>
        </p:txBody>
      </p:sp>
      <p:sp>
        <p:nvSpPr>
          <p:cNvPr id="12" name="TextBox 11"/>
          <p:cNvSpPr txBox="1"/>
          <p:nvPr/>
        </p:nvSpPr>
        <p:spPr>
          <a:xfrm>
            <a:off x="5484964" y="4840645"/>
            <a:ext cx="3507756" cy="1600438"/>
          </a:xfrm>
          <a:prstGeom prst="rect">
            <a:avLst/>
          </a:prstGeom>
          <a:noFill/>
          <a:ln>
            <a:solidFill>
              <a:srgbClr val="2217F5"/>
            </a:solidFill>
          </a:ln>
        </p:spPr>
        <p:txBody>
          <a:bodyPr wrap="none" rtlCol="1">
            <a:spAutoFit/>
          </a:bodyPr>
          <a:lstStyle/>
          <a:p>
            <a:pPr algn="r" rtl="1"/>
            <a:r>
              <a:rPr lang="he-IL" b="1" dirty="0"/>
              <a:t>לא שומרים שבת וכשרות </a:t>
            </a:r>
          </a:p>
          <a:p>
            <a:pPr algn="r" rtl="1"/>
            <a:r>
              <a:rPr lang="he-IL" b="1" dirty="0"/>
              <a:t>לא צמים ביום הכיפורים, אוכלים חמץ בפסח</a:t>
            </a:r>
          </a:p>
          <a:p>
            <a:pPr algn="r" rtl="1"/>
            <a:endParaRPr lang="he-IL" b="1" dirty="0"/>
          </a:p>
          <a:p>
            <a:pPr algn="r" rtl="1"/>
            <a:r>
              <a:rPr lang="he-IL" b="1" dirty="0"/>
              <a:t>אין מזוזות. אחת קבעה 2 מזוזות.</a:t>
            </a:r>
          </a:p>
          <a:p>
            <a:pPr algn="r" rtl="1"/>
            <a:endParaRPr lang="he-IL" b="1" dirty="0"/>
          </a:p>
          <a:p>
            <a:pPr algn="r" rtl="1"/>
            <a:r>
              <a:rPr lang="he-IL" b="1" dirty="0"/>
              <a:t>הועד התנגד </a:t>
            </a:r>
            <a:r>
              <a:rPr lang="he-IL" b="1" dirty="0" err="1"/>
              <a:t>לתו"מ</a:t>
            </a:r>
            <a:r>
              <a:rPr lang="he-IL" b="1" dirty="0"/>
              <a:t>, רק כאשר הרב </a:t>
            </a:r>
            <a:r>
              <a:rPr lang="he-IL" b="1" dirty="0" err="1"/>
              <a:t>יאדלר</a:t>
            </a:r>
            <a:r>
              <a:rPr lang="he-IL" b="1" dirty="0"/>
              <a:t> חזר</a:t>
            </a:r>
          </a:p>
          <a:p>
            <a:pPr algn="r" rtl="1"/>
            <a:r>
              <a:rPr lang="he-IL" b="1" dirty="0"/>
              <a:t>הסכימו.</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773"/>
          <p:cNvSpPr/>
          <p:nvPr/>
        </p:nvSpPr>
        <p:spPr>
          <a:xfrm>
            <a:off x="5108374" y="201064"/>
            <a:ext cx="3500424" cy="2928770"/>
          </a:xfrm>
          <a:prstGeom prst="rect">
            <a:avLst/>
          </a:prstGeom>
          <a:blipFill>
            <a:blip r:embed="rId2"/>
            <a:stretch>
              <a:fillRect/>
            </a:stretch>
          </a:blipFill>
          <a:ln w="38100">
            <a:solidFill>
              <a:srgbClr val="FF0000"/>
            </a:solidFill>
          </a:ln>
        </p:spPr>
        <p:txBody>
          <a:bodyPr/>
          <a:lstStyle/>
          <a:p>
            <a:endParaRPr lang="he-IL"/>
          </a:p>
        </p:txBody>
      </p:sp>
      <p:sp>
        <p:nvSpPr>
          <p:cNvPr id="4" name="Shape 781"/>
          <p:cNvSpPr/>
          <p:nvPr/>
        </p:nvSpPr>
        <p:spPr>
          <a:xfrm>
            <a:off x="683568" y="3140681"/>
            <a:ext cx="3444991" cy="2527619"/>
          </a:xfrm>
          <a:prstGeom prst="rect">
            <a:avLst/>
          </a:prstGeom>
          <a:blipFill>
            <a:blip r:embed="rId3"/>
            <a:stretch>
              <a:fillRect/>
            </a:stretch>
          </a:blipFill>
          <a:ln w="38100">
            <a:solidFill>
              <a:srgbClr val="FF0000"/>
            </a:solidFill>
          </a:ln>
        </p:spPr>
        <p:txBody>
          <a:bodyPr/>
          <a:lstStyle/>
          <a:p>
            <a:endParaRPr lang="he-IL"/>
          </a:p>
        </p:txBody>
      </p:sp>
      <p:pic>
        <p:nvPicPr>
          <p:cNvPr id="16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332660"/>
            <a:ext cx="2232248" cy="2258291"/>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6" name="Shape 818"/>
          <p:cNvSpPr/>
          <p:nvPr/>
        </p:nvSpPr>
        <p:spPr>
          <a:xfrm>
            <a:off x="5043738" y="4005068"/>
            <a:ext cx="3565060" cy="2582963"/>
          </a:xfrm>
          <a:prstGeom prst="rect">
            <a:avLst/>
          </a:prstGeom>
          <a:blipFill>
            <a:blip r:embed="rId5"/>
            <a:stretch>
              <a:fillRect/>
            </a:stretch>
          </a:blipFill>
          <a:ln w="38100">
            <a:solidFill>
              <a:srgbClr val="FF0000"/>
            </a:solidFill>
          </a:ln>
        </p:spPr>
        <p:txBody>
          <a:bodyPr/>
          <a:lstStyle/>
          <a:p>
            <a:endParaRPr lang="he-IL"/>
          </a:p>
        </p:txBody>
      </p:sp>
      <p:sp>
        <p:nvSpPr>
          <p:cNvPr id="7" name="TextBox 6"/>
          <p:cNvSpPr txBox="1"/>
          <p:nvPr/>
        </p:nvSpPr>
        <p:spPr>
          <a:xfrm>
            <a:off x="5316026" y="3189418"/>
            <a:ext cx="3296095" cy="307777"/>
          </a:xfrm>
          <a:prstGeom prst="rect">
            <a:avLst/>
          </a:prstGeom>
          <a:noFill/>
          <a:ln w="38100">
            <a:noFill/>
          </a:ln>
        </p:spPr>
        <p:txBody>
          <a:bodyPr wrap="none" rtlCol="1">
            <a:spAutoFit/>
          </a:bodyPr>
          <a:lstStyle/>
          <a:p>
            <a:pPr algn="r" rtl="1"/>
            <a:r>
              <a:rPr lang="he-IL" b="1" dirty="0"/>
              <a:t>חאן ערבי נבנה בשנות ה-80 של המאה ה19</a:t>
            </a:r>
          </a:p>
        </p:txBody>
      </p:sp>
      <p:sp>
        <p:nvSpPr>
          <p:cNvPr id="8" name="TextBox 7"/>
          <p:cNvSpPr txBox="1"/>
          <p:nvPr/>
        </p:nvSpPr>
        <p:spPr>
          <a:xfrm>
            <a:off x="2884315" y="1052736"/>
            <a:ext cx="1935209" cy="1169551"/>
          </a:xfrm>
          <a:prstGeom prst="rect">
            <a:avLst/>
          </a:prstGeom>
          <a:noFill/>
          <a:ln>
            <a:solidFill>
              <a:srgbClr val="2217F5"/>
            </a:solidFill>
          </a:ln>
        </p:spPr>
        <p:txBody>
          <a:bodyPr wrap="none" rtlCol="1">
            <a:spAutoFit/>
          </a:bodyPr>
          <a:lstStyle/>
          <a:p>
            <a:pPr algn="r" rtl="1"/>
            <a:r>
              <a:rPr lang="he-IL" b="1" dirty="0"/>
              <a:t>כאן צמח רעיון הקיבוץ – </a:t>
            </a:r>
          </a:p>
          <a:p>
            <a:pPr algn="r" rtl="1"/>
            <a:r>
              <a:rPr lang="he-IL" b="1" dirty="0"/>
              <a:t>מייסדי דגניה</a:t>
            </a:r>
          </a:p>
          <a:p>
            <a:pPr algn="r" rtl="1"/>
            <a:endParaRPr lang="he-IL" b="1" dirty="0"/>
          </a:p>
          <a:p>
            <a:pPr algn="r" rtl="1"/>
            <a:r>
              <a:rPr lang="he-IL" b="1" dirty="0"/>
              <a:t>כאן גרה רחל שפירא – </a:t>
            </a:r>
          </a:p>
          <a:p>
            <a:pPr algn="r" rtl="1"/>
            <a:r>
              <a:rPr lang="he-IL" b="1" dirty="0"/>
              <a:t>המשוררת</a:t>
            </a:r>
          </a:p>
        </p:txBody>
      </p:sp>
      <p:sp>
        <p:nvSpPr>
          <p:cNvPr id="9" name="TextBox 8"/>
          <p:cNvSpPr txBox="1"/>
          <p:nvPr/>
        </p:nvSpPr>
        <p:spPr>
          <a:xfrm>
            <a:off x="214725" y="5849367"/>
            <a:ext cx="4238660" cy="738664"/>
          </a:xfrm>
          <a:prstGeom prst="rect">
            <a:avLst/>
          </a:prstGeom>
          <a:noFill/>
          <a:ln>
            <a:solidFill>
              <a:srgbClr val="2217F5"/>
            </a:solidFill>
          </a:ln>
        </p:spPr>
        <p:txBody>
          <a:bodyPr wrap="none" rtlCol="1">
            <a:spAutoFit/>
          </a:bodyPr>
          <a:lstStyle/>
          <a:p>
            <a:pPr lvl="0" algn="r"/>
            <a:r>
              <a:rPr lang="he-IL" b="1" dirty="0"/>
              <a:t>יהודית אברמסון: </a:t>
            </a:r>
            <a:r>
              <a:rPr lang="x-none" b="1" dirty="0"/>
              <a:t>סב בעלה </a:t>
            </a:r>
            <a:r>
              <a:rPr lang="he-IL" b="1" dirty="0"/>
              <a:t>(חרדי יחידי) נסע </a:t>
            </a:r>
            <a:r>
              <a:rPr lang="x-none" b="1" dirty="0"/>
              <a:t>להפגש</a:t>
            </a:r>
            <a:r>
              <a:rPr lang="he-IL" b="1" dirty="0"/>
              <a:t> </a:t>
            </a:r>
            <a:r>
              <a:rPr lang="x-none" b="1" dirty="0"/>
              <a:t>ע</a:t>
            </a:r>
            <a:r>
              <a:rPr lang="he-IL" b="1" dirty="0"/>
              <a:t>ם</a:t>
            </a:r>
            <a:r>
              <a:rPr lang="x-none" b="1" dirty="0"/>
              <a:t> </a:t>
            </a:r>
            <a:endParaRPr lang="en-US" b="1" dirty="0"/>
          </a:p>
          <a:p>
            <a:pPr lvl="0" algn="r"/>
            <a:r>
              <a:rPr lang="he-IL" b="1" dirty="0"/>
              <a:t>ה</a:t>
            </a:r>
            <a:r>
              <a:rPr lang="x-none" b="1" dirty="0"/>
              <a:t>רב קוק </a:t>
            </a:r>
            <a:r>
              <a:rPr lang="he-IL" b="1" dirty="0"/>
              <a:t>(</a:t>
            </a:r>
            <a:r>
              <a:rPr lang="x-none" b="1" dirty="0"/>
              <a:t>בהיות</a:t>
            </a:r>
            <a:r>
              <a:rPr lang="he-IL" b="1" dirty="0"/>
              <a:t>ו</a:t>
            </a:r>
            <a:r>
              <a:rPr lang="x-none" b="1" dirty="0"/>
              <a:t> בדגניה</a:t>
            </a:r>
            <a:r>
              <a:rPr lang="he-IL" b="1" dirty="0"/>
              <a:t>)</a:t>
            </a:r>
            <a:r>
              <a:rPr lang="x-none" b="1" dirty="0"/>
              <a:t> כדי שי</a:t>
            </a:r>
            <a:r>
              <a:rPr lang="he-IL" b="1" dirty="0"/>
              <a:t>שלח</a:t>
            </a:r>
            <a:r>
              <a:rPr lang="x-none" b="1" dirty="0"/>
              <a:t> שוחט</a:t>
            </a:r>
            <a:r>
              <a:rPr lang="he-IL" b="1" dirty="0"/>
              <a:t> מטבריה.</a:t>
            </a:r>
            <a:r>
              <a:rPr lang="en-US" b="1" dirty="0"/>
              <a:t>'</a:t>
            </a:r>
            <a:endParaRPr lang="he-IL" b="1" dirty="0"/>
          </a:p>
          <a:p>
            <a:pPr lvl="0" algn="r"/>
            <a:r>
              <a:rPr lang="he-IL" b="1" dirty="0"/>
              <a:t>נסע לירושלים, הרב </a:t>
            </a:r>
            <a:r>
              <a:rPr lang="he-IL" b="1" dirty="0" err="1"/>
              <a:t>צ"פ</a:t>
            </a:r>
            <a:r>
              <a:rPr lang="he-IL" b="1" dirty="0"/>
              <a:t> </a:t>
            </a:r>
            <a:r>
              <a:rPr lang="he-IL" b="1" dirty="0" err="1"/>
              <a:t>פראנק</a:t>
            </a:r>
            <a:r>
              <a:rPr lang="he-IL" b="1" dirty="0"/>
              <a:t> נתן לו ספר תורה.</a:t>
            </a:r>
            <a:endParaRPr lang="x-none"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59833" y="6381332"/>
            <a:ext cx="5973110" cy="307777"/>
          </a:xfrm>
          <a:prstGeom prst="rect">
            <a:avLst/>
          </a:prstGeom>
          <a:solidFill>
            <a:srgbClr val="FFFF00"/>
          </a:solidFill>
          <a:ln w="12700">
            <a:solidFill>
              <a:schemeClr val="tx1"/>
            </a:solidFill>
          </a:ln>
        </p:spPr>
        <p:txBody>
          <a:bodyPr wrap="square" rtlCol="1">
            <a:spAutoFit/>
          </a:bodyPr>
          <a:lstStyle/>
          <a:p>
            <a:r>
              <a:rPr lang="he-IL" b="1" dirty="0"/>
              <a:t>יוסף </a:t>
            </a:r>
            <a:r>
              <a:rPr lang="he-IL" b="1" dirty="0" err="1"/>
              <a:t>טריידל</a:t>
            </a:r>
            <a:r>
              <a:rPr lang="he-IL" b="1" dirty="0"/>
              <a:t> </a:t>
            </a:r>
            <a:r>
              <a:rPr lang="en-US" b="1" dirty="0"/>
              <a:t>  </a:t>
            </a:r>
            <a:r>
              <a:rPr lang="he-IL" b="1" dirty="0"/>
              <a:t>'אגדה' "על שפת ים כנרת... ארמון רב תפארת" </a:t>
            </a:r>
            <a:r>
              <a:rPr lang="he-IL" sz="1200" b="1" dirty="0"/>
              <a:t>(יעקב </a:t>
            </a:r>
            <a:r>
              <a:rPr lang="he-IL" sz="1200" b="1" dirty="0" err="1"/>
              <a:t>פיכמן</a:t>
            </a:r>
            <a:r>
              <a:rPr lang="he-IL" sz="1200" b="1" dirty="0"/>
              <a:t>) </a:t>
            </a:r>
            <a:r>
              <a:rPr lang="he-IL" b="1" dirty="0"/>
              <a:t>- בית</a:t>
            </a:r>
          </a:p>
        </p:txBody>
      </p:sp>
      <p:pic>
        <p:nvPicPr>
          <p:cNvPr id="58370" name="Picture 2" descr="קובץ:Kineret1.JPG"/>
          <p:cNvPicPr>
            <a:picLocks noChangeAspect="1" noChangeArrowheads="1"/>
          </p:cNvPicPr>
          <p:nvPr/>
        </p:nvPicPr>
        <p:blipFill>
          <a:blip r:embed="rId2"/>
          <a:srcRect/>
          <a:stretch>
            <a:fillRect/>
          </a:stretch>
        </p:blipFill>
        <p:spPr bwMode="auto">
          <a:xfrm>
            <a:off x="179514" y="692696"/>
            <a:ext cx="3573329" cy="2376264"/>
          </a:xfrm>
          <a:prstGeom prst="rect">
            <a:avLst/>
          </a:prstGeom>
          <a:noFill/>
          <a:ln w="38100">
            <a:solidFill>
              <a:srgbClr val="FF0000"/>
            </a:solidFill>
          </a:ln>
        </p:spPr>
      </p:pic>
      <p:sp>
        <p:nvSpPr>
          <p:cNvPr id="2" name="TextBox 1"/>
          <p:cNvSpPr txBox="1"/>
          <p:nvPr/>
        </p:nvSpPr>
        <p:spPr>
          <a:xfrm>
            <a:off x="3143242" y="5286368"/>
            <a:ext cx="1487908" cy="307777"/>
          </a:xfrm>
          <a:prstGeom prst="rect">
            <a:avLst/>
          </a:prstGeom>
          <a:noFill/>
          <a:ln w="38100">
            <a:noFill/>
          </a:ln>
        </p:spPr>
        <p:txBody>
          <a:bodyPr wrap="none" rtlCol="1">
            <a:spAutoFit/>
          </a:bodyPr>
          <a:lstStyle/>
          <a:p>
            <a:r>
              <a:rPr lang="he-IL" b="1" dirty="0"/>
              <a:t>"דקל שפל צמרת"</a:t>
            </a: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3491880"/>
            <a:ext cx="2376264" cy="316835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20483" name="Picture 3"/>
          <p:cNvPicPr>
            <a:picLocks noChangeAspect="1" noChangeArrowheads="1"/>
          </p:cNvPicPr>
          <p:nvPr/>
        </p:nvPicPr>
        <p:blipFill>
          <a:blip r:embed="rId4">
            <a:extLst>
              <a:ext uri="{28A0092B-C50C-407E-A947-70E740481C1C}">
                <a14:useLocalDpi xmlns:a14="http://schemas.microsoft.com/office/drawing/2010/main" val="0"/>
              </a:ext>
            </a:extLst>
          </a:blip>
          <a:srcRect l="5559" t="8400" r="5501" b="10401"/>
          <a:stretch>
            <a:fillRect/>
          </a:stretch>
        </p:blipFill>
        <p:spPr bwMode="auto">
          <a:xfrm>
            <a:off x="4644010" y="3861048"/>
            <a:ext cx="3933127" cy="2376264"/>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8" name="TextBox 7"/>
          <p:cNvSpPr txBox="1"/>
          <p:nvPr/>
        </p:nvSpPr>
        <p:spPr>
          <a:xfrm>
            <a:off x="4453379" y="260648"/>
            <a:ext cx="4163320" cy="523220"/>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1909 - </a:t>
            </a:r>
            <a:r>
              <a:rPr lang="he-IL" b="1" dirty="0"/>
              <a:t>המושבה כנרת נוסדה ע"י </a:t>
            </a:r>
            <a:r>
              <a:rPr lang="he-IL" b="1" dirty="0" err="1"/>
              <a:t>יק"א</a:t>
            </a:r>
            <a:r>
              <a:rPr lang="he-IL" b="1" dirty="0"/>
              <a:t>, (</a:t>
            </a:r>
            <a:r>
              <a:rPr lang="he-IL" b="1" dirty="0" err="1"/>
              <a:t>ה'חצר</a:t>
            </a:r>
            <a:r>
              <a:rPr lang="he-IL" b="1" dirty="0"/>
              <a:t>' מדרום)</a:t>
            </a:r>
          </a:p>
          <a:p>
            <a:pPr algn="r" rtl="1"/>
            <a:r>
              <a:rPr lang="he-IL" b="1" dirty="0"/>
              <a:t>8 משפחות</a:t>
            </a:r>
          </a:p>
        </p:txBody>
      </p:sp>
      <p:pic>
        <p:nvPicPr>
          <p:cNvPr id="9" name="תמונה 8" descr="http://cache.bhol.co.il/imagebank/article1/article1_40488DB37236466B9690A2BFE50806D7.jpg"/>
          <p:cNvPicPr/>
          <p:nvPr/>
        </p:nvPicPr>
        <p:blipFill>
          <a:blip r:embed="rId5" cstate="print"/>
          <a:srcRect t="1638" b="5621"/>
          <a:stretch>
            <a:fillRect/>
          </a:stretch>
        </p:blipFill>
        <p:spPr bwMode="auto">
          <a:xfrm>
            <a:off x="4932042" y="908720"/>
            <a:ext cx="3384376" cy="2520280"/>
          </a:xfrm>
          <a:prstGeom prst="rect">
            <a:avLst/>
          </a:prstGeom>
          <a:noFill/>
          <a:ln w="38100">
            <a:solidFill>
              <a:srgbClr val="FF0000"/>
            </a:solidFill>
            <a:miter lim="800000"/>
            <a:headEnd/>
            <a:tailEnd/>
          </a:ln>
        </p:spPr>
      </p:pic>
      <p:sp>
        <p:nvSpPr>
          <p:cNvPr id="10" name="TextBox 9"/>
          <p:cNvSpPr txBox="1"/>
          <p:nvPr/>
        </p:nvSpPr>
        <p:spPr>
          <a:xfrm>
            <a:off x="1043610" y="3121227"/>
            <a:ext cx="2137124" cy="307777"/>
          </a:xfrm>
          <a:prstGeom prst="rect">
            <a:avLst/>
          </a:prstGeom>
          <a:noFill/>
        </p:spPr>
        <p:txBody>
          <a:bodyPr wrap="none" rtlCol="1">
            <a:spAutoFit/>
          </a:bodyPr>
          <a:lstStyle/>
          <a:p>
            <a:pPr algn="r" rtl="1"/>
            <a:r>
              <a:rPr lang="he-IL" b="1" dirty="0"/>
              <a:t>הארמון – בית יוסף </a:t>
            </a:r>
            <a:r>
              <a:rPr lang="he-IL" b="1" dirty="0" err="1"/>
              <a:t>טריידל</a:t>
            </a:r>
            <a:r>
              <a:rPr lang="he-IL" b="1" dirty="0"/>
              <a:t> </a:t>
            </a:r>
            <a:endParaRPr lang="he-IL" dirty="0"/>
          </a:p>
        </p:txBody>
      </p:sp>
      <p:cxnSp>
        <p:nvCxnSpPr>
          <p:cNvPr id="12" name="מחבר חץ ישר 11"/>
          <p:cNvCxnSpPr/>
          <p:nvPr/>
        </p:nvCxnSpPr>
        <p:spPr>
          <a:xfrm>
            <a:off x="2708727" y="1588236"/>
            <a:ext cx="2151305" cy="1026236"/>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flipH="1" flipV="1">
            <a:off x="2483768" y="4315536"/>
            <a:ext cx="1800200" cy="970832"/>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אליפסה 2">
            <a:extLst>
              <a:ext uri="{FF2B5EF4-FFF2-40B4-BE49-F238E27FC236}">
                <a16:creationId xmlns:a16="http://schemas.microsoft.com/office/drawing/2014/main" id="{BC7E2FA9-A198-C89C-3D61-7BE2931F2C33}"/>
              </a:ext>
            </a:extLst>
          </p:cNvPr>
          <p:cNvSpPr/>
          <p:nvPr/>
        </p:nvSpPr>
        <p:spPr>
          <a:xfrm>
            <a:off x="4839320" y="2390692"/>
            <a:ext cx="664831" cy="606260"/>
          </a:xfrm>
          <a:prstGeom prst="ellipse">
            <a:avLst/>
          </a:prstGeom>
          <a:noFill/>
          <a:ln w="19050">
            <a:solidFill>
              <a:srgbClr val="2217F5"/>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6075715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data:image/jpeg;base64,/9j/4AAQSkZJRgABAQAAAQABAAD/2wCEAAkGBhQSERUUExMWFRUWFxcYFxcYFhkaFxgYFxgXFxgYGhgYHiYeFxwjHRwYHy8gIycpLCwsGh4xNTAqNSYrLCkBCQoKDgwOGg8PGiwkHyQsLCwsLC81LywsLCwsLCwsLCwsLCwsLCwsLCwsLCwsKSwsLCwsKSwsLCwsLCwsLCksLP/AABEIALsBDgMBIgACEQEDEQH/xAAaAAACAwEBAAAAAAAAAAAAAAACAwEEBQAG/8QAQhAAAQMCAwQGCAQFAwQDAQAAAQACEQMhEjFBBFFhcQUTIoGRoTJCUrHB0eHwBhRi8RUjkqLSM3KCQ1NzsmPC4hb/xAAaAQADAQEBAQAAAAAAAAAAAAAAAQIDBAUG/8QALhEAAgIABQIEBQQDAAAAAAAAAAECEQMSITFBE1EUImGhBEJxkbGBwfDxMtHh/9oADAMBAAIRAxEAPwD2jaSLq0YCN69Czy8oGFCWprFLhCVhQjChwXTwFzmJ2LKKIUliIKHFFhQBahDU0BcKadioV1KkssmYLqQ2yLDKJwb1AEp2FAKd07E0LwLhTTXNXBFhlFubbJAGKwWocCLBxIwSufTTMKkNSseUrtYpwpoZdc9qdiyggQoDUUImmyVjSBDVLWroRBqVjoE0kDqdk0lC4J2JoUG71wG5FhUuCdiohtPglPp3TmhRF0Jg0LwQi2cX7lOBTRbfuTb0JrUeQmYZXAaJrGrFs6UhTWXU1BKbCF7UrHQoBS8I1zk7FQosSsF1ac1LATTJcQAy6lGCuwosKAcFIaiIRDySsdC4uiLNUZCnCix0V8K7DdPLEJZGSLFQBbCFsJgCHAmBxYuhMHvUEXSChbSucEZYiARYUVyJUBqeGLmtCdiyi8KLAmELilY6ALQEtzU2FGFAUIhGWoiy6l7VVk0KaFxZdHF1BaixULwKKIv3JhCKmy/cnYqLITQFm/n3DNo81LelT7Hn9FxvGgdvSkaAKh4kKoOkP0Hx+ikdKNjJ3hPuQsaD2YPCl2Hmmpa1RT2hrhYid2vgU2AtVJMzca3FgqMKPAphOxUKdTXJoCEhFhQIYpayEQsuxDJFhQDEyJURdMBQNIXgUFnBMeiGSVhRXDIC7CnFtkBcnYUQ2nZRCa0JZaixUA5q4BHC5wTsKIDUGFOpqSM0rChL12inDdTCYhYCkFMwri1FhQkZonNXNajATChDmXUAKwhIRYsogBMY2Sp6tFTCGxUZjrCZiOA1R06DneHskJUzfUaqwzaTnN/kvn1JNWz2stinbMQfkk1g7S/Mq0/aJzJ/ZFTqt3nhu4IePWwnAoNadysMrP0cRu3eCe5+ZFraWHf971VrOByI4wdVrGVuxZdA/wA/UyJ8gU9u0PJ1A5D3LOJAOfzTRXj0R4WTePP5SenF7otVttqsMHxDZCW/pJx9aLbkAr4mkHPTh981Tc1wtad0kea6I4zrUjpIs/xh0SHeIHuXUulHkTn3BVqpEbj7kqltFzPjb3hXHGvgh4WponphwOfiIXfxh+nuVMYReO+3vhMYZ19xVvFSDpDh0zU4eH1RDpx8xA8PqqhbGcALgWxMeKSxb2J6dFz+NPjIRy+qUemj+w+aQ2tIsGnzhB1YnLvurzBkReHTTtBPNC7pip+meDfqqoZw++5G2keHeUuoPp+gZ6Yq7xyhCemKuhEf7QgfRTDRaWnMozh0iP4tVPrAdwXDpGsfX8A1Lp0AWyDBmCM43HiN6KtRc1rXsN5vOlrifvNClYZFucdvre0eeEfKy5nS1UWxA9wU05dcCDFwcj36IawDZEzO+xHNPMGRBN6cqbx4BGOnX/pP3wWdUYOEI2UxofJPMLInwX/46/2WeaYOnHaNHiVUbsocYbUBtu8uCVWZhMYp5ac9EliWPpLsaI6e/R5/RLP4hg/6Z/q+izSwnIHnooNJxyvpE/NVnZPTXY2G/iFvsnxH0TKPTlM+0PD5rBLZyXU4m6XUE8JGgOkGR6bZ++CgdIN9ts9yz3dIj2B4lSNvb7HmuR/AuqS90Hj0+fZmh+baT6bbbiPmiZtA/wC4O4tCzDtjPZ93yUt2unqzwA+KnwD319jTxse69zWebf6nn7rKsWCbuB4z8lRO0Uj6ni0IespbgB/sCfhMSufYPFwe1e5q4WWkqC1ugHuWO/Bvj/iR8UtxbEWPe8fGyS+Ea7j8Sr4NwEDIwlGu4Zz4T7lhudNoaBOcu+eXBMFIR6QHJz/cpl8NLm/sV4lPavua9TbWGziPA/JKLqZyw5fqHxCzRQPqn+4/C6c3ZnDMuynM/XJV04YfLEsWUuBtSqzh/V8wip7QzfHKD8lFJzwLSRoS4R7goeXn0mmwOR8RbNGZS/sLa/ob+YF+04jXsjJT1rTY8DBsqofHqP4ktOWt0wPAPrD+oJ3GOwsze451YXyjl9ELtraR6SWdqb7f/t80LdqG9vuTUm9WOxrKjZu+3ejNRs2cecpUt1wpT2M3jyCOtG6pj83oXG1TEB89/wA135tw1HgFUFJh9Zn33Jb6YHou8DCrNHkLkatHbHD2I7svFFSeSSQYHsz3LIY2QQXOj/yD4lE3ZQcsX9TT7yjqQQJPsbDiNDloeKW6l7VwLCCsxuyxeXeI+CF9MZ4j5/4ozpvRidrdGg3ZJnIc7I6dFzdxHAhZPVn2v7v/AMqTTdoT3EpvEjyxJ+hqRMyHAn9KuN2SkfSJBP3qvOkO9V0G2ZcLa6FEXun/AFCO9GZPZjz1ujcdSDRYhzd0x38VX6ppJmLrJL3+2fBcyo8XLib6SEO63Fn9Da2jZGz2Xg9xhw+BQUaYce3lpAlZOJ3/AMnj9LLqVYnV58c9VjJpbyKv0Ic7goLlL6aJtFe3VngIhcSFxbeFIp8CncY7stJvgjFuU4kY2Q+yfAwpfs1tPEDnmVk8bDW8kbLBm9kxJUOEJVWqwD0255ScXcIy4zCY+IscswZnuiQfFS/isKtyvDYnY5qJ6W1xkAMcSYgBpmTaIOZXHrAS3C6Rvbh8Q7LvWb+Kw1rqNfCzDDl3WKDsdaTiAFshc/2A+VuKq7Q1zT2rHK+WkwcnJeMi1oi18LJblsVCdUYMd+5ZYrRcktt7Nid05J9Daqr8QYzHhBfAF4bEgDXPIXKhfEwe8SujLhlwVnYrOIIuIJBEcslDaUm4nnJ95VX8s5kPLmjENXQYMaZpdMt9Z5FoPYmDrfFe0XWUsSD+VGyw5reRebWIcQC282lojxBG8RbRAa5n0x3Bvff9kqrsRF2ua8GCAWXHCATJjVBT6OdAmATOhkRGYgRK5JST2N0nVGhS2pwk4mb76ZbiBu3prOkxJJFJxcQYhtt8QJM53JWe3YDeWyYMAjsnswAc9e7NQ7rs+ppU4ggtZTBtY3gEZ+SlNdy9TQqVacQ6mGm3axOIvcWmLhKbTZo48RfxskV6jnYQKjWtggxiOYNnACXCTbvRbVjcc2zMQ3s65gtz33jLehpvkevYf1TQLOP9wPHVBLTm4kd5954K6NgcWyajpgOgDsznY48wY0PLMKvtOyOd6YFTi4SeGRbZNYkVpm/AdN9iuQyR2neB/wAkUs9p/c0/5Jv5NzWiKTY1hh01jHadwlLecPpMEf8Aidbz+aiU8z0f4GotcUQ6u0C3WE7oA95hKfVbEy7wE+AN1Y6+nuB5SPcofUpHQjvPxUppPWxuN8orM24AYsUCW+kI9IxIF8tVBrzLuzAMH0tcpgW3qw3BpjP3wCB72RhkwC2WkERuMaRJPjvWjxEvlZOX1QiptIm2HW94kCYk71IrDUgEaTfwkplSmzPs5n1Rmcz4oTsLN3MzEX5j78jM5aUyXBd0FVfhMESRoC4nT2Z3hP6mdHXvZx+RQM2MNP8Ap5xbFHH2pv8ABD+UBn+UHcJcMp1BM/uoeA33sVpdiwaD4aDUJgkg9WzFfQkg4hN734p0kUy2QSSe1haHC8wOzHvQGkxpBD6j5MEEZTmZnyTp2cGcNab5zF+E8FjLBxK1t/oC0+ZCxXqCRiIkzkNwtIj7lS7E4kkuMggjG/DcQezihI2naKYPYxglrj6xBjIa/NUnUnucXBwEkRiJHZOYgC15UQwMSXoNya2kXmbO2/YblBkTPOUYoNwwWNIF/RyOUjWfNA7oukBAJiId2yJyjQ3VmhQa1ubQLekXOPjIJ3rVYTWz+7/6CT5YltQWIZAiBAiBexGnKEDWTcUzNjZonnPBPr1o9BwN8mMNuM314oHVHkT1lWTmIdn3prCp+aXuWm+Lf8+gQ2V59U97RY6Z/BCdjwnE4sm9+ybHf5oK7yBN/wDkPjiVLaWYnRBiJsWgAc51hb5MKvJKyM8lui843guGG/ojfwiF0tym82z+YCzqfSYAa1gB3SRfdNl1GpiwlobJJIGIk85yHKFUo4KrdiU5t8F7bNsBGANn2icNuFjw3rOoCoy7XNYTE3OfdwKu1NkqOzptPM89w5Jf5M5kMaN8yOEyBrZQppf4oJKTdmbX2NxOKWOdEntOEnjIvr4qIORw7s50+a1afRr3klrQ614EwM7wLKH9GOFyxtoFxebkIWIjNwl2M2kxzXAh41tNrWsY71ZqdJPBguBsCb+7O5Wht3Q3VdpzqeGM+zM5QGk4jFtFSrsYNWnSzcvNEpa+ZUPVDG13EWM6A5iRbdzQFlWDe14ixGu5RUosbcPABPqiL65Heh/NAOzkHUZxuI0KmEocK/59CrbFh1ffrnJ+CCtV2iZuc/Wy3QPvNPZUkwHnInTIb7WWjW6A2ponq6hF5h1MwACZgGTyE5rS4vhh56MPa31QcYMMgdgNIDbyTYxKgdKw6DJ79c9RqLq5T2x2EPPWhpFnlpwEHLtRF7a6hBXOr2ncHOYRmcMS5ueR7xvSWXhMVysTR6eoEkOxDM5t0MQrzK1AmA4gk8tJ8FQ2bYhVdAazH7NpcAeUugqxtPQhDgHBjXAGAThMcj6QyUzy92iqk9UXhsdM6+5BU2OlFz7llO2dgJxYWxIJJgWPC0ZIWdHscMQjQntvvY6jXNZJJfMyMsma7NnptBEiDa57hCVtexUTcubNpJNy3KOzE31zF1nGhTEy3Iz6WIAgwTna7Tpop6ihBsBv0ib7tVrle6Y03HRjquz7MM+Po1Xc8lRqsoYezTdiIgfznYRcATPAkxOid+UoiPR4fOxHFcdjY4mMNrejBM3F/HPeUtFvJlubfCFNc2YcHDIH+cTA4XvAnyTKdWg1xwuqiZuCdDzyvrdEKFOR2DwmDv1w9yU2hTJ7OE5SDnO+yzbTfIrpcHptj2QVCcTqrbC5DRzzZy8TuVxvQ1IZ1X/1N/xVL+I78I5/RN6+lb+ZTnk+39pXI5TbvNSNYywa2/BP5Gm0+kSM5xH4ZLn02tHZvwLifCSlDbWTHWUj/wAXn/6plOo3/u0e7F8ckSlPhmilhPj8HOY0QTTMxnDDa5i7p3+aI1WD1CDyby9rn4FJ2kT2m1Kbo9UOAOc6m+oi1nOVCrXO4+fK/dE8j7RWke7ZnKUYmjS2vtwWuczTC5oeMt8iMtRnpCvU3UnZN2kQT/2c9R2vuy87+ZMXa6fv75z7RhruknEgwcQsToWgWmfWzurjHmkLrcWbL62zkQTtGdrbPluUP6rq3CmKwcWuGP8AlZEZHqnAwlUelsTwKjKLWGbtoNJBix3/AGeCuVNjY8WrbOyYPZBpuInUNIPcV1RlFp5GvZFaS3ZjdDVqdB+N1LaH1BEEUqfoF0glhxBvZOYMm+VoZ01+JS4EMYWAei4ua15J1GGIOkHPcVo7Zswp03PD6NVzQXYRUOJ5mcNzBnLvR7RsmyuaQa1GCCCA1404OTu1TkQ0uGeY6L/E+00MTWsBc/stxEFwdJOZJEXvMad6tqqvqMBc2mx5zLB2MLWiA5ueKcyDkFrn8G0TPUbVciMwQAN2KIM7jnou2T8BVmZV8fab7MQ0yRGOLi0pu5LytEqLW7Ke1dNH8uylTaA9ogvxONs3BsAEAm+EyPBVX7bVe5hcGBoEAiS24IMiZ+XHXbOyUqFWoK7WtAaCwhl53Y2ugHMzIhYNHptjXVcNIBjmjq2SYBGENntWntEwhfUpqt2Xtv6T64M/MkMw42ksbLTMEAh2sgCZ1CoMrDaA67aVmAQ1xaQ1uYjU5n6qwekxVDXSAHWLA0wIglwMknMDuG8qrtfR8lr6RdgDWtA9FpInGSIBxSD3QFL13F9CpWpP62MLyyCQ4tgWw3B9a/BJ2iu5tJ0BxOJtmtM+sRIzggQe9ew2Lo+nUZTa8AkNc4AuaIDnFpg4DE2kCZEbjBYKFMYnM7OIMhrmOcIJBIGCYJjOD4qrVIeRb2ZOwXogENn0jinFAiAA0EEmSNQYNloH8UVRIFV4N47Wl4wyCCCIjij2zooPeW0pYW3IODFcYpsRNskqiynSDHPpMrU3kYSaY7AaCXbyCZG6IhS01qx+hlbVWqVRHWnjaGmTZ0DOCSDGSQaVXARLCDEAkC5NwZyyF4ha/wCepPe5w2VpBJgAkZkdqxtI5AHNUqexPhoIccMhxwtmCDh3zhMb7JOaIcHuZ9Wm/tEFhObCDnkIvZpmdSLJz9kquJJeC4AYWzii2QJyuHW3ndnsNqgCHbNiMGXYWgm9i5uRtu1ASNqohxDm0SHCcsQGdrTmAAJtMyk5xrdDcNCrsVR9J0YWvbnLxMyPRvcapVcQScWHFi7IwgDteiIuMzpyWmILXYqDnPhuFwa0Sf1DDz5HhdIdUDX4js4LQZjqwX8gYz1n5Sp6keGPKqpiXh0txS0OFzkMyOyCJJO8WyyQs2JsAda5tyLls3NjIF7DuV/bAKrpDHxgDYIAOISSCGD0YOkGZ4LF2nomvjL3sZVEktwyHTYQcItbjCNHswyVsg9tcxoGKo8nEADhYYJvF+NuEqR0WXhzm1SAyXmcIgMzd6QyztfdmrtXZcbS1rRNRrXPaS1pEmYkNJ0g+axa2yvp1MBY70S5rsQLbgAiTExExbM77Wo6afsS4Nal/qmiYrRHaNxIyOWlk3qcZjGDrEjee+L8rKjVoVS09fs7qeQxBrbAE2lpO52kZ7ld2HC0EvaWgQ0OhpnU+k23KT6PErGcJdwSvS6PX/wCgM6TTzwx7kf8F2cf9FngPgrlWq0D5AIfzDd/wXHiYlqov+fc7KKdXYKJMGi02t2R8l38Jo5/l6Y7gPcn1KrTHpX5W81AcOI7wqU1Fbjcb4Kb+hKJB/lNHEEjzEJB/D9IZGo3gHOP/tPgtC2pPkuMCPSThOL3M5YafBRHQLbRUqd5b/iu/wD5+P8AqOPNoPuAV3rQN6K3Ed3vVvEg3RHRj2Mw9CDV/wDb9VLugB7Z/p+q08UG4d3NJnkmB4i7XcsJ/ZXmw48E9GPYxm/hyP8AqHvb9VDvw6w51D/T8ZWhse1l/WdZSNMNEt7QJfEmI38JToY4Yp7OpkeB3FDSWrHHCj2MV/4WZH+q7lh+Mrj+FwLivB5H/JbFLaWOnCZi2Y+a5zQbmI4yufExXtE2WBDsY1bod5bhFUEEEEFpFiIzEjyWW78L3BIyENlxGHjlB716Z1Mzl4XUF5ZYzfiLc9VphTkkE8KB5QdCva3IlwkzLYJJ0AJkaRnkpZRrtj+WTBklskkHMcF65tcEkBo3cUZ2dtxAmOLfMFbLElJ7GXTiuTxtKs6WgsLZEvlwAxxmJsDM6K7WBAJc10EDtTYR+oW8VuuoETJc3vDmx3j6qhU2VpNmAHeBgnPVhv3pSnrRTw/UzaYaHB+sCbgzaAeHdGaBtaoAB2CASRdw5DIyN/NXqPRFO5cHCPZcPdr7lO1dFYRLHFzc8suBiPG6n6syyYnBTrbRl2CTis4OFrdojWOCc3pAWkPFhmx2tgMrHgkFpycCOJiDug/sgwEeOhj5fcqW70IeJNaP9v8ARdZt7HHsuadPS3ZpwrcBH3qst9WxxAEZHEAbbp3IKlRpIIeWngOyTAF9YtFpgKekmLqN7S9jVdW43Sn1SdTKXtGPCCyMpyxN8ZH2NFX2fbzOGo3A7TUG+l1llnVozn1o6tl6fu6L844wN3mN0kJZcltKIN8kxx5ob1xmZjgLR4KHvBHac48zKW48Ut4BPreJjflMTxzTu3uV1pPdlsucRZ5I4mfeVXbs/DugEeCU7P7CltV3PnHxSp9w6p7IQdL63EeCcNnbFxO6AocLfVcHx9/FcyeRWerq9gKmzC+fj8FWq0cNhF8sW/uORVykOJVers2JxMkHTKNeX2AtMGpO5CdgVqMXFuCU6odT5JJe9jiC5pknS+Q1G/kmEkibePxVzi9ojUiWU51KZ3pMwclHXXuIUOOVaDss03XzNvBM/NkKoNo4FT1qUYN6yDQtO2xpzsq9TC8WdHLVCXDglOcqWI26QmhD6jqX6m53Nxvy+SbTeSMTHQD3jwBsogusBzVIMAcY37hmO/l5LsgoyWi1IehdbtItcEnd8tO9RV2sgHWM+HebDxSKtN0gyDlflfPRd+ZHrYmuFpBMRlN01hkuQLqYe6CCRnM388wrTdqERPfJE+8pFRjmXYcTScpJ5/uuNVrozbw481V3ohDxUO+fl3JLyYtbPPLxCS4EGGvng4wgpViHw8G0ixt+yHUUNII9IECDnNhw3nVPoNLBL6u60adyrU6PbmDBvBB0MToBHil7bt8vgWBFsogcI3e9Z5W9C20lYe2bQ12TbGxH3mCs6pQAyMcMxfh8kTH4RwgzwM6aZ6ZTu14unKN/39+dlapaIwtT3K3WQ6DbcdO46aIm7EXmzbznpE+OScKQdbTUFWzUwiGRxvrOU+KdVqieggKNLqwQ585247pGUW4pe07O1zYOm9xb4HMIqdYk2BBJgjfx4qek9kcRlDm5b/shZp+ajfK4x027CNnLWt9KO8u8xkuqbUNAT4D3SqraocLEx5/uoxc08lu2cDxL+VIvU9rp+sHjfBB+Cu7O6g6LO73H5LFLD96IQwzOXfdKWHFo0hjRX+UV9j0p2OjMYTPNx9xR09gpTZvmfmsGjt727jzHMz9YV6h0y3UEchK5Z4M+GdcZYE+y+p6vrQokapbm52C7A0ZBZUpavY2Q4MP2VW2qq8Ds5zkSPeml11Sq1mOJm8X0zG5XC5NUhMrv2on0wZBvItwvrzCtNoNbckicwcvBUNp2oEwcp3W7930Vt3avOLhOd11S0qjMmtwEjOcvJJqONhn8Ep20tD4aY4HfzRVHmOPDNZJNO5FUdRqG2Z0uidUG4XVYHw0JOXC6YHaaKmswloMFa3HIjimNcCNUkDuv4pkKG18pW4VKbxhmLfYyVV1FkYsNpmBY3NzDvdqnCoLgRxkHL3LNfWIdLmjs5axbMXC2wFUrkKa00LBeG2kjjmOZB8UsOnMgiYEHTIDx+Cl9cuGNoMO0OfoibaX435I2ua8xhGLfB4et9V1NUYIZsR6s2c3DJt8cQCnpGo0wWgBwN41niEupQuZECdIi+oJyTW0iBkTwI3Z56rN1waV3KYa/EMTXAnnB4wrjtkAAxPhx4SDPmFG0GRfFB0gnhuss4l7BiAGE98/GUlbWpVF1xw6zMxexAuRfxss/a9mAMiSCJ/VzjVP2NzqkTTmTuI75OXNaFXZ2MzeARpjDif8AdCTdbkyjmVM842pewnUa+/L75mxR2WCTJAvI0z+Vlff1d3MAdGgIICrF1R1zTLRbOLeHzTzrgzjhqOu5LnRAFuI14ItoYAJfEWmx+H2IVOttzWwTJyuLAzuO5Jr9NEtwiALiZk97jyUNTbTCWLGPI89LED+WA39RudMoyVIlxMlxJnOczx8vBINdp1CltcHX3LVRy7I4Z405vVjQ4k5nISbXt5/fJEKntCeX1QUaTnZNJ5D75ImUHY8MAO3E+6Jvlmm9dyVmfA0VRxGt0DnTqE9nRFS0vYJ3XJ3i8cUTOi2X7JdxxH4RrxUXFcmqwZsqF0Cx4KKdWcr8hPuWnT2RgyBGcRbnxPijpiDYk21MpZl2K6HdnqTVtEc0TGT9VZfSETF1ldI13NjCYvHmvOUXoz1GyxXp6THEkDyWfX2Nw1GV7Ot3gKeuOEGbyL87rulKxaxxBgkSeJy77LtjhNLzP9DFz1FV2PAlr2kEWEZ6TeJ081WYXtMh4b7j5c0yrkOfwlV5kiYMhxyGYFk9HogSssDaMJsWHPgb6XzRG8kmOEg+YVTZxLhN7FMFIAvgRAt4HxVLCV6Dk8ozCbEututMe9GzaGh0ZnSZHOwzsl02ywnWxmb5gZ8lm7AcQ7V7fEhU8DmTszz26Re2jpSpIjIezusQd5U1NpNTtOzytJzGdjZIawSbb/ePmUp7yJAyATVbJAo6jZM2+EamPvgiNS0QI/fUZrqd3EHKPkEiqcLiBb9gmq2HlotU64F5g/d1Zpuqvbja1zmggF0wL21zPJUehz/McTfC1xE3uBYwc+9H05tr20C4PIJNzP6QUVbplVpY/bdvA7DpLsgA42M2mRE+PgoobKfVqtDb2c4m33uSvw/s7erFWBjNQtxbgADbRvck7aIe4Cwn3lKSp5UJaluq+nSzeXbsLR75FvFK/ixMim0ZZmT5ZeSqMpAiTnbUo6jcPo2uMra8Esq51YZnWhNWo8xjfAnKdOW7gVzHAyQ0k7yJ/dWX0QHMgZkz3CUVKocQG8unjdZyYum3uwKQd6rsPIDjvCYzaKgzdi5hvwhWn0hGSYaIwi2YE96weIuxpkpFWqXReByaL95GSrPp2s1pnUtHwT6ryPvckAy26qNsiTSA/LN1p0+JwNPwT9nY0ZNAHBgB55BJBuRkJ0trwXNecMzu+Ct2TZaNUCYEniYhJe6BYjFpAg/1CEp5uTx+a5hy+96nItxKTYLXOm5nhrzlc4GPRPKwt3fFMr0hloT93QgQ0j2QI4K/oQ4tCX0juHKfpn9EdJgmTnunjZRUEsedQ2RzuEqk6RczFr96rK2JLU//2Q=="/>
          <p:cNvSpPr>
            <a:spLocks noChangeAspect="1" noChangeArrowheads="1"/>
          </p:cNvSpPr>
          <p:nvPr/>
        </p:nvSpPr>
        <p:spPr bwMode="auto">
          <a:xfrm>
            <a:off x="9015413" y="-157163"/>
            <a:ext cx="304800" cy="304801"/>
          </a:xfrm>
          <a:prstGeom prst="rect">
            <a:avLst/>
          </a:prstGeom>
          <a:noFill/>
          <a:ln w="38100">
            <a:no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3" name="AutoShape 4" descr="data:image/jpeg;base64,/9j/4AAQSkZJRgABAQAAAQABAAD/2wCEAAkGBhQSERUUExMWFRUWFxcYFxcYFhkaFxgYFxgXFxgYGhgYHiYeFxwjHRwYHy8gIycpLCwsGh4xNTAqNSYrLCkBCQoKDgwOGg8PGiwkHyQsLCwsLC81LywsLCwsLCwsLCwsLCwsLCwsLCwsLCwsKSwsLCwsKSwsLCwsLCwsLCksLP/AABEIALsBDgMBIgACEQEDEQH/xAAaAAACAwEBAAAAAAAAAAAAAAACAwEEBQAG/8QAQhAAAQMCAwQGCAQFAwQDAQAAAQACEQMhEjFBBFFhcQUTIoGRoTJCUrHB0eHwBhRi8RUjkqLSM3KCQ1NzsmPC4hb/xAAaAQADAQEBAQAAAAAAAAAAAAAAAQIDBAUG/8QALhEAAgIABQIEBQQDAAAAAAAAAAECEQMSITFBE1EUImGhBEJxkbGBwfDxMtHh/9oADAMBAAIRAxEAPwD2jaSLq0YCN69Czy8oGFCWprFLhCVhQjChwXTwFzmJ2LKKIUliIKHFFhQBahDU0BcKadioV1KkssmYLqQ2yLDKJwb1AEp2FAKd07E0LwLhTTXNXBFhlFubbJAGKwWocCLBxIwSufTTMKkNSseUrtYpwpoZdc9qdiyggQoDUUImmyVjSBDVLWroRBqVjoE0kDqdk0lC4J2JoUG71wG5FhUuCdiohtPglPp3TmhRF0Jg0LwQi2cX7lOBTRbfuTb0JrUeQmYZXAaJrGrFs6UhTWXU1BKbCF7UrHQoBS8I1zk7FQosSsF1ac1LATTJcQAy6lGCuwosKAcFIaiIRDySsdC4uiLNUZCnCix0V8K7DdPLEJZGSLFQBbCFsJgCHAmBxYuhMHvUEXSChbSucEZYiARYUVyJUBqeGLmtCdiyi8KLAmELilY6ALQEtzU2FGFAUIhGWoiy6l7VVk0KaFxZdHF1BaixULwKKIv3JhCKmy/cnYqLITQFm/n3DNo81LelT7Hn9FxvGgdvSkaAKh4kKoOkP0Hx+ikdKNjJ3hPuQsaD2YPCl2Hmmpa1RT2hrhYid2vgU2AtVJMzca3FgqMKPAphOxUKdTXJoCEhFhQIYpayEQsuxDJFhQDEyJURdMBQNIXgUFnBMeiGSVhRXDIC7CnFtkBcnYUQ2nZRCa0JZaixUA5q4BHC5wTsKIDUGFOpqSM0rChL12inDdTCYhYCkFMwri1FhQkZonNXNajATChDmXUAKwhIRYsogBMY2Sp6tFTCGxUZjrCZiOA1R06DneHskJUzfUaqwzaTnN/kvn1JNWz2stinbMQfkk1g7S/Mq0/aJzJ/ZFTqt3nhu4IePWwnAoNadysMrP0cRu3eCe5+ZFraWHf971VrOByI4wdVrGVuxZdA/wA/UyJ8gU9u0PJ1A5D3LOJAOfzTRXj0R4WTePP5SenF7otVttqsMHxDZCW/pJx9aLbkAr4mkHPTh981Tc1wtad0kea6I4zrUjpIs/xh0SHeIHuXUulHkTn3BVqpEbj7kqltFzPjb3hXHGvgh4WponphwOfiIXfxh+nuVMYReO+3vhMYZ19xVvFSDpDh0zU4eH1RDpx8xA8PqqhbGcALgWxMeKSxb2J6dFz+NPjIRy+qUemj+w+aQ2tIsGnzhB1YnLvurzBkReHTTtBPNC7pip+meDfqqoZw++5G2keHeUuoPp+gZ6Yq7xyhCemKuhEf7QgfRTDRaWnMozh0iP4tVPrAdwXDpGsfX8A1Lp0AWyDBmCM43HiN6KtRc1rXsN5vOlrifvNClYZFucdvre0eeEfKy5nS1UWxA9wU05dcCDFwcj36IawDZEzO+xHNPMGRBN6cqbx4BGOnX/pP3wWdUYOEI2UxofJPMLInwX/46/2WeaYOnHaNHiVUbsocYbUBtu8uCVWZhMYp5ac9EliWPpLsaI6e/R5/RLP4hg/6Z/q+izSwnIHnooNJxyvpE/NVnZPTXY2G/iFvsnxH0TKPTlM+0PD5rBLZyXU4m6XUE8JGgOkGR6bZ++CgdIN9ts9yz3dIj2B4lSNvb7HmuR/AuqS90Hj0+fZmh+baT6bbbiPmiZtA/wC4O4tCzDtjPZ93yUt2unqzwA+KnwD319jTxse69zWebf6nn7rKsWCbuB4z8lRO0Uj6ni0IespbgB/sCfhMSufYPFwe1e5q4WWkqC1ugHuWO/Bvj/iR8UtxbEWPe8fGyS+Ea7j8Sr4NwEDIwlGu4Zz4T7lhudNoaBOcu+eXBMFIR6QHJz/cpl8NLm/sV4lPavua9TbWGziPA/JKLqZyw5fqHxCzRQPqn+4/C6c3ZnDMuynM/XJV04YfLEsWUuBtSqzh/V8wip7QzfHKD8lFJzwLSRoS4R7goeXn0mmwOR8RbNGZS/sLa/ob+YF+04jXsjJT1rTY8DBsqofHqP4ktOWt0wPAPrD+oJ3GOwsze451YXyjl9ELtraR6SWdqb7f/t80LdqG9vuTUm9WOxrKjZu+3ejNRs2cecpUt1wpT2M3jyCOtG6pj83oXG1TEB89/wA135tw1HgFUFJh9Zn33Jb6YHou8DCrNHkLkatHbHD2I7svFFSeSSQYHsz3LIY2QQXOj/yD4lE3ZQcsX9TT7yjqQQJPsbDiNDloeKW6l7VwLCCsxuyxeXeI+CF9MZ4j5/4ozpvRidrdGg3ZJnIc7I6dFzdxHAhZPVn2v7v/AMqTTdoT3EpvEjyxJ+hqRMyHAn9KuN2SkfSJBP3qvOkO9V0G2ZcLa6FEXun/AFCO9GZPZjz1ujcdSDRYhzd0x38VX6ppJmLrJL3+2fBcyo8XLib6SEO63Fn9Da2jZGz2Xg9xhw+BQUaYce3lpAlZOJ3/AMnj9LLqVYnV58c9VjJpbyKv0Ic7goLlL6aJtFe3VngIhcSFxbeFIp8CncY7stJvgjFuU4kY2Q+yfAwpfs1tPEDnmVk8bDW8kbLBm9kxJUOEJVWqwD0255ScXcIy4zCY+IscswZnuiQfFS/isKtyvDYnY5qJ6W1xkAMcSYgBpmTaIOZXHrAS3C6Rvbh8Q7LvWb+Kw1rqNfCzDDl3WKDsdaTiAFshc/2A+VuKq7Q1zT2rHK+WkwcnJeMi1oi18LJblsVCdUYMd+5ZYrRcktt7Nid05J9Daqr8QYzHhBfAF4bEgDXPIXKhfEwe8SujLhlwVnYrOIIuIJBEcslDaUm4nnJ95VX8s5kPLmjENXQYMaZpdMt9Z5FoPYmDrfFe0XWUsSD+VGyw5reRebWIcQC282lojxBG8RbRAa5n0x3Bvff9kqrsRF2ua8GCAWXHCATJjVBT6OdAmATOhkRGYgRK5JST2N0nVGhS2pwk4mb76ZbiBu3prOkxJJFJxcQYhtt8QJM53JWe3YDeWyYMAjsnswAc9e7NQ7rs+ppU4ggtZTBtY3gEZ+SlNdy9TQqVacQ6mGm3axOIvcWmLhKbTZo48RfxskV6jnYQKjWtggxiOYNnACXCTbvRbVjcc2zMQ3s65gtz33jLehpvkevYf1TQLOP9wPHVBLTm4kd5954K6NgcWyajpgOgDsznY48wY0PLMKvtOyOd6YFTi4SeGRbZNYkVpm/AdN9iuQyR2neB/wAkUs9p/c0/5Jv5NzWiKTY1hh01jHadwlLecPpMEf8Aidbz+aiU8z0f4GotcUQ6u0C3WE7oA95hKfVbEy7wE+AN1Y6+nuB5SPcofUpHQjvPxUppPWxuN8orM24AYsUCW+kI9IxIF8tVBrzLuzAMH0tcpgW3qw3BpjP3wCB72RhkwC2WkERuMaRJPjvWjxEvlZOX1QiptIm2HW94kCYk71IrDUgEaTfwkplSmzPs5n1Rmcz4oTsLN3MzEX5j78jM5aUyXBd0FVfhMESRoC4nT2Z3hP6mdHXvZx+RQM2MNP8Ap5xbFHH2pv8ABD+UBn+UHcJcMp1BM/uoeA33sVpdiwaD4aDUJgkg9WzFfQkg4hN734p0kUy2QSSe1haHC8wOzHvQGkxpBD6j5MEEZTmZnyTp2cGcNab5zF+E8FjLBxK1t/oC0+ZCxXqCRiIkzkNwtIj7lS7E4kkuMggjG/DcQezihI2naKYPYxglrj6xBjIa/NUnUnucXBwEkRiJHZOYgC15UQwMSXoNya2kXmbO2/YblBkTPOUYoNwwWNIF/RyOUjWfNA7oukBAJiId2yJyjQ3VmhQa1ubQLekXOPjIJ3rVYTWz+7/6CT5YltQWIZAiBAiBexGnKEDWTcUzNjZonnPBPr1o9BwN8mMNuM314oHVHkT1lWTmIdn3prCp+aXuWm+Lf8+gQ2V59U97RY6Z/BCdjwnE4sm9+ybHf5oK7yBN/wDkPjiVLaWYnRBiJsWgAc51hb5MKvJKyM8lui843guGG/ojfwiF0tym82z+YCzqfSYAa1gB3SRfdNl1GpiwlobJJIGIk85yHKFUo4KrdiU5t8F7bNsBGANn2icNuFjw3rOoCoy7XNYTE3OfdwKu1NkqOzptPM89w5Jf5M5kMaN8yOEyBrZQppf4oJKTdmbX2NxOKWOdEntOEnjIvr4qIORw7s50+a1afRr3klrQ614EwM7wLKH9GOFyxtoFxebkIWIjNwl2M2kxzXAh41tNrWsY71ZqdJPBguBsCb+7O5Wht3Q3VdpzqeGM+zM5QGk4jFtFSrsYNWnSzcvNEpa+ZUPVDG13EWM6A5iRbdzQFlWDe14ixGu5RUosbcPABPqiL65Heh/NAOzkHUZxuI0KmEocK/59CrbFh1ffrnJ+CCtV2iZuc/Wy3QPvNPZUkwHnInTIb7WWjW6A2ponq6hF5h1MwACZgGTyE5rS4vhh56MPa31QcYMMgdgNIDbyTYxKgdKw6DJ79c9RqLq5T2x2EPPWhpFnlpwEHLtRF7a6hBXOr2ncHOYRmcMS5ueR7xvSWXhMVysTR6eoEkOxDM5t0MQrzK1AmA4gk8tJ8FQ2bYhVdAazH7NpcAeUugqxtPQhDgHBjXAGAThMcj6QyUzy92iqk9UXhsdM6+5BU2OlFz7llO2dgJxYWxIJJgWPC0ZIWdHscMQjQntvvY6jXNZJJfMyMsma7NnptBEiDa57hCVtexUTcubNpJNy3KOzE31zF1nGhTEy3Iz6WIAgwTna7Tpop6ihBsBv0ib7tVrle6Y03HRjquz7MM+Po1Xc8lRqsoYezTdiIgfznYRcATPAkxOid+UoiPR4fOxHFcdjY4mMNrejBM3F/HPeUtFvJlubfCFNc2YcHDIH+cTA4XvAnyTKdWg1xwuqiZuCdDzyvrdEKFOR2DwmDv1w9yU2hTJ7OE5SDnO+yzbTfIrpcHptj2QVCcTqrbC5DRzzZy8TuVxvQ1IZ1X/1N/xVL+I78I5/RN6+lb+ZTnk+39pXI5TbvNSNYywa2/BP5Gm0+kSM5xH4ZLn02tHZvwLifCSlDbWTHWUj/wAXn/6plOo3/u0e7F8ckSlPhmilhPj8HOY0QTTMxnDDa5i7p3+aI1WD1CDyby9rn4FJ2kT2m1Kbo9UOAOc6m+oi1nOVCrXO4+fK/dE8j7RWke7ZnKUYmjS2vtwWuczTC5oeMt8iMtRnpCvU3UnZN2kQT/2c9R2vuy87+ZMXa6fv75z7RhruknEgwcQsToWgWmfWzurjHmkLrcWbL62zkQTtGdrbPluUP6rq3CmKwcWuGP8AlZEZHqnAwlUelsTwKjKLWGbtoNJBix3/AGeCuVNjY8WrbOyYPZBpuInUNIPcV1RlFp5GvZFaS3ZjdDVqdB+N1LaH1BEEUqfoF0glhxBvZOYMm+VoZ01+JS4EMYWAei4ua15J1GGIOkHPcVo7Zswp03PD6NVzQXYRUOJ5mcNzBnLvR7RsmyuaQa1GCCCA1404OTu1TkQ0uGeY6L/E+00MTWsBc/stxEFwdJOZJEXvMad6tqqvqMBc2mx5zLB2MLWiA5ueKcyDkFrn8G0TPUbVciMwQAN2KIM7jnou2T8BVmZV8fab7MQ0yRGOLi0pu5LytEqLW7Ke1dNH8uylTaA9ogvxONs3BsAEAm+EyPBVX7bVe5hcGBoEAiS24IMiZ+XHXbOyUqFWoK7WtAaCwhl53Y2ugHMzIhYNHptjXVcNIBjmjq2SYBGENntWntEwhfUpqt2Xtv6T64M/MkMw42ksbLTMEAh2sgCZ1CoMrDaA67aVmAQ1xaQ1uYjU5n6qwekxVDXSAHWLA0wIglwMknMDuG8qrtfR8lr6RdgDWtA9FpInGSIBxSD3QFL13F9CpWpP62MLyyCQ4tgWw3B9a/BJ2iu5tJ0BxOJtmtM+sRIzggQe9ew2Lo+nUZTa8AkNc4AuaIDnFpg4DE2kCZEbjBYKFMYnM7OIMhrmOcIJBIGCYJjOD4qrVIeRb2ZOwXogENn0jinFAiAA0EEmSNQYNloH8UVRIFV4N47Wl4wyCCCIjij2zooPeW0pYW3IODFcYpsRNskqiynSDHPpMrU3kYSaY7AaCXbyCZG6IhS01qx+hlbVWqVRHWnjaGmTZ0DOCSDGSQaVXARLCDEAkC5NwZyyF4ha/wCepPe5w2VpBJgAkZkdqxtI5AHNUqexPhoIccMhxwtmCDh3zhMb7JOaIcHuZ9Wm/tEFhObCDnkIvZpmdSLJz9kquJJeC4AYWzii2QJyuHW3ndnsNqgCHbNiMGXYWgm9i5uRtu1ASNqohxDm0SHCcsQGdrTmAAJtMyk5xrdDcNCrsVR9J0YWvbnLxMyPRvcapVcQScWHFi7IwgDteiIuMzpyWmILXYqDnPhuFwa0Sf1DDz5HhdIdUDX4js4LQZjqwX8gYz1n5Sp6keGPKqpiXh0txS0OFzkMyOyCJJO8WyyQs2JsAda5tyLls3NjIF7DuV/bAKrpDHxgDYIAOISSCGD0YOkGZ4LF2nomvjL3sZVEktwyHTYQcItbjCNHswyVsg9tcxoGKo8nEADhYYJvF+NuEqR0WXhzm1SAyXmcIgMzd6QyztfdmrtXZcbS1rRNRrXPaS1pEmYkNJ0g+axa2yvp1MBY70S5rsQLbgAiTExExbM77Wo6afsS4Nal/qmiYrRHaNxIyOWlk3qcZjGDrEjee+L8rKjVoVS09fs7qeQxBrbAE2lpO52kZ7ld2HC0EvaWgQ0OhpnU+k23KT6PErGcJdwSvS6PX/wCgM6TTzwx7kf8F2cf9FngPgrlWq0D5AIfzDd/wXHiYlqov+fc7KKdXYKJMGi02t2R8l38Jo5/l6Y7gPcn1KrTHpX5W81AcOI7wqU1Fbjcb4Kb+hKJB/lNHEEjzEJB/D9IZGo3gHOP/tPgtC2pPkuMCPSThOL3M5YafBRHQLbRUqd5b/iu/wD5+P8AqOPNoPuAV3rQN6K3Ed3vVvEg3RHRj2Mw9CDV/wDb9VLugB7Z/p+q08UG4d3NJnkmB4i7XcsJ/ZXmw48E9GPYxm/hyP8AqHvb9VDvw6w51D/T8ZWhse1l/WdZSNMNEt7QJfEmI38JToY4Yp7OpkeB3FDSWrHHCj2MV/4WZH+q7lh+Mrj+FwLivB5H/JbFLaWOnCZi2Y+a5zQbmI4yufExXtE2WBDsY1bod5bhFUEEEEFpFiIzEjyWW78L3BIyENlxGHjlB716Z1Mzl4XUF5ZYzfiLc9VphTkkE8KB5QdCva3IlwkzLYJJ0AJkaRnkpZRrtj+WTBklskkHMcF65tcEkBo3cUZ2dtxAmOLfMFbLElJ7GXTiuTxtKs6WgsLZEvlwAxxmJsDM6K7WBAJc10EDtTYR+oW8VuuoETJc3vDmx3j6qhU2VpNmAHeBgnPVhv3pSnrRTw/UzaYaHB+sCbgzaAeHdGaBtaoAB2CASRdw5DIyN/NXqPRFO5cHCPZcPdr7lO1dFYRLHFzc8suBiPG6n6syyYnBTrbRl2CTis4OFrdojWOCc3pAWkPFhmx2tgMrHgkFpycCOJiDug/sgwEeOhj5fcqW70IeJNaP9v8ARdZt7HHsuadPS3ZpwrcBH3qst9WxxAEZHEAbbp3IKlRpIIeWngOyTAF9YtFpgKekmLqN7S9jVdW43Sn1SdTKXtGPCCyMpyxN8ZH2NFX2fbzOGo3A7TUG+l1llnVozn1o6tl6fu6L844wN3mN0kJZcltKIN8kxx5ob1xmZjgLR4KHvBHac48zKW48Ut4BPreJjflMTxzTu3uV1pPdlsucRZ5I4mfeVXbs/DugEeCU7P7CltV3PnHxSp9w6p7IQdL63EeCcNnbFxO6AocLfVcHx9/FcyeRWerq9gKmzC+fj8FWq0cNhF8sW/uORVykOJVers2JxMkHTKNeX2AtMGpO5CdgVqMXFuCU6odT5JJe9jiC5pknS+Q1G/kmEkibePxVzi9ojUiWU51KZ3pMwclHXXuIUOOVaDss03XzNvBM/NkKoNo4FT1qUYN6yDQtO2xpzsq9TC8WdHLVCXDglOcqWI26QmhD6jqX6m53Nxvy+SbTeSMTHQD3jwBsogusBzVIMAcY37hmO/l5LsgoyWi1IehdbtItcEnd8tO9RV2sgHWM+HebDxSKtN0gyDlflfPRd+ZHrYmuFpBMRlN01hkuQLqYe6CCRnM388wrTdqERPfJE+8pFRjmXYcTScpJ5/uuNVrozbw481V3ohDxUO+fl3JLyYtbPPLxCS4EGGvng4wgpViHw8G0ixt+yHUUNII9IECDnNhw3nVPoNLBL6u60adyrU6PbmDBvBB0MToBHil7bt8vgWBFsogcI3e9Z5W9C20lYe2bQ12TbGxH3mCs6pQAyMcMxfh8kTH4RwgzwM6aZ6ZTu14unKN/39+dlapaIwtT3K3WQ6DbcdO46aIm7EXmzbznpE+OScKQdbTUFWzUwiGRxvrOU+KdVqieggKNLqwQ585247pGUW4pe07O1zYOm9xb4HMIqdYk2BBJgjfx4qek9kcRlDm5b/shZp+ajfK4x027CNnLWt9KO8u8xkuqbUNAT4D3SqraocLEx5/uoxc08lu2cDxL+VIvU9rp+sHjfBB+Cu7O6g6LO73H5LFLD96IQwzOXfdKWHFo0hjRX+UV9j0p2OjMYTPNx9xR09gpTZvmfmsGjt727jzHMz9YV6h0y3UEchK5Z4M+GdcZYE+y+p6vrQokapbm52C7A0ZBZUpavY2Q4MP2VW2qq8Ds5zkSPeml11Sq1mOJm8X0zG5XC5NUhMrv2on0wZBvItwvrzCtNoNbckicwcvBUNp2oEwcp3W7930Vt3avOLhOd11S0qjMmtwEjOcvJJqONhn8Ep20tD4aY4HfzRVHmOPDNZJNO5FUdRqG2Z0uidUG4XVYHw0JOXC6YHaaKmswloMFa3HIjimNcCNUkDuv4pkKG18pW4VKbxhmLfYyVV1FkYsNpmBY3NzDvdqnCoLgRxkHL3LNfWIdLmjs5axbMXC2wFUrkKa00LBeG2kjjmOZB8UsOnMgiYEHTIDx+Cl9cuGNoMO0OfoibaX435I2ua8xhGLfB4et9V1NUYIZsR6s2c3DJt8cQCnpGo0wWgBwN41niEupQuZECdIi+oJyTW0iBkTwI3Z56rN1waV3KYa/EMTXAnnB4wrjtkAAxPhx4SDPmFG0GRfFB0gnhuss4l7BiAGE98/GUlbWpVF1xw6zMxexAuRfxss/a9mAMiSCJ/VzjVP2NzqkTTmTuI75OXNaFXZ2MzeARpjDif8AdCTdbkyjmVM842pewnUa+/L75mxR2WCTJAvI0z+Vlff1d3MAdGgIICrF1R1zTLRbOLeHzTzrgzjhqOu5LnRAFuI14ItoYAJfEWmx+H2IVOttzWwTJyuLAzuO5Jr9NEtwiALiZk97jyUNTbTCWLGPI89LED+WA39RudMoyVIlxMlxJnOczx8vBINdp1CltcHX3LVRy7I4Z405vVjQ4k5nISbXt5/fJEKntCeX1QUaTnZNJ5D75ImUHY8MAO3E+6Jvlmm9dyVmfA0VRxGt0DnTqE9nRFS0vYJ3XJ3i8cUTOi2X7JdxxH4RrxUXFcmqwZsqF0Cx4KKdWcr8hPuWnT2RgyBGcRbnxPijpiDYk21MpZl2K6HdnqTVtEc0TGT9VZfSETF1ldI13NjCYvHmvOUXoz1GyxXp6THEkDyWfX2Nw1GV7Ot3gKeuOEGbyL87rulKxaxxBgkSeJy77LtjhNLzP9DFz1FV2PAlr2kEWEZ6TeJ081WYXtMh4b7j5c0yrkOfwlV5kiYMhxyGYFk9HogSssDaMJsWHPgb6XzRG8kmOEg+YVTZxLhN7FMFIAvgRAt4HxVLCV6Dk8ozCbEututMe9GzaGh0ZnSZHOwzsl02ywnWxmb5gZ8lm7AcQ7V7fEhU8DmTszz26Re2jpSpIjIezusQd5U1NpNTtOzytJzGdjZIawSbb/ePmUp7yJAyATVbJAo6jZM2+EamPvgiNS0QI/fUZrqd3EHKPkEiqcLiBb9gmq2HlotU64F5g/d1Zpuqvbja1zmggF0wL21zPJUehz/McTfC1xE3uBYwc+9H05tr20C4PIJNzP6QUVbplVpY/bdvA7DpLsgA42M2mRE+PgoobKfVqtDb2c4m33uSvw/s7erFWBjNQtxbgADbRvck7aIe4Cwn3lKSp5UJaluq+nSzeXbsLR75FvFK/ixMim0ZZmT5ZeSqMpAiTnbUo6jcPo2uMra8Esq51YZnWhNWo8xjfAnKdOW7gVzHAyQ0k7yJ/dWX0QHMgZkz3CUVKocQG8unjdZyYum3uwKQd6rsPIDjvCYzaKgzdi5hvwhWn0hGSYaIwi2YE96weIuxpkpFWqXReByaL95GSrPp2s1pnUtHwT6ryPvckAy26qNsiTSA/LN1p0+JwNPwT9nY0ZNAHBgB55BJBuRkJ0trwXNecMzu+Ct2TZaNUCYEniYhJe6BYjFpAg/1CEp5uTx+a5hy+96nItxKTYLXOm5nhrzlc4GPRPKwt3fFMr0hloT93QgQ0j2QI4K/oQ4tCX0juHKfpn9EdJgmTnunjZRUEsedQ2RzuEqk6RczFr96rK2JLU//2Q=="/>
          <p:cNvSpPr>
            <a:spLocks noChangeAspect="1" noChangeArrowheads="1"/>
          </p:cNvSpPr>
          <p:nvPr/>
        </p:nvSpPr>
        <p:spPr bwMode="auto">
          <a:xfrm>
            <a:off x="9167813" y="-4763"/>
            <a:ext cx="304800" cy="304801"/>
          </a:xfrm>
          <a:prstGeom prst="rect">
            <a:avLst/>
          </a:prstGeom>
          <a:noFill/>
          <a:ln w="38100">
            <a:no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6157"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392324"/>
            <a:ext cx="1801483" cy="249094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854" y="3837012"/>
            <a:ext cx="3671891" cy="2575804"/>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701337" y="3501008"/>
            <a:ext cx="4235455" cy="523220"/>
          </a:xfrm>
          <a:prstGeom prst="rect">
            <a:avLst/>
          </a:prstGeom>
          <a:noFill/>
          <a:ln w="12700">
            <a:solidFill>
              <a:srgbClr val="2217F5"/>
            </a:solidFill>
          </a:ln>
        </p:spPr>
        <p:txBody>
          <a:bodyPr wrap="none" rtlCol="1">
            <a:spAutoFit/>
          </a:bodyPr>
          <a:lstStyle/>
          <a:p>
            <a:pPr algn="r" rtl="1"/>
            <a:r>
              <a:rPr lang="he-IL" b="1" dirty="0">
                <a:solidFill>
                  <a:srgbClr val="FF0000"/>
                </a:solidFill>
              </a:rPr>
              <a:t>1926</a:t>
            </a:r>
            <a:r>
              <a:rPr lang="he-IL" b="1" dirty="0"/>
              <a:t> - נשלח ע"י הרב קוק: "לזרוע זרעי אמונה במדבר".</a:t>
            </a:r>
          </a:p>
          <a:p>
            <a:pPr algn="r" rtl="1"/>
            <a:r>
              <a:rPr lang="he-IL" b="1" dirty="0"/>
              <a:t>גר בקיבוץ כינרת.</a:t>
            </a:r>
          </a:p>
        </p:txBody>
      </p:sp>
      <p:pic>
        <p:nvPicPr>
          <p:cNvPr id="1027" name="Picture 3" descr="P:\שלג פולק\1070.jpg"/>
          <p:cNvPicPr>
            <a:picLocks noChangeAspect="1" noChangeArrowheads="1"/>
          </p:cNvPicPr>
          <p:nvPr/>
        </p:nvPicPr>
        <p:blipFill rotWithShape="1">
          <a:blip r:embed="rId4">
            <a:extLst>
              <a:ext uri="{28A0092B-C50C-407E-A947-70E740481C1C}">
                <a14:useLocalDpi xmlns:a14="http://schemas.microsoft.com/office/drawing/2010/main" val="0"/>
              </a:ext>
            </a:extLst>
          </a:blip>
          <a:srcRect l="15085" r="18950" b="37591"/>
          <a:stretch/>
        </p:blipFill>
        <p:spPr bwMode="auto">
          <a:xfrm rot="10800000">
            <a:off x="5379829" y="4233239"/>
            <a:ext cx="1672895" cy="2288837"/>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4614868"/>
            <a:ext cx="1130877" cy="1525570"/>
          </a:xfrm>
          <a:prstGeom prst="rect">
            <a:avLst/>
          </a:prstGeom>
          <a:noFill/>
          <a:ln w="38100">
            <a:solidFill>
              <a:srgbClr val="2217F5"/>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013436" y="3079521"/>
            <a:ext cx="2069797" cy="307777"/>
          </a:xfrm>
          <a:prstGeom prst="rect">
            <a:avLst/>
          </a:prstGeom>
          <a:solidFill>
            <a:srgbClr val="FFFF00"/>
          </a:solidFill>
          <a:ln w="12700">
            <a:solidFill>
              <a:schemeClr val="tx1"/>
            </a:solidFill>
          </a:ln>
        </p:spPr>
        <p:txBody>
          <a:bodyPr wrap="none" rtlCol="1">
            <a:spAutoFit/>
          </a:bodyPr>
          <a:lstStyle/>
          <a:p>
            <a:r>
              <a:rPr lang="he-IL" b="1" dirty="0"/>
              <a:t>הרב של קיבוצי עמק הירדן</a:t>
            </a:r>
          </a:p>
        </p:txBody>
      </p:sp>
      <p:sp>
        <p:nvSpPr>
          <p:cNvPr id="7" name="TextBox 6"/>
          <p:cNvSpPr txBox="1"/>
          <p:nvPr/>
        </p:nvSpPr>
        <p:spPr>
          <a:xfrm>
            <a:off x="7428300" y="6157899"/>
            <a:ext cx="1261884" cy="307777"/>
          </a:xfrm>
          <a:prstGeom prst="rect">
            <a:avLst/>
          </a:prstGeom>
          <a:noFill/>
          <a:ln w="38100">
            <a:noFill/>
          </a:ln>
        </p:spPr>
        <p:txBody>
          <a:bodyPr wrap="none" rtlCol="1">
            <a:spAutoFit/>
          </a:bodyPr>
          <a:lstStyle/>
          <a:p>
            <a:r>
              <a:rPr lang="he-IL" b="1" dirty="0"/>
              <a:t>הרב שלום קורן</a:t>
            </a:r>
          </a:p>
        </p:txBody>
      </p:sp>
      <p:pic>
        <p:nvPicPr>
          <p:cNvPr id="4" name="תמונה 3"/>
          <p:cNvPicPr>
            <a:picLocks noChangeAspect="1"/>
          </p:cNvPicPr>
          <p:nvPr/>
        </p:nvPicPr>
        <p:blipFill>
          <a:blip r:embed="rId6"/>
          <a:stretch>
            <a:fillRect/>
          </a:stretch>
        </p:blipFill>
        <p:spPr>
          <a:xfrm>
            <a:off x="330531" y="386369"/>
            <a:ext cx="5080274" cy="2523999"/>
          </a:xfrm>
          <a:prstGeom prst="rect">
            <a:avLst/>
          </a:prstGeom>
          <a:ln w="38100">
            <a:solidFill>
              <a:srgbClr val="FF0000"/>
            </a:solidFill>
          </a:ln>
        </p:spPr>
      </p:pic>
      <p:sp>
        <p:nvSpPr>
          <p:cNvPr id="8" name="תיבת טקסט 7">
            <a:extLst>
              <a:ext uri="{FF2B5EF4-FFF2-40B4-BE49-F238E27FC236}">
                <a16:creationId xmlns:a16="http://schemas.microsoft.com/office/drawing/2014/main" id="{6CEEC841-5406-4070-AF24-CEE84958618E}"/>
              </a:ext>
            </a:extLst>
          </p:cNvPr>
          <p:cNvSpPr txBox="1"/>
          <p:nvPr/>
        </p:nvSpPr>
        <p:spPr>
          <a:xfrm>
            <a:off x="2342203" y="2935157"/>
            <a:ext cx="481222" cy="307777"/>
          </a:xfrm>
          <a:prstGeom prst="rect">
            <a:avLst/>
          </a:prstGeom>
          <a:noFill/>
        </p:spPr>
        <p:txBody>
          <a:bodyPr wrap="none" rtlCol="1">
            <a:spAutoFit/>
          </a:bodyPr>
          <a:lstStyle/>
          <a:p>
            <a:r>
              <a:rPr lang="he-IL" b="1" dirty="0"/>
              <a:t>כיום</a:t>
            </a:r>
          </a:p>
        </p:txBody>
      </p:sp>
      <p:sp>
        <p:nvSpPr>
          <p:cNvPr id="9" name="תיבת טקסט 8">
            <a:extLst>
              <a:ext uri="{FF2B5EF4-FFF2-40B4-BE49-F238E27FC236}">
                <a16:creationId xmlns:a16="http://schemas.microsoft.com/office/drawing/2014/main" id="{829A3386-D3FA-BF38-D000-E682CC9B871C}"/>
              </a:ext>
            </a:extLst>
          </p:cNvPr>
          <p:cNvSpPr txBox="1"/>
          <p:nvPr/>
        </p:nvSpPr>
        <p:spPr>
          <a:xfrm>
            <a:off x="2342203" y="6428264"/>
            <a:ext cx="481222" cy="307777"/>
          </a:xfrm>
          <a:prstGeom prst="rect">
            <a:avLst/>
          </a:prstGeom>
          <a:noFill/>
        </p:spPr>
        <p:txBody>
          <a:bodyPr wrap="none" rtlCol="1">
            <a:spAutoFit/>
          </a:bodyPr>
          <a:lstStyle/>
          <a:p>
            <a:r>
              <a:rPr lang="he-IL" b="1" dirty="0"/>
              <a:t>כיום</a:t>
            </a:r>
          </a:p>
        </p:txBody>
      </p:sp>
    </p:spTree>
    <p:extLst>
      <p:ext uri="{BB962C8B-B14F-4D97-AF65-F5344CB8AC3E}">
        <p14:creationId xmlns:p14="http://schemas.microsoft.com/office/powerpoint/2010/main" val="15196894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file.f-static.com/image/users/199810/ftp/my_files/%D7%A9%D7%9C%D7%98%20%D7%99%D7%A9%D7%9F%20%D7%A9%D7%94%D7%95%D7%A1%D7%A8.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b="7665"/>
          <a:stretch>
            <a:fillRect/>
          </a:stretch>
        </p:blipFill>
        <p:spPr bwMode="auto">
          <a:xfrm>
            <a:off x="5652122" y="692696"/>
            <a:ext cx="2809875" cy="345638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868145" y="4221092"/>
            <a:ext cx="2125902" cy="307777"/>
          </a:xfrm>
          <a:prstGeom prst="rect">
            <a:avLst/>
          </a:prstGeom>
          <a:noFill/>
          <a:ln w="38100">
            <a:noFill/>
          </a:ln>
        </p:spPr>
        <p:txBody>
          <a:bodyPr wrap="none" rtlCol="1">
            <a:spAutoFit/>
          </a:bodyPr>
          <a:lstStyle/>
          <a:p>
            <a:r>
              <a:rPr lang="he-IL" b="1" dirty="0">
                <a:solidFill>
                  <a:srgbClr val="FF0000"/>
                </a:solidFill>
              </a:rPr>
              <a:t>1930 - </a:t>
            </a:r>
            <a:r>
              <a:rPr lang="he-IL" b="1" dirty="0"/>
              <a:t>עברו לכפר מרמורק</a:t>
            </a:r>
          </a:p>
        </p:txBody>
      </p:sp>
      <p:pic>
        <p:nvPicPr>
          <p:cNvPr id="49153" name="Picture 1" descr="C:\Users\123\Pictures\תשע'ד-א'-ד'\010.jpg"/>
          <p:cNvPicPr>
            <a:picLocks noChangeAspect="1" noChangeArrowheads="1"/>
          </p:cNvPicPr>
          <p:nvPr/>
        </p:nvPicPr>
        <p:blipFill>
          <a:blip r:embed="rId4"/>
          <a:srcRect t="11472" r="8964" b="3619"/>
          <a:stretch>
            <a:fillRect/>
          </a:stretch>
        </p:blipFill>
        <p:spPr bwMode="auto">
          <a:xfrm rot="10800000">
            <a:off x="539552" y="836712"/>
            <a:ext cx="4320480" cy="2694444"/>
          </a:xfrm>
          <a:prstGeom prst="rect">
            <a:avLst/>
          </a:prstGeom>
          <a:noFill/>
          <a:ln w="38100">
            <a:solidFill>
              <a:srgbClr val="FF0000"/>
            </a:solidFill>
          </a:ln>
        </p:spPr>
      </p:pic>
      <p:pic>
        <p:nvPicPr>
          <p:cNvPr id="22530" name="Picture 2"/>
          <p:cNvPicPr>
            <a:picLocks noChangeAspect="1" noChangeArrowheads="1"/>
          </p:cNvPicPr>
          <p:nvPr/>
        </p:nvPicPr>
        <p:blipFill>
          <a:blip r:embed="rId5">
            <a:extLst>
              <a:ext uri="{28A0092B-C50C-407E-A947-70E740481C1C}">
                <a14:useLocalDpi xmlns:a14="http://schemas.microsoft.com/office/drawing/2010/main" val="0"/>
              </a:ext>
            </a:extLst>
          </a:blip>
          <a:srcRect l="9295" t="4320" r="2403" b="4961"/>
          <a:stretch>
            <a:fillRect/>
          </a:stretch>
        </p:blipFill>
        <p:spPr bwMode="auto">
          <a:xfrm>
            <a:off x="971600" y="3861052"/>
            <a:ext cx="3456384" cy="2546809"/>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6372200" y="5445228"/>
            <a:ext cx="229550" cy="307777"/>
          </a:xfrm>
          <a:prstGeom prst="rect">
            <a:avLst/>
          </a:prstGeom>
          <a:noFill/>
        </p:spPr>
        <p:txBody>
          <a:bodyPr wrap="none" rtlCol="1">
            <a:spAutoFit/>
          </a:bodyPr>
          <a:lstStyle/>
          <a:p>
            <a:r>
              <a:rPr lang="he-IL" dirty="0"/>
              <a:t>ן</a:t>
            </a:r>
          </a:p>
        </p:txBody>
      </p:sp>
      <p:sp>
        <p:nvSpPr>
          <p:cNvPr id="8" name="TextBox 7"/>
          <p:cNvSpPr txBox="1"/>
          <p:nvPr/>
        </p:nvSpPr>
        <p:spPr>
          <a:xfrm>
            <a:off x="3419874" y="116632"/>
            <a:ext cx="2105063" cy="369332"/>
          </a:xfrm>
          <a:prstGeom prst="rect">
            <a:avLst/>
          </a:prstGeom>
          <a:solidFill>
            <a:srgbClr val="FFFF00"/>
          </a:solidFill>
          <a:ln>
            <a:solidFill>
              <a:schemeClr val="tx1"/>
            </a:solidFill>
          </a:ln>
        </p:spPr>
        <p:txBody>
          <a:bodyPr wrap="none" rtlCol="1">
            <a:spAutoFit/>
          </a:bodyPr>
          <a:lstStyle/>
          <a:p>
            <a:r>
              <a:rPr lang="he-IL" sz="1800" b="1" dirty="0"/>
              <a:t>התימנים בחצר כנרת</a:t>
            </a:r>
          </a:p>
        </p:txBody>
      </p:sp>
      <p:pic>
        <p:nvPicPr>
          <p:cNvPr id="112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112" y="4653136"/>
            <a:ext cx="2743964" cy="1944216"/>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9" name="מלבן 8"/>
          <p:cNvSpPr/>
          <p:nvPr/>
        </p:nvSpPr>
        <p:spPr>
          <a:xfrm>
            <a:off x="2286000" y="3059672"/>
            <a:ext cx="4572000" cy="307777"/>
          </a:xfrm>
          <a:prstGeom prst="rect">
            <a:avLst/>
          </a:prstGeom>
        </p:spPr>
        <p:txBody>
          <a:bodyPr>
            <a:spAutoFit/>
          </a:bodyPr>
          <a:lstStyle/>
          <a:p>
            <a:r>
              <a:rPr lang="he-IL" dirty="0"/>
              <a:t> </a:t>
            </a:r>
          </a:p>
        </p:txBody>
      </p:sp>
      <p:sp>
        <p:nvSpPr>
          <p:cNvPr id="10" name="TextBox 9"/>
          <p:cNvSpPr txBox="1"/>
          <p:nvPr/>
        </p:nvSpPr>
        <p:spPr>
          <a:xfrm>
            <a:off x="1288989" y="6443463"/>
            <a:ext cx="2821606" cy="307777"/>
          </a:xfrm>
          <a:prstGeom prst="rect">
            <a:avLst/>
          </a:prstGeom>
          <a:noFill/>
        </p:spPr>
        <p:txBody>
          <a:bodyPr wrap="none" rtlCol="1">
            <a:spAutoFit/>
          </a:bodyPr>
          <a:lstStyle/>
          <a:p>
            <a:pPr algn="r" rtl="1"/>
            <a:r>
              <a:rPr lang="he-IL" b="1" dirty="0"/>
              <a:t>רבקה, אסתר, ונחמה צעירי (מרגלית)</a:t>
            </a:r>
          </a:p>
        </p:txBody>
      </p:sp>
    </p:spTree>
    <p:extLst>
      <p:ext uri="{BB962C8B-B14F-4D97-AF65-F5344CB8AC3E}">
        <p14:creationId xmlns:p14="http://schemas.microsoft.com/office/powerpoint/2010/main" val="31447507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upload.wikimedia.org/wikipedia/commons/thumb/9/9f/%D7%99%D7%91%D7%A0%D7%90%D7%9C%D7%99.JPG/250px-%D7%99%D7%91%D7%A0%D7%90%D7%9C%D7%99.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260648"/>
            <a:ext cx="2584164" cy="3411096"/>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176" y="260648"/>
            <a:ext cx="2381250" cy="3886200"/>
          </a:xfrm>
          <a:prstGeom prst="rect">
            <a:avLst/>
          </a:prstGeom>
          <a:noFill/>
          <a:ln w="3810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hape 553"/>
          <p:cNvSpPr/>
          <p:nvPr/>
        </p:nvSpPr>
        <p:spPr>
          <a:xfrm>
            <a:off x="354817" y="4198363"/>
            <a:ext cx="3515546" cy="2351864"/>
          </a:xfrm>
          <a:prstGeom prst="rect">
            <a:avLst/>
          </a:prstGeom>
          <a:blipFill>
            <a:blip r:embed="rId5"/>
            <a:stretch>
              <a:fillRect/>
            </a:stretch>
          </a:blipFill>
          <a:ln w="38100">
            <a:solidFill>
              <a:srgbClr val="FF0000"/>
            </a:solidFill>
          </a:ln>
        </p:spPr>
        <p:txBody>
          <a:bodyPr/>
          <a:lstStyle/>
          <a:p>
            <a:endParaRPr lang="he-IL"/>
          </a:p>
        </p:txBody>
      </p:sp>
      <p:sp>
        <p:nvSpPr>
          <p:cNvPr id="6" name="Shape 543"/>
          <p:cNvSpPr/>
          <p:nvPr/>
        </p:nvSpPr>
        <p:spPr>
          <a:xfrm>
            <a:off x="4788024" y="4437116"/>
            <a:ext cx="3600400" cy="2064837"/>
          </a:xfrm>
          <a:prstGeom prst="rect">
            <a:avLst/>
          </a:prstGeom>
          <a:blipFill>
            <a:blip r:embed="rId6"/>
            <a:stretch>
              <a:fillRect/>
            </a:stretch>
          </a:blipFill>
          <a:ln w="38100">
            <a:solidFill>
              <a:srgbClr val="FF0000"/>
            </a:solidFill>
          </a:ln>
        </p:spPr>
        <p:txBody>
          <a:bodyPr/>
          <a:lstStyle/>
          <a:p>
            <a:endParaRPr lang="he-IL"/>
          </a:p>
        </p:txBody>
      </p:sp>
      <p:sp>
        <p:nvSpPr>
          <p:cNvPr id="7" name="TextBox 6"/>
          <p:cNvSpPr txBox="1"/>
          <p:nvPr/>
        </p:nvSpPr>
        <p:spPr>
          <a:xfrm>
            <a:off x="3838913" y="6550227"/>
            <a:ext cx="234360" cy="307777"/>
          </a:xfrm>
          <a:prstGeom prst="rect">
            <a:avLst/>
          </a:prstGeom>
          <a:noFill/>
          <a:ln w="38100">
            <a:noFill/>
          </a:ln>
        </p:spPr>
        <p:txBody>
          <a:bodyPr wrap="none" rtlCol="1">
            <a:spAutoFit/>
          </a:bodyPr>
          <a:lstStyle/>
          <a:p>
            <a:pPr algn="r" rtl="1"/>
            <a:r>
              <a:rPr lang="he-IL" b="1" dirty="0"/>
              <a:t> </a:t>
            </a:r>
          </a:p>
        </p:txBody>
      </p:sp>
      <p:sp>
        <p:nvSpPr>
          <p:cNvPr id="8" name="TextBox 7"/>
          <p:cNvSpPr txBox="1"/>
          <p:nvPr/>
        </p:nvSpPr>
        <p:spPr>
          <a:xfrm>
            <a:off x="5436098" y="6550227"/>
            <a:ext cx="2231701" cy="307777"/>
          </a:xfrm>
          <a:prstGeom prst="rect">
            <a:avLst/>
          </a:prstGeom>
          <a:noFill/>
        </p:spPr>
        <p:txBody>
          <a:bodyPr wrap="none" rtlCol="1">
            <a:spAutoFit/>
          </a:bodyPr>
          <a:lstStyle/>
          <a:p>
            <a:pPr algn="r" rtl="1"/>
            <a:r>
              <a:rPr lang="he-IL" b="1" dirty="0"/>
              <a:t>עמירם </a:t>
            </a:r>
            <a:r>
              <a:rPr lang="he-IL" b="1" dirty="0" err="1"/>
              <a:t>אידלמן</a:t>
            </a:r>
            <a:r>
              <a:rPr lang="he-IL" b="1" dirty="0"/>
              <a:t> מקיבוץ כינרת</a:t>
            </a:r>
          </a:p>
        </p:txBody>
      </p:sp>
      <p:sp>
        <p:nvSpPr>
          <p:cNvPr id="9" name="Shape 691"/>
          <p:cNvSpPr/>
          <p:nvPr/>
        </p:nvSpPr>
        <p:spPr>
          <a:xfrm>
            <a:off x="376368" y="841452"/>
            <a:ext cx="2448272" cy="2249488"/>
          </a:xfrm>
          <a:prstGeom prst="rect">
            <a:avLst/>
          </a:prstGeom>
          <a:blipFill>
            <a:blip r:embed="rId7"/>
            <a:stretch>
              <a:fillRect/>
            </a:stretch>
          </a:blipFill>
          <a:ln w="38100">
            <a:solidFill>
              <a:srgbClr val="FF0000"/>
            </a:solidFill>
          </a:ln>
        </p:spPr>
        <p:txBody>
          <a:bodyPr/>
          <a:lstStyle/>
          <a:p>
            <a:endParaRPr lang="he-IL"/>
          </a:p>
        </p:txBody>
      </p:sp>
      <p:sp>
        <p:nvSpPr>
          <p:cNvPr id="10" name="TextBox 9"/>
          <p:cNvSpPr txBox="1"/>
          <p:nvPr/>
        </p:nvSpPr>
        <p:spPr>
          <a:xfrm>
            <a:off x="3838913" y="3720016"/>
            <a:ext cx="1234633" cy="307777"/>
          </a:xfrm>
          <a:prstGeom prst="rect">
            <a:avLst/>
          </a:prstGeom>
          <a:noFill/>
        </p:spPr>
        <p:txBody>
          <a:bodyPr wrap="none" rtlCol="1">
            <a:spAutoFit/>
          </a:bodyPr>
          <a:lstStyle/>
          <a:p>
            <a:r>
              <a:rPr lang="he-IL" b="1" dirty="0"/>
              <a:t>שמואל </a:t>
            </a:r>
            <a:r>
              <a:rPr lang="he-IL" b="1" dirty="0" err="1"/>
              <a:t>יבניאלי</a:t>
            </a:r>
            <a:endParaRPr lang="he-IL" b="1" dirty="0"/>
          </a:p>
        </p:txBody>
      </p:sp>
    </p:spTree>
    <p:extLst>
      <p:ext uri="{BB962C8B-B14F-4D97-AF65-F5344CB8AC3E}">
        <p14:creationId xmlns:p14="http://schemas.microsoft.com/office/powerpoint/2010/main" val="2272612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www.thegreenman.co.il/uploads/userfiles/IMG_4698%20%5b%5d(2).jpg"/>
          <p:cNvPicPr>
            <a:picLocks noChangeAspect="1" noChangeArrowheads="1"/>
          </p:cNvPicPr>
          <p:nvPr/>
        </p:nvPicPr>
        <p:blipFill>
          <a:blip r:embed="rId2"/>
          <a:srcRect/>
          <a:stretch>
            <a:fillRect/>
          </a:stretch>
        </p:blipFill>
        <p:spPr bwMode="auto">
          <a:xfrm>
            <a:off x="4572000" y="764708"/>
            <a:ext cx="3708856" cy="5567189"/>
          </a:xfrm>
          <a:prstGeom prst="rect">
            <a:avLst/>
          </a:prstGeom>
          <a:noFill/>
          <a:ln w="38100">
            <a:solidFill>
              <a:srgbClr val="FF0000"/>
            </a:solidFill>
          </a:ln>
        </p:spPr>
      </p:pic>
      <p:pic>
        <p:nvPicPr>
          <p:cNvPr id="3" name="Picture 2" descr="12"/>
          <p:cNvPicPr>
            <a:picLocks noChangeAspect="1" noChangeArrowheads="1"/>
          </p:cNvPicPr>
          <p:nvPr/>
        </p:nvPicPr>
        <p:blipFill>
          <a:blip r:embed="rId3"/>
          <a:srcRect/>
          <a:stretch>
            <a:fillRect/>
          </a:stretch>
        </p:blipFill>
        <p:spPr bwMode="auto">
          <a:xfrm>
            <a:off x="611560" y="1916832"/>
            <a:ext cx="3504389" cy="2628292"/>
          </a:xfrm>
          <a:prstGeom prst="rect">
            <a:avLst/>
          </a:prstGeom>
          <a:noFill/>
          <a:ln w="38100">
            <a:solidFill>
              <a:srgbClr val="FF0000"/>
            </a:solidFill>
          </a:ln>
        </p:spPr>
      </p:pic>
      <p:sp>
        <p:nvSpPr>
          <p:cNvPr id="4" name="TextBox 3"/>
          <p:cNvSpPr txBox="1"/>
          <p:nvPr/>
        </p:nvSpPr>
        <p:spPr>
          <a:xfrm>
            <a:off x="3971934" y="150025"/>
            <a:ext cx="1276311" cy="369332"/>
          </a:xfrm>
          <a:prstGeom prst="rect">
            <a:avLst/>
          </a:prstGeom>
          <a:solidFill>
            <a:srgbClr val="FFFF00"/>
          </a:solidFill>
          <a:ln>
            <a:solidFill>
              <a:schemeClr val="tx1"/>
            </a:solidFill>
          </a:ln>
        </p:spPr>
        <p:txBody>
          <a:bodyPr wrap="none" rtlCol="1">
            <a:spAutoFit/>
          </a:bodyPr>
          <a:lstStyle/>
          <a:p>
            <a:pPr algn="r" rtl="1"/>
            <a:r>
              <a:rPr lang="he-IL" sz="1800" b="1" dirty="0"/>
              <a:t>בית המוטור</a:t>
            </a:r>
          </a:p>
        </p:txBody>
      </p:sp>
      <p:sp>
        <p:nvSpPr>
          <p:cNvPr id="5" name="TextBox 4"/>
          <p:cNvSpPr txBox="1"/>
          <p:nvPr/>
        </p:nvSpPr>
        <p:spPr>
          <a:xfrm>
            <a:off x="4788026" y="6453336"/>
            <a:ext cx="3579891" cy="523220"/>
          </a:xfrm>
          <a:prstGeom prst="rect">
            <a:avLst/>
          </a:prstGeom>
          <a:noFill/>
        </p:spPr>
        <p:txBody>
          <a:bodyPr wrap="none" rtlCol="1">
            <a:spAutoFit/>
          </a:bodyPr>
          <a:lstStyle/>
          <a:p>
            <a:pPr algn="r" rtl="1"/>
            <a:r>
              <a:rPr lang="x-none" b="1"/>
              <a:t>ביתו של הרב דוד בן ישראל</a:t>
            </a:r>
            <a:r>
              <a:rPr lang="he-IL" b="1" dirty="0"/>
              <a:t> צעירי בבית המוטור</a:t>
            </a:r>
          </a:p>
          <a:p>
            <a:pPr algn="r" rtl="1"/>
            <a:endParaRPr lang="he-IL"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656"/>
          <p:cNvSpPr/>
          <p:nvPr/>
        </p:nvSpPr>
        <p:spPr>
          <a:xfrm>
            <a:off x="4139952" y="620693"/>
            <a:ext cx="4464496" cy="2808308"/>
          </a:xfrm>
          <a:prstGeom prst="rect">
            <a:avLst/>
          </a:prstGeom>
          <a:blipFill>
            <a:blip r:embed="rId2"/>
            <a:stretch>
              <a:fillRect/>
            </a:stretch>
          </a:blipFill>
          <a:ln w="38100">
            <a:solidFill>
              <a:srgbClr val="FF0000"/>
            </a:solidFill>
          </a:ln>
        </p:spPr>
        <p:txBody>
          <a:bodyPr/>
          <a:lstStyle/>
          <a:p>
            <a:endParaRPr lang="he-IL"/>
          </a:p>
        </p:txBody>
      </p:sp>
      <p:sp>
        <p:nvSpPr>
          <p:cNvPr id="3" name="Shape 677"/>
          <p:cNvSpPr/>
          <p:nvPr/>
        </p:nvSpPr>
        <p:spPr>
          <a:xfrm>
            <a:off x="539552" y="603449"/>
            <a:ext cx="3168352" cy="2825551"/>
          </a:xfrm>
          <a:prstGeom prst="rect">
            <a:avLst/>
          </a:prstGeom>
          <a:blipFill>
            <a:blip r:embed="rId3"/>
            <a:stretch>
              <a:fillRect/>
            </a:stretch>
          </a:blipFill>
          <a:ln w="38100">
            <a:solidFill>
              <a:srgbClr val="FF0000"/>
            </a:solidFill>
          </a:ln>
        </p:spPr>
        <p:txBody>
          <a:bodyPr/>
          <a:lstStyle/>
          <a:p>
            <a:endParaRPr lang="he-IL"/>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3861048"/>
            <a:ext cx="3456384" cy="2592288"/>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5" name="TextBox 4"/>
          <p:cNvSpPr txBox="1"/>
          <p:nvPr/>
        </p:nvSpPr>
        <p:spPr>
          <a:xfrm>
            <a:off x="3456951" y="55517"/>
            <a:ext cx="2230098" cy="369332"/>
          </a:xfrm>
          <a:prstGeom prst="rect">
            <a:avLst/>
          </a:prstGeom>
          <a:solidFill>
            <a:srgbClr val="FFFF00"/>
          </a:solidFill>
          <a:ln>
            <a:solidFill>
              <a:schemeClr val="tx1"/>
            </a:solidFill>
          </a:ln>
        </p:spPr>
        <p:txBody>
          <a:bodyPr wrap="none" rtlCol="1">
            <a:spAutoFit/>
          </a:bodyPr>
          <a:lstStyle/>
          <a:p>
            <a:r>
              <a:rPr lang="he-IL" sz="1800" b="1" dirty="0"/>
              <a:t>בית הקברות של כנרת</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713"/>
          <p:cNvSpPr/>
          <p:nvPr/>
        </p:nvSpPr>
        <p:spPr>
          <a:xfrm>
            <a:off x="5535116" y="3142120"/>
            <a:ext cx="2520280" cy="3356992"/>
          </a:xfrm>
          <a:prstGeom prst="rect">
            <a:avLst/>
          </a:prstGeom>
          <a:blipFill>
            <a:blip r:embed="rId2"/>
            <a:stretch>
              <a:fillRect/>
            </a:stretch>
          </a:blipFill>
          <a:ln w="38100">
            <a:solidFill>
              <a:srgbClr val="FF0000"/>
            </a:solidFill>
          </a:ln>
        </p:spPr>
        <p:txBody>
          <a:bodyPr/>
          <a:lstStyle/>
          <a:p>
            <a:endParaRPr lang="he-IL"/>
          </a:p>
        </p:txBody>
      </p:sp>
      <p:sp>
        <p:nvSpPr>
          <p:cNvPr id="5" name="Shape 728"/>
          <p:cNvSpPr/>
          <p:nvPr/>
        </p:nvSpPr>
        <p:spPr>
          <a:xfrm>
            <a:off x="1115616" y="260648"/>
            <a:ext cx="2880320" cy="2564928"/>
          </a:xfrm>
          <a:prstGeom prst="rect">
            <a:avLst/>
          </a:prstGeom>
          <a:blipFill>
            <a:blip r:embed="rId3"/>
            <a:stretch>
              <a:fillRect/>
            </a:stretch>
          </a:blipFill>
          <a:ln w="38100">
            <a:solidFill>
              <a:srgbClr val="FF0000"/>
            </a:solidFill>
          </a:ln>
        </p:spPr>
        <p:txBody>
          <a:bodyPr/>
          <a:lstStyle/>
          <a:p>
            <a:endParaRPr lang="he-IL"/>
          </a:p>
        </p:txBody>
      </p:sp>
      <p:sp>
        <p:nvSpPr>
          <p:cNvPr id="6" name="Shape 720"/>
          <p:cNvSpPr/>
          <p:nvPr/>
        </p:nvSpPr>
        <p:spPr>
          <a:xfrm>
            <a:off x="863588" y="3452614"/>
            <a:ext cx="3384376" cy="2783232"/>
          </a:xfrm>
          <a:prstGeom prst="rect">
            <a:avLst/>
          </a:prstGeom>
          <a:blipFill>
            <a:blip r:embed="rId4"/>
            <a:stretch>
              <a:fillRect/>
            </a:stretch>
          </a:blipFill>
          <a:ln w="38100">
            <a:solidFill>
              <a:srgbClr val="FF0000"/>
            </a:solidFill>
          </a:ln>
        </p:spPr>
        <p:txBody>
          <a:bodyPr/>
          <a:lstStyle/>
          <a:p>
            <a:endParaRPr lang="he-IL"/>
          </a:p>
        </p:txBody>
      </p:sp>
      <p:pic>
        <p:nvPicPr>
          <p:cNvPr id="44034" name="Picture 2" descr="http://www.ynet.co.il/PicServer2/17112009/2312324/kineret-2_wa1.jpg"/>
          <p:cNvPicPr>
            <a:picLocks noChangeAspect="1" noChangeArrowheads="1"/>
          </p:cNvPicPr>
          <p:nvPr/>
        </p:nvPicPr>
        <p:blipFill>
          <a:blip r:embed="rId5"/>
          <a:srcRect/>
          <a:stretch>
            <a:fillRect/>
          </a:stretch>
        </p:blipFill>
        <p:spPr bwMode="auto">
          <a:xfrm>
            <a:off x="4893518" y="260648"/>
            <a:ext cx="3456384" cy="2295786"/>
          </a:xfrm>
          <a:prstGeom prst="rect">
            <a:avLst/>
          </a:prstGeom>
          <a:noFill/>
          <a:ln w="38100">
            <a:solidFill>
              <a:srgbClr val="FF0000"/>
            </a:solidFill>
          </a:ln>
        </p:spPr>
      </p:pic>
      <p:sp>
        <p:nvSpPr>
          <p:cNvPr id="3" name="תיבת טקסט 2">
            <a:extLst>
              <a:ext uri="{FF2B5EF4-FFF2-40B4-BE49-F238E27FC236}">
                <a16:creationId xmlns:a16="http://schemas.microsoft.com/office/drawing/2014/main" id="{7A59BB65-78A5-26EA-F03A-CF8D6619C434}"/>
              </a:ext>
            </a:extLst>
          </p:cNvPr>
          <p:cNvSpPr txBox="1"/>
          <p:nvPr/>
        </p:nvSpPr>
        <p:spPr>
          <a:xfrm>
            <a:off x="5958383" y="2582021"/>
            <a:ext cx="1962397" cy="307777"/>
          </a:xfrm>
          <a:prstGeom prst="rect">
            <a:avLst/>
          </a:prstGeom>
          <a:noFill/>
        </p:spPr>
        <p:txBody>
          <a:bodyPr wrap="none" rtlCol="1">
            <a:spAutoFit/>
          </a:bodyPr>
          <a:lstStyle/>
          <a:p>
            <a:r>
              <a:rPr lang="he-IL" b="1" dirty="0"/>
              <a:t>קברה של המשוררת רחל</a:t>
            </a:r>
          </a:p>
        </p:txBody>
      </p:sp>
      <p:sp>
        <p:nvSpPr>
          <p:cNvPr id="4" name="תיבת טקסט 3">
            <a:extLst>
              <a:ext uri="{FF2B5EF4-FFF2-40B4-BE49-F238E27FC236}">
                <a16:creationId xmlns:a16="http://schemas.microsoft.com/office/drawing/2014/main" id="{10456D6B-92E9-F8E4-144F-1EB4AA61AF0F}"/>
              </a:ext>
            </a:extLst>
          </p:cNvPr>
          <p:cNvSpPr txBox="1"/>
          <p:nvPr/>
        </p:nvSpPr>
        <p:spPr>
          <a:xfrm>
            <a:off x="5622873" y="6499112"/>
            <a:ext cx="2727029" cy="307777"/>
          </a:xfrm>
          <a:prstGeom prst="rect">
            <a:avLst/>
          </a:prstGeom>
          <a:noFill/>
        </p:spPr>
        <p:txBody>
          <a:bodyPr wrap="none" rtlCol="1">
            <a:spAutoFit/>
          </a:bodyPr>
          <a:lstStyle/>
          <a:p>
            <a:r>
              <a:rPr lang="he-IL" b="1" dirty="0"/>
              <a:t>קברה של רחל המשוררת נעמי שמר</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698"/>
          <p:cNvSpPr/>
          <p:nvPr/>
        </p:nvSpPr>
        <p:spPr>
          <a:xfrm>
            <a:off x="511985" y="1484788"/>
            <a:ext cx="4060017" cy="3366135"/>
          </a:xfrm>
          <a:prstGeom prst="rect">
            <a:avLst/>
          </a:prstGeom>
          <a:blipFill>
            <a:blip r:embed="rId2"/>
            <a:stretch>
              <a:fillRect/>
            </a:stretch>
          </a:blipFill>
          <a:ln w="38100">
            <a:solidFill>
              <a:srgbClr val="FF0000"/>
            </a:solidFill>
          </a:ln>
        </p:spPr>
        <p:txBody>
          <a:bodyPr/>
          <a:lstStyle/>
          <a:p>
            <a:endParaRPr lang="he-IL"/>
          </a:p>
        </p:txBody>
      </p:sp>
      <p:sp>
        <p:nvSpPr>
          <p:cNvPr id="3" name="Shape 699"/>
          <p:cNvSpPr/>
          <p:nvPr/>
        </p:nvSpPr>
        <p:spPr>
          <a:xfrm>
            <a:off x="5364088" y="1484784"/>
            <a:ext cx="3456384" cy="3312368"/>
          </a:xfrm>
          <a:prstGeom prst="rect">
            <a:avLst/>
          </a:prstGeom>
          <a:blipFill>
            <a:blip r:embed="rId3"/>
            <a:stretch>
              <a:fillRect/>
            </a:stretch>
          </a:blipFill>
          <a:ln w="38100">
            <a:solidFill>
              <a:srgbClr val="FF0000"/>
            </a:solidFill>
          </a:ln>
        </p:spPr>
        <p:txBody>
          <a:bodyPr/>
          <a:lstStyle/>
          <a:p>
            <a:endParaRPr lang="he-IL"/>
          </a:p>
        </p:txBody>
      </p:sp>
      <p:sp>
        <p:nvSpPr>
          <p:cNvPr id="4" name="TextBox 3"/>
          <p:cNvSpPr txBox="1"/>
          <p:nvPr/>
        </p:nvSpPr>
        <p:spPr>
          <a:xfrm>
            <a:off x="3366383" y="548680"/>
            <a:ext cx="2411238" cy="369332"/>
          </a:xfrm>
          <a:prstGeom prst="rect">
            <a:avLst/>
          </a:prstGeom>
          <a:solidFill>
            <a:srgbClr val="FFFF00"/>
          </a:solidFill>
          <a:ln>
            <a:solidFill>
              <a:schemeClr val="tx1"/>
            </a:solidFill>
          </a:ln>
        </p:spPr>
        <p:txBody>
          <a:bodyPr wrap="none" rtlCol="1">
            <a:spAutoFit/>
          </a:bodyPr>
          <a:lstStyle/>
          <a:p>
            <a:pPr algn="r" rtl="1"/>
            <a:r>
              <a:rPr lang="he-IL" sz="1800" b="1" dirty="0"/>
              <a:t>קברי התימנים - פשוטים</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742"/>
          <p:cNvSpPr/>
          <p:nvPr/>
        </p:nvSpPr>
        <p:spPr>
          <a:xfrm>
            <a:off x="1115616" y="620692"/>
            <a:ext cx="7143768" cy="5000635"/>
          </a:xfrm>
          <a:prstGeom prst="rect">
            <a:avLst/>
          </a:prstGeom>
          <a:blipFill>
            <a:blip r:embed="rId2"/>
            <a:stretch>
              <a:fillRect/>
            </a:stretch>
          </a:blipFill>
          <a:ln w="38100">
            <a:solidFill>
              <a:srgbClr val="FF0000"/>
            </a:solidFill>
          </a:ln>
        </p:spPr>
        <p:txBody>
          <a:bodyPr/>
          <a:lstStyle/>
          <a:p>
            <a:endParaRPr lang="he-IL"/>
          </a:p>
        </p:txBody>
      </p:sp>
      <p:sp>
        <p:nvSpPr>
          <p:cNvPr id="3" name="Shape 751"/>
          <p:cNvSpPr txBox="1"/>
          <p:nvPr/>
        </p:nvSpPr>
        <p:spPr>
          <a:xfrm>
            <a:off x="3127375" y="682625"/>
            <a:ext cx="5730900" cy="917700"/>
          </a:xfrm>
          <a:prstGeom prst="rect">
            <a:avLst/>
          </a:prstGeom>
          <a:noFill/>
        </p:spPr>
        <p:txBody>
          <a:bodyPr lIns="91425" tIns="91425" rIns="91425" bIns="91425" anchor="t" anchorCtr="0">
            <a:noAutofit/>
          </a:bodyPr>
          <a:lstStyle/>
          <a:p>
            <a:pPr rtl="1">
              <a:buNone/>
            </a:pPr>
            <a:endParaRPr lang="x-none" b="1"/>
          </a:p>
        </p:txBody>
      </p:sp>
      <p:sp>
        <p:nvSpPr>
          <p:cNvPr id="4" name="Shape 750"/>
          <p:cNvSpPr/>
          <p:nvPr/>
        </p:nvSpPr>
        <p:spPr>
          <a:xfrm>
            <a:off x="5868145" y="4077072"/>
            <a:ext cx="2448272" cy="2016224"/>
          </a:xfrm>
          <a:prstGeom prst="rect">
            <a:avLst/>
          </a:prstGeom>
          <a:blipFill>
            <a:blip r:embed="rId3"/>
            <a:stretch>
              <a:fillRect/>
            </a:stretch>
          </a:blipFill>
          <a:ln w="38100">
            <a:solidFill>
              <a:srgbClr val="FF0000"/>
            </a:solidFill>
          </a:ln>
        </p:spPr>
        <p:txBody>
          <a:bodyPr/>
          <a:lstStyle/>
          <a:p>
            <a:endParaRPr lang="he-IL"/>
          </a:p>
        </p:txBody>
      </p:sp>
      <p:sp>
        <p:nvSpPr>
          <p:cNvPr id="5" name="TextBox 4"/>
          <p:cNvSpPr txBox="1"/>
          <p:nvPr/>
        </p:nvSpPr>
        <p:spPr>
          <a:xfrm>
            <a:off x="5580112" y="6165304"/>
            <a:ext cx="2912978" cy="523220"/>
          </a:xfrm>
          <a:prstGeom prst="rect">
            <a:avLst/>
          </a:prstGeom>
          <a:noFill/>
        </p:spPr>
        <p:txBody>
          <a:bodyPr wrap="none" rtlCol="1">
            <a:spAutoFit/>
          </a:bodyPr>
          <a:lstStyle/>
          <a:p>
            <a:pPr algn="l" rtl="1"/>
            <a:r>
              <a:rPr lang="x-none" b="1" dirty="0"/>
              <a:t>יודקה פייידמן מצאצאי מקימי המושבה</a:t>
            </a:r>
            <a:endParaRPr lang="he-IL" b="1" dirty="0"/>
          </a:p>
          <a:p>
            <a:pPr algn="r" rtl="1"/>
            <a:r>
              <a:rPr lang="x-none" b="1" dirty="0"/>
              <a:t> כנרת </a:t>
            </a:r>
            <a:r>
              <a:rPr lang="he-IL" b="1" dirty="0"/>
              <a:t> </a:t>
            </a:r>
            <a:r>
              <a:rPr lang="x-none" b="1" dirty="0"/>
              <a:t>מייסד “תמר בכפר”</a:t>
            </a:r>
            <a:endParaRPr lang="he-IL" b="1" dirty="0"/>
          </a:p>
        </p:txBody>
      </p:sp>
      <p:sp>
        <p:nvSpPr>
          <p:cNvPr id="6" name="Shape 758"/>
          <p:cNvSpPr/>
          <p:nvPr/>
        </p:nvSpPr>
        <p:spPr>
          <a:xfrm>
            <a:off x="323528" y="4365104"/>
            <a:ext cx="2195731" cy="1988839"/>
          </a:xfrm>
          <a:prstGeom prst="rect">
            <a:avLst/>
          </a:prstGeom>
          <a:blipFill>
            <a:blip r:embed="rId4"/>
            <a:stretch>
              <a:fillRect/>
            </a:stretch>
          </a:blipFill>
          <a:ln w="38100">
            <a:solidFill>
              <a:srgbClr val="FF0000"/>
            </a:solidFill>
          </a:ln>
        </p:spPr>
        <p:txBody>
          <a:bodyPr/>
          <a:lstStyle/>
          <a:p>
            <a:endParaRPr lang="he-IL"/>
          </a:p>
        </p:txBody>
      </p:sp>
      <p:sp>
        <p:nvSpPr>
          <p:cNvPr id="7" name="TextBox 6"/>
          <p:cNvSpPr txBox="1"/>
          <p:nvPr/>
        </p:nvSpPr>
        <p:spPr>
          <a:xfrm>
            <a:off x="215776" y="6426914"/>
            <a:ext cx="2411237" cy="307777"/>
          </a:xfrm>
          <a:prstGeom prst="rect">
            <a:avLst/>
          </a:prstGeom>
          <a:noFill/>
        </p:spPr>
        <p:txBody>
          <a:bodyPr wrap="none" rtlCol="1">
            <a:spAutoFit/>
          </a:bodyPr>
          <a:lstStyle/>
          <a:p>
            <a:r>
              <a:rPr lang="x-none" b="1"/>
              <a:t>בצלאל פיידמן בן התשעים מנגן</a:t>
            </a:r>
            <a:endParaRPr lang="he-IL" b="1" dirty="0"/>
          </a:p>
        </p:txBody>
      </p:sp>
      <p:sp>
        <p:nvSpPr>
          <p:cNvPr id="8" name="TextBox 7"/>
          <p:cNvSpPr txBox="1"/>
          <p:nvPr/>
        </p:nvSpPr>
        <p:spPr>
          <a:xfrm>
            <a:off x="3945066" y="116632"/>
            <a:ext cx="1253868" cy="369332"/>
          </a:xfrm>
          <a:prstGeom prst="rect">
            <a:avLst/>
          </a:prstGeom>
          <a:solidFill>
            <a:srgbClr val="FFFF00"/>
          </a:solidFill>
          <a:ln>
            <a:solidFill>
              <a:schemeClr val="tx1"/>
            </a:solidFill>
          </a:ln>
        </p:spPr>
        <p:txBody>
          <a:bodyPr wrap="none" rtlCol="1">
            <a:spAutoFit/>
          </a:bodyPr>
          <a:lstStyle/>
          <a:p>
            <a:r>
              <a:rPr lang="he-IL" sz="1800" b="1" dirty="0"/>
              <a:t>העמק פורח</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71802" y="188640"/>
            <a:ext cx="3570208" cy="369332"/>
          </a:xfrm>
          <a:prstGeom prst="rect">
            <a:avLst/>
          </a:prstGeom>
          <a:solidFill>
            <a:srgbClr val="FFFF00"/>
          </a:solidFill>
          <a:ln w="12700">
            <a:solidFill>
              <a:schemeClr val="tx1"/>
            </a:solidFill>
          </a:ln>
        </p:spPr>
        <p:txBody>
          <a:bodyPr wrap="none" rtlCol="1">
            <a:spAutoFit/>
          </a:bodyPr>
          <a:lstStyle/>
          <a:p>
            <a:r>
              <a:rPr lang="he-IL" sz="1800" b="1" dirty="0"/>
              <a:t>בדגניה (אום ג'וני) - </a:t>
            </a:r>
            <a:r>
              <a:rPr lang="he-IL" sz="1800" b="1" dirty="0">
                <a:solidFill>
                  <a:srgbClr val="FF0000"/>
                </a:solidFill>
              </a:rPr>
              <a:t>יום ב', ב' בכסלו </a:t>
            </a:r>
          </a:p>
        </p:txBody>
      </p:sp>
      <p:pic>
        <p:nvPicPr>
          <p:cNvPr id="8194" name="Picture 2" descr="http://www.ynet.co.il/PicServer2/02012008/1390066/d3058-105_wa.jpg"/>
          <p:cNvPicPr>
            <a:picLocks noChangeAspect="1" noChangeArrowheads="1"/>
          </p:cNvPicPr>
          <p:nvPr/>
        </p:nvPicPr>
        <p:blipFill>
          <a:blip r:embed="rId2"/>
          <a:srcRect/>
          <a:stretch>
            <a:fillRect/>
          </a:stretch>
        </p:blipFill>
        <p:spPr bwMode="auto">
          <a:xfrm>
            <a:off x="395536" y="692697"/>
            <a:ext cx="3886200" cy="2324101"/>
          </a:xfrm>
          <a:prstGeom prst="rect">
            <a:avLst/>
          </a:prstGeom>
          <a:noFill/>
          <a:ln w="38100">
            <a:solidFill>
              <a:srgbClr val="FF0000"/>
            </a:solidFill>
          </a:ln>
        </p:spPr>
      </p:pic>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l="2167" b="5222"/>
          <a:stretch>
            <a:fillRect/>
          </a:stretch>
        </p:blipFill>
        <p:spPr bwMode="auto">
          <a:xfrm>
            <a:off x="5580112" y="4280131"/>
            <a:ext cx="3251510" cy="208823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74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226" y="1052736"/>
            <a:ext cx="2310749" cy="208823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74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440" y="3573016"/>
            <a:ext cx="3528392" cy="2681578"/>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741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024" y="836716"/>
            <a:ext cx="1364290" cy="1754087"/>
          </a:xfrm>
          <a:prstGeom prst="rect">
            <a:avLst/>
          </a:prstGeom>
          <a:noFill/>
          <a:ln w="38100">
            <a:solidFill>
              <a:srgbClr val="2217F5"/>
            </a:solidFill>
          </a:ln>
          <a:extLst>
            <a:ext uri="{909E8E84-426E-40DD-AFC4-6F175D3DCCD1}">
              <a14:hiddenFill xmlns:a14="http://schemas.microsoft.com/office/drawing/2010/main">
                <a:solidFill>
                  <a:schemeClr val="accent1"/>
                </a:solidFill>
              </a14:hiddenFill>
            </a:ext>
          </a:extLst>
        </p:spPr>
      </p:pic>
      <p:sp>
        <p:nvSpPr>
          <p:cNvPr id="9" name="TextBox 8"/>
          <p:cNvSpPr txBox="1"/>
          <p:nvPr/>
        </p:nvSpPr>
        <p:spPr>
          <a:xfrm>
            <a:off x="251520" y="215643"/>
            <a:ext cx="1075936" cy="338554"/>
          </a:xfrm>
          <a:prstGeom prst="rect">
            <a:avLst/>
          </a:prstGeom>
          <a:solidFill>
            <a:srgbClr val="76E3FF"/>
          </a:solidFill>
          <a:ln>
            <a:solidFill>
              <a:schemeClr val="tx1"/>
            </a:solidFill>
          </a:ln>
        </p:spPr>
        <p:txBody>
          <a:bodyPr wrap="none" rtlCol="1">
            <a:spAutoFit/>
          </a:bodyPr>
          <a:lstStyle/>
          <a:p>
            <a:r>
              <a:rPr lang="he-IL" sz="1600" b="1" dirty="0"/>
              <a:t>לפנות ערב</a:t>
            </a:r>
          </a:p>
        </p:txBody>
      </p:sp>
      <p:sp>
        <p:nvSpPr>
          <p:cNvPr id="10" name="TextBox 9"/>
          <p:cNvSpPr txBox="1"/>
          <p:nvPr/>
        </p:nvSpPr>
        <p:spPr>
          <a:xfrm>
            <a:off x="6516218" y="188640"/>
            <a:ext cx="2483309" cy="738664"/>
          </a:xfrm>
          <a:prstGeom prst="rect">
            <a:avLst/>
          </a:prstGeom>
          <a:solidFill>
            <a:srgbClr val="FFFF00"/>
          </a:solidFill>
          <a:ln>
            <a:solidFill>
              <a:schemeClr val="tx1"/>
            </a:solidFill>
          </a:ln>
        </p:spPr>
        <p:txBody>
          <a:bodyPr wrap="none" rtlCol="1">
            <a:spAutoFit/>
          </a:bodyPr>
          <a:lstStyle/>
          <a:p>
            <a:r>
              <a:rPr lang="he-IL" b="1" dirty="0">
                <a:solidFill>
                  <a:srgbClr val="FF0000"/>
                </a:solidFill>
              </a:rPr>
              <a:t>1910 – </a:t>
            </a:r>
            <a:r>
              <a:rPr lang="he-IL" b="1" dirty="0"/>
              <a:t>ע"י המשרד ארצישראלי</a:t>
            </a:r>
          </a:p>
          <a:p>
            <a:pPr algn="r" rtl="1"/>
            <a:r>
              <a:rPr lang="he-IL" b="1" dirty="0"/>
              <a:t>             'הקומונה </a:t>
            </a:r>
            <a:r>
              <a:rPr lang="he-IL" b="1" dirty="0" err="1"/>
              <a:t>החדרתית</a:t>
            </a:r>
            <a:r>
              <a:rPr lang="he-IL" b="1" dirty="0"/>
              <a:t>'</a:t>
            </a:r>
          </a:p>
          <a:p>
            <a:pPr algn="r" rtl="1"/>
            <a:r>
              <a:rPr lang="he-IL" b="1" dirty="0"/>
              <a:t>             20 חברים</a:t>
            </a:r>
          </a:p>
        </p:txBody>
      </p:sp>
      <p:sp>
        <p:nvSpPr>
          <p:cNvPr id="11" name="TextBox 10"/>
          <p:cNvSpPr txBox="1"/>
          <p:nvPr/>
        </p:nvSpPr>
        <p:spPr>
          <a:xfrm>
            <a:off x="4802260" y="2636916"/>
            <a:ext cx="1361335" cy="1169551"/>
          </a:xfrm>
          <a:prstGeom prst="rect">
            <a:avLst/>
          </a:prstGeom>
          <a:noFill/>
        </p:spPr>
        <p:txBody>
          <a:bodyPr wrap="none" rtlCol="1">
            <a:spAutoFit/>
          </a:bodyPr>
          <a:lstStyle/>
          <a:p>
            <a:pPr algn="r" rtl="1"/>
            <a:r>
              <a:rPr lang="he-IL" b="1" dirty="0"/>
              <a:t>   </a:t>
            </a:r>
            <a:r>
              <a:rPr lang="he-IL" b="1" dirty="0" err="1"/>
              <a:t>א"ד</a:t>
            </a:r>
            <a:r>
              <a:rPr lang="he-IL" b="1" dirty="0"/>
              <a:t> גורדון</a:t>
            </a:r>
          </a:p>
          <a:p>
            <a:pPr algn="r" rtl="1"/>
            <a:r>
              <a:rPr lang="he-IL" b="1" dirty="0"/>
              <a:t>'הצדיק החילוני'</a:t>
            </a:r>
          </a:p>
          <a:p>
            <a:pPr algn="r" rtl="1"/>
            <a:endParaRPr lang="he-IL" b="1" dirty="0"/>
          </a:p>
          <a:p>
            <a:pPr algn="r" rtl="1"/>
            <a:r>
              <a:rPr lang="he-IL" b="1" dirty="0"/>
              <a:t>לא נפגשו – עבד</a:t>
            </a:r>
          </a:p>
          <a:p>
            <a:pPr algn="r" rtl="1"/>
            <a:r>
              <a:rPr lang="he-IL" b="1" dirty="0"/>
              <a:t> בחלקה רחוקה!</a:t>
            </a:r>
          </a:p>
        </p:txBody>
      </p:sp>
      <p:sp>
        <p:nvSpPr>
          <p:cNvPr id="12" name="TextBox 11"/>
          <p:cNvSpPr txBox="1"/>
          <p:nvPr/>
        </p:nvSpPr>
        <p:spPr>
          <a:xfrm>
            <a:off x="7081084" y="6480830"/>
            <a:ext cx="676788" cy="307777"/>
          </a:xfrm>
          <a:prstGeom prst="rect">
            <a:avLst/>
          </a:prstGeom>
          <a:noFill/>
        </p:spPr>
        <p:txBody>
          <a:bodyPr wrap="none" rtlCol="1">
            <a:spAutoFit/>
          </a:bodyPr>
          <a:lstStyle/>
          <a:p>
            <a:r>
              <a:rPr lang="he-IL" b="1" dirty="0"/>
              <a:t>'החצר'</a:t>
            </a:r>
          </a:p>
        </p:txBody>
      </p:sp>
      <p:sp>
        <p:nvSpPr>
          <p:cNvPr id="13" name="TextBox 12"/>
          <p:cNvSpPr txBox="1"/>
          <p:nvPr/>
        </p:nvSpPr>
        <p:spPr>
          <a:xfrm>
            <a:off x="1716510" y="3088294"/>
            <a:ext cx="1244251" cy="307777"/>
          </a:xfrm>
          <a:prstGeom prst="rect">
            <a:avLst/>
          </a:prstGeom>
          <a:noFill/>
        </p:spPr>
        <p:txBody>
          <a:bodyPr wrap="none" rtlCol="1">
            <a:spAutoFit/>
          </a:bodyPr>
          <a:lstStyle/>
          <a:p>
            <a:r>
              <a:rPr lang="he-IL" b="1" dirty="0"/>
              <a:t>"אם הקבוצות"</a:t>
            </a:r>
          </a:p>
        </p:txBody>
      </p:sp>
      <p:pic>
        <p:nvPicPr>
          <p:cNvPr id="14" name="Picture 6" descr="קובץ:Deganiatank1.jpg"/>
          <p:cNvPicPr>
            <a:picLocks noChangeAspect="1" noChangeArrowheads="1"/>
          </p:cNvPicPr>
          <p:nvPr/>
        </p:nvPicPr>
        <p:blipFill>
          <a:blip r:embed="rId7"/>
          <a:srcRect/>
          <a:stretch>
            <a:fillRect/>
          </a:stretch>
        </p:blipFill>
        <p:spPr bwMode="auto">
          <a:xfrm>
            <a:off x="179514" y="5517232"/>
            <a:ext cx="1584174" cy="1188131"/>
          </a:xfrm>
          <a:prstGeom prst="rect">
            <a:avLst/>
          </a:prstGeom>
          <a:noFill/>
          <a:ln w="38100">
            <a:solidFill>
              <a:srgbClr val="FF0000"/>
            </a:solidFill>
          </a:ln>
        </p:spPr>
      </p:pic>
      <p:sp>
        <p:nvSpPr>
          <p:cNvPr id="15" name="TextBox 14"/>
          <p:cNvSpPr txBox="1"/>
          <p:nvPr/>
        </p:nvSpPr>
        <p:spPr>
          <a:xfrm>
            <a:off x="6804249" y="3429000"/>
            <a:ext cx="1947970" cy="738664"/>
          </a:xfrm>
          <a:prstGeom prst="rect">
            <a:avLst/>
          </a:prstGeom>
          <a:noFill/>
          <a:ln>
            <a:solidFill>
              <a:srgbClr val="2217F5"/>
            </a:solidFill>
          </a:ln>
        </p:spPr>
        <p:txBody>
          <a:bodyPr wrap="none" rtlCol="1">
            <a:spAutoFit/>
          </a:bodyPr>
          <a:lstStyle/>
          <a:p>
            <a:pPr algn="r" rtl="1"/>
            <a:r>
              <a:rPr lang="he-IL" b="1" dirty="0"/>
              <a:t>אין מזוזות, כשרות, שבת</a:t>
            </a:r>
          </a:p>
          <a:p>
            <a:pPr algn="r" rtl="1"/>
            <a:r>
              <a:rPr lang="he-IL" b="1" dirty="0">
                <a:solidFill>
                  <a:schemeClr val="tx1"/>
                </a:solidFill>
              </a:rPr>
              <a:t>הסכימו </a:t>
            </a:r>
            <a:r>
              <a:rPr lang="he-IL" b="1" dirty="0" err="1">
                <a:solidFill>
                  <a:schemeClr val="tx1"/>
                </a:solidFill>
              </a:rPr>
              <a:t>תו"מ</a:t>
            </a:r>
            <a:endParaRPr lang="he-IL" b="1" dirty="0">
              <a:solidFill>
                <a:schemeClr val="tx1"/>
              </a:solidFill>
            </a:endParaRPr>
          </a:p>
          <a:p>
            <a:pPr algn="r" rtl="1"/>
            <a:r>
              <a:rPr lang="he-IL" b="1" dirty="0"/>
              <a:t>שתו יחד חלב טרי</a:t>
            </a:r>
          </a:p>
        </p:txBody>
      </p:sp>
      <p:sp>
        <p:nvSpPr>
          <p:cNvPr id="3" name="תיבת טקסט 2">
            <a:extLst>
              <a:ext uri="{FF2B5EF4-FFF2-40B4-BE49-F238E27FC236}">
                <a16:creationId xmlns:a16="http://schemas.microsoft.com/office/drawing/2014/main" id="{FEA92C1E-503D-A9C1-46A2-74231B2AC9FA}"/>
              </a:ext>
            </a:extLst>
          </p:cNvPr>
          <p:cNvSpPr txBox="1"/>
          <p:nvPr/>
        </p:nvSpPr>
        <p:spPr>
          <a:xfrm>
            <a:off x="2166254" y="6254594"/>
            <a:ext cx="481222" cy="307777"/>
          </a:xfrm>
          <a:prstGeom prst="rect">
            <a:avLst/>
          </a:prstGeom>
          <a:noFill/>
        </p:spPr>
        <p:txBody>
          <a:bodyPr wrap="none" rtlCol="1">
            <a:spAutoFit/>
          </a:bodyPr>
          <a:lstStyle/>
          <a:p>
            <a:r>
              <a:rPr lang="he-IL" b="1" dirty="0"/>
              <a:t>כיום</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90087" y="122143"/>
            <a:ext cx="4517583" cy="369332"/>
          </a:xfrm>
          <a:prstGeom prst="rect">
            <a:avLst/>
          </a:prstGeom>
          <a:solidFill>
            <a:srgbClr val="FFFF00"/>
          </a:solidFill>
          <a:ln w="12700">
            <a:solidFill>
              <a:schemeClr val="tx1"/>
            </a:solidFill>
          </a:ln>
        </p:spPr>
        <p:txBody>
          <a:bodyPr wrap="none" rtlCol="1">
            <a:spAutoFit/>
          </a:bodyPr>
          <a:lstStyle/>
          <a:p>
            <a:r>
              <a:rPr lang="he-IL" sz="1800" b="1" dirty="0"/>
              <a:t>במושבה מלחמיה (מנחמיה) – </a:t>
            </a:r>
            <a:r>
              <a:rPr lang="he-IL" sz="1800" b="1" dirty="0">
                <a:solidFill>
                  <a:srgbClr val="FF0000"/>
                </a:solidFill>
              </a:rPr>
              <a:t>יום ב', ב' בכסלו</a:t>
            </a:r>
          </a:p>
        </p:txBody>
      </p:sp>
      <p:pic>
        <p:nvPicPr>
          <p:cNvPr id="109570" name="Picture 2" descr="קובץ:מנחמיה.JPG"/>
          <p:cNvPicPr>
            <a:picLocks noChangeAspect="1" noChangeArrowheads="1"/>
          </p:cNvPicPr>
          <p:nvPr/>
        </p:nvPicPr>
        <p:blipFill>
          <a:blip r:embed="rId2"/>
          <a:srcRect/>
          <a:stretch>
            <a:fillRect/>
          </a:stretch>
        </p:blipFill>
        <p:spPr bwMode="auto">
          <a:xfrm>
            <a:off x="5076056" y="4365104"/>
            <a:ext cx="3350466" cy="2232248"/>
          </a:xfrm>
          <a:prstGeom prst="rect">
            <a:avLst/>
          </a:prstGeom>
          <a:noFill/>
          <a:ln w="38100">
            <a:solidFill>
              <a:srgbClr val="FF0000"/>
            </a:solidFill>
          </a:ln>
        </p:spPr>
      </p:pic>
      <p:sp>
        <p:nvSpPr>
          <p:cNvPr id="4" name="TextBox 3"/>
          <p:cNvSpPr txBox="1"/>
          <p:nvPr/>
        </p:nvSpPr>
        <p:spPr>
          <a:xfrm>
            <a:off x="6053556" y="6569475"/>
            <a:ext cx="1395466" cy="307777"/>
          </a:xfrm>
          <a:prstGeom prst="rect">
            <a:avLst/>
          </a:prstGeom>
          <a:noFill/>
          <a:ln w="38100">
            <a:noFill/>
          </a:ln>
        </p:spPr>
        <p:txBody>
          <a:bodyPr wrap="square" rtlCol="1">
            <a:spAutoFit/>
          </a:bodyPr>
          <a:lstStyle/>
          <a:p>
            <a:pPr algn="r" rtl="1"/>
            <a:r>
              <a:rPr lang="he-IL" b="1" dirty="0"/>
              <a:t>בית הרופא כיום</a:t>
            </a:r>
          </a:p>
        </p:txBody>
      </p:sp>
      <p:sp>
        <p:nvSpPr>
          <p:cNvPr id="7" name="TextBox 6"/>
          <p:cNvSpPr txBox="1"/>
          <p:nvPr/>
        </p:nvSpPr>
        <p:spPr>
          <a:xfrm>
            <a:off x="7000892" y="6500838"/>
            <a:ext cx="184731" cy="307777"/>
          </a:xfrm>
          <a:prstGeom prst="rect">
            <a:avLst/>
          </a:prstGeom>
          <a:noFill/>
          <a:ln w="38100">
            <a:noFill/>
          </a:ln>
        </p:spPr>
        <p:txBody>
          <a:bodyPr wrap="none" rtlCol="1">
            <a:spAutoFit/>
          </a:bodyPr>
          <a:lstStyle/>
          <a:p>
            <a:endParaRPr lang="he-IL" dirty="0"/>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549" y="1143328"/>
            <a:ext cx="3240360" cy="2219647"/>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2355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0369" y="1373928"/>
            <a:ext cx="2012111" cy="181835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2355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549" y="4368071"/>
            <a:ext cx="3355416" cy="228665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9" name="TextBox 8"/>
          <p:cNvSpPr txBox="1"/>
          <p:nvPr/>
        </p:nvSpPr>
        <p:spPr>
          <a:xfrm>
            <a:off x="8250959" y="133842"/>
            <a:ext cx="641521" cy="338554"/>
          </a:xfrm>
          <a:prstGeom prst="rect">
            <a:avLst/>
          </a:prstGeom>
          <a:solidFill>
            <a:srgbClr val="76E3FF"/>
          </a:solidFill>
          <a:ln>
            <a:solidFill>
              <a:schemeClr val="tx1"/>
            </a:solidFill>
          </a:ln>
        </p:spPr>
        <p:txBody>
          <a:bodyPr wrap="none" rtlCol="1">
            <a:spAutoFit/>
          </a:bodyPr>
          <a:lstStyle/>
          <a:p>
            <a:r>
              <a:rPr lang="he-IL" sz="1600" b="1" dirty="0"/>
              <a:t>בערב</a:t>
            </a:r>
          </a:p>
        </p:txBody>
      </p:sp>
      <p:sp>
        <p:nvSpPr>
          <p:cNvPr id="11" name="TextBox 10"/>
          <p:cNvSpPr txBox="1"/>
          <p:nvPr/>
        </p:nvSpPr>
        <p:spPr>
          <a:xfrm>
            <a:off x="6259504" y="557503"/>
            <a:ext cx="2743059"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1901 – </a:t>
            </a:r>
            <a:r>
              <a:rPr lang="he-IL" b="1" dirty="0"/>
              <a:t>ע"י </a:t>
            </a:r>
            <a:r>
              <a:rPr lang="he-IL" b="1" dirty="0" err="1"/>
              <a:t>יק"א</a:t>
            </a:r>
            <a:endParaRPr lang="he-IL" b="1" dirty="0"/>
          </a:p>
          <a:p>
            <a:pPr algn="r" rtl="1"/>
            <a:r>
              <a:rPr lang="he-IL" b="1" dirty="0">
                <a:solidFill>
                  <a:srgbClr val="FF0000"/>
                </a:solidFill>
              </a:rPr>
              <a:t>1921 – </a:t>
            </a:r>
            <a:r>
              <a:rPr lang="he-IL" b="1" dirty="0"/>
              <a:t>מנחמיה (אבי הנציב העליון)</a:t>
            </a:r>
          </a:p>
          <a:p>
            <a:pPr algn="r" rtl="1"/>
            <a:r>
              <a:rPr lang="he-IL" b="1" dirty="0"/>
              <a:t>            19 משפחות</a:t>
            </a:r>
          </a:p>
        </p:txBody>
      </p:sp>
      <p:sp>
        <p:nvSpPr>
          <p:cNvPr id="12" name="TextBox 11"/>
          <p:cNvSpPr txBox="1"/>
          <p:nvPr/>
        </p:nvSpPr>
        <p:spPr>
          <a:xfrm>
            <a:off x="3604210" y="1422179"/>
            <a:ext cx="3147079" cy="1600438"/>
          </a:xfrm>
          <a:prstGeom prst="rect">
            <a:avLst/>
          </a:prstGeom>
          <a:noFill/>
          <a:ln>
            <a:solidFill>
              <a:srgbClr val="2217F5"/>
            </a:solidFill>
          </a:ln>
        </p:spPr>
        <p:txBody>
          <a:bodyPr wrap="none" rtlCol="1">
            <a:spAutoFit/>
          </a:bodyPr>
          <a:lstStyle/>
          <a:p>
            <a:pPr algn="r" rtl="1"/>
            <a:r>
              <a:rPr lang="he-IL" b="1" dirty="0"/>
              <a:t>6 נערים – המורה הורה לא ללבוש ציצית, </a:t>
            </a:r>
          </a:p>
          <a:p>
            <a:pPr algn="r" rtl="1"/>
            <a:r>
              <a:rPr lang="he-IL" b="1" dirty="0"/>
              <a:t>אמר להם שהרבנים שונאים ילדים.</a:t>
            </a:r>
          </a:p>
          <a:p>
            <a:pPr algn="r" rtl="1"/>
            <a:r>
              <a:rPr lang="he-IL" b="1" dirty="0"/>
              <a:t>הרב קוק </a:t>
            </a:r>
            <a:r>
              <a:rPr lang="he-IL" b="1" dirty="0" err="1"/>
              <a:t>בידיש</a:t>
            </a:r>
            <a:r>
              <a:rPr lang="he-IL" b="1" dirty="0"/>
              <a:t> , המורה כרמי – בעברית.</a:t>
            </a:r>
          </a:p>
          <a:p>
            <a:pPr algn="r" rtl="1"/>
            <a:r>
              <a:rPr lang="he-IL" b="1" dirty="0"/>
              <a:t>המורה מתווכח על </a:t>
            </a:r>
            <a:r>
              <a:rPr lang="he-IL" b="1" dirty="0" err="1"/>
              <a:t>תו"מ</a:t>
            </a:r>
            <a:r>
              <a:rPr lang="he-IL" b="1" dirty="0"/>
              <a:t>, מסבירים לו.</a:t>
            </a:r>
          </a:p>
          <a:p>
            <a:pPr algn="r" rtl="1"/>
            <a:endParaRPr lang="he-IL" b="1" dirty="0"/>
          </a:p>
          <a:p>
            <a:pPr algn="r" rtl="1"/>
            <a:r>
              <a:rPr lang="he-IL" b="1" dirty="0"/>
              <a:t>פסלו את המקווה, הכנסת ס"ת </a:t>
            </a:r>
            <a:r>
              <a:rPr lang="he-IL" b="1" dirty="0" err="1"/>
              <a:t>לבהכנ"ס</a:t>
            </a:r>
            <a:endParaRPr lang="he-IL" b="1" dirty="0"/>
          </a:p>
          <a:p>
            <a:pPr algn="r" rtl="1"/>
            <a:r>
              <a:rPr lang="he-IL" b="1" dirty="0"/>
              <a:t>השכנת שלום בין תושבי המושבה.</a:t>
            </a:r>
          </a:p>
        </p:txBody>
      </p:sp>
      <p:sp>
        <p:nvSpPr>
          <p:cNvPr id="13" name="TextBox 12"/>
          <p:cNvSpPr txBox="1"/>
          <p:nvPr/>
        </p:nvSpPr>
        <p:spPr>
          <a:xfrm>
            <a:off x="1043608" y="3429003"/>
            <a:ext cx="1625766" cy="307777"/>
          </a:xfrm>
          <a:prstGeom prst="rect">
            <a:avLst/>
          </a:prstGeom>
          <a:noFill/>
        </p:spPr>
        <p:txBody>
          <a:bodyPr wrap="none" rtlCol="1">
            <a:spAutoFit/>
          </a:bodyPr>
          <a:lstStyle/>
          <a:p>
            <a:r>
              <a:rPr lang="he-IL" b="1" dirty="0"/>
              <a:t>בית כנסת ובית ספר</a:t>
            </a:r>
          </a:p>
        </p:txBody>
      </p:sp>
      <p:sp>
        <p:nvSpPr>
          <p:cNvPr id="14" name="TextBox 13"/>
          <p:cNvSpPr txBox="1"/>
          <p:nvPr/>
        </p:nvSpPr>
        <p:spPr>
          <a:xfrm>
            <a:off x="3923929" y="3284985"/>
            <a:ext cx="5078634" cy="954107"/>
          </a:xfrm>
          <a:prstGeom prst="rect">
            <a:avLst/>
          </a:prstGeom>
          <a:noFill/>
          <a:ln>
            <a:solidFill>
              <a:srgbClr val="2217F5"/>
            </a:solidFill>
          </a:ln>
        </p:spPr>
        <p:txBody>
          <a:bodyPr wrap="none" rtlCol="1">
            <a:spAutoFit/>
          </a:bodyPr>
          <a:lstStyle/>
          <a:p>
            <a:pPr algn="r" rtl="1"/>
            <a:r>
              <a:rPr lang="he-IL" b="1" dirty="0"/>
              <a:t>הרב קוק דרש: "מוכרחים כולכם לצאת מבית הספר!"</a:t>
            </a:r>
          </a:p>
          <a:p>
            <a:pPr algn="r" rtl="1"/>
            <a:r>
              <a:rPr lang="he-IL" b="1" dirty="0"/>
              <a:t>הרב </a:t>
            </a:r>
            <a:r>
              <a:rPr lang="he-IL" b="1" dirty="0" err="1"/>
              <a:t>זוננפלד</a:t>
            </a:r>
            <a:r>
              <a:rPr lang="he-IL" b="1" dirty="0"/>
              <a:t> לרב </a:t>
            </a:r>
            <a:r>
              <a:rPr lang="he-IL" b="1" dirty="0" err="1"/>
              <a:t>חרל"פ</a:t>
            </a:r>
            <a:r>
              <a:rPr lang="he-IL" b="1" dirty="0"/>
              <a:t>: </a:t>
            </a:r>
            <a:r>
              <a:rPr lang="he-IL" b="1" dirty="0">
                <a:solidFill>
                  <a:srgbClr val="FF0000"/>
                </a:solidFill>
              </a:rPr>
              <a:t>"רחמנות על לבו של רבנו כי בין כך ובין כך</a:t>
            </a:r>
          </a:p>
          <a:p>
            <a:pPr algn="r" rtl="1"/>
            <a:r>
              <a:rPr lang="he-IL" b="1" dirty="0">
                <a:solidFill>
                  <a:srgbClr val="FF0000"/>
                </a:solidFill>
              </a:rPr>
              <a:t>לא ישמעו לו."</a:t>
            </a:r>
            <a:r>
              <a:rPr lang="he-IL" b="1" dirty="0"/>
              <a:t> הרב קוק לא שמע המשיך להתלהב.</a:t>
            </a:r>
          </a:p>
          <a:p>
            <a:pPr algn="r" rtl="1"/>
            <a:r>
              <a:rPr lang="he-IL" b="1" dirty="0">
                <a:solidFill>
                  <a:schemeClr val="tx1"/>
                </a:solidFill>
              </a:rPr>
              <a:t>כעבור מספר ימים נכנסו כולם לתלמוד תורה!</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קובץ:Tiberya 1940.jpg"/>
          <p:cNvPicPr>
            <a:picLocks noChangeAspect="1" noChangeArrowheads="1"/>
          </p:cNvPicPr>
          <p:nvPr/>
        </p:nvPicPr>
        <p:blipFill>
          <a:blip r:embed="rId2"/>
          <a:srcRect l="2041" t="3163" r="2041" b="5109"/>
          <a:stretch>
            <a:fillRect/>
          </a:stretch>
        </p:blipFill>
        <p:spPr bwMode="auto">
          <a:xfrm>
            <a:off x="755577" y="4365104"/>
            <a:ext cx="3384376" cy="2088232"/>
          </a:xfrm>
          <a:prstGeom prst="rect">
            <a:avLst/>
          </a:prstGeom>
          <a:noFill/>
          <a:ln w="38100">
            <a:solidFill>
              <a:srgbClr val="FF0000"/>
            </a:solidFill>
          </a:ln>
        </p:spPr>
      </p:pic>
      <p:pic>
        <p:nvPicPr>
          <p:cNvPr id="111620" name="Picture 4" descr="קובץ:Tiberias from air.JPG"/>
          <p:cNvPicPr>
            <a:picLocks noChangeAspect="1" noChangeArrowheads="1"/>
          </p:cNvPicPr>
          <p:nvPr/>
        </p:nvPicPr>
        <p:blipFill>
          <a:blip r:embed="rId3"/>
          <a:srcRect/>
          <a:stretch>
            <a:fillRect/>
          </a:stretch>
        </p:blipFill>
        <p:spPr bwMode="auto">
          <a:xfrm>
            <a:off x="5551151" y="4279776"/>
            <a:ext cx="3071834" cy="2303876"/>
          </a:xfrm>
          <a:prstGeom prst="rect">
            <a:avLst/>
          </a:prstGeom>
          <a:noFill/>
          <a:ln w="38100">
            <a:solidFill>
              <a:srgbClr val="FF0000"/>
            </a:solidFill>
          </a:ln>
        </p:spPr>
      </p:pic>
      <p:pic>
        <p:nvPicPr>
          <p:cNvPr id="111622" name="Picture 6" descr="Coat of arms of Tiberias.png"/>
          <p:cNvPicPr>
            <a:picLocks noChangeAspect="1" noChangeArrowheads="1"/>
          </p:cNvPicPr>
          <p:nvPr/>
        </p:nvPicPr>
        <p:blipFill>
          <a:blip r:embed="rId4"/>
          <a:srcRect/>
          <a:stretch>
            <a:fillRect/>
          </a:stretch>
        </p:blipFill>
        <p:spPr bwMode="auto">
          <a:xfrm>
            <a:off x="7816339" y="367426"/>
            <a:ext cx="806646" cy="1010997"/>
          </a:xfrm>
          <a:prstGeom prst="rect">
            <a:avLst/>
          </a:prstGeom>
          <a:noFill/>
          <a:ln w="38100">
            <a:solidFill>
              <a:srgbClr val="FF0000"/>
            </a:solidFill>
          </a:ln>
        </p:spPr>
      </p:pic>
      <p:pic>
        <p:nvPicPr>
          <p:cNvPr id="9" name="Picture 1" descr="C:\Users\123\Pictures\תשע'ד-א'-ד'\012.jpg"/>
          <p:cNvPicPr>
            <a:picLocks noChangeAspect="1" noChangeArrowheads="1"/>
          </p:cNvPicPr>
          <p:nvPr/>
        </p:nvPicPr>
        <p:blipFill>
          <a:blip r:embed="rId5"/>
          <a:srcRect t="7158" r="3264" b="54243"/>
          <a:stretch>
            <a:fillRect/>
          </a:stretch>
        </p:blipFill>
        <p:spPr bwMode="auto">
          <a:xfrm rot="10800000">
            <a:off x="683568" y="1565209"/>
            <a:ext cx="3744416" cy="2211283"/>
          </a:xfrm>
          <a:prstGeom prst="rect">
            <a:avLst/>
          </a:prstGeom>
          <a:noFill/>
          <a:ln w="38100">
            <a:solidFill>
              <a:srgbClr val="FF0000"/>
            </a:solidFill>
          </a:ln>
        </p:spPr>
      </p:pic>
      <p:sp>
        <p:nvSpPr>
          <p:cNvPr id="11" name="TextBox 10"/>
          <p:cNvSpPr txBox="1"/>
          <p:nvPr/>
        </p:nvSpPr>
        <p:spPr>
          <a:xfrm>
            <a:off x="3393473" y="126164"/>
            <a:ext cx="2582758" cy="369332"/>
          </a:xfrm>
          <a:prstGeom prst="rect">
            <a:avLst/>
          </a:prstGeom>
          <a:solidFill>
            <a:srgbClr val="FFFF00"/>
          </a:solidFill>
          <a:ln>
            <a:solidFill>
              <a:schemeClr val="tx1"/>
            </a:solidFill>
          </a:ln>
        </p:spPr>
        <p:txBody>
          <a:bodyPr wrap="none" rtlCol="1">
            <a:spAutoFit/>
          </a:bodyPr>
          <a:lstStyle/>
          <a:p>
            <a:r>
              <a:rPr lang="he-IL" sz="1800" b="1" dirty="0"/>
              <a:t>בטבריה – </a:t>
            </a:r>
            <a:r>
              <a:rPr lang="he-IL" sz="1800" b="1" dirty="0">
                <a:solidFill>
                  <a:srgbClr val="FF0000"/>
                </a:solidFill>
              </a:rPr>
              <a:t>יום ג', ג' בכסלו</a:t>
            </a:r>
          </a:p>
        </p:txBody>
      </p:sp>
      <p:sp>
        <p:nvSpPr>
          <p:cNvPr id="12" name="TextBox 11"/>
          <p:cNvSpPr txBox="1"/>
          <p:nvPr/>
        </p:nvSpPr>
        <p:spPr>
          <a:xfrm>
            <a:off x="971600" y="3826691"/>
            <a:ext cx="3326552" cy="307777"/>
          </a:xfrm>
          <a:prstGeom prst="rect">
            <a:avLst/>
          </a:prstGeom>
          <a:noFill/>
        </p:spPr>
        <p:txBody>
          <a:bodyPr wrap="none" rtlCol="1">
            <a:spAutoFit/>
          </a:bodyPr>
          <a:lstStyle/>
          <a:p>
            <a:r>
              <a:rPr lang="he-IL" b="1" dirty="0"/>
              <a:t>ישיבת 'אור תורה' בקבר רבי מאיר ביעל הנס</a:t>
            </a:r>
          </a:p>
        </p:txBody>
      </p:sp>
      <p:sp>
        <p:nvSpPr>
          <p:cNvPr id="13" name="TextBox 12"/>
          <p:cNvSpPr txBox="1"/>
          <p:nvPr/>
        </p:nvSpPr>
        <p:spPr>
          <a:xfrm>
            <a:off x="4885126" y="621514"/>
            <a:ext cx="2483437" cy="954107"/>
          </a:xfrm>
          <a:prstGeom prst="rect">
            <a:avLst/>
          </a:prstGeom>
          <a:noFill/>
          <a:ln>
            <a:solidFill>
              <a:srgbClr val="2217F5"/>
            </a:solidFill>
          </a:ln>
        </p:spPr>
        <p:txBody>
          <a:bodyPr wrap="none" rtlCol="1">
            <a:spAutoFit/>
          </a:bodyPr>
          <a:lstStyle/>
          <a:p>
            <a:pPr algn="r" rtl="1"/>
            <a:r>
              <a:rPr lang="en-US" b="1" dirty="0"/>
              <a:t> </a:t>
            </a:r>
            <a:r>
              <a:rPr lang="he-IL" b="1" dirty="0"/>
              <a:t>מנחה בישיבה, ערבית, סעודה </a:t>
            </a:r>
          </a:p>
          <a:p>
            <a:pPr algn="r" rtl="1"/>
            <a:r>
              <a:rPr lang="he-IL" b="1" dirty="0"/>
              <a:t>הרב קוק מתפלפל עם האברכים.</a:t>
            </a:r>
          </a:p>
          <a:p>
            <a:pPr algn="r" rtl="1"/>
            <a:endParaRPr lang="he-IL" b="1" dirty="0"/>
          </a:p>
          <a:p>
            <a:pPr algn="r" rtl="1"/>
            <a:r>
              <a:rPr lang="he-IL" b="1" dirty="0"/>
              <a:t>למחרת – רחצו בחמי טבריה</a:t>
            </a:r>
          </a:p>
        </p:txBody>
      </p:sp>
      <p:pic>
        <p:nvPicPr>
          <p:cNvPr id="14" name="Picture 2">
            <a:hlinkClick r:id="" action="ppaction://hlinkshowjump?jump=previousslide" highlightClick="1"/>
          </p:cNvPr>
          <p:cNvPicPr>
            <a:picLocks noChangeAspect="1" noChangeArrowheads="1"/>
          </p:cNvPicPr>
          <p:nvPr/>
        </p:nvPicPr>
        <p:blipFill>
          <a:blip r:embed="rId6">
            <a:extLst>
              <a:ext uri="{28A0092B-C50C-407E-A947-70E740481C1C}">
                <a14:useLocalDpi xmlns:a14="http://schemas.microsoft.com/office/drawing/2010/main" val="0"/>
              </a:ext>
            </a:extLst>
          </a:blip>
          <a:srcRect b="4357"/>
          <a:stretch>
            <a:fillRect/>
          </a:stretch>
        </p:blipFill>
        <p:spPr bwMode="auto">
          <a:xfrm>
            <a:off x="6772223" y="1853812"/>
            <a:ext cx="2088232" cy="1804917"/>
          </a:xfrm>
          <a:prstGeom prst="wedgeRoundRectCallou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10" name="TextBox 9"/>
          <p:cNvSpPr txBox="1"/>
          <p:nvPr/>
        </p:nvSpPr>
        <p:spPr>
          <a:xfrm>
            <a:off x="329949" y="650047"/>
            <a:ext cx="4087979" cy="523220"/>
          </a:xfrm>
          <a:prstGeom prst="rect">
            <a:avLst/>
          </a:prstGeom>
          <a:noFill/>
          <a:ln>
            <a:solidFill>
              <a:srgbClr val="2217F5"/>
            </a:solidFill>
          </a:ln>
        </p:spPr>
        <p:txBody>
          <a:bodyPr wrap="none" rtlCol="1">
            <a:spAutoFit/>
          </a:bodyPr>
          <a:lstStyle/>
          <a:p>
            <a:pPr algn="r" rtl="1"/>
            <a:r>
              <a:rPr lang="he-IL" b="1" dirty="0"/>
              <a:t>הרב קוק דרש: מישוב גשמי - על אורותיו וצלליו, למקום</a:t>
            </a:r>
          </a:p>
          <a:p>
            <a:pPr algn="r" rtl="1"/>
            <a:r>
              <a:rPr lang="he-IL" b="1" dirty="0"/>
              <a:t>אורה של תורה - ישוב רוחנ</a:t>
            </a:r>
            <a:r>
              <a:rPr lang="he-IL" dirty="0"/>
              <a:t>י.</a:t>
            </a:r>
          </a:p>
        </p:txBody>
      </p:sp>
      <p:sp>
        <p:nvSpPr>
          <p:cNvPr id="3" name="תיבת טקסט 2">
            <a:extLst>
              <a:ext uri="{FF2B5EF4-FFF2-40B4-BE49-F238E27FC236}">
                <a16:creationId xmlns:a16="http://schemas.microsoft.com/office/drawing/2014/main" id="{77AAEF2A-1AC8-52ED-F752-D5EC7FBBFE17}"/>
              </a:ext>
            </a:extLst>
          </p:cNvPr>
          <p:cNvSpPr txBox="1"/>
          <p:nvPr/>
        </p:nvSpPr>
        <p:spPr>
          <a:xfrm>
            <a:off x="2177803" y="6453336"/>
            <a:ext cx="755946" cy="307777"/>
          </a:xfrm>
          <a:prstGeom prst="rect">
            <a:avLst/>
          </a:prstGeom>
          <a:noFill/>
        </p:spPr>
        <p:txBody>
          <a:bodyPr wrap="square">
            <a:spAutoFit/>
          </a:bodyPr>
          <a:lstStyle/>
          <a:p>
            <a:r>
              <a:rPr lang="he-IL" b="1" dirty="0"/>
              <a:t>טבריה</a:t>
            </a:r>
            <a:endParaRPr lang="he-IL"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123\Pictures\תשע'ד-א'-ד'\012.jpg"/>
          <p:cNvPicPr>
            <a:picLocks noChangeAspect="1" noChangeArrowheads="1"/>
          </p:cNvPicPr>
          <p:nvPr/>
        </p:nvPicPr>
        <p:blipFill>
          <a:blip r:embed="rId2"/>
          <a:srcRect l="435" t="54784" r="3264" b="2206"/>
          <a:stretch>
            <a:fillRect/>
          </a:stretch>
        </p:blipFill>
        <p:spPr bwMode="auto">
          <a:xfrm rot="10800000">
            <a:off x="4773133" y="850814"/>
            <a:ext cx="3798352" cy="2510774"/>
          </a:xfrm>
          <a:prstGeom prst="rect">
            <a:avLst/>
          </a:prstGeom>
          <a:noFill/>
          <a:ln w="38100">
            <a:solidFill>
              <a:srgbClr val="FF0000"/>
            </a:solidFill>
          </a:ln>
        </p:spPr>
      </p:pic>
      <p:pic>
        <p:nvPicPr>
          <p:cNvPr id="3" name="Picture 10" descr="קובץ:Dover tverya20.jpg"/>
          <p:cNvPicPr>
            <a:picLocks noChangeAspect="1" noChangeArrowheads="1"/>
          </p:cNvPicPr>
          <p:nvPr/>
        </p:nvPicPr>
        <p:blipFill>
          <a:blip r:embed="rId3"/>
          <a:srcRect/>
          <a:stretch>
            <a:fillRect/>
          </a:stretch>
        </p:blipFill>
        <p:spPr bwMode="auto">
          <a:xfrm>
            <a:off x="608261" y="3756250"/>
            <a:ext cx="3603699" cy="2545112"/>
          </a:xfrm>
          <a:prstGeom prst="rect">
            <a:avLst/>
          </a:prstGeom>
          <a:noFill/>
          <a:ln w="38100">
            <a:solidFill>
              <a:srgbClr val="FF0000"/>
            </a:solidFill>
          </a:ln>
        </p:spPr>
      </p:pic>
      <p:pic>
        <p:nvPicPr>
          <p:cNvPr id="4" name="Picture 8" descr="קובץ:Tomb Of Rabbi Meir Baial Haness, 1894.jpg"/>
          <p:cNvPicPr>
            <a:picLocks noChangeAspect="1" noChangeArrowheads="1"/>
          </p:cNvPicPr>
          <p:nvPr/>
        </p:nvPicPr>
        <p:blipFill>
          <a:blip r:embed="rId4"/>
          <a:srcRect/>
          <a:stretch>
            <a:fillRect/>
          </a:stretch>
        </p:blipFill>
        <p:spPr bwMode="auto">
          <a:xfrm>
            <a:off x="608261" y="850814"/>
            <a:ext cx="3603699" cy="2513581"/>
          </a:xfrm>
          <a:prstGeom prst="rect">
            <a:avLst/>
          </a:prstGeom>
          <a:noFill/>
          <a:ln w="38100">
            <a:solidFill>
              <a:srgbClr val="FF0000"/>
            </a:solidFill>
          </a:ln>
        </p:spPr>
      </p:pic>
      <p:pic>
        <p:nvPicPr>
          <p:cNvPr id="5" name="Picture 12" descr="http://www.lowshot.co.il/components/img.aspx?img=30338-W700.jpg&amp;width=700"/>
          <p:cNvPicPr>
            <a:picLocks noChangeAspect="1" noChangeArrowheads="1"/>
          </p:cNvPicPr>
          <p:nvPr/>
        </p:nvPicPr>
        <p:blipFill>
          <a:blip r:embed="rId5"/>
          <a:srcRect/>
          <a:stretch>
            <a:fillRect/>
          </a:stretch>
        </p:blipFill>
        <p:spPr bwMode="auto">
          <a:xfrm>
            <a:off x="4967785" y="3773419"/>
            <a:ext cx="3631285" cy="2510774"/>
          </a:xfrm>
          <a:prstGeom prst="rect">
            <a:avLst/>
          </a:prstGeom>
          <a:noFill/>
          <a:ln w="38100">
            <a:solidFill>
              <a:srgbClr val="FF0000"/>
            </a:solidFill>
          </a:ln>
        </p:spPr>
      </p:pic>
      <p:sp>
        <p:nvSpPr>
          <p:cNvPr id="6" name="TextBox 5"/>
          <p:cNvSpPr txBox="1"/>
          <p:nvPr/>
        </p:nvSpPr>
        <p:spPr>
          <a:xfrm>
            <a:off x="6412958" y="3398481"/>
            <a:ext cx="582211" cy="307777"/>
          </a:xfrm>
          <a:prstGeom prst="rect">
            <a:avLst/>
          </a:prstGeom>
          <a:noFill/>
        </p:spPr>
        <p:txBody>
          <a:bodyPr wrap="none" rtlCol="1">
            <a:spAutoFit/>
          </a:bodyPr>
          <a:lstStyle/>
          <a:p>
            <a:r>
              <a:rPr lang="he-IL" b="1" dirty="0"/>
              <a:t>1912</a:t>
            </a:r>
          </a:p>
        </p:txBody>
      </p:sp>
      <p:sp>
        <p:nvSpPr>
          <p:cNvPr id="7" name="TextBox 6"/>
          <p:cNvSpPr txBox="1"/>
          <p:nvPr/>
        </p:nvSpPr>
        <p:spPr>
          <a:xfrm>
            <a:off x="6412958" y="111856"/>
            <a:ext cx="1912703" cy="523220"/>
          </a:xfrm>
          <a:prstGeom prst="rect">
            <a:avLst/>
          </a:prstGeom>
          <a:noFill/>
          <a:ln>
            <a:solidFill>
              <a:srgbClr val="2217F5"/>
            </a:solidFill>
          </a:ln>
        </p:spPr>
        <p:txBody>
          <a:bodyPr wrap="none" rtlCol="1">
            <a:spAutoFit/>
          </a:bodyPr>
          <a:lstStyle/>
          <a:p>
            <a:pPr algn="r" rtl="1"/>
            <a:r>
              <a:rPr lang="he-IL" b="1" dirty="0"/>
              <a:t>הרב קוק לא נכנס לקבר </a:t>
            </a:r>
          </a:p>
          <a:p>
            <a:pPr algn="r" rtl="1"/>
            <a:r>
              <a:rPr lang="he-IL" b="1" dirty="0"/>
              <a:t>בהיותו כהן.</a:t>
            </a:r>
          </a:p>
        </p:txBody>
      </p:sp>
      <p:sp>
        <p:nvSpPr>
          <p:cNvPr id="8" name="TextBox 7"/>
          <p:cNvSpPr txBox="1"/>
          <p:nvPr/>
        </p:nvSpPr>
        <p:spPr>
          <a:xfrm>
            <a:off x="3325632" y="133760"/>
            <a:ext cx="2348720" cy="369332"/>
          </a:xfrm>
          <a:prstGeom prst="rect">
            <a:avLst/>
          </a:prstGeom>
          <a:solidFill>
            <a:srgbClr val="FFFF00"/>
          </a:solidFill>
          <a:ln>
            <a:solidFill>
              <a:schemeClr val="tx1"/>
            </a:solidFill>
          </a:ln>
        </p:spPr>
        <p:txBody>
          <a:bodyPr wrap="none" rtlCol="1">
            <a:spAutoFit/>
          </a:bodyPr>
          <a:lstStyle/>
          <a:p>
            <a:pPr algn="r" rtl="1"/>
            <a:r>
              <a:rPr lang="he-IL" sz="1800" b="1" dirty="0"/>
              <a:t>קבר רבי מאיר בעל הנס</a:t>
            </a:r>
          </a:p>
        </p:txBody>
      </p:sp>
      <p:sp>
        <p:nvSpPr>
          <p:cNvPr id="9" name="תיבת טקסט 8">
            <a:extLst>
              <a:ext uri="{FF2B5EF4-FFF2-40B4-BE49-F238E27FC236}">
                <a16:creationId xmlns:a16="http://schemas.microsoft.com/office/drawing/2014/main" id="{F115AE04-6DA9-2B34-E991-672C037E467F}"/>
              </a:ext>
            </a:extLst>
          </p:cNvPr>
          <p:cNvSpPr txBox="1"/>
          <p:nvPr/>
        </p:nvSpPr>
        <p:spPr>
          <a:xfrm>
            <a:off x="4331389" y="6350107"/>
            <a:ext cx="481222" cy="307777"/>
          </a:xfrm>
          <a:prstGeom prst="rect">
            <a:avLst/>
          </a:prstGeom>
          <a:noFill/>
        </p:spPr>
        <p:txBody>
          <a:bodyPr wrap="none" rtlCol="1">
            <a:spAutoFit/>
          </a:bodyPr>
          <a:lstStyle/>
          <a:p>
            <a:pPr algn="r" rtl="1"/>
            <a:r>
              <a:rPr lang="he-IL" b="1" dirty="0"/>
              <a:t>כיום</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1268764"/>
            <a:ext cx="2573337" cy="2328863"/>
          </a:xfrm>
          <a:prstGeom prst="rect">
            <a:avLst/>
          </a:prstGeom>
          <a:noFill/>
          <a:ln w="3810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059833" y="152926"/>
            <a:ext cx="3151824" cy="369332"/>
          </a:xfrm>
          <a:prstGeom prst="rect">
            <a:avLst/>
          </a:prstGeom>
          <a:solidFill>
            <a:srgbClr val="FFFF00"/>
          </a:solidFill>
          <a:ln w="12700">
            <a:solidFill>
              <a:schemeClr val="tx1"/>
            </a:solidFill>
          </a:ln>
        </p:spPr>
        <p:txBody>
          <a:bodyPr wrap="none" rtlCol="1">
            <a:spAutoFit/>
          </a:bodyPr>
          <a:lstStyle/>
          <a:p>
            <a:r>
              <a:rPr lang="he-IL" sz="1800" b="1" dirty="0"/>
              <a:t>במושבה מצפה – </a:t>
            </a:r>
            <a:r>
              <a:rPr lang="he-IL" sz="1800" b="1" dirty="0">
                <a:solidFill>
                  <a:srgbClr val="FF0000"/>
                </a:solidFill>
              </a:rPr>
              <a:t>יום ד', ד' כסלו</a:t>
            </a:r>
          </a:p>
        </p:txBody>
      </p:sp>
      <p:pic>
        <p:nvPicPr>
          <p:cNvPr id="307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404668"/>
            <a:ext cx="2016224" cy="3125147"/>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30724" name="Picture 4"/>
          <p:cNvPicPr>
            <a:picLocks noChangeAspect="1" noChangeArrowheads="1"/>
          </p:cNvPicPr>
          <p:nvPr/>
        </p:nvPicPr>
        <p:blipFill>
          <a:blip r:embed="rId4">
            <a:extLst>
              <a:ext uri="{28A0092B-C50C-407E-A947-70E740481C1C}">
                <a14:useLocalDpi xmlns:a14="http://schemas.microsoft.com/office/drawing/2010/main" val="0"/>
              </a:ext>
            </a:extLst>
          </a:blip>
          <a:srcRect l="3706" r="5501" b="7601"/>
          <a:stretch>
            <a:fillRect/>
          </a:stretch>
        </p:blipFill>
        <p:spPr bwMode="auto">
          <a:xfrm>
            <a:off x="4985097" y="3913311"/>
            <a:ext cx="3528392" cy="2376264"/>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307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3933056"/>
            <a:ext cx="3240360" cy="242714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6615433" y="260648"/>
            <a:ext cx="2209259" cy="523220"/>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1908 – </a:t>
            </a:r>
            <a:r>
              <a:rPr lang="he-IL" b="1" dirty="0"/>
              <a:t>ע"י </a:t>
            </a:r>
            <a:r>
              <a:rPr lang="he-IL" b="1" dirty="0" err="1"/>
              <a:t>יק"א</a:t>
            </a:r>
            <a:endParaRPr lang="he-IL" b="1" dirty="0"/>
          </a:p>
          <a:p>
            <a:pPr algn="r" rtl="1"/>
            <a:r>
              <a:rPr lang="he-IL" b="1" dirty="0"/>
              <a:t>            8 משפחות, 36 נפש</a:t>
            </a:r>
          </a:p>
        </p:txBody>
      </p:sp>
      <p:sp>
        <p:nvSpPr>
          <p:cNvPr id="8" name="TextBox 7"/>
          <p:cNvSpPr txBox="1"/>
          <p:nvPr/>
        </p:nvSpPr>
        <p:spPr>
          <a:xfrm>
            <a:off x="5929998" y="6322584"/>
            <a:ext cx="1638590" cy="307777"/>
          </a:xfrm>
          <a:prstGeom prst="rect">
            <a:avLst/>
          </a:prstGeom>
          <a:noFill/>
        </p:spPr>
        <p:txBody>
          <a:bodyPr wrap="none" rtlCol="1">
            <a:spAutoFit/>
          </a:bodyPr>
          <a:lstStyle/>
          <a:p>
            <a:r>
              <a:rPr lang="he-IL" b="1" dirty="0"/>
              <a:t>בתים צפופים להגנה</a:t>
            </a:r>
          </a:p>
        </p:txBody>
      </p:sp>
      <p:sp>
        <p:nvSpPr>
          <p:cNvPr id="9" name="TextBox 8"/>
          <p:cNvSpPr txBox="1"/>
          <p:nvPr/>
        </p:nvSpPr>
        <p:spPr>
          <a:xfrm>
            <a:off x="3611556" y="1115894"/>
            <a:ext cx="2020105" cy="523220"/>
          </a:xfrm>
          <a:prstGeom prst="rect">
            <a:avLst/>
          </a:prstGeom>
          <a:noFill/>
          <a:ln>
            <a:solidFill>
              <a:srgbClr val="2217F5"/>
            </a:solidFill>
          </a:ln>
        </p:spPr>
        <p:txBody>
          <a:bodyPr wrap="none" rtlCol="1">
            <a:spAutoFit/>
          </a:bodyPr>
          <a:lstStyle/>
          <a:p>
            <a:pPr algn="r" rtl="1"/>
            <a:r>
              <a:rPr lang="he-IL" b="1" dirty="0"/>
              <a:t>הפרישו תרומות ומעשרות</a:t>
            </a:r>
          </a:p>
          <a:p>
            <a:pPr algn="r" rtl="1"/>
            <a:r>
              <a:rPr lang="he-IL" b="1" dirty="0"/>
              <a:t>אחד התלונן שאין שוחט</a:t>
            </a:r>
          </a:p>
        </p:txBody>
      </p:sp>
      <p:pic>
        <p:nvPicPr>
          <p:cNvPr id="10" name="Picture 2" descr="C:\Users\123\Pictures\תשע'ד-א'-ד'\018.jpg"/>
          <p:cNvPicPr>
            <a:picLocks noChangeAspect="1" noChangeArrowheads="1"/>
          </p:cNvPicPr>
          <p:nvPr/>
        </p:nvPicPr>
        <p:blipFill>
          <a:blip r:embed="rId6"/>
          <a:srcRect l="8624" t="85506" r="68099" b="3244"/>
          <a:stretch>
            <a:fillRect/>
          </a:stretch>
        </p:blipFill>
        <p:spPr bwMode="auto">
          <a:xfrm rot="10800000">
            <a:off x="3761910" y="1983293"/>
            <a:ext cx="1620180" cy="1080120"/>
          </a:xfrm>
          <a:prstGeom prst="rect">
            <a:avLst/>
          </a:prstGeom>
          <a:noFill/>
          <a:ln w="38100">
            <a:solidFill>
              <a:srgbClr val="FF0000"/>
            </a:solidFill>
          </a:ln>
        </p:spPr>
      </p:pic>
      <p:sp>
        <p:nvSpPr>
          <p:cNvPr id="11" name="TextBox 10"/>
          <p:cNvSpPr txBox="1"/>
          <p:nvPr/>
        </p:nvSpPr>
        <p:spPr>
          <a:xfrm>
            <a:off x="3477510" y="3269770"/>
            <a:ext cx="2292615" cy="307777"/>
          </a:xfrm>
          <a:prstGeom prst="rect">
            <a:avLst/>
          </a:prstGeom>
          <a:noFill/>
          <a:ln>
            <a:solidFill>
              <a:srgbClr val="2217F5"/>
            </a:solidFill>
          </a:ln>
        </p:spPr>
        <p:txBody>
          <a:bodyPr wrap="none" rtlCol="1">
            <a:spAutoFit/>
          </a:bodyPr>
          <a:lstStyle/>
          <a:p>
            <a:r>
              <a:rPr lang="he-IL" b="1" dirty="0">
                <a:solidFill>
                  <a:srgbClr val="0096D5"/>
                </a:solidFill>
              </a:rPr>
              <a:t>בבוקר - </a:t>
            </a:r>
            <a:r>
              <a:rPr lang="he-IL" b="1" dirty="0"/>
              <a:t>נסעו בספינה למגדל.</a:t>
            </a:r>
          </a:p>
        </p:txBody>
      </p:sp>
      <p:sp>
        <p:nvSpPr>
          <p:cNvPr id="3" name="תיבת טקסט 2">
            <a:extLst>
              <a:ext uri="{FF2B5EF4-FFF2-40B4-BE49-F238E27FC236}">
                <a16:creationId xmlns:a16="http://schemas.microsoft.com/office/drawing/2014/main" id="{23E45A59-ACB8-8104-A836-70718D4D8F3F}"/>
              </a:ext>
            </a:extLst>
          </p:cNvPr>
          <p:cNvSpPr txBox="1"/>
          <p:nvPr/>
        </p:nvSpPr>
        <p:spPr>
          <a:xfrm>
            <a:off x="1991129" y="6360198"/>
            <a:ext cx="481222" cy="307777"/>
          </a:xfrm>
          <a:prstGeom prst="rect">
            <a:avLst/>
          </a:prstGeom>
          <a:noFill/>
        </p:spPr>
        <p:txBody>
          <a:bodyPr wrap="none" rtlCol="1">
            <a:spAutoFit/>
          </a:bodyPr>
          <a:lstStyle/>
          <a:p>
            <a:r>
              <a:rPr lang="he-IL" b="1" dirty="0"/>
              <a:t>כיום</a:t>
            </a:r>
          </a:p>
        </p:txBody>
      </p:sp>
    </p:spTree>
    <p:extLst>
      <p:ext uri="{BB962C8B-B14F-4D97-AF65-F5344CB8AC3E}">
        <p14:creationId xmlns:p14="http://schemas.microsoft.com/office/powerpoint/2010/main" val="35226709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קובץ:Second aliyah Pioneers in Migdal 1912 in kuffiyeh.jpg"/>
          <p:cNvPicPr>
            <a:picLocks noChangeAspect="1" noChangeArrowheads="1"/>
          </p:cNvPicPr>
          <p:nvPr/>
        </p:nvPicPr>
        <p:blipFill>
          <a:blip r:embed="rId2"/>
          <a:srcRect/>
          <a:stretch>
            <a:fillRect/>
          </a:stretch>
        </p:blipFill>
        <p:spPr bwMode="auto">
          <a:xfrm>
            <a:off x="4788024" y="4509124"/>
            <a:ext cx="3600400" cy="2009679"/>
          </a:xfrm>
          <a:prstGeom prst="rect">
            <a:avLst/>
          </a:prstGeom>
          <a:noFill/>
          <a:ln w="38100">
            <a:solidFill>
              <a:srgbClr val="FF0000"/>
            </a:solidFill>
          </a:ln>
        </p:spPr>
      </p:pic>
      <p:sp>
        <p:nvSpPr>
          <p:cNvPr id="3" name="TextBox 2"/>
          <p:cNvSpPr txBox="1"/>
          <p:nvPr/>
        </p:nvSpPr>
        <p:spPr>
          <a:xfrm>
            <a:off x="1400575" y="2356515"/>
            <a:ext cx="582211" cy="307777"/>
          </a:xfrm>
          <a:prstGeom prst="rect">
            <a:avLst/>
          </a:prstGeom>
          <a:noFill/>
          <a:ln w="38100">
            <a:noFill/>
          </a:ln>
        </p:spPr>
        <p:txBody>
          <a:bodyPr wrap="none" rtlCol="1">
            <a:spAutoFit/>
          </a:bodyPr>
          <a:lstStyle/>
          <a:p>
            <a:r>
              <a:rPr lang="he-IL" b="1" dirty="0"/>
              <a:t>1912</a:t>
            </a:r>
          </a:p>
        </p:txBody>
      </p:sp>
      <p:pic>
        <p:nvPicPr>
          <p:cNvPr id="31745" name="Picture 1" descr="C:\Users\123\Pictures\תשע'ד-א'-ד'\013.jpg"/>
          <p:cNvPicPr>
            <a:picLocks noChangeAspect="1" noChangeArrowheads="1"/>
          </p:cNvPicPr>
          <p:nvPr/>
        </p:nvPicPr>
        <p:blipFill>
          <a:blip r:embed="rId3"/>
          <a:srcRect l="3977" t="13203" r="2286" b="16074"/>
          <a:stretch>
            <a:fillRect/>
          </a:stretch>
        </p:blipFill>
        <p:spPr bwMode="auto">
          <a:xfrm rot="10800000">
            <a:off x="179514" y="764708"/>
            <a:ext cx="2952328" cy="1584175"/>
          </a:xfrm>
          <a:prstGeom prst="rect">
            <a:avLst/>
          </a:prstGeom>
          <a:noFill/>
          <a:ln w="38100">
            <a:solidFill>
              <a:srgbClr val="FF0000"/>
            </a:solidFill>
          </a:ln>
        </p:spPr>
      </p:pic>
      <p:pic>
        <p:nvPicPr>
          <p:cNvPr id="256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3460" y="1268764"/>
            <a:ext cx="2088232" cy="1887143"/>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25603" name="Picture 3"/>
          <p:cNvPicPr>
            <a:picLocks noChangeAspect="1" noChangeArrowheads="1"/>
          </p:cNvPicPr>
          <p:nvPr/>
        </p:nvPicPr>
        <p:blipFill>
          <a:blip r:embed="rId5">
            <a:extLst>
              <a:ext uri="{28A0092B-C50C-407E-A947-70E740481C1C}">
                <a14:useLocalDpi xmlns:a14="http://schemas.microsoft.com/office/drawing/2010/main" val="0"/>
              </a:ext>
            </a:extLst>
          </a:blip>
          <a:srcRect l="5559" t="5600" r="5501" b="10401"/>
          <a:stretch>
            <a:fillRect/>
          </a:stretch>
        </p:blipFill>
        <p:spPr bwMode="auto">
          <a:xfrm>
            <a:off x="323528" y="2663523"/>
            <a:ext cx="2736304" cy="171019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2560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435" y="4521398"/>
            <a:ext cx="3019425" cy="202882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9" name="TextBox 8"/>
          <p:cNvSpPr txBox="1"/>
          <p:nvPr/>
        </p:nvSpPr>
        <p:spPr>
          <a:xfrm>
            <a:off x="3131841" y="123830"/>
            <a:ext cx="3031599" cy="369332"/>
          </a:xfrm>
          <a:prstGeom prst="rect">
            <a:avLst/>
          </a:prstGeom>
          <a:solidFill>
            <a:srgbClr val="FFFF00"/>
          </a:solidFill>
          <a:ln w="12700">
            <a:solidFill>
              <a:schemeClr val="tx1"/>
            </a:solidFill>
          </a:ln>
        </p:spPr>
        <p:txBody>
          <a:bodyPr wrap="none" rtlCol="1">
            <a:spAutoFit/>
          </a:bodyPr>
          <a:lstStyle/>
          <a:p>
            <a:r>
              <a:rPr lang="he-IL" sz="1800" b="1" dirty="0"/>
              <a:t>בחוות מגדל – </a:t>
            </a:r>
            <a:r>
              <a:rPr lang="he-IL" sz="1800" b="1" dirty="0">
                <a:solidFill>
                  <a:srgbClr val="FF0000"/>
                </a:solidFill>
              </a:rPr>
              <a:t>יום ה', ה' בכסלו</a:t>
            </a:r>
          </a:p>
        </p:txBody>
      </p:sp>
      <p:sp>
        <p:nvSpPr>
          <p:cNvPr id="11" name="TextBox 10"/>
          <p:cNvSpPr txBox="1"/>
          <p:nvPr/>
        </p:nvSpPr>
        <p:spPr>
          <a:xfrm>
            <a:off x="6251249" y="6550223"/>
            <a:ext cx="582211" cy="307777"/>
          </a:xfrm>
          <a:prstGeom prst="rect">
            <a:avLst/>
          </a:prstGeom>
          <a:noFill/>
          <a:ln w="38100">
            <a:noFill/>
          </a:ln>
        </p:spPr>
        <p:txBody>
          <a:bodyPr wrap="none" rtlCol="1">
            <a:spAutoFit/>
          </a:bodyPr>
          <a:lstStyle/>
          <a:p>
            <a:r>
              <a:rPr lang="he-IL" b="1" dirty="0"/>
              <a:t>1912</a:t>
            </a:r>
          </a:p>
        </p:txBody>
      </p:sp>
      <p:sp>
        <p:nvSpPr>
          <p:cNvPr id="12" name="TextBox 11"/>
          <p:cNvSpPr txBox="1"/>
          <p:nvPr/>
        </p:nvSpPr>
        <p:spPr>
          <a:xfrm>
            <a:off x="7800872" y="104141"/>
            <a:ext cx="1120820" cy="338554"/>
          </a:xfrm>
          <a:prstGeom prst="rect">
            <a:avLst/>
          </a:prstGeom>
          <a:solidFill>
            <a:srgbClr val="76E3FF"/>
          </a:solidFill>
          <a:ln w="12700">
            <a:solidFill>
              <a:schemeClr val="tx1"/>
            </a:solidFill>
          </a:ln>
        </p:spPr>
        <p:txBody>
          <a:bodyPr wrap="none" rtlCol="1">
            <a:spAutoFit/>
          </a:bodyPr>
          <a:lstStyle/>
          <a:p>
            <a:r>
              <a:rPr lang="he-IL" sz="1600" b="1" dirty="0"/>
              <a:t>לפני צהרים</a:t>
            </a:r>
          </a:p>
        </p:txBody>
      </p:sp>
      <p:sp>
        <p:nvSpPr>
          <p:cNvPr id="14" name="TextBox 13"/>
          <p:cNvSpPr txBox="1"/>
          <p:nvPr/>
        </p:nvSpPr>
        <p:spPr>
          <a:xfrm>
            <a:off x="6251249" y="577131"/>
            <a:ext cx="2759089" cy="523220"/>
          </a:xfrm>
          <a:prstGeom prst="rect">
            <a:avLst/>
          </a:prstGeom>
          <a:solidFill>
            <a:srgbClr val="FFFF00"/>
          </a:solidFill>
          <a:ln>
            <a:solidFill>
              <a:schemeClr val="tx1"/>
            </a:solidFill>
          </a:ln>
        </p:spPr>
        <p:txBody>
          <a:bodyPr wrap="none" rtlCol="1">
            <a:spAutoFit/>
          </a:bodyPr>
          <a:lstStyle/>
          <a:p>
            <a:pPr algn="r" rtl="1"/>
            <a:r>
              <a:rPr lang="en-US" b="1" dirty="0"/>
              <a:t> </a:t>
            </a:r>
            <a:r>
              <a:rPr lang="en-US" b="1" dirty="0">
                <a:solidFill>
                  <a:srgbClr val="FF0000"/>
                </a:solidFill>
              </a:rPr>
              <a:t>- 1909 </a:t>
            </a:r>
            <a:r>
              <a:rPr lang="he-IL" b="1" dirty="0"/>
              <a:t>בסיוע המשרד הארצישראלי</a:t>
            </a:r>
          </a:p>
          <a:p>
            <a:pPr algn="r" rtl="1"/>
            <a:r>
              <a:rPr lang="he-IL" b="1" dirty="0"/>
              <a:t>            מקום מסודר לפועלים</a:t>
            </a:r>
          </a:p>
        </p:txBody>
      </p:sp>
      <p:sp>
        <p:nvSpPr>
          <p:cNvPr id="15" name="TextBox 14"/>
          <p:cNvSpPr txBox="1"/>
          <p:nvPr/>
        </p:nvSpPr>
        <p:spPr>
          <a:xfrm>
            <a:off x="3532750" y="762034"/>
            <a:ext cx="2452916" cy="307777"/>
          </a:xfrm>
          <a:prstGeom prst="rect">
            <a:avLst/>
          </a:prstGeom>
          <a:noFill/>
          <a:ln>
            <a:solidFill>
              <a:srgbClr val="2217F5"/>
            </a:solidFill>
          </a:ln>
        </p:spPr>
        <p:txBody>
          <a:bodyPr wrap="none" rtlCol="1">
            <a:spAutoFit/>
          </a:bodyPr>
          <a:lstStyle/>
          <a:p>
            <a:pPr algn="r" rtl="1"/>
            <a:r>
              <a:rPr lang="he-IL" b="1" dirty="0"/>
              <a:t>המנהל ו-4 רוכבים באו לקראתם</a:t>
            </a:r>
          </a:p>
        </p:txBody>
      </p:sp>
      <p:pic>
        <p:nvPicPr>
          <p:cNvPr id="16" name="Picture 2" descr="http://www.coupon424.co.il/halabi/hors%20(5).JPG"/>
          <p:cNvPicPr>
            <a:picLocks noChangeAspect="1" noChangeArrowheads="1"/>
          </p:cNvPicPr>
          <p:nvPr/>
        </p:nvPicPr>
        <p:blipFill>
          <a:blip r:embed="rId7"/>
          <a:srcRect l="21452"/>
          <a:stretch>
            <a:fillRect/>
          </a:stretch>
        </p:blipFill>
        <p:spPr bwMode="auto">
          <a:xfrm>
            <a:off x="3563888" y="3789040"/>
            <a:ext cx="864096" cy="825068"/>
          </a:xfrm>
          <a:prstGeom prst="rect">
            <a:avLst/>
          </a:prstGeom>
          <a:noFill/>
          <a:ln w="12700">
            <a:solidFill>
              <a:srgbClr val="FF0000"/>
            </a:solidFill>
          </a:ln>
        </p:spPr>
      </p:pic>
      <p:sp>
        <p:nvSpPr>
          <p:cNvPr id="17" name="TextBox 16"/>
          <p:cNvSpPr txBox="1"/>
          <p:nvPr/>
        </p:nvSpPr>
        <p:spPr>
          <a:xfrm>
            <a:off x="3206840" y="1234787"/>
            <a:ext cx="3459601" cy="2031325"/>
          </a:xfrm>
          <a:prstGeom prst="rect">
            <a:avLst/>
          </a:prstGeom>
          <a:noFill/>
          <a:ln>
            <a:solidFill>
              <a:srgbClr val="2217F5"/>
            </a:solidFill>
          </a:ln>
        </p:spPr>
        <p:txBody>
          <a:bodyPr wrap="none" rtlCol="1">
            <a:spAutoFit/>
          </a:bodyPr>
          <a:lstStyle/>
          <a:p>
            <a:pPr algn="r" rtl="1"/>
            <a:r>
              <a:rPr lang="he-IL" b="1" dirty="0"/>
              <a:t>המנהל רוכב בשבת – אמר שזה עניין פרטי</a:t>
            </a:r>
          </a:p>
          <a:p>
            <a:pPr algn="r" rtl="1"/>
            <a:r>
              <a:rPr lang="he-IL" b="1" dirty="0"/>
              <a:t>הרב </a:t>
            </a:r>
            <a:r>
              <a:rPr lang="he-IL" b="1" dirty="0" err="1"/>
              <a:t>זוננפלד</a:t>
            </a:r>
            <a:r>
              <a:rPr lang="he-IL" b="1" dirty="0"/>
              <a:t>: "המחלל שבת נחשב כגוי".</a:t>
            </a:r>
          </a:p>
          <a:p>
            <a:pPr algn="r" rtl="1"/>
            <a:r>
              <a:rPr lang="he-IL" b="1" dirty="0"/>
              <a:t>המנהל:לא ימחה אם יצליחו להחזירו בתשובה.</a:t>
            </a:r>
          </a:p>
          <a:p>
            <a:pPr algn="r" rtl="1"/>
            <a:r>
              <a:rPr lang="he-IL" b="1" dirty="0"/>
              <a:t>הרב קוק: </a:t>
            </a:r>
            <a:r>
              <a:rPr lang="he-IL" b="1" dirty="0">
                <a:solidFill>
                  <a:srgbClr val="FF0000"/>
                </a:solidFill>
              </a:rPr>
              <a:t>לא יניח שיחשב לגוי, בכל אחד יש </a:t>
            </a:r>
          </a:p>
          <a:p>
            <a:pPr algn="r" rtl="1"/>
            <a:r>
              <a:rPr lang="he-IL" b="1" dirty="0">
                <a:solidFill>
                  <a:srgbClr val="FF0000"/>
                </a:solidFill>
              </a:rPr>
              <a:t>ניצוץ של קודש! </a:t>
            </a:r>
          </a:p>
          <a:p>
            <a:pPr algn="r" rtl="1"/>
            <a:r>
              <a:rPr lang="he-IL" b="1" dirty="0"/>
              <a:t>אחד הצעירים: </a:t>
            </a:r>
            <a:r>
              <a:rPr lang="he-IL" b="1" dirty="0">
                <a:solidFill>
                  <a:srgbClr val="FF0000"/>
                </a:solidFill>
              </a:rPr>
              <a:t>אני ריק מכל רגש דתי!</a:t>
            </a:r>
          </a:p>
          <a:p>
            <a:pPr algn="r" rtl="1"/>
            <a:r>
              <a:rPr lang="he-IL" b="1" dirty="0"/>
              <a:t>הרב קוק: </a:t>
            </a:r>
            <a:r>
              <a:rPr lang="he-IL" b="1" dirty="0">
                <a:solidFill>
                  <a:srgbClr val="2217F5"/>
                </a:solidFill>
              </a:rPr>
              <a:t>איך </a:t>
            </a:r>
            <a:r>
              <a:rPr lang="he-IL" b="1" dirty="0" err="1">
                <a:solidFill>
                  <a:srgbClr val="2217F5"/>
                </a:solidFill>
              </a:rPr>
              <a:t>יתיחס</a:t>
            </a:r>
            <a:r>
              <a:rPr lang="he-IL" b="1" dirty="0">
                <a:solidFill>
                  <a:srgbClr val="2217F5"/>
                </a:solidFill>
              </a:rPr>
              <a:t> ליהודי עשיר שיקנה את</a:t>
            </a:r>
          </a:p>
          <a:p>
            <a:pPr algn="r" rtl="1"/>
            <a:r>
              <a:rPr lang="he-IL" b="1" dirty="0">
                <a:solidFill>
                  <a:srgbClr val="2217F5"/>
                </a:solidFill>
              </a:rPr>
              <a:t>הר הבית ויבנה שם שוק?</a:t>
            </a:r>
          </a:p>
          <a:p>
            <a:pPr algn="r" rtl="1"/>
            <a:r>
              <a:rPr lang="he-IL" b="1" dirty="0"/>
              <a:t>הצעיר: </a:t>
            </a:r>
            <a:r>
              <a:rPr lang="he-IL" b="1" dirty="0">
                <a:solidFill>
                  <a:srgbClr val="FF0000"/>
                </a:solidFill>
              </a:rPr>
              <a:t>יכה בחרב את הנבל.</a:t>
            </a:r>
          </a:p>
        </p:txBody>
      </p:sp>
      <p:sp>
        <p:nvSpPr>
          <p:cNvPr id="18" name="TextBox 17"/>
          <p:cNvSpPr txBox="1"/>
          <p:nvPr/>
        </p:nvSpPr>
        <p:spPr>
          <a:xfrm>
            <a:off x="4998335" y="3717031"/>
            <a:ext cx="3672408" cy="523220"/>
          </a:xfrm>
          <a:prstGeom prst="rect">
            <a:avLst/>
          </a:prstGeom>
          <a:noFill/>
          <a:ln>
            <a:solidFill>
              <a:srgbClr val="2217F5"/>
            </a:solidFill>
          </a:ln>
        </p:spPr>
        <p:txBody>
          <a:bodyPr wrap="square" rtlCol="1">
            <a:spAutoFit/>
          </a:bodyPr>
          <a:lstStyle/>
          <a:p>
            <a:pPr algn="r" rtl="1"/>
            <a:r>
              <a:rPr lang="he-IL" b="1" dirty="0"/>
              <a:t>המנהל ליווה אותם עד הים, זועף, נתן את הסוס לרכב לרב קוק, שעתיים בערב</a:t>
            </a:r>
          </a:p>
        </p:txBody>
      </p:sp>
      <p:sp>
        <p:nvSpPr>
          <p:cNvPr id="19" name="TextBox 18"/>
          <p:cNvSpPr txBox="1"/>
          <p:nvPr/>
        </p:nvSpPr>
        <p:spPr>
          <a:xfrm>
            <a:off x="6380471" y="3326737"/>
            <a:ext cx="2284600" cy="307777"/>
          </a:xfrm>
          <a:prstGeom prst="rect">
            <a:avLst/>
          </a:prstGeom>
          <a:noFill/>
          <a:ln>
            <a:solidFill>
              <a:srgbClr val="2217F5"/>
            </a:solidFill>
          </a:ln>
        </p:spPr>
        <p:txBody>
          <a:bodyPr wrap="none" rtlCol="1">
            <a:spAutoFit/>
          </a:bodyPr>
          <a:lstStyle/>
          <a:p>
            <a:r>
              <a:rPr lang="he-IL" b="1" dirty="0"/>
              <a:t>שתו תה, כלים טבולים בכנרת</a:t>
            </a:r>
          </a:p>
        </p:txBody>
      </p:sp>
      <p:sp>
        <p:nvSpPr>
          <p:cNvPr id="2" name="תיבת טקסט 1">
            <a:extLst>
              <a:ext uri="{FF2B5EF4-FFF2-40B4-BE49-F238E27FC236}">
                <a16:creationId xmlns:a16="http://schemas.microsoft.com/office/drawing/2014/main" id="{51322E1C-F00F-E808-09B9-E72CF2175AA4}"/>
              </a:ext>
            </a:extLst>
          </p:cNvPr>
          <p:cNvSpPr txBox="1"/>
          <p:nvPr/>
        </p:nvSpPr>
        <p:spPr>
          <a:xfrm>
            <a:off x="1501564" y="6550223"/>
            <a:ext cx="481222" cy="307777"/>
          </a:xfrm>
          <a:prstGeom prst="rect">
            <a:avLst/>
          </a:prstGeom>
          <a:noFill/>
        </p:spPr>
        <p:txBody>
          <a:bodyPr wrap="none" rtlCol="1">
            <a:spAutoFit/>
          </a:bodyPr>
          <a:lstStyle/>
          <a:p>
            <a:r>
              <a:rPr lang="he-IL" b="1" dirty="0"/>
              <a:t>כיום</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2" y="836712"/>
            <a:ext cx="3400313" cy="2301627"/>
          </a:xfrm>
          <a:prstGeom prst="rect">
            <a:avLst/>
          </a:prstGeom>
          <a:noFill/>
          <a:ln w="3810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835697" y="188640"/>
            <a:ext cx="4854214" cy="369332"/>
          </a:xfrm>
          <a:prstGeom prst="rect">
            <a:avLst/>
          </a:prstGeom>
          <a:solidFill>
            <a:srgbClr val="FFFF00"/>
          </a:solidFill>
          <a:ln w="12700">
            <a:solidFill>
              <a:schemeClr val="tx1"/>
            </a:solidFill>
          </a:ln>
        </p:spPr>
        <p:txBody>
          <a:bodyPr wrap="none" rtlCol="1">
            <a:spAutoFit/>
          </a:bodyPr>
          <a:lstStyle/>
          <a:p>
            <a:r>
              <a:rPr lang="en-US" sz="1800" b="1" dirty="0"/>
              <a:t>  </a:t>
            </a:r>
            <a:r>
              <a:rPr lang="he-IL" sz="1800" b="1" dirty="0"/>
              <a:t>במושבה ראש  פינה (גיא אוני) - </a:t>
            </a:r>
            <a:r>
              <a:rPr lang="he-IL" sz="1800" b="1" dirty="0">
                <a:solidFill>
                  <a:srgbClr val="FF0000"/>
                </a:solidFill>
              </a:rPr>
              <a:t>אור ליום ו' בכסלו</a:t>
            </a:r>
          </a:p>
        </p:txBody>
      </p:sp>
      <p:pic>
        <p:nvPicPr>
          <p:cNvPr id="63490" name="Picture 2" descr="http://lib.cet.ac.il/storage/items/4300_4399/0000004394/0000004394_M.jpg"/>
          <p:cNvPicPr>
            <a:picLocks noChangeAspect="1" noChangeArrowheads="1"/>
          </p:cNvPicPr>
          <p:nvPr/>
        </p:nvPicPr>
        <p:blipFill>
          <a:blip r:embed="rId3"/>
          <a:srcRect/>
          <a:stretch>
            <a:fillRect/>
          </a:stretch>
        </p:blipFill>
        <p:spPr bwMode="auto">
          <a:xfrm>
            <a:off x="395536" y="4437116"/>
            <a:ext cx="3048000" cy="2066925"/>
          </a:xfrm>
          <a:prstGeom prst="rect">
            <a:avLst/>
          </a:prstGeom>
          <a:noFill/>
          <a:ln w="38100">
            <a:solidFill>
              <a:srgbClr val="FF0000"/>
            </a:solidFill>
          </a:ln>
        </p:spPr>
      </p:pic>
      <p:pic>
        <p:nvPicPr>
          <p:cNvPr id="63492" name="Picture 4" descr="בול ובו נוף המושבה ראש פינה"/>
          <p:cNvPicPr>
            <a:picLocks noChangeAspect="1" noChangeArrowheads="1"/>
          </p:cNvPicPr>
          <p:nvPr/>
        </p:nvPicPr>
        <p:blipFill>
          <a:blip r:embed="rId4"/>
          <a:srcRect/>
          <a:stretch>
            <a:fillRect/>
          </a:stretch>
        </p:blipFill>
        <p:spPr bwMode="auto">
          <a:xfrm>
            <a:off x="7308304" y="4221092"/>
            <a:ext cx="952500" cy="2286001"/>
          </a:xfrm>
          <a:prstGeom prst="rect">
            <a:avLst/>
          </a:prstGeom>
          <a:noFill/>
          <a:ln w="38100">
            <a:solidFill>
              <a:srgbClr val="FF0000"/>
            </a:solidFill>
          </a:ln>
        </p:spPr>
      </p:pic>
      <p:pic>
        <p:nvPicPr>
          <p:cNvPr id="29697" name="Picture 1" descr="C:\Users\123\Pictures\תשע'ד-א'-ד'\014.jpg"/>
          <p:cNvPicPr>
            <a:picLocks noChangeAspect="1" noChangeArrowheads="1"/>
          </p:cNvPicPr>
          <p:nvPr/>
        </p:nvPicPr>
        <p:blipFill>
          <a:blip r:embed="rId5"/>
          <a:srcRect l="5727" t="6893" r="2638" b="17278"/>
          <a:stretch>
            <a:fillRect/>
          </a:stretch>
        </p:blipFill>
        <p:spPr bwMode="auto">
          <a:xfrm>
            <a:off x="4840404" y="5176955"/>
            <a:ext cx="792087" cy="1089120"/>
          </a:xfrm>
          <a:prstGeom prst="rect">
            <a:avLst/>
          </a:prstGeom>
          <a:noFill/>
          <a:ln w="38100">
            <a:solidFill>
              <a:srgbClr val="2217F5"/>
            </a:solidFill>
          </a:ln>
        </p:spPr>
      </p:pic>
      <p:pic>
        <p:nvPicPr>
          <p:cNvPr id="266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2241" y="2060852"/>
            <a:ext cx="2016224" cy="1822069"/>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31746" name="Picture 2" descr="Rosh Pina COA.png"/>
          <p:cNvPicPr>
            <a:picLocks noChangeAspect="1" noChangeArrowheads="1"/>
          </p:cNvPicPr>
          <p:nvPr/>
        </p:nvPicPr>
        <p:blipFill>
          <a:blip r:embed="rId7"/>
          <a:srcRect/>
          <a:stretch>
            <a:fillRect/>
          </a:stretch>
        </p:blipFill>
        <p:spPr bwMode="auto">
          <a:xfrm>
            <a:off x="8099092" y="787375"/>
            <a:ext cx="793386" cy="899171"/>
          </a:xfrm>
          <a:prstGeom prst="rect">
            <a:avLst/>
          </a:prstGeom>
          <a:noFill/>
          <a:ln w="38100">
            <a:solidFill>
              <a:srgbClr val="FF0000"/>
            </a:solidFill>
          </a:ln>
        </p:spPr>
      </p:pic>
      <p:sp>
        <p:nvSpPr>
          <p:cNvPr id="9" name="TextBox 8"/>
          <p:cNvSpPr txBox="1"/>
          <p:nvPr/>
        </p:nvSpPr>
        <p:spPr>
          <a:xfrm>
            <a:off x="8260804" y="243792"/>
            <a:ext cx="641521" cy="338554"/>
          </a:xfrm>
          <a:prstGeom prst="rect">
            <a:avLst/>
          </a:prstGeom>
          <a:solidFill>
            <a:srgbClr val="76E3FF"/>
          </a:solidFill>
          <a:ln w="12700">
            <a:solidFill>
              <a:schemeClr val="tx1"/>
            </a:solidFill>
          </a:ln>
        </p:spPr>
        <p:txBody>
          <a:bodyPr wrap="none" rtlCol="1">
            <a:spAutoFit/>
          </a:bodyPr>
          <a:lstStyle/>
          <a:p>
            <a:r>
              <a:rPr lang="he-IL" sz="1600" b="1" dirty="0"/>
              <a:t>בערב</a:t>
            </a:r>
          </a:p>
        </p:txBody>
      </p:sp>
      <p:sp>
        <p:nvSpPr>
          <p:cNvPr id="10" name="TextBox 9"/>
          <p:cNvSpPr txBox="1"/>
          <p:nvPr/>
        </p:nvSpPr>
        <p:spPr>
          <a:xfrm>
            <a:off x="4395512" y="6334780"/>
            <a:ext cx="1681872" cy="523220"/>
          </a:xfrm>
          <a:prstGeom prst="rect">
            <a:avLst/>
          </a:prstGeom>
          <a:noFill/>
        </p:spPr>
        <p:txBody>
          <a:bodyPr wrap="none" rtlCol="1">
            <a:spAutoFit/>
          </a:bodyPr>
          <a:lstStyle/>
          <a:p>
            <a:pPr algn="r" rtl="1"/>
            <a:r>
              <a:rPr lang="he-IL" b="1" dirty="0"/>
              <a:t>הרב אברהם זילברמן</a:t>
            </a:r>
          </a:p>
          <a:p>
            <a:pPr algn="r" rtl="1"/>
            <a:r>
              <a:rPr lang="he-IL" b="1" dirty="0"/>
              <a:t>   נכד רבה של צפת</a:t>
            </a:r>
          </a:p>
        </p:txBody>
      </p:sp>
      <p:sp>
        <p:nvSpPr>
          <p:cNvPr id="11" name="TextBox 10"/>
          <p:cNvSpPr txBox="1"/>
          <p:nvPr/>
        </p:nvSpPr>
        <p:spPr>
          <a:xfrm>
            <a:off x="4819434" y="681609"/>
            <a:ext cx="2922595" cy="1169551"/>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1878</a:t>
            </a:r>
            <a:r>
              <a:rPr lang="he-IL" b="1" dirty="0"/>
              <a:t> – מבני צפת</a:t>
            </a:r>
          </a:p>
          <a:p>
            <a:pPr algn="r" rtl="1"/>
            <a:r>
              <a:rPr lang="he-IL" b="1" dirty="0">
                <a:solidFill>
                  <a:srgbClr val="FF0000"/>
                </a:solidFill>
              </a:rPr>
              <a:t>1882</a:t>
            </a:r>
            <a:r>
              <a:rPr lang="he-IL" b="1" dirty="0"/>
              <a:t> – עולים מרומניה</a:t>
            </a:r>
          </a:p>
          <a:p>
            <a:pPr algn="r" rtl="1"/>
            <a:r>
              <a:rPr lang="he-IL" b="1" dirty="0">
                <a:solidFill>
                  <a:srgbClr val="FF0000"/>
                </a:solidFill>
              </a:rPr>
              <a:t>1884 </a:t>
            </a:r>
            <a:r>
              <a:rPr lang="he-IL" b="1" dirty="0"/>
              <a:t>– חסות הברון רוטשילד</a:t>
            </a:r>
          </a:p>
          <a:p>
            <a:pPr algn="r" rtl="1"/>
            <a:r>
              <a:rPr lang="he-IL" b="1" dirty="0">
                <a:solidFill>
                  <a:srgbClr val="FF0000"/>
                </a:solidFill>
              </a:rPr>
              <a:t>1900</a:t>
            </a:r>
            <a:r>
              <a:rPr lang="he-IL" b="1" dirty="0"/>
              <a:t> – לחסות </a:t>
            </a:r>
            <a:r>
              <a:rPr lang="he-IL" b="1" dirty="0" err="1"/>
              <a:t>יק"א</a:t>
            </a:r>
            <a:endParaRPr lang="he-IL" b="1" dirty="0"/>
          </a:p>
          <a:p>
            <a:pPr algn="r" rtl="1"/>
            <a:r>
              <a:rPr lang="he-IL" b="1" dirty="0"/>
              <a:t>700 נפש, הרוב דתיים –הגדולה בגליל</a:t>
            </a:r>
          </a:p>
        </p:txBody>
      </p:sp>
      <p:sp>
        <p:nvSpPr>
          <p:cNvPr id="12" name="TextBox 11"/>
          <p:cNvSpPr txBox="1"/>
          <p:nvPr/>
        </p:nvSpPr>
        <p:spPr>
          <a:xfrm>
            <a:off x="3996000" y="1916832"/>
            <a:ext cx="2605201" cy="523220"/>
          </a:xfrm>
          <a:prstGeom prst="rect">
            <a:avLst/>
          </a:prstGeom>
          <a:noFill/>
          <a:ln>
            <a:solidFill>
              <a:srgbClr val="2217F5"/>
            </a:solidFill>
          </a:ln>
        </p:spPr>
        <p:txBody>
          <a:bodyPr wrap="none" rtlCol="1">
            <a:spAutoFit/>
          </a:bodyPr>
          <a:lstStyle/>
          <a:p>
            <a:pPr algn="r" rtl="1"/>
            <a:r>
              <a:rPr lang="he-IL" b="1" dirty="0">
                <a:solidFill>
                  <a:srgbClr val="FF0000"/>
                </a:solidFill>
              </a:rPr>
              <a:t>הרב</a:t>
            </a:r>
            <a:r>
              <a:rPr lang="he-IL" b="1" dirty="0"/>
              <a:t> – </a:t>
            </a:r>
            <a:r>
              <a:rPr lang="he-IL" b="1" dirty="0" err="1"/>
              <a:t>הרב</a:t>
            </a:r>
            <a:r>
              <a:rPr lang="he-IL" b="1" dirty="0"/>
              <a:t> </a:t>
            </a:r>
            <a:r>
              <a:rPr lang="he-IL" b="1" dirty="0" err="1"/>
              <a:t>טודרס</a:t>
            </a:r>
            <a:r>
              <a:rPr lang="he-IL" b="1" dirty="0"/>
              <a:t> הכהן, מחלוקת</a:t>
            </a:r>
          </a:p>
          <a:p>
            <a:pPr algn="r" rtl="1"/>
            <a:r>
              <a:rPr lang="he-IL" b="1" dirty="0"/>
              <a:t>מתפלל בביתו.</a:t>
            </a:r>
          </a:p>
        </p:txBody>
      </p:sp>
      <p:sp>
        <p:nvSpPr>
          <p:cNvPr id="13" name="TextBox 12"/>
          <p:cNvSpPr txBox="1"/>
          <p:nvPr/>
        </p:nvSpPr>
        <p:spPr>
          <a:xfrm>
            <a:off x="3781771" y="2492900"/>
            <a:ext cx="2779992" cy="523220"/>
          </a:xfrm>
          <a:prstGeom prst="rect">
            <a:avLst/>
          </a:prstGeom>
          <a:noFill/>
          <a:ln>
            <a:solidFill>
              <a:srgbClr val="2217F5"/>
            </a:solidFill>
          </a:ln>
        </p:spPr>
        <p:txBody>
          <a:bodyPr wrap="none" rtlCol="1">
            <a:spAutoFit/>
          </a:bodyPr>
          <a:lstStyle/>
          <a:p>
            <a:pPr algn="r" rtl="1"/>
            <a:r>
              <a:rPr lang="he-IL" b="1" dirty="0"/>
              <a:t>פגישה עם הועד – לסגור את ביה"ס,</a:t>
            </a:r>
          </a:p>
          <a:p>
            <a:pPr algn="r" rtl="1"/>
            <a:r>
              <a:rPr lang="he-IL" b="1" dirty="0"/>
              <a:t>להקים חדר.</a:t>
            </a:r>
          </a:p>
        </p:txBody>
      </p:sp>
      <p:sp>
        <p:nvSpPr>
          <p:cNvPr id="14" name="TextBox 13"/>
          <p:cNvSpPr txBox="1"/>
          <p:nvPr/>
        </p:nvSpPr>
        <p:spPr>
          <a:xfrm>
            <a:off x="302388" y="3596723"/>
            <a:ext cx="3281669" cy="523220"/>
          </a:xfrm>
          <a:prstGeom prst="rect">
            <a:avLst/>
          </a:prstGeom>
          <a:noFill/>
          <a:ln>
            <a:solidFill>
              <a:srgbClr val="2217F5"/>
            </a:solidFill>
          </a:ln>
        </p:spPr>
        <p:txBody>
          <a:bodyPr wrap="none" rtlCol="1">
            <a:spAutoFit/>
          </a:bodyPr>
          <a:lstStyle/>
          <a:p>
            <a:pPr algn="r" rtl="1"/>
            <a:r>
              <a:rPr lang="he-IL" b="1" dirty="0"/>
              <a:t>הרב </a:t>
            </a:r>
            <a:r>
              <a:rPr lang="he-IL" b="1" dirty="0" err="1"/>
              <a:t>חרל"פ</a:t>
            </a:r>
            <a:r>
              <a:rPr lang="he-IL" b="1" dirty="0"/>
              <a:t> למ"ל שחור: אינו כותב לאחרים</a:t>
            </a:r>
          </a:p>
          <a:p>
            <a:pPr algn="r" rtl="1"/>
            <a:r>
              <a:rPr lang="he-IL" b="1" dirty="0"/>
              <a:t>"אין לנו זמן אפילו לאכול ולישון".</a:t>
            </a:r>
          </a:p>
        </p:txBody>
      </p:sp>
      <p:sp>
        <p:nvSpPr>
          <p:cNvPr id="15" name="TextBox 14"/>
          <p:cNvSpPr txBox="1"/>
          <p:nvPr/>
        </p:nvSpPr>
        <p:spPr>
          <a:xfrm>
            <a:off x="3809976" y="3188209"/>
            <a:ext cx="1109598" cy="307777"/>
          </a:xfrm>
          <a:prstGeom prst="rect">
            <a:avLst/>
          </a:prstGeom>
          <a:solidFill>
            <a:srgbClr val="FFFF00"/>
          </a:solidFill>
          <a:ln>
            <a:solidFill>
              <a:schemeClr val="tx1"/>
            </a:solidFill>
          </a:ln>
        </p:spPr>
        <p:txBody>
          <a:bodyPr wrap="none" rtlCol="1">
            <a:spAutoFit/>
          </a:bodyPr>
          <a:lstStyle/>
          <a:p>
            <a:r>
              <a:rPr lang="he-IL" b="1" dirty="0"/>
              <a:t>פרשת וישלח</a:t>
            </a:r>
          </a:p>
        </p:txBody>
      </p:sp>
      <p:sp>
        <p:nvSpPr>
          <p:cNvPr id="16" name="TextBox 15"/>
          <p:cNvSpPr txBox="1"/>
          <p:nvPr/>
        </p:nvSpPr>
        <p:spPr>
          <a:xfrm>
            <a:off x="3724514" y="3566054"/>
            <a:ext cx="2941895" cy="1384995"/>
          </a:xfrm>
          <a:prstGeom prst="rect">
            <a:avLst/>
          </a:prstGeom>
          <a:noFill/>
          <a:ln>
            <a:solidFill>
              <a:srgbClr val="2217F5"/>
            </a:solidFill>
          </a:ln>
        </p:spPr>
        <p:txBody>
          <a:bodyPr wrap="none" rtlCol="1">
            <a:spAutoFit/>
          </a:bodyPr>
          <a:lstStyle/>
          <a:p>
            <a:pPr algn="r" rtl="1"/>
            <a:r>
              <a:rPr lang="he-IL" b="1" dirty="0"/>
              <a:t>לפני הקריאה בתורה</a:t>
            </a:r>
          </a:p>
          <a:p>
            <a:pPr algn="r" rtl="1"/>
            <a:r>
              <a:rPr lang="he-IL" b="1" dirty="0"/>
              <a:t>הרב קוק: תיקון לגבי החינוך הדתי.</a:t>
            </a:r>
          </a:p>
          <a:p>
            <a:pPr algn="r" rtl="1"/>
            <a:endParaRPr lang="he-IL" b="1" dirty="0"/>
          </a:p>
          <a:p>
            <a:pPr algn="r" rtl="1"/>
            <a:r>
              <a:rPr lang="he-IL" b="1" dirty="0">
                <a:solidFill>
                  <a:schemeClr val="tx1"/>
                </a:solidFill>
              </a:rPr>
              <a:t>המנהל </a:t>
            </a:r>
            <a:r>
              <a:rPr lang="he-IL" b="1" dirty="0" err="1">
                <a:solidFill>
                  <a:schemeClr val="tx1"/>
                </a:solidFill>
              </a:rPr>
              <a:t>וילקומיץ</a:t>
            </a:r>
            <a:r>
              <a:rPr lang="he-IL" b="1" dirty="0">
                <a:solidFill>
                  <a:schemeClr val="tx1"/>
                </a:solidFill>
              </a:rPr>
              <a:t>: החינוך בסדר, שידבר</a:t>
            </a:r>
          </a:p>
          <a:p>
            <a:pPr algn="r" rtl="1"/>
            <a:r>
              <a:rPr lang="he-IL" b="1" dirty="0">
                <a:solidFill>
                  <a:schemeClr val="tx1"/>
                </a:solidFill>
              </a:rPr>
              <a:t>בעברית, מחיאות כפיים של הצעירים.</a:t>
            </a:r>
          </a:p>
          <a:p>
            <a:pPr algn="r" rtl="1"/>
            <a:r>
              <a:rPr lang="he-IL" b="1" dirty="0"/>
              <a:t>המשיך בעברית להפתעתם.</a:t>
            </a:r>
          </a:p>
        </p:txBody>
      </p:sp>
      <p:sp>
        <p:nvSpPr>
          <p:cNvPr id="17" name="TextBox 16"/>
          <p:cNvSpPr txBox="1"/>
          <p:nvPr/>
        </p:nvSpPr>
        <p:spPr>
          <a:xfrm>
            <a:off x="6077384" y="3205429"/>
            <a:ext cx="535723" cy="307777"/>
          </a:xfrm>
          <a:prstGeom prst="rect">
            <a:avLst/>
          </a:prstGeom>
          <a:solidFill>
            <a:srgbClr val="FFFF00"/>
          </a:solidFill>
          <a:ln>
            <a:solidFill>
              <a:schemeClr val="tx1"/>
            </a:solidFill>
          </a:ln>
        </p:spPr>
        <p:txBody>
          <a:bodyPr wrap="none" rtlCol="1">
            <a:spAutoFit/>
          </a:bodyPr>
          <a:lstStyle/>
          <a:p>
            <a:r>
              <a:rPr lang="he-IL" b="1" dirty="0"/>
              <a:t>שבת</a:t>
            </a:r>
          </a:p>
        </p:txBody>
      </p:sp>
    </p:spTree>
    <p:extLst>
      <p:ext uri="{BB962C8B-B14F-4D97-AF65-F5344CB8AC3E}">
        <p14:creationId xmlns:p14="http://schemas.microsoft.com/office/powerpoint/2010/main" val="33352276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832"/>
          <p:cNvSpPr/>
          <p:nvPr/>
        </p:nvSpPr>
        <p:spPr>
          <a:xfrm>
            <a:off x="5292080" y="357167"/>
            <a:ext cx="3422820" cy="3001240"/>
          </a:xfrm>
          <a:prstGeom prst="rect">
            <a:avLst/>
          </a:prstGeom>
          <a:blipFill>
            <a:blip r:embed="rId2"/>
            <a:stretch>
              <a:fillRect/>
            </a:stretch>
          </a:blipFill>
          <a:ln w="38100">
            <a:solidFill>
              <a:srgbClr val="FF0000"/>
            </a:solidFill>
          </a:ln>
        </p:spPr>
        <p:txBody>
          <a:bodyPr/>
          <a:lstStyle/>
          <a:p>
            <a:endParaRPr lang="he-IL"/>
          </a:p>
        </p:txBody>
      </p:sp>
      <p:sp>
        <p:nvSpPr>
          <p:cNvPr id="4" name="Shape 839"/>
          <p:cNvSpPr/>
          <p:nvPr/>
        </p:nvSpPr>
        <p:spPr>
          <a:xfrm>
            <a:off x="545656" y="357167"/>
            <a:ext cx="4032448" cy="2930645"/>
          </a:xfrm>
          <a:prstGeom prst="rect">
            <a:avLst/>
          </a:prstGeom>
          <a:blipFill>
            <a:blip r:embed="rId3"/>
            <a:stretch>
              <a:fillRect/>
            </a:stretch>
          </a:blipFill>
          <a:ln w="38100">
            <a:solidFill>
              <a:srgbClr val="FF0000"/>
            </a:solidFill>
          </a:ln>
        </p:spPr>
        <p:txBody>
          <a:bodyPr/>
          <a:lstStyle/>
          <a:p>
            <a:endParaRPr lang="he-IL"/>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656" y="3714114"/>
            <a:ext cx="4395407" cy="2924944"/>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5" name="TextBox 4"/>
          <p:cNvSpPr txBox="1"/>
          <p:nvPr/>
        </p:nvSpPr>
        <p:spPr>
          <a:xfrm>
            <a:off x="5207121" y="4068162"/>
            <a:ext cx="3664849" cy="2677656"/>
          </a:xfrm>
          <a:prstGeom prst="rect">
            <a:avLst/>
          </a:prstGeom>
          <a:noFill/>
          <a:ln>
            <a:solidFill>
              <a:srgbClr val="2217F5"/>
            </a:solidFill>
          </a:ln>
        </p:spPr>
        <p:txBody>
          <a:bodyPr wrap="none" rtlCol="1">
            <a:spAutoFit/>
          </a:bodyPr>
          <a:lstStyle/>
          <a:p>
            <a:pPr algn="r" rtl="1"/>
            <a:r>
              <a:rPr lang="he-IL" b="1" dirty="0"/>
              <a:t>התושבים והועד התכנסו באכסניה,</a:t>
            </a:r>
          </a:p>
          <a:p>
            <a:pPr algn="r" rtl="1"/>
            <a:r>
              <a:rPr lang="he-IL" b="1" dirty="0"/>
              <a:t>הרב קוק דרש מהם חינוך דתי, מלמדים יראים.</a:t>
            </a:r>
          </a:p>
          <a:p>
            <a:pPr algn="r" rtl="1"/>
            <a:endParaRPr lang="he-IL" b="1" dirty="0"/>
          </a:p>
          <a:p>
            <a:pPr algn="r" rtl="1"/>
            <a:r>
              <a:rPr lang="he-IL" b="1" dirty="0"/>
              <a:t>הצעה: בביה"ס שילוב תורה עם מקצועות כללים, </a:t>
            </a:r>
          </a:p>
          <a:p>
            <a:pPr algn="r" rtl="1"/>
            <a:r>
              <a:rPr lang="he-IL" b="1" dirty="0"/>
              <a:t>שתי קבוצות</a:t>
            </a:r>
          </a:p>
          <a:p>
            <a:pPr algn="r" rtl="1"/>
            <a:r>
              <a:rPr lang="he-IL" b="1" dirty="0">
                <a:solidFill>
                  <a:schemeClr val="tx1"/>
                </a:solidFill>
              </a:rPr>
              <a:t>המנהל: שלא יהרסו את בית הספר.</a:t>
            </a:r>
          </a:p>
          <a:p>
            <a:pPr algn="r" rtl="1"/>
            <a:r>
              <a:rPr lang="he-IL" b="1" dirty="0"/>
              <a:t>הרב קוק בהתרגשות ודמעות: </a:t>
            </a:r>
            <a:r>
              <a:rPr lang="he-IL" b="1" dirty="0">
                <a:solidFill>
                  <a:srgbClr val="FF0000"/>
                </a:solidFill>
              </a:rPr>
              <a:t>התחייה הלאומית </a:t>
            </a:r>
          </a:p>
          <a:p>
            <a:pPr algn="r" rtl="1"/>
            <a:r>
              <a:rPr lang="he-IL" b="1" dirty="0">
                <a:solidFill>
                  <a:srgbClr val="FF0000"/>
                </a:solidFill>
              </a:rPr>
              <a:t>על טהרת הקודש. כעת מצב יבש, התבוללות.</a:t>
            </a:r>
          </a:p>
          <a:p>
            <a:pPr algn="r" rtl="1"/>
            <a:r>
              <a:rPr lang="he-IL" b="1" dirty="0"/>
              <a:t>מתורגמת לעברית.</a:t>
            </a:r>
          </a:p>
          <a:p>
            <a:pPr algn="r" rtl="1"/>
            <a:endParaRPr lang="he-IL" b="1" dirty="0"/>
          </a:p>
          <a:p>
            <a:pPr algn="r" rtl="1"/>
            <a:r>
              <a:rPr lang="he-IL" b="1" dirty="0"/>
              <a:t>הועד והרבנים לקומה השנייה: דנו על הדרישות.</a:t>
            </a:r>
          </a:p>
          <a:p>
            <a:pPr algn="r" rtl="1"/>
            <a:r>
              <a:rPr lang="he-IL" b="1" dirty="0"/>
              <a:t>הועד: פרוטוקול עד שישובו מצפת.</a:t>
            </a:r>
          </a:p>
        </p:txBody>
      </p:sp>
      <p:sp>
        <p:nvSpPr>
          <p:cNvPr id="6" name="TextBox 5"/>
          <p:cNvSpPr txBox="1"/>
          <p:nvPr/>
        </p:nvSpPr>
        <p:spPr>
          <a:xfrm>
            <a:off x="6348490" y="3649347"/>
            <a:ext cx="1348447" cy="338554"/>
          </a:xfrm>
          <a:prstGeom prst="rect">
            <a:avLst/>
          </a:prstGeom>
          <a:solidFill>
            <a:srgbClr val="FFFF00"/>
          </a:solidFill>
          <a:ln>
            <a:solidFill>
              <a:schemeClr val="tx1"/>
            </a:solidFill>
          </a:ln>
        </p:spPr>
        <p:txBody>
          <a:bodyPr wrap="none" rtlCol="1">
            <a:spAutoFit/>
          </a:bodyPr>
          <a:lstStyle/>
          <a:p>
            <a:pPr algn="r" rtl="1"/>
            <a:r>
              <a:rPr lang="he-IL" sz="1600" b="1" dirty="0"/>
              <a:t>במוצאי שבת  </a:t>
            </a:r>
          </a:p>
        </p:txBody>
      </p:sp>
      <p:sp>
        <p:nvSpPr>
          <p:cNvPr id="3" name="תיבת טקסט 2">
            <a:extLst>
              <a:ext uri="{FF2B5EF4-FFF2-40B4-BE49-F238E27FC236}">
                <a16:creationId xmlns:a16="http://schemas.microsoft.com/office/drawing/2014/main" id="{7A0D972C-0C37-E72C-5AF6-91AB024BA8B1}"/>
              </a:ext>
            </a:extLst>
          </p:cNvPr>
          <p:cNvSpPr txBox="1"/>
          <p:nvPr/>
        </p:nvSpPr>
        <p:spPr>
          <a:xfrm>
            <a:off x="4290074" y="3343852"/>
            <a:ext cx="1351652" cy="307777"/>
          </a:xfrm>
          <a:prstGeom prst="rect">
            <a:avLst/>
          </a:prstGeom>
          <a:noFill/>
        </p:spPr>
        <p:txBody>
          <a:bodyPr wrap="none" rtlCol="1">
            <a:spAutoFit/>
          </a:bodyPr>
          <a:lstStyle/>
          <a:p>
            <a:r>
              <a:rPr lang="he-IL" b="1" dirty="0"/>
              <a:t>בית הכנסת כיום</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869"/>
          <p:cNvSpPr/>
          <p:nvPr/>
        </p:nvSpPr>
        <p:spPr>
          <a:xfrm>
            <a:off x="683568" y="2348880"/>
            <a:ext cx="2928894" cy="3214710"/>
          </a:xfrm>
          <a:prstGeom prst="rect">
            <a:avLst/>
          </a:prstGeom>
          <a:blipFill>
            <a:blip r:embed="rId2"/>
            <a:stretch>
              <a:fillRect/>
            </a:stretch>
          </a:blipFill>
          <a:ln w="38100">
            <a:solidFill>
              <a:srgbClr val="FF0000"/>
            </a:solidFill>
          </a:ln>
        </p:spPr>
        <p:txBody>
          <a:bodyPr/>
          <a:lstStyle/>
          <a:p>
            <a:endParaRPr lang="he-IL"/>
          </a:p>
        </p:txBody>
      </p:sp>
      <p:sp>
        <p:nvSpPr>
          <p:cNvPr id="4" name="TextBox 3"/>
          <p:cNvSpPr txBox="1"/>
          <p:nvPr/>
        </p:nvSpPr>
        <p:spPr>
          <a:xfrm>
            <a:off x="107504" y="5597951"/>
            <a:ext cx="4132862" cy="307777"/>
          </a:xfrm>
          <a:prstGeom prst="rect">
            <a:avLst/>
          </a:prstGeom>
          <a:noFill/>
          <a:ln w="38100">
            <a:noFill/>
          </a:ln>
        </p:spPr>
        <p:txBody>
          <a:bodyPr wrap="none" rtlCol="1">
            <a:spAutoFit/>
          </a:bodyPr>
          <a:lstStyle/>
          <a:p>
            <a:r>
              <a:rPr lang="x-none" b="1" dirty="0"/>
              <a:t>ביתו של </a:t>
            </a:r>
            <a:r>
              <a:rPr lang="he-IL" b="1" dirty="0"/>
              <a:t>המורה שמחה </a:t>
            </a:r>
            <a:r>
              <a:rPr lang="he-IL" b="1" dirty="0" err="1"/>
              <a:t>וילקומיץ</a:t>
            </a:r>
            <a:r>
              <a:rPr lang="he-IL" b="1" dirty="0"/>
              <a:t>, </a:t>
            </a:r>
            <a:r>
              <a:rPr lang="x-none" b="1" dirty="0"/>
              <a:t>שה</a:t>
            </a:r>
            <a:r>
              <a:rPr lang="he-IL" b="1" dirty="0"/>
              <a:t>תוכח עם</a:t>
            </a:r>
            <a:r>
              <a:rPr lang="x-none" b="1" dirty="0"/>
              <a:t> הרב</a:t>
            </a:r>
            <a:r>
              <a:rPr lang="he-IL" b="1" dirty="0"/>
              <a:t> קוק</a:t>
            </a:r>
            <a:r>
              <a:rPr lang="x-none" b="1" dirty="0"/>
              <a:t> </a:t>
            </a:r>
            <a:endParaRPr lang="he-IL" b="1" dirty="0"/>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30" y="389108"/>
            <a:ext cx="4780691" cy="3567131"/>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6" name="TextBox 5"/>
          <p:cNvSpPr txBox="1"/>
          <p:nvPr/>
        </p:nvSpPr>
        <p:spPr>
          <a:xfrm>
            <a:off x="4227844" y="4038432"/>
            <a:ext cx="4136069" cy="307777"/>
          </a:xfrm>
          <a:prstGeom prst="rect">
            <a:avLst/>
          </a:prstGeom>
          <a:noFill/>
        </p:spPr>
        <p:txBody>
          <a:bodyPr wrap="none" rtlCol="1">
            <a:spAutoFit/>
          </a:bodyPr>
          <a:lstStyle/>
          <a:p>
            <a:pPr algn="r" rtl="1"/>
            <a:r>
              <a:rPr lang="he-IL" b="1" dirty="0"/>
              <a:t>'מלון הגליל' של אלתר שוורץ - האכסניה בה לנו הרבנים</a:t>
            </a:r>
          </a:p>
        </p:txBody>
      </p:sp>
      <p:sp>
        <p:nvSpPr>
          <p:cNvPr id="7" name="TextBox 6"/>
          <p:cNvSpPr txBox="1"/>
          <p:nvPr/>
        </p:nvSpPr>
        <p:spPr>
          <a:xfrm>
            <a:off x="5314331" y="5013176"/>
            <a:ext cx="3055709" cy="738664"/>
          </a:xfrm>
          <a:prstGeom prst="rect">
            <a:avLst/>
          </a:prstGeom>
          <a:noFill/>
          <a:ln>
            <a:solidFill>
              <a:srgbClr val="2217F5"/>
            </a:solidFill>
          </a:ln>
        </p:spPr>
        <p:txBody>
          <a:bodyPr wrap="none" rtlCol="1">
            <a:spAutoFit/>
          </a:bodyPr>
          <a:lstStyle/>
          <a:p>
            <a:pPr algn="r" rtl="1"/>
            <a:r>
              <a:rPr lang="he-IL" b="1" dirty="0">
                <a:solidFill>
                  <a:srgbClr val="0096D5"/>
                </a:solidFill>
              </a:rPr>
              <a:t>בבוקר - </a:t>
            </a:r>
            <a:r>
              <a:rPr lang="he-IL" b="1" dirty="0"/>
              <a:t>התפללו בבית הכנסת.</a:t>
            </a:r>
          </a:p>
          <a:p>
            <a:pPr algn="r" rtl="1"/>
            <a:endParaRPr lang="he-IL" b="1" dirty="0"/>
          </a:p>
          <a:p>
            <a:pPr algn="r" rtl="1"/>
            <a:r>
              <a:rPr lang="he-IL" b="1" dirty="0"/>
              <a:t>המנהל סגל נתן עגלה ומלווים על סוסים.</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קובץ:Mishmar22.jpg"/>
          <p:cNvPicPr>
            <a:picLocks noChangeAspect="1" noChangeArrowheads="1"/>
          </p:cNvPicPr>
          <p:nvPr/>
        </p:nvPicPr>
        <p:blipFill>
          <a:blip r:embed="rId2"/>
          <a:srcRect t="20456"/>
          <a:stretch>
            <a:fillRect/>
          </a:stretch>
        </p:blipFill>
        <p:spPr bwMode="auto">
          <a:xfrm>
            <a:off x="251520" y="1367647"/>
            <a:ext cx="2808312" cy="1882392"/>
          </a:xfrm>
          <a:prstGeom prst="rect">
            <a:avLst/>
          </a:prstGeom>
          <a:noFill/>
          <a:ln w="38100">
            <a:solidFill>
              <a:srgbClr val="FF0000"/>
            </a:solidFill>
          </a:ln>
        </p:spPr>
      </p:pic>
      <p:sp>
        <p:nvSpPr>
          <p:cNvPr id="3" name="TextBox 2"/>
          <p:cNvSpPr txBox="1"/>
          <p:nvPr/>
        </p:nvSpPr>
        <p:spPr>
          <a:xfrm>
            <a:off x="2555776" y="289975"/>
            <a:ext cx="3921265" cy="369332"/>
          </a:xfrm>
          <a:prstGeom prst="rect">
            <a:avLst/>
          </a:prstGeom>
          <a:solidFill>
            <a:srgbClr val="FFFF00"/>
          </a:solidFill>
          <a:ln w="12700">
            <a:solidFill>
              <a:schemeClr val="tx1"/>
            </a:solidFill>
          </a:ln>
        </p:spPr>
        <p:txBody>
          <a:bodyPr wrap="none" rtlCol="1">
            <a:spAutoFit/>
          </a:bodyPr>
          <a:lstStyle/>
          <a:p>
            <a:r>
              <a:rPr lang="he-IL" sz="1800" b="1" dirty="0"/>
              <a:t>במושבה משמר הירדן – </a:t>
            </a:r>
            <a:r>
              <a:rPr lang="he-IL" sz="1800" b="1" dirty="0">
                <a:solidFill>
                  <a:srgbClr val="FF0000"/>
                </a:solidFill>
              </a:rPr>
              <a:t>יום א', ח' בכסלו</a:t>
            </a:r>
          </a:p>
        </p:txBody>
      </p:sp>
      <p:pic>
        <p:nvPicPr>
          <p:cNvPr id="112646" name="Picture 6" descr="http://upload.wikimedia.org/wikipedia/commons/thumb/6/61/Monumentmishmar.jpg/250px-Monumentmishmar.jpg"/>
          <p:cNvPicPr>
            <a:picLocks noChangeAspect="1" noChangeArrowheads="1"/>
          </p:cNvPicPr>
          <p:nvPr/>
        </p:nvPicPr>
        <p:blipFill>
          <a:blip r:embed="rId3"/>
          <a:srcRect/>
          <a:stretch>
            <a:fillRect/>
          </a:stretch>
        </p:blipFill>
        <p:spPr bwMode="auto">
          <a:xfrm>
            <a:off x="395536" y="3573016"/>
            <a:ext cx="2381250" cy="3171826"/>
          </a:xfrm>
          <a:prstGeom prst="rect">
            <a:avLst/>
          </a:prstGeom>
          <a:noFill/>
          <a:ln w="38100">
            <a:solidFill>
              <a:srgbClr val="FF0000"/>
            </a:solidFill>
          </a:ln>
        </p:spPr>
      </p:pic>
      <p:pic>
        <p:nvPicPr>
          <p:cNvPr id="116738" name="Picture 2" descr="C:\Users\123\Pictures\תשע'ד-א'-ד'\015.jpg"/>
          <p:cNvPicPr>
            <a:picLocks noChangeAspect="1" noChangeArrowheads="1"/>
          </p:cNvPicPr>
          <p:nvPr/>
        </p:nvPicPr>
        <p:blipFill>
          <a:blip r:embed="rId4"/>
          <a:srcRect/>
          <a:stretch>
            <a:fillRect/>
          </a:stretch>
        </p:blipFill>
        <p:spPr bwMode="auto">
          <a:xfrm rot="10800000">
            <a:off x="5292081" y="4155167"/>
            <a:ext cx="3672408" cy="2359481"/>
          </a:xfrm>
          <a:prstGeom prst="rect">
            <a:avLst/>
          </a:prstGeom>
          <a:noFill/>
          <a:ln w="38100">
            <a:solidFill>
              <a:srgbClr val="FF0000"/>
            </a:solidFill>
          </a:ln>
        </p:spPr>
      </p:pic>
      <p:pic>
        <p:nvPicPr>
          <p:cNvPr id="276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241" y="1772820"/>
            <a:ext cx="2232248" cy="2017291"/>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8123803" y="229261"/>
            <a:ext cx="824265" cy="338554"/>
          </a:xfrm>
          <a:prstGeom prst="rect">
            <a:avLst/>
          </a:prstGeom>
          <a:solidFill>
            <a:srgbClr val="76E3FF"/>
          </a:solidFill>
          <a:ln>
            <a:solidFill>
              <a:schemeClr val="tx1"/>
            </a:solidFill>
          </a:ln>
        </p:spPr>
        <p:txBody>
          <a:bodyPr wrap="none" rtlCol="1">
            <a:spAutoFit/>
          </a:bodyPr>
          <a:lstStyle/>
          <a:p>
            <a:r>
              <a:rPr lang="he-IL" sz="1600" b="1" dirty="0"/>
              <a:t>בצהרים</a:t>
            </a:r>
          </a:p>
        </p:txBody>
      </p:sp>
      <p:sp>
        <p:nvSpPr>
          <p:cNvPr id="8" name="TextBox 7"/>
          <p:cNvSpPr txBox="1"/>
          <p:nvPr/>
        </p:nvSpPr>
        <p:spPr>
          <a:xfrm>
            <a:off x="6542373" y="750343"/>
            <a:ext cx="2501006"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1884 – </a:t>
            </a:r>
            <a:r>
              <a:rPr lang="he-IL" b="1" dirty="0"/>
              <a:t>חווה חקלאית, חיבת ציון</a:t>
            </a:r>
          </a:p>
          <a:p>
            <a:pPr algn="r" rtl="1"/>
            <a:r>
              <a:rPr lang="he-IL" b="1" dirty="0">
                <a:solidFill>
                  <a:srgbClr val="FF0000"/>
                </a:solidFill>
              </a:rPr>
              <a:t>1890 – </a:t>
            </a:r>
            <a:r>
              <a:rPr lang="he-IL" b="1" dirty="0"/>
              <a:t>מושבה, </a:t>
            </a:r>
            <a:r>
              <a:rPr lang="he-IL" b="1" dirty="0" err="1"/>
              <a:t>יק"א</a:t>
            </a:r>
            <a:endParaRPr lang="he-IL" b="1" dirty="0"/>
          </a:p>
          <a:p>
            <a:pPr algn="r" rtl="1"/>
            <a:r>
              <a:rPr lang="he-IL" b="1" dirty="0"/>
              <a:t>            15 משפחות, דתיים</a:t>
            </a:r>
          </a:p>
        </p:txBody>
      </p:sp>
      <p:sp>
        <p:nvSpPr>
          <p:cNvPr id="9" name="TextBox 8"/>
          <p:cNvSpPr txBox="1"/>
          <p:nvPr/>
        </p:nvSpPr>
        <p:spPr>
          <a:xfrm>
            <a:off x="6837179" y="6525250"/>
            <a:ext cx="582211" cy="307777"/>
          </a:xfrm>
          <a:prstGeom prst="rect">
            <a:avLst/>
          </a:prstGeom>
          <a:noFill/>
        </p:spPr>
        <p:txBody>
          <a:bodyPr wrap="none" rtlCol="1">
            <a:spAutoFit/>
          </a:bodyPr>
          <a:lstStyle/>
          <a:p>
            <a:r>
              <a:rPr lang="he-IL" b="1" dirty="0"/>
              <a:t>1912</a:t>
            </a:r>
          </a:p>
        </p:txBody>
      </p:sp>
      <p:sp>
        <p:nvSpPr>
          <p:cNvPr id="10" name="TextBox 9"/>
          <p:cNvSpPr txBox="1"/>
          <p:nvPr/>
        </p:nvSpPr>
        <p:spPr>
          <a:xfrm>
            <a:off x="3386209" y="1628804"/>
            <a:ext cx="3174331" cy="2246769"/>
          </a:xfrm>
          <a:prstGeom prst="rect">
            <a:avLst/>
          </a:prstGeom>
          <a:noFill/>
          <a:ln>
            <a:solidFill>
              <a:srgbClr val="2217F5"/>
            </a:solidFill>
          </a:ln>
        </p:spPr>
        <p:txBody>
          <a:bodyPr wrap="none" rtlCol="1">
            <a:spAutoFit/>
          </a:bodyPr>
          <a:lstStyle/>
          <a:p>
            <a:pPr algn="r" rtl="1"/>
            <a:r>
              <a:rPr lang="he-IL" b="1" dirty="0"/>
              <a:t>הרופא ד"ר מלכין: מה דעתם על השפות</a:t>
            </a:r>
          </a:p>
          <a:p>
            <a:pPr algn="r" rtl="1"/>
            <a:r>
              <a:rPr lang="he-IL" b="1" dirty="0"/>
              <a:t>הרב קוק מבאר לו ועוד.</a:t>
            </a:r>
          </a:p>
          <a:p>
            <a:pPr algn="r" rtl="1"/>
            <a:r>
              <a:rPr lang="he-IL" b="1" dirty="0"/>
              <a:t>נכנס נער – סיפר שהתחיל להניח תפילין, </a:t>
            </a:r>
          </a:p>
          <a:p>
            <a:pPr algn="r" rtl="1"/>
            <a:r>
              <a:rPr lang="he-IL" b="1" dirty="0"/>
              <a:t>היכן כתובה בתורה? לא ידע </a:t>
            </a:r>
            <a:r>
              <a:rPr lang="he-IL" b="1" dirty="0" err="1"/>
              <a:t>ש'וקשרתם</a:t>
            </a:r>
            <a:endParaRPr lang="he-IL" b="1" dirty="0"/>
          </a:p>
          <a:p>
            <a:pPr algn="r" rtl="1"/>
            <a:r>
              <a:rPr lang="he-IL" b="1" dirty="0"/>
              <a:t>לאות' קשור לתפילין.</a:t>
            </a:r>
          </a:p>
          <a:p>
            <a:pPr algn="r" rtl="1"/>
            <a:endParaRPr lang="he-IL" b="1" dirty="0"/>
          </a:p>
          <a:p>
            <a:pPr algn="r" rtl="1"/>
            <a:r>
              <a:rPr lang="he-IL" b="1" dirty="0"/>
              <a:t>נשים דרשו: לתקן ת"ת, בבה"ס אין ברכות</a:t>
            </a:r>
          </a:p>
          <a:p>
            <a:pPr algn="r" rtl="1"/>
            <a:r>
              <a:rPr lang="he-IL" b="1" dirty="0"/>
              <a:t>ותפילות.</a:t>
            </a:r>
          </a:p>
          <a:p>
            <a:pPr algn="r" rtl="1"/>
            <a:endParaRPr lang="he-IL" b="1" dirty="0"/>
          </a:p>
          <a:p>
            <a:pPr algn="r" rtl="1"/>
            <a:r>
              <a:rPr lang="he-IL" b="1" dirty="0">
                <a:solidFill>
                  <a:schemeClr val="tx1"/>
                </a:solidFill>
              </a:rPr>
              <a:t>המורה לא קיבל את פניהם</a:t>
            </a:r>
          </a:p>
        </p:txBody>
      </p:sp>
      <p:sp>
        <p:nvSpPr>
          <p:cNvPr id="11" name="TextBox 10"/>
          <p:cNvSpPr txBox="1"/>
          <p:nvPr/>
        </p:nvSpPr>
        <p:spPr>
          <a:xfrm>
            <a:off x="3145712" y="4583460"/>
            <a:ext cx="1691489" cy="523220"/>
          </a:xfrm>
          <a:prstGeom prst="rect">
            <a:avLst/>
          </a:prstGeom>
          <a:noFill/>
          <a:ln>
            <a:solidFill>
              <a:srgbClr val="2217F5"/>
            </a:solidFill>
          </a:ln>
        </p:spPr>
        <p:txBody>
          <a:bodyPr wrap="none" rtlCol="1">
            <a:spAutoFit/>
          </a:bodyPr>
          <a:lstStyle/>
          <a:p>
            <a:pPr algn="r" rtl="1"/>
            <a:r>
              <a:rPr lang="he-IL" b="1" dirty="0"/>
              <a:t>תפילת מנחה וסעודה</a:t>
            </a:r>
          </a:p>
          <a:p>
            <a:pPr algn="r" rtl="1"/>
            <a:r>
              <a:rPr lang="he-IL" b="1" dirty="0"/>
              <a:t>מתקנים את המקווה</a:t>
            </a:r>
          </a:p>
        </p:txBody>
      </p:sp>
      <p:sp>
        <p:nvSpPr>
          <p:cNvPr id="12" name="TextBox 11"/>
          <p:cNvSpPr txBox="1"/>
          <p:nvPr/>
        </p:nvSpPr>
        <p:spPr>
          <a:xfrm>
            <a:off x="2915817" y="5445224"/>
            <a:ext cx="2114682" cy="523220"/>
          </a:xfrm>
          <a:prstGeom prst="rect">
            <a:avLst/>
          </a:prstGeom>
          <a:noFill/>
          <a:ln w="12700">
            <a:solidFill>
              <a:schemeClr val="accent5">
                <a:lumMod val="75000"/>
              </a:schemeClr>
            </a:solidFill>
          </a:ln>
        </p:spPr>
        <p:txBody>
          <a:bodyPr wrap="none" rtlCol="1">
            <a:spAutoFit/>
          </a:bodyPr>
          <a:lstStyle/>
          <a:p>
            <a:pPr algn="r" rtl="1"/>
            <a:r>
              <a:rPr lang="he-IL" b="1" dirty="0"/>
              <a:t>הועד הסכים </a:t>
            </a:r>
            <a:r>
              <a:rPr lang="he-IL" b="1" dirty="0" err="1"/>
              <a:t>לתו"מ</a:t>
            </a:r>
            <a:r>
              <a:rPr lang="he-IL" b="1" dirty="0"/>
              <a:t>, לתקן</a:t>
            </a:r>
          </a:p>
          <a:p>
            <a:pPr algn="r" rtl="1"/>
            <a:r>
              <a:rPr lang="he-IL" b="1" dirty="0"/>
              <a:t> את החינוך, לא לחלל שבת</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descr="http://upload.wikimedia.org/wikipedia/commons/thumb/5/5e/HulaHebrew.png/250px-HulaHebrew.png"/>
          <p:cNvPicPr>
            <a:picLocks noChangeAspect="1" noChangeArrowheads="1"/>
          </p:cNvPicPr>
          <p:nvPr/>
        </p:nvPicPr>
        <p:blipFill>
          <a:blip r:embed="rId2"/>
          <a:srcRect/>
          <a:stretch>
            <a:fillRect/>
          </a:stretch>
        </p:blipFill>
        <p:spPr bwMode="auto">
          <a:xfrm>
            <a:off x="6444210" y="404664"/>
            <a:ext cx="2076868" cy="3439294"/>
          </a:xfrm>
          <a:prstGeom prst="rect">
            <a:avLst/>
          </a:prstGeom>
          <a:noFill/>
          <a:ln w="38100">
            <a:solidFill>
              <a:srgbClr val="FF0000"/>
            </a:solidFill>
          </a:ln>
        </p:spPr>
      </p:pic>
      <p:pic>
        <p:nvPicPr>
          <p:cNvPr id="154628" name="Picture 4" descr="http://upload.wikimedia.org/wikipedia/commons/thumb/8/84/Stamp_of_Israel_-_Airmail_1956_-_750mil.jpg/150px-Stamp_of_Israel_-_Airmail_1956_-_750mil.jpg"/>
          <p:cNvPicPr>
            <a:picLocks noChangeAspect="1" noChangeArrowheads="1"/>
          </p:cNvPicPr>
          <p:nvPr/>
        </p:nvPicPr>
        <p:blipFill>
          <a:blip r:embed="rId3"/>
          <a:srcRect/>
          <a:stretch>
            <a:fillRect/>
          </a:stretch>
        </p:blipFill>
        <p:spPr bwMode="auto">
          <a:xfrm>
            <a:off x="850358" y="425413"/>
            <a:ext cx="1428750" cy="3105150"/>
          </a:xfrm>
          <a:prstGeom prst="rect">
            <a:avLst/>
          </a:prstGeom>
          <a:noFill/>
          <a:ln w="38100">
            <a:solidFill>
              <a:srgbClr val="FF0000"/>
            </a:solidFill>
          </a:ln>
        </p:spPr>
      </p:pic>
      <p:pic>
        <p:nvPicPr>
          <p:cNvPr id="154630" name="Picture 6" descr="קובץ:Hula 1930s.JPG"/>
          <p:cNvPicPr>
            <a:picLocks noChangeAspect="1" noChangeArrowheads="1"/>
          </p:cNvPicPr>
          <p:nvPr/>
        </p:nvPicPr>
        <p:blipFill>
          <a:blip r:embed="rId4"/>
          <a:srcRect/>
          <a:stretch>
            <a:fillRect/>
          </a:stretch>
        </p:blipFill>
        <p:spPr bwMode="auto">
          <a:xfrm>
            <a:off x="5076056" y="4293096"/>
            <a:ext cx="3429024" cy="2241724"/>
          </a:xfrm>
          <a:prstGeom prst="rect">
            <a:avLst/>
          </a:prstGeom>
          <a:noFill/>
          <a:ln w="38100">
            <a:solidFill>
              <a:srgbClr val="FF0000"/>
            </a:solidFill>
          </a:ln>
        </p:spPr>
      </p:pic>
      <p:pic>
        <p:nvPicPr>
          <p:cNvPr id="154632" name="Picture 8" descr="http://www.boker.org.il/meida/negev/desert_biking/nabi_yosha/pics/hula1.jpg"/>
          <p:cNvPicPr>
            <a:picLocks noChangeAspect="1" noChangeArrowheads="1"/>
          </p:cNvPicPr>
          <p:nvPr/>
        </p:nvPicPr>
        <p:blipFill>
          <a:blip r:embed="rId5"/>
          <a:srcRect/>
          <a:stretch>
            <a:fillRect/>
          </a:stretch>
        </p:blipFill>
        <p:spPr bwMode="auto">
          <a:xfrm>
            <a:off x="683568" y="4149080"/>
            <a:ext cx="3456384" cy="2316858"/>
          </a:xfrm>
          <a:prstGeom prst="rect">
            <a:avLst/>
          </a:prstGeom>
          <a:noFill/>
          <a:ln w="38100">
            <a:solidFill>
              <a:srgbClr val="FF0000"/>
            </a:solidFill>
          </a:ln>
        </p:spPr>
      </p:pic>
      <p:pic>
        <p:nvPicPr>
          <p:cNvPr id="6" name="Picture 6" descr="http://www.galilon.co.il/sites/default/files/images/standart_dyygy_ysvd_hmlh_l_gm_hkhvlh.jpg"/>
          <p:cNvPicPr>
            <a:picLocks noChangeAspect="1" noChangeArrowheads="1"/>
          </p:cNvPicPr>
          <p:nvPr/>
        </p:nvPicPr>
        <p:blipFill>
          <a:blip r:embed="rId6"/>
          <a:srcRect/>
          <a:stretch>
            <a:fillRect/>
          </a:stretch>
        </p:blipFill>
        <p:spPr bwMode="auto">
          <a:xfrm>
            <a:off x="3097346" y="1040152"/>
            <a:ext cx="2857520" cy="2286016"/>
          </a:xfrm>
          <a:prstGeom prst="rect">
            <a:avLst/>
          </a:prstGeom>
          <a:noFill/>
          <a:ln w="38100">
            <a:solidFill>
              <a:srgbClr val="FF0000"/>
            </a:solidFill>
          </a:ln>
        </p:spPr>
      </p:pic>
      <p:sp>
        <p:nvSpPr>
          <p:cNvPr id="7" name="TextBox 6"/>
          <p:cNvSpPr txBox="1"/>
          <p:nvPr/>
        </p:nvSpPr>
        <p:spPr>
          <a:xfrm>
            <a:off x="3419874" y="191075"/>
            <a:ext cx="2212465" cy="369332"/>
          </a:xfrm>
          <a:prstGeom prst="rect">
            <a:avLst/>
          </a:prstGeom>
          <a:solidFill>
            <a:srgbClr val="FFFF00"/>
          </a:solidFill>
          <a:ln>
            <a:solidFill>
              <a:schemeClr val="tx1"/>
            </a:solidFill>
          </a:ln>
        </p:spPr>
        <p:txBody>
          <a:bodyPr wrap="none" rtlCol="1">
            <a:spAutoFit/>
          </a:bodyPr>
          <a:lstStyle/>
          <a:p>
            <a:r>
              <a:rPr lang="he-IL" sz="1800" b="1" dirty="0"/>
              <a:t>ימת החולה – מי מרום</a:t>
            </a:r>
          </a:p>
        </p:txBody>
      </p:sp>
      <p:sp>
        <p:nvSpPr>
          <p:cNvPr id="8" name="אליפסה 7"/>
          <p:cNvSpPr/>
          <p:nvPr/>
        </p:nvSpPr>
        <p:spPr>
          <a:xfrm>
            <a:off x="6948264" y="1772816"/>
            <a:ext cx="432048" cy="4103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085" y="975158"/>
            <a:ext cx="3672408" cy="2570686"/>
          </a:xfrm>
          <a:prstGeom prst="rect">
            <a:avLst/>
          </a:prstGeom>
          <a:noFill/>
          <a:ln w="3810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626595" y="190219"/>
            <a:ext cx="3890809" cy="369332"/>
          </a:xfrm>
          <a:prstGeom prst="rect">
            <a:avLst/>
          </a:prstGeom>
          <a:solidFill>
            <a:srgbClr val="FFFF00"/>
          </a:solidFill>
          <a:ln w="12700">
            <a:solidFill>
              <a:schemeClr val="tx1"/>
            </a:solidFill>
          </a:ln>
        </p:spPr>
        <p:txBody>
          <a:bodyPr wrap="none" rtlCol="1">
            <a:spAutoFit/>
          </a:bodyPr>
          <a:lstStyle/>
          <a:p>
            <a:r>
              <a:rPr lang="he-IL" sz="1800" b="1" dirty="0"/>
              <a:t>במושבה יסוד המעלה – </a:t>
            </a:r>
            <a:r>
              <a:rPr lang="he-IL" sz="1800" b="1" dirty="0">
                <a:solidFill>
                  <a:srgbClr val="FF0000"/>
                </a:solidFill>
              </a:rPr>
              <a:t>יום א', ח' בכסלו</a:t>
            </a:r>
          </a:p>
        </p:txBody>
      </p:sp>
      <p:pic>
        <p:nvPicPr>
          <p:cNvPr id="68610" name="Picture 2" descr="http://t2.gstatic.com/images?q=tbn:ANd9GcS8TFrKgDIOJCb7rFTtwmJtybrhS7SlJe0IjtBlpqtJL3dh0JZb2O1-ZIsHjA"/>
          <p:cNvPicPr>
            <a:picLocks noChangeAspect="1" noChangeArrowheads="1"/>
          </p:cNvPicPr>
          <p:nvPr/>
        </p:nvPicPr>
        <p:blipFill>
          <a:blip r:embed="rId3"/>
          <a:srcRect/>
          <a:stretch>
            <a:fillRect/>
          </a:stretch>
        </p:blipFill>
        <p:spPr bwMode="auto">
          <a:xfrm>
            <a:off x="8244408" y="926241"/>
            <a:ext cx="677098" cy="642502"/>
          </a:xfrm>
          <a:prstGeom prst="rect">
            <a:avLst/>
          </a:prstGeom>
          <a:noFill/>
          <a:ln w="38100">
            <a:solidFill>
              <a:srgbClr val="FF0000"/>
            </a:solidFill>
          </a:ln>
        </p:spPr>
      </p:pic>
      <p:pic>
        <p:nvPicPr>
          <p:cNvPr id="68614" name="Picture 6" descr="http://www.bet-alon.co.il/var/img/maps/city/thumb/map268"/>
          <p:cNvPicPr>
            <a:picLocks noChangeAspect="1" noChangeArrowheads="1"/>
          </p:cNvPicPr>
          <p:nvPr/>
        </p:nvPicPr>
        <p:blipFill>
          <a:blip r:embed="rId4"/>
          <a:srcRect/>
          <a:stretch>
            <a:fillRect/>
          </a:stretch>
        </p:blipFill>
        <p:spPr bwMode="auto">
          <a:xfrm>
            <a:off x="5576496" y="2060909"/>
            <a:ext cx="2240798" cy="2025018"/>
          </a:xfrm>
          <a:prstGeom prst="rect">
            <a:avLst/>
          </a:prstGeom>
          <a:noFill/>
          <a:ln w="38100">
            <a:solidFill>
              <a:srgbClr val="FF0000"/>
            </a:solidFill>
          </a:ln>
        </p:spPr>
      </p:pic>
      <p:pic>
        <p:nvPicPr>
          <p:cNvPr id="68618" name="Picture 10" descr="http://www.bet-alon.co.il/var/img/city/main/13919"/>
          <p:cNvPicPr>
            <a:picLocks noChangeAspect="1" noChangeArrowheads="1"/>
          </p:cNvPicPr>
          <p:nvPr/>
        </p:nvPicPr>
        <p:blipFill>
          <a:blip r:embed="rId5"/>
          <a:srcRect/>
          <a:stretch>
            <a:fillRect/>
          </a:stretch>
        </p:blipFill>
        <p:spPr bwMode="auto">
          <a:xfrm>
            <a:off x="683568" y="3895000"/>
            <a:ext cx="3103442" cy="2448272"/>
          </a:xfrm>
          <a:prstGeom prst="rect">
            <a:avLst/>
          </a:prstGeom>
          <a:noFill/>
          <a:ln w="38100">
            <a:solidFill>
              <a:srgbClr val="FF0000"/>
            </a:solidFill>
          </a:ln>
        </p:spPr>
      </p:pic>
      <p:sp>
        <p:nvSpPr>
          <p:cNvPr id="9" name="TextBox 8"/>
          <p:cNvSpPr txBox="1"/>
          <p:nvPr/>
        </p:nvSpPr>
        <p:spPr>
          <a:xfrm>
            <a:off x="1872684" y="6371615"/>
            <a:ext cx="582211" cy="307777"/>
          </a:xfrm>
          <a:prstGeom prst="rect">
            <a:avLst/>
          </a:prstGeom>
          <a:noFill/>
          <a:ln w="38100">
            <a:noFill/>
          </a:ln>
        </p:spPr>
        <p:txBody>
          <a:bodyPr wrap="none" rtlCol="1">
            <a:spAutoFit/>
          </a:bodyPr>
          <a:lstStyle/>
          <a:p>
            <a:r>
              <a:rPr lang="he-IL" b="1" dirty="0"/>
              <a:t>1912</a:t>
            </a:r>
          </a:p>
        </p:txBody>
      </p:sp>
      <p:sp>
        <p:nvSpPr>
          <p:cNvPr id="8" name="TextBox 7"/>
          <p:cNvSpPr txBox="1"/>
          <p:nvPr/>
        </p:nvSpPr>
        <p:spPr>
          <a:xfrm>
            <a:off x="7817294" y="208229"/>
            <a:ext cx="1075936" cy="338554"/>
          </a:xfrm>
          <a:prstGeom prst="rect">
            <a:avLst/>
          </a:prstGeom>
          <a:solidFill>
            <a:srgbClr val="76E3FF"/>
          </a:solidFill>
          <a:ln w="12700">
            <a:solidFill>
              <a:schemeClr val="tx1"/>
            </a:solidFill>
          </a:ln>
        </p:spPr>
        <p:txBody>
          <a:bodyPr wrap="none" rtlCol="1">
            <a:spAutoFit/>
          </a:bodyPr>
          <a:lstStyle/>
          <a:p>
            <a:r>
              <a:rPr lang="he-IL" sz="1600" b="1" dirty="0"/>
              <a:t>לפנות ערב</a:t>
            </a:r>
          </a:p>
        </p:txBody>
      </p:sp>
      <p:sp>
        <p:nvSpPr>
          <p:cNvPr id="10" name="TextBox 9"/>
          <p:cNvSpPr txBox="1"/>
          <p:nvPr/>
        </p:nvSpPr>
        <p:spPr>
          <a:xfrm>
            <a:off x="5396699" y="836712"/>
            <a:ext cx="2600392" cy="738664"/>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1883 – </a:t>
            </a:r>
            <a:r>
              <a:rPr lang="he-IL" b="1" dirty="0"/>
              <a:t>חיבת ציון</a:t>
            </a:r>
          </a:p>
          <a:p>
            <a:pPr algn="r" rtl="1"/>
            <a:r>
              <a:rPr lang="he-IL" b="1" dirty="0">
                <a:solidFill>
                  <a:srgbClr val="FF0000"/>
                </a:solidFill>
              </a:rPr>
              <a:t>1887 – </a:t>
            </a:r>
            <a:r>
              <a:rPr lang="he-IL" b="1" dirty="0"/>
              <a:t>חסות הברון רוטשילד</a:t>
            </a:r>
          </a:p>
          <a:p>
            <a:pPr algn="r" rtl="1"/>
            <a:r>
              <a:rPr lang="he-IL" b="1" dirty="0"/>
              <a:t>            30 משפחות, דתיים, ת"ח</a:t>
            </a:r>
          </a:p>
        </p:txBody>
      </p:sp>
      <p:sp>
        <p:nvSpPr>
          <p:cNvPr id="11" name="TextBox 10"/>
          <p:cNvSpPr txBox="1"/>
          <p:nvPr/>
        </p:nvSpPr>
        <p:spPr>
          <a:xfrm>
            <a:off x="4369791" y="4571460"/>
            <a:ext cx="4445511" cy="1384995"/>
          </a:xfrm>
          <a:prstGeom prst="rect">
            <a:avLst/>
          </a:prstGeom>
          <a:solidFill>
            <a:srgbClr val="FFFF00"/>
          </a:solidFill>
          <a:ln>
            <a:solidFill>
              <a:srgbClr val="2217F5"/>
            </a:solidFill>
          </a:ln>
        </p:spPr>
        <p:txBody>
          <a:bodyPr wrap="none" rtlCol="1">
            <a:spAutoFit/>
          </a:bodyPr>
          <a:lstStyle/>
          <a:p>
            <a:pPr algn="r" rtl="1"/>
            <a:r>
              <a:rPr lang="he-IL" b="1" dirty="0"/>
              <a:t>התקבלו בשמחה, המורה לא בא.</a:t>
            </a:r>
          </a:p>
          <a:p>
            <a:pPr algn="r" rtl="1"/>
            <a:r>
              <a:rPr lang="he-IL" b="1" dirty="0"/>
              <a:t>הרב קוק דרש </a:t>
            </a:r>
            <a:r>
              <a:rPr lang="he-IL" b="1" dirty="0" err="1"/>
              <a:t>בבהכנ"ס</a:t>
            </a:r>
            <a:r>
              <a:rPr lang="he-IL" b="1" dirty="0"/>
              <a:t>, המורים באו.</a:t>
            </a:r>
          </a:p>
          <a:p>
            <a:pPr algn="r" rtl="1"/>
            <a:r>
              <a:rPr lang="he-IL" b="1" dirty="0"/>
              <a:t>אותו מורה קיבל על עצמו להניח תפילין בהדרכת הרב פישל </a:t>
            </a:r>
          </a:p>
          <a:p>
            <a:pPr algn="r" rtl="1"/>
            <a:r>
              <a:rPr lang="he-IL" b="1" dirty="0" err="1"/>
              <a:t>איתו</a:t>
            </a:r>
            <a:r>
              <a:rPr lang="he-IL" b="1" dirty="0"/>
              <a:t> התפייס באותו מעמד.</a:t>
            </a:r>
          </a:p>
          <a:p>
            <a:pPr algn="r" rtl="1"/>
            <a:endParaRPr lang="he-IL" b="1" dirty="0"/>
          </a:p>
          <a:p>
            <a:pPr algn="r" rtl="1"/>
            <a:r>
              <a:rPr lang="he-IL" b="1" dirty="0"/>
              <a:t>המורה: שמח, אך מבקר את מעשי הרבנים ושיגנו על החינוך.</a:t>
            </a:r>
          </a:p>
        </p:txBody>
      </p:sp>
    </p:spTree>
    <p:extLst>
      <p:ext uri="{BB962C8B-B14F-4D97-AF65-F5344CB8AC3E}">
        <p14:creationId xmlns:p14="http://schemas.microsoft.com/office/powerpoint/2010/main" val="4273368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884"/>
          <p:cNvSpPr/>
          <p:nvPr/>
        </p:nvSpPr>
        <p:spPr>
          <a:xfrm>
            <a:off x="5220072" y="4365108"/>
            <a:ext cx="3600400" cy="1994541"/>
          </a:xfrm>
          <a:prstGeom prst="rect">
            <a:avLst/>
          </a:prstGeom>
          <a:blipFill>
            <a:blip r:embed="rId2"/>
            <a:stretch>
              <a:fillRect/>
            </a:stretch>
          </a:blipFill>
          <a:ln w="38100">
            <a:solidFill>
              <a:srgbClr val="FF0000"/>
            </a:solidFill>
          </a:ln>
        </p:spPr>
        <p:txBody>
          <a:bodyPr/>
          <a:lstStyle/>
          <a:p>
            <a:endParaRPr lang="he-IL"/>
          </a:p>
        </p:txBody>
      </p:sp>
      <p:pic>
        <p:nvPicPr>
          <p:cNvPr id="3074" name="Picture 2" descr="קובץ:אחוזת דוברובין.JPG"/>
          <p:cNvPicPr>
            <a:picLocks noChangeAspect="1" noChangeArrowheads="1"/>
          </p:cNvPicPr>
          <p:nvPr/>
        </p:nvPicPr>
        <p:blipFill>
          <a:blip r:embed="rId3"/>
          <a:srcRect/>
          <a:stretch>
            <a:fillRect/>
          </a:stretch>
        </p:blipFill>
        <p:spPr bwMode="auto">
          <a:xfrm>
            <a:off x="2627786" y="1628800"/>
            <a:ext cx="3566625" cy="2376264"/>
          </a:xfrm>
          <a:prstGeom prst="rect">
            <a:avLst/>
          </a:prstGeom>
          <a:noFill/>
          <a:ln w="38100">
            <a:solidFill>
              <a:srgbClr val="FF0000"/>
            </a:solidFill>
          </a:ln>
        </p:spPr>
      </p:pic>
      <p:pic>
        <p:nvPicPr>
          <p:cNvPr id="6" name="Picture 2" descr="http://www.syt.co.il/uploads/8281-%D7%93%D7%95%D7%91%D7%A8%D7%95%D7%91%D7%99%D7%9F2582339563_74f5d6c09c_o.jpg"/>
          <p:cNvPicPr>
            <a:picLocks noChangeAspect="1" noChangeArrowheads="1"/>
          </p:cNvPicPr>
          <p:nvPr/>
        </p:nvPicPr>
        <p:blipFill>
          <a:blip r:embed="rId4"/>
          <a:srcRect/>
          <a:stretch>
            <a:fillRect/>
          </a:stretch>
        </p:blipFill>
        <p:spPr bwMode="auto">
          <a:xfrm>
            <a:off x="179512" y="764704"/>
            <a:ext cx="2232248" cy="3081324"/>
          </a:xfrm>
          <a:prstGeom prst="rect">
            <a:avLst/>
          </a:prstGeom>
          <a:noFill/>
          <a:ln w="38100">
            <a:solidFill>
              <a:srgbClr val="FF0000"/>
            </a:solidFill>
          </a:ln>
        </p:spPr>
      </p:pic>
      <p:sp>
        <p:nvSpPr>
          <p:cNvPr id="7" name="Shape 899"/>
          <p:cNvSpPr/>
          <p:nvPr/>
        </p:nvSpPr>
        <p:spPr>
          <a:xfrm>
            <a:off x="251520" y="4581128"/>
            <a:ext cx="1728192" cy="1767092"/>
          </a:xfrm>
          <a:prstGeom prst="rect">
            <a:avLst/>
          </a:prstGeom>
          <a:blipFill>
            <a:blip r:embed="rId5"/>
            <a:stretch>
              <a:fillRect/>
            </a:stretch>
          </a:blipFill>
          <a:ln w="38100">
            <a:solidFill>
              <a:srgbClr val="FF0000"/>
            </a:solidFill>
          </a:ln>
        </p:spPr>
        <p:txBody>
          <a:bodyPr/>
          <a:lstStyle/>
          <a:p>
            <a:endParaRPr lang="he-IL"/>
          </a:p>
        </p:txBody>
      </p:sp>
      <p:sp>
        <p:nvSpPr>
          <p:cNvPr id="8" name="Shape 900"/>
          <p:cNvSpPr/>
          <p:nvPr/>
        </p:nvSpPr>
        <p:spPr>
          <a:xfrm>
            <a:off x="2267745" y="4437116"/>
            <a:ext cx="2736304" cy="2001549"/>
          </a:xfrm>
          <a:prstGeom prst="rect">
            <a:avLst/>
          </a:prstGeom>
          <a:blipFill>
            <a:blip r:embed="rId6"/>
            <a:stretch>
              <a:fillRect/>
            </a:stretch>
          </a:blipFill>
          <a:ln w="38100">
            <a:solidFill>
              <a:srgbClr val="FF0000"/>
            </a:solidFill>
          </a:ln>
        </p:spPr>
        <p:txBody>
          <a:bodyPr/>
          <a:lstStyle/>
          <a:p>
            <a:endParaRPr lang="he-IL"/>
          </a:p>
        </p:txBody>
      </p:sp>
      <p:pic>
        <p:nvPicPr>
          <p:cNvPr id="1536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08304" y="260652"/>
            <a:ext cx="1628898" cy="986357"/>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pic>
        <p:nvPicPr>
          <p:cNvPr id="15363" name="Picture 3"/>
          <p:cNvPicPr>
            <a:picLocks noChangeAspect="1" noChangeArrowheads="1"/>
          </p:cNvPicPr>
          <p:nvPr/>
        </p:nvPicPr>
        <p:blipFill>
          <a:blip r:embed="rId8">
            <a:extLst>
              <a:ext uri="{28A0092B-C50C-407E-A947-70E740481C1C}">
                <a14:useLocalDpi xmlns:a14="http://schemas.microsoft.com/office/drawing/2010/main" val="0"/>
              </a:ext>
            </a:extLst>
          </a:blip>
          <a:srcRect l="13411" t="8910" r="19438" b="7900"/>
          <a:stretch>
            <a:fillRect/>
          </a:stretch>
        </p:blipFill>
        <p:spPr bwMode="auto">
          <a:xfrm>
            <a:off x="7380312" y="1987458"/>
            <a:ext cx="1152126" cy="1637232"/>
          </a:xfrm>
          <a:prstGeom prst="rect">
            <a:avLst/>
          </a:prstGeom>
          <a:noFill/>
          <a:ln w="38100">
            <a:solidFill>
              <a:srgbClr val="2217F5"/>
            </a:solidFill>
          </a:ln>
          <a:extLst>
            <a:ext uri="{909E8E84-426E-40DD-AFC4-6F175D3DCCD1}">
              <a14:hiddenFill xmlns:a14="http://schemas.microsoft.com/office/drawing/2010/main">
                <a:solidFill>
                  <a:schemeClr val="accent1"/>
                </a:solidFill>
              </a14:hiddenFill>
            </a:ext>
          </a:extLst>
        </p:spPr>
      </p:pic>
      <p:sp>
        <p:nvSpPr>
          <p:cNvPr id="11" name="TextBox 10"/>
          <p:cNvSpPr txBox="1"/>
          <p:nvPr/>
        </p:nvSpPr>
        <p:spPr>
          <a:xfrm>
            <a:off x="5724131" y="6381332"/>
            <a:ext cx="2794355" cy="307777"/>
          </a:xfrm>
          <a:prstGeom prst="rect">
            <a:avLst/>
          </a:prstGeom>
          <a:noFill/>
        </p:spPr>
        <p:txBody>
          <a:bodyPr wrap="none" rtlCol="1">
            <a:spAutoFit/>
          </a:bodyPr>
          <a:lstStyle/>
          <a:p>
            <a:pPr algn="r" rtl="1"/>
            <a:r>
              <a:rPr lang="he-IL" b="1" dirty="0"/>
              <a:t>אריה </a:t>
            </a:r>
            <a:r>
              <a:rPr lang="he-IL" b="1" dirty="0" err="1"/>
              <a:t>לובבסקי</a:t>
            </a:r>
            <a:r>
              <a:rPr lang="he-IL" b="1" dirty="0"/>
              <a:t> צאצא של פישל סלמון</a:t>
            </a:r>
          </a:p>
        </p:txBody>
      </p:sp>
      <p:sp>
        <p:nvSpPr>
          <p:cNvPr id="12" name="TextBox 11"/>
          <p:cNvSpPr txBox="1"/>
          <p:nvPr/>
        </p:nvSpPr>
        <p:spPr>
          <a:xfrm>
            <a:off x="2782768" y="112276"/>
            <a:ext cx="3353803" cy="369332"/>
          </a:xfrm>
          <a:prstGeom prst="rect">
            <a:avLst/>
          </a:prstGeom>
          <a:solidFill>
            <a:srgbClr val="FFFF00"/>
          </a:solidFill>
          <a:ln>
            <a:solidFill>
              <a:schemeClr val="tx1"/>
            </a:solidFill>
          </a:ln>
        </p:spPr>
        <p:txBody>
          <a:bodyPr wrap="none" rtlCol="1">
            <a:spAutoFit/>
          </a:bodyPr>
          <a:lstStyle/>
          <a:p>
            <a:pPr algn="r" rtl="1"/>
            <a:r>
              <a:rPr lang="he-IL" sz="1800" b="1" dirty="0"/>
              <a:t>באחוזת </a:t>
            </a:r>
            <a:r>
              <a:rPr lang="he-IL" sz="1800" b="1" dirty="0" err="1"/>
              <a:t>דוברובין</a:t>
            </a:r>
            <a:r>
              <a:rPr lang="he-IL" sz="1800" b="1" dirty="0"/>
              <a:t> – חצר הראשונים</a:t>
            </a:r>
          </a:p>
        </p:txBody>
      </p:sp>
      <p:sp>
        <p:nvSpPr>
          <p:cNvPr id="13" name="TextBox 12"/>
          <p:cNvSpPr txBox="1"/>
          <p:nvPr/>
        </p:nvSpPr>
        <p:spPr>
          <a:xfrm>
            <a:off x="7380312" y="3645024"/>
            <a:ext cx="1136850" cy="523220"/>
          </a:xfrm>
          <a:prstGeom prst="rect">
            <a:avLst/>
          </a:prstGeom>
          <a:noFill/>
        </p:spPr>
        <p:txBody>
          <a:bodyPr wrap="none" rtlCol="1">
            <a:spAutoFit/>
          </a:bodyPr>
          <a:lstStyle/>
          <a:p>
            <a:r>
              <a:rPr lang="he-IL" b="1" dirty="0"/>
              <a:t>יואב </a:t>
            </a:r>
            <a:r>
              <a:rPr lang="he-IL" b="1" dirty="0" err="1"/>
              <a:t>דוברובין</a:t>
            </a:r>
            <a:endParaRPr lang="he-IL" b="1" dirty="0"/>
          </a:p>
          <a:p>
            <a:pPr algn="r" rtl="1"/>
            <a:r>
              <a:rPr lang="he-IL" b="1" dirty="0"/>
              <a:t>   גר צדק</a:t>
            </a:r>
          </a:p>
        </p:txBody>
      </p:sp>
      <p:sp>
        <p:nvSpPr>
          <p:cNvPr id="14" name="TextBox 13"/>
          <p:cNvSpPr txBox="1"/>
          <p:nvPr/>
        </p:nvSpPr>
        <p:spPr>
          <a:xfrm>
            <a:off x="2915817" y="764704"/>
            <a:ext cx="3810660" cy="523220"/>
          </a:xfrm>
          <a:prstGeom prst="rect">
            <a:avLst/>
          </a:prstGeom>
          <a:solidFill>
            <a:srgbClr val="FFFF00"/>
          </a:solidFill>
          <a:ln>
            <a:solidFill>
              <a:schemeClr val="tx1"/>
            </a:solidFill>
          </a:ln>
        </p:spPr>
        <p:txBody>
          <a:bodyPr wrap="none" rtlCol="1">
            <a:spAutoFit/>
          </a:bodyPr>
          <a:lstStyle/>
          <a:p>
            <a:pPr algn="r" rtl="1"/>
            <a:r>
              <a:rPr lang="he-IL" b="1" dirty="0">
                <a:solidFill>
                  <a:srgbClr val="FF0000"/>
                </a:solidFill>
              </a:rPr>
              <a:t>1884 – </a:t>
            </a:r>
            <a:r>
              <a:rPr lang="he-IL" b="1" dirty="0"/>
              <a:t>נוסדה, חיבת ציון</a:t>
            </a:r>
          </a:p>
          <a:p>
            <a:pPr algn="r" rtl="1"/>
            <a:r>
              <a:rPr lang="he-IL" b="1" dirty="0">
                <a:solidFill>
                  <a:srgbClr val="FF0000"/>
                </a:solidFill>
              </a:rPr>
              <a:t>1904 – </a:t>
            </a:r>
            <a:r>
              <a:rPr lang="he-IL" b="1" dirty="0"/>
              <a:t>משפחת </a:t>
            </a:r>
            <a:r>
              <a:rPr lang="he-IL" b="1" dirty="0" err="1"/>
              <a:t>דוברובין</a:t>
            </a:r>
            <a:r>
              <a:rPr lang="he-IL" b="1" dirty="0"/>
              <a:t> מצטרפת, בעלת האחוזה</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8" name="Picture 8" descr="http://www.galilon.co.il/sites/default/files/images/standart_ysvd_hmlh3.jpg"/>
          <p:cNvPicPr>
            <a:picLocks noChangeAspect="1" noChangeArrowheads="1"/>
          </p:cNvPicPr>
          <p:nvPr/>
        </p:nvPicPr>
        <p:blipFill>
          <a:blip r:embed="rId2"/>
          <a:srcRect/>
          <a:stretch>
            <a:fillRect/>
          </a:stretch>
        </p:blipFill>
        <p:spPr bwMode="auto">
          <a:xfrm>
            <a:off x="5292081" y="836712"/>
            <a:ext cx="3168352" cy="2534682"/>
          </a:xfrm>
          <a:prstGeom prst="rect">
            <a:avLst/>
          </a:prstGeom>
          <a:noFill/>
          <a:ln w="38100">
            <a:solidFill>
              <a:srgbClr val="FF0000"/>
            </a:solidFill>
          </a:ln>
        </p:spPr>
      </p:pic>
      <p:pic>
        <p:nvPicPr>
          <p:cNvPr id="6" name="Picture 4" descr="http://www.bet-alon.co.il/var/img/city/main/13920"/>
          <p:cNvPicPr>
            <a:picLocks noChangeAspect="1" noChangeArrowheads="1"/>
          </p:cNvPicPr>
          <p:nvPr/>
        </p:nvPicPr>
        <p:blipFill>
          <a:blip r:embed="rId3"/>
          <a:srcRect/>
          <a:stretch>
            <a:fillRect/>
          </a:stretch>
        </p:blipFill>
        <p:spPr bwMode="auto">
          <a:xfrm>
            <a:off x="683568" y="764708"/>
            <a:ext cx="3427314" cy="2703771"/>
          </a:xfrm>
          <a:prstGeom prst="rect">
            <a:avLst/>
          </a:prstGeom>
          <a:noFill/>
          <a:ln w="38100">
            <a:solidFill>
              <a:srgbClr val="FF0000"/>
            </a:solidFill>
          </a:ln>
        </p:spPr>
      </p:pic>
      <p:sp>
        <p:nvSpPr>
          <p:cNvPr id="7" name="Shape 959"/>
          <p:cNvSpPr/>
          <p:nvPr/>
        </p:nvSpPr>
        <p:spPr>
          <a:xfrm>
            <a:off x="5580114" y="3861048"/>
            <a:ext cx="2939218" cy="2664296"/>
          </a:xfrm>
          <a:prstGeom prst="rect">
            <a:avLst/>
          </a:prstGeom>
          <a:blipFill>
            <a:blip r:embed="rId4"/>
            <a:stretch>
              <a:fillRect/>
            </a:stretch>
          </a:blipFill>
          <a:ln w="38100">
            <a:solidFill>
              <a:srgbClr val="FF0000"/>
            </a:solidFill>
          </a:ln>
        </p:spPr>
        <p:txBody>
          <a:bodyPr/>
          <a:lstStyle/>
          <a:p>
            <a:endParaRPr lang="he-IL"/>
          </a:p>
        </p:txBody>
      </p:sp>
      <p:sp>
        <p:nvSpPr>
          <p:cNvPr id="5" name="TextBox 4"/>
          <p:cNvSpPr txBox="1"/>
          <p:nvPr/>
        </p:nvSpPr>
        <p:spPr>
          <a:xfrm>
            <a:off x="2987824" y="159603"/>
            <a:ext cx="3168351" cy="369332"/>
          </a:xfrm>
          <a:prstGeom prst="rect">
            <a:avLst/>
          </a:prstGeom>
          <a:solidFill>
            <a:srgbClr val="FFFF00"/>
          </a:solidFill>
          <a:ln w="12700">
            <a:solidFill>
              <a:schemeClr val="tx1"/>
            </a:solidFill>
          </a:ln>
        </p:spPr>
        <p:txBody>
          <a:bodyPr wrap="square" rtlCol="1">
            <a:spAutoFit/>
          </a:bodyPr>
          <a:lstStyle/>
          <a:p>
            <a:r>
              <a:rPr lang="he-IL" sz="1800" b="1" dirty="0">
                <a:solidFill>
                  <a:schemeClr val="tx1"/>
                </a:solidFill>
                <a:cs typeface="+mn-cs"/>
              </a:rPr>
              <a:t>ביסוד המעלה - </a:t>
            </a:r>
            <a:r>
              <a:rPr lang="he-IL" sz="1800" b="1" dirty="0">
                <a:solidFill>
                  <a:srgbClr val="FF0000"/>
                </a:solidFill>
              </a:rPr>
              <a:t>יום ב', ט' בכסלו </a:t>
            </a:r>
            <a:endParaRPr lang="he-IL" sz="1800" b="1" dirty="0">
              <a:cs typeface="+mn-cs"/>
            </a:endParaRPr>
          </a:p>
        </p:txBody>
      </p:sp>
      <p:sp>
        <p:nvSpPr>
          <p:cNvPr id="8" name="TextBox 7"/>
          <p:cNvSpPr txBox="1"/>
          <p:nvPr/>
        </p:nvSpPr>
        <p:spPr>
          <a:xfrm>
            <a:off x="532123" y="4239089"/>
            <a:ext cx="4613827" cy="954107"/>
          </a:xfrm>
          <a:prstGeom prst="rect">
            <a:avLst/>
          </a:prstGeom>
          <a:noFill/>
          <a:ln>
            <a:solidFill>
              <a:srgbClr val="2217F5"/>
            </a:solidFill>
          </a:ln>
        </p:spPr>
        <p:txBody>
          <a:bodyPr wrap="none" rtlCol="1">
            <a:spAutoFit/>
          </a:bodyPr>
          <a:lstStyle/>
          <a:p>
            <a:pPr algn="r" rtl="1"/>
            <a:r>
              <a:rPr lang="he-IL" b="1" dirty="0"/>
              <a:t>לפני התפילה חיממו את המקווה גם תושבים טבלו</a:t>
            </a:r>
          </a:p>
          <a:p>
            <a:pPr algn="r" rtl="1"/>
            <a:endParaRPr lang="he-IL" b="1" dirty="0"/>
          </a:p>
          <a:p>
            <a:pPr algn="r" rtl="1"/>
            <a:r>
              <a:rPr lang="he-IL" b="1" dirty="0"/>
              <a:t>הובא הפרוטוקול, סגנון מוזר של המורה, הרבנים סגננו מחדש </a:t>
            </a:r>
          </a:p>
          <a:p>
            <a:pPr algn="r" rtl="1"/>
            <a:r>
              <a:rPr lang="he-IL" b="1" dirty="0"/>
              <a:t>וגם הוא חתם.</a:t>
            </a:r>
          </a:p>
        </p:txBody>
      </p:sp>
      <p:sp>
        <p:nvSpPr>
          <p:cNvPr id="9" name="TextBox 8"/>
          <p:cNvSpPr txBox="1"/>
          <p:nvPr/>
        </p:nvSpPr>
        <p:spPr>
          <a:xfrm>
            <a:off x="5634017" y="6525344"/>
            <a:ext cx="2826416" cy="307777"/>
          </a:xfrm>
          <a:prstGeom prst="rect">
            <a:avLst/>
          </a:prstGeom>
          <a:noFill/>
        </p:spPr>
        <p:txBody>
          <a:bodyPr wrap="none" rtlCol="1">
            <a:spAutoFit/>
          </a:bodyPr>
          <a:lstStyle/>
          <a:p>
            <a:pPr algn="r" rtl="1"/>
            <a:r>
              <a:rPr lang="he-IL" b="1" dirty="0"/>
              <a:t>בית ישראל אשכנזי - כאן הרבנים לנו </a:t>
            </a:r>
          </a:p>
        </p:txBody>
      </p:sp>
      <p:sp>
        <p:nvSpPr>
          <p:cNvPr id="10" name="TextBox 9"/>
          <p:cNvSpPr txBox="1"/>
          <p:nvPr/>
        </p:nvSpPr>
        <p:spPr>
          <a:xfrm>
            <a:off x="509744" y="5517232"/>
            <a:ext cx="4636206" cy="523220"/>
          </a:xfrm>
          <a:prstGeom prst="rect">
            <a:avLst/>
          </a:prstGeom>
          <a:noFill/>
          <a:ln>
            <a:solidFill>
              <a:srgbClr val="2217F5"/>
            </a:solidFill>
          </a:ln>
        </p:spPr>
        <p:txBody>
          <a:bodyPr wrap="none" rtlCol="1">
            <a:spAutoFit/>
          </a:bodyPr>
          <a:lstStyle/>
          <a:p>
            <a:pPr algn="r" rtl="1"/>
            <a:r>
              <a:rPr lang="he-IL" b="1" dirty="0"/>
              <a:t>הרב קוק על הסוס, מרקיד אותו וכולם רוקדים מסביבו.</a:t>
            </a:r>
          </a:p>
          <a:p>
            <a:pPr algn="r" rtl="1"/>
            <a:r>
              <a:rPr lang="he-IL" b="1" dirty="0"/>
              <a:t>החל להשתולל, אחד קטף ענף עם עלי תות ונתן לסוס להרגיעו.</a:t>
            </a:r>
          </a:p>
        </p:txBody>
      </p:sp>
      <p:sp>
        <p:nvSpPr>
          <p:cNvPr id="2" name="TextBox 1"/>
          <p:cNvSpPr txBox="1"/>
          <p:nvPr/>
        </p:nvSpPr>
        <p:spPr>
          <a:xfrm>
            <a:off x="4110882" y="663659"/>
            <a:ext cx="184731" cy="307777"/>
          </a:xfrm>
          <a:prstGeom prst="rect">
            <a:avLst/>
          </a:prstGeom>
          <a:noFill/>
        </p:spPr>
        <p:txBody>
          <a:bodyPr wrap="none" rtlCol="1">
            <a:spAutoFit/>
          </a:bodyPr>
          <a:lstStyle/>
          <a:p>
            <a:endParaRPr lang="he-IL" b="1" dirty="0">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C:\Users\123\Pictures\תשע'ד-א'-ד'\024.jpg"/>
          <p:cNvPicPr>
            <a:picLocks noChangeAspect="1" noChangeArrowheads="1"/>
          </p:cNvPicPr>
          <p:nvPr/>
        </p:nvPicPr>
        <p:blipFill>
          <a:blip r:embed="rId2"/>
          <a:srcRect l="10413" b="27417"/>
          <a:stretch>
            <a:fillRect/>
          </a:stretch>
        </p:blipFill>
        <p:spPr bwMode="auto">
          <a:xfrm>
            <a:off x="6876256" y="1093488"/>
            <a:ext cx="1080122" cy="1537891"/>
          </a:xfrm>
          <a:prstGeom prst="rect">
            <a:avLst/>
          </a:prstGeom>
          <a:noFill/>
          <a:ln w="38100">
            <a:solidFill>
              <a:srgbClr val="2217F5"/>
            </a:solidFill>
          </a:ln>
        </p:spPr>
      </p:pic>
      <p:sp>
        <p:nvSpPr>
          <p:cNvPr id="3" name="Shape 952"/>
          <p:cNvSpPr/>
          <p:nvPr/>
        </p:nvSpPr>
        <p:spPr>
          <a:xfrm>
            <a:off x="1023255" y="836716"/>
            <a:ext cx="4218262" cy="2653443"/>
          </a:xfrm>
          <a:prstGeom prst="rect">
            <a:avLst/>
          </a:prstGeom>
          <a:blipFill>
            <a:blip r:embed="rId3"/>
            <a:stretch>
              <a:fillRect/>
            </a:stretch>
          </a:blipFill>
          <a:ln w="38100">
            <a:solidFill>
              <a:srgbClr val="FF0000"/>
            </a:solidFill>
          </a:ln>
        </p:spPr>
        <p:txBody>
          <a:bodyPr/>
          <a:lstStyle/>
          <a:p>
            <a:endParaRPr lang="he-IL"/>
          </a:p>
        </p:txBody>
      </p:sp>
      <p:sp>
        <p:nvSpPr>
          <p:cNvPr id="4" name="TextBox 3"/>
          <p:cNvSpPr txBox="1"/>
          <p:nvPr/>
        </p:nvSpPr>
        <p:spPr>
          <a:xfrm>
            <a:off x="4738396" y="3717032"/>
            <a:ext cx="4116832" cy="1815882"/>
          </a:xfrm>
          <a:prstGeom prst="rect">
            <a:avLst/>
          </a:prstGeom>
          <a:noFill/>
          <a:ln>
            <a:solidFill>
              <a:srgbClr val="2217F5"/>
            </a:solidFill>
          </a:ln>
        </p:spPr>
        <p:txBody>
          <a:bodyPr wrap="none" rtlCol="1">
            <a:spAutoFit/>
          </a:bodyPr>
          <a:lstStyle/>
          <a:p>
            <a:pPr algn="r" rtl="1"/>
            <a:r>
              <a:rPr lang="he-IL" b="1" dirty="0">
                <a:solidFill>
                  <a:schemeClr val="tx1"/>
                </a:solidFill>
              </a:rPr>
              <a:t>בביתו:</a:t>
            </a:r>
          </a:p>
          <a:p>
            <a:pPr algn="r" rtl="1"/>
            <a:r>
              <a:rPr lang="he-IL" b="1" dirty="0">
                <a:solidFill>
                  <a:schemeClr val="tx1"/>
                </a:solidFill>
              </a:rPr>
              <a:t>הרב קוק שאלו: </a:t>
            </a:r>
            <a:r>
              <a:rPr lang="he-IL" b="1" dirty="0">
                <a:solidFill>
                  <a:srgbClr val="FF0000"/>
                </a:solidFill>
              </a:rPr>
              <a:t>למה הוסיף ו' לשם 'יס</a:t>
            </a:r>
            <a:r>
              <a:rPr lang="he-IL" b="1" dirty="0">
                <a:solidFill>
                  <a:srgbClr val="2217F5"/>
                </a:solidFill>
              </a:rPr>
              <a:t>ו</a:t>
            </a:r>
            <a:r>
              <a:rPr lang="he-IL" b="1" dirty="0">
                <a:solidFill>
                  <a:srgbClr val="FF0000"/>
                </a:solidFill>
              </a:rPr>
              <a:t>ד המעלה'? </a:t>
            </a:r>
            <a:r>
              <a:rPr lang="he-IL" b="1" dirty="0">
                <a:solidFill>
                  <a:schemeClr val="tx1"/>
                </a:solidFill>
              </a:rPr>
              <a:t>– </a:t>
            </a:r>
          </a:p>
          <a:p>
            <a:pPr algn="r" rtl="1"/>
            <a:r>
              <a:rPr lang="he-IL" b="1" dirty="0">
                <a:solidFill>
                  <a:schemeClr val="tx1"/>
                </a:solidFill>
              </a:rPr>
              <a:t>חושש מחבלי משיח, יהיו כל האותיות של שם ה', וינצלו.</a:t>
            </a:r>
          </a:p>
          <a:p>
            <a:pPr algn="r" rtl="1"/>
            <a:r>
              <a:rPr lang="he-IL" b="1" dirty="0">
                <a:solidFill>
                  <a:schemeClr val="tx1"/>
                </a:solidFill>
              </a:rPr>
              <a:t>בברכת המזון – שינויים:</a:t>
            </a:r>
          </a:p>
          <a:p>
            <a:pPr algn="r" rtl="1"/>
            <a:r>
              <a:rPr lang="he-IL" b="1" dirty="0">
                <a:solidFill>
                  <a:schemeClr val="tx1"/>
                </a:solidFill>
              </a:rPr>
              <a:t>1. 'על מי מנוחות – 'על מי מרום'</a:t>
            </a:r>
          </a:p>
          <a:p>
            <a:pPr algn="r" rtl="1"/>
            <a:r>
              <a:rPr lang="he-IL" b="1" dirty="0">
                <a:solidFill>
                  <a:schemeClr val="tx1"/>
                </a:solidFill>
              </a:rPr>
              <a:t>הרב </a:t>
            </a:r>
            <a:r>
              <a:rPr lang="he-IL" b="1" dirty="0" err="1">
                <a:solidFill>
                  <a:schemeClr val="tx1"/>
                </a:solidFill>
              </a:rPr>
              <a:t>זוננפלד</a:t>
            </a:r>
            <a:r>
              <a:rPr lang="he-IL" b="1" dirty="0">
                <a:solidFill>
                  <a:schemeClr val="tx1"/>
                </a:solidFill>
              </a:rPr>
              <a:t>: מה זה?</a:t>
            </a:r>
          </a:p>
          <a:p>
            <a:pPr algn="r" rtl="1"/>
            <a:r>
              <a:rPr lang="he-IL" b="1" dirty="0">
                <a:solidFill>
                  <a:schemeClr val="tx1"/>
                </a:solidFill>
              </a:rPr>
              <a:t>הרב פישל: זו המנוחה שלי!</a:t>
            </a:r>
          </a:p>
          <a:p>
            <a:pPr algn="r" rtl="1"/>
            <a:r>
              <a:rPr lang="he-IL" b="1" dirty="0">
                <a:solidFill>
                  <a:schemeClr val="tx1"/>
                </a:solidFill>
              </a:rPr>
              <a:t>2. 'קוממיות בארצנו' – 'לארצנו בגולה'</a:t>
            </a:r>
          </a:p>
        </p:txBody>
      </p:sp>
      <p:sp>
        <p:nvSpPr>
          <p:cNvPr id="5" name="TextBox 4"/>
          <p:cNvSpPr txBox="1"/>
          <p:nvPr/>
        </p:nvSpPr>
        <p:spPr>
          <a:xfrm>
            <a:off x="6514467" y="2743835"/>
            <a:ext cx="1803699" cy="523220"/>
          </a:xfrm>
          <a:prstGeom prst="rect">
            <a:avLst/>
          </a:prstGeom>
          <a:noFill/>
        </p:spPr>
        <p:txBody>
          <a:bodyPr wrap="none" rtlCol="1">
            <a:spAutoFit/>
          </a:bodyPr>
          <a:lstStyle/>
          <a:p>
            <a:r>
              <a:rPr lang="he-IL" b="1" dirty="0"/>
              <a:t>ר' אפרים פישל סלמון</a:t>
            </a:r>
          </a:p>
          <a:p>
            <a:r>
              <a:rPr lang="he-IL" b="1" dirty="0"/>
              <a:t>מהמייסדים, חבר הועד</a:t>
            </a:r>
          </a:p>
        </p:txBody>
      </p:sp>
      <p:sp>
        <p:nvSpPr>
          <p:cNvPr id="6" name="TextBox 5"/>
          <p:cNvSpPr txBox="1"/>
          <p:nvPr/>
        </p:nvSpPr>
        <p:spPr>
          <a:xfrm>
            <a:off x="2267744" y="118605"/>
            <a:ext cx="4724370" cy="338554"/>
          </a:xfrm>
          <a:prstGeom prst="rect">
            <a:avLst/>
          </a:prstGeom>
          <a:solidFill>
            <a:srgbClr val="FFFF00"/>
          </a:solidFill>
          <a:ln>
            <a:solidFill>
              <a:schemeClr val="tx1"/>
            </a:solidFill>
          </a:ln>
        </p:spPr>
        <p:txBody>
          <a:bodyPr wrap="none" rtlCol="1">
            <a:spAutoFit/>
          </a:bodyPr>
          <a:lstStyle/>
          <a:p>
            <a:pPr algn="r" rtl="1"/>
            <a:r>
              <a:rPr lang="he-IL" sz="1600" b="1" dirty="0"/>
              <a:t>" כי באחד לחדש הראשון הוא </a:t>
            </a:r>
            <a:r>
              <a:rPr lang="he-IL" sz="1600" b="1" dirty="0">
                <a:solidFill>
                  <a:srgbClr val="FF0000"/>
                </a:solidFill>
              </a:rPr>
              <a:t>יסד</a:t>
            </a:r>
            <a:r>
              <a:rPr lang="he-IL" sz="1600" b="1" dirty="0"/>
              <a:t> המעלה" (עזרא ז, ט)</a:t>
            </a:r>
          </a:p>
        </p:txBody>
      </p:sp>
      <p:sp>
        <p:nvSpPr>
          <p:cNvPr id="7" name="TextBox 6"/>
          <p:cNvSpPr txBox="1"/>
          <p:nvPr/>
        </p:nvSpPr>
        <p:spPr>
          <a:xfrm>
            <a:off x="916971" y="3727673"/>
            <a:ext cx="3281731" cy="1600438"/>
          </a:xfrm>
          <a:prstGeom prst="rect">
            <a:avLst/>
          </a:prstGeom>
          <a:noFill/>
          <a:ln>
            <a:solidFill>
              <a:srgbClr val="2217F5"/>
            </a:solidFill>
          </a:ln>
        </p:spPr>
        <p:txBody>
          <a:bodyPr wrap="none" rtlCol="1">
            <a:spAutoFit/>
          </a:bodyPr>
          <a:lstStyle/>
          <a:p>
            <a:pPr algn="r" rtl="1"/>
            <a:r>
              <a:rPr lang="he-IL" b="1" dirty="0">
                <a:solidFill>
                  <a:srgbClr val="FF0000"/>
                </a:solidFill>
              </a:rPr>
              <a:t>אלתר אשכנזי </a:t>
            </a:r>
            <a:r>
              <a:rPr lang="he-IL" b="1" dirty="0"/>
              <a:t>מוותיקי המקום סיפר:</a:t>
            </a:r>
          </a:p>
          <a:p>
            <a:pPr algn="r" rtl="1"/>
            <a:endParaRPr lang="he-IL" b="1" dirty="0"/>
          </a:p>
          <a:p>
            <a:pPr algn="r" rtl="1"/>
            <a:r>
              <a:rPr lang="he-IL" b="1" dirty="0"/>
              <a:t>התלווה לרב </a:t>
            </a:r>
            <a:r>
              <a:rPr lang="he-IL" b="1" dirty="0" err="1"/>
              <a:t>זוננפלד</a:t>
            </a:r>
            <a:r>
              <a:rPr lang="he-IL" b="1" dirty="0"/>
              <a:t>, מספר פעמים קרא</a:t>
            </a:r>
          </a:p>
          <a:p>
            <a:pPr algn="r" rtl="1"/>
            <a:r>
              <a:rPr lang="he-IL" b="1" dirty="0"/>
              <a:t>לאיכרים להקפיד על שנות עורלה, והבטיח</a:t>
            </a:r>
          </a:p>
          <a:p>
            <a:pPr algn="r" rtl="1"/>
            <a:r>
              <a:rPr lang="he-IL" b="1" dirty="0"/>
              <a:t>"לשומעים ינעם"!</a:t>
            </a:r>
          </a:p>
          <a:p>
            <a:pPr algn="r" rtl="1"/>
            <a:r>
              <a:rPr lang="he-IL" b="1" dirty="0" err="1">
                <a:solidFill>
                  <a:srgbClr val="FF0000"/>
                </a:solidFill>
              </a:rPr>
              <a:t>בתשנ"ב</a:t>
            </a:r>
            <a:r>
              <a:rPr lang="he-IL" b="1" dirty="0">
                <a:solidFill>
                  <a:srgbClr val="FF0000"/>
                </a:solidFill>
              </a:rPr>
              <a:t> - </a:t>
            </a:r>
            <a:r>
              <a:rPr lang="he-IL" b="1" dirty="0"/>
              <a:t>היו שיטפונות כבדים רק המטעים</a:t>
            </a:r>
          </a:p>
          <a:p>
            <a:pPr algn="r" rtl="1"/>
            <a:r>
              <a:rPr lang="he-IL" b="1" dirty="0"/>
              <a:t>שהקפידו על עורלה ניצלו!</a:t>
            </a:r>
          </a:p>
        </p:txBody>
      </p:sp>
      <p:sp>
        <p:nvSpPr>
          <p:cNvPr id="8" name="TextBox 7"/>
          <p:cNvSpPr txBox="1"/>
          <p:nvPr/>
        </p:nvSpPr>
        <p:spPr>
          <a:xfrm>
            <a:off x="3707904" y="5776835"/>
            <a:ext cx="5299849" cy="738664"/>
          </a:xfrm>
          <a:prstGeom prst="rect">
            <a:avLst/>
          </a:prstGeom>
          <a:noFill/>
          <a:ln>
            <a:solidFill>
              <a:srgbClr val="2217F5"/>
            </a:solidFill>
          </a:ln>
        </p:spPr>
        <p:txBody>
          <a:bodyPr wrap="none" rtlCol="1">
            <a:spAutoFit/>
          </a:bodyPr>
          <a:lstStyle/>
          <a:p>
            <a:pPr algn="r" rtl="1"/>
            <a:r>
              <a:rPr lang="en-US" b="1" dirty="0"/>
              <a:t> </a:t>
            </a:r>
            <a:r>
              <a:rPr lang="he-IL" b="1" dirty="0">
                <a:solidFill>
                  <a:srgbClr val="0096D5"/>
                </a:solidFill>
              </a:rPr>
              <a:t>עזבו אחר הצהרים </a:t>
            </a:r>
            <a:r>
              <a:rPr lang="he-IL" b="1" dirty="0"/>
              <a:t>- על סוסים ופרדות (העגלה מראש פינה לא הגיעה)</a:t>
            </a:r>
          </a:p>
          <a:p>
            <a:pPr algn="r" rtl="1"/>
            <a:r>
              <a:rPr lang="he-IL" b="1" dirty="0"/>
              <a:t>הסוסים התעייפו לאחר שעתיים, שעה וחצי לפני השקיעה הגיעה העגלה.</a:t>
            </a:r>
          </a:p>
          <a:p>
            <a:pPr algn="r" rtl="1"/>
            <a:r>
              <a:rPr lang="he-IL" b="1" dirty="0"/>
              <a:t>5 סוסים חזרו 3 נשארו.</a:t>
            </a:r>
          </a:p>
        </p:txBody>
      </p:sp>
      <p:pic>
        <p:nvPicPr>
          <p:cNvPr id="9" name="Picture 2" descr="http://www.coupon424.co.il/halabi/hors%20(5).JPG"/>
          <p:cNvPicPr>
            <a:picLocks noChangeAspect="1" noChangeArrowheads="1"/>
          </p:cNvPicPr>
          <p:nvPr/>
        </p:nvPicPr>
        <p:blipFill>
          <a:blip r:embed="rId4"/>
          <a:srcRect l="21452"/>
          <a:stretch>
            <a:fillRect/>
          </a:stretch>
        </p:blipFill>
        <p:spPr bwMode="auto">
          <a:xfrm>
            <a:off x="2483768" y="5805268"/>
            <a:ext cx="864096" cy="825069"/>
          </a:xfrm>
          <a:prstGeom prst="rect">
            <a:avLst/>
          </a:prstGeom>
          <a:noFill/>
          <a:ln w="38100">
            <a:solidFill>
              <a:srgbClr val="FF0000"/>
            </a:solidFill>
          </a:ln>
        </p:spPr>
      </p:pic>
      <p:pic>
        <p:nvPicPr>
          <p:cNvPr id="10" name="Picture 6" descr="http://beeri.wikibbutz.org/Wikibbutz/images/thumb/0/07/Tinofet.jpg/400px-Tinofet.jpg"/>
          <p:cNvPicPr>
            <a:picLocks noChangeAspect="1" noChangeArrowheads="1"/>
          </p:cNvPicPr>
          <p:nvPr/>
        </p:nvPicPr>
        <p:blipFill>
          <a:blip r:embed="rId5"/>
          <a:srcRect/>
          <a:stretch>
            <a:fillRect/>
          </a:stretch>
        </p:blipFill>
        <p:spPr bwMode="auto">
          <a:xfrm>
            <a:off x="971602" y="5805264"/>
            <a:ext cx="936104" cy="847174"/>
          </a:xfrm>
          <a:prstGeom prst="rect">
            <a:avLst/>
          </a:prstGeom>
          <a:noFill/>
          <a:ln w="38100">
            <a:solidFill>
              <a:srgbClr val="FF0000"/>
            </a:solid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60" name="Picture 12" descr="http://nelech.co.il/Info/Track/TrackImages/4_a86b8f35-578a-4cee-a2c3-e04ff4e3cd87.jpg"/>
          <p:cNvPicPr>
            <a:picLocks noChangeAspect="1" noChangeArrowheads="1"/>
          </p:cNvPicPr>
          <p:nvPr/>
        </p:nvPicPr>
        <p:blipFill>
          <a:blip r:embed="rId2"/>
          <a:srcRect/>
          <a:stretch>
            <a:fillRect/>
          </a:stretch>
        </p:blipFill>
        <p:spPr bwMode="auto">
          <a:xfrm>
            <a:off x="611560" y="3645024"/>
            <a:ext cx="3528392" cy="2646294"/>
          </a:xfrm>
          <a:prstGeom prst="rect">
            <a:avLst/>
          </a:prstGeom>
          <a:noFill/>
          <a:ln w="38100">
            <a:solidFill>
              <a:srgbClr val="FF0000"/>
            </a:solidFill>
          </a:ln>
        </p:spPr>
      </p:pic>
      <p:pic>
        <p:nvPicPr>
          <p:cNvPr id="155662" name="Picture 14" descr="http://www.weekend.co.il/galiltop/goren/images/history.jpg"/>
          <p:cNvPicPr>
            <a:picLocks noChangeAspect="1" noChangeArrowheads="1"/>
          </p:cNvPicPr>
          <p:nvPr/>
        </p:nvPicPr>
        <p:blipFill>
          <a:blip r:embed="rId3"/>
          <a:srcRect t="3091"/>
          <a:stretch>
            <a:fillRect/>
          </a:stretch>
        </p:blipFill>
        <p:spPr bwMode="auto">
          <a:xfrm>
            <a:off x="827584" y="836712"/>
            <a:ext cx="3286148" cy="2257414"/>
          </a:xfrm>
          <a:prstGeom prst="rect">
            <a:avLst/>
          </a:prstGeom>
          <a:noFill/>
          <a:ln w="38100">
            <a:solidFill>
              <a:srgbClr val="FF0000"/>
            </a:solidFill>
          </a:ln>
        </p:spPr>
      </p:pic>
      <p:pic>
        <p:nvPicPr>
          <p:cNvPr id="19457" name="Picture 1" descr="C:\Users\123\Pictures\תשע'ד-א'-ד'\016.jpg"/>
          <p:cNvPicPr>
            <a:picLocks noChangeAspect="1" noChangeArrowheads="1"/>
          </p:cNvPicPr>
          <p:nvPr/>
        </p:nvPicPr>
        <p:blipFill>
          <a:blip r:embed="rId4"/>
          <a:srcRect t="14184" r="1887" b="10096"/>
          <a:stretch>
            <a:fillRect/>
          </a:stretch>
        </p:blipFill>
        <p:spPr bwMode="auto">
          <a:xfrm rot="10800000">
            <a:off x="5004048" y="4149080"/>
            <a:ext cx="3744886" cy="2160240"/>
          </a:xfrm>
          <a:prstGeom prst="rect">
            <a:avLst/>
          </a:prstGeom>
          <a:noFill/>
          <a:ln w="38100">
            <a:solidFill>
              <a:srgbClr val="FF0000"/>
            </a:solidFill>
          </a:ln>
        </p:spPr>
      </p:pic>
      <p:pic>
        <p:nvPicPr>
          <p:cNvPr id="28674" name="Picture 2"/>
          <p:cNvPicPr>
            <a:picLocks noChangeAspect="1" noChangeArrowheads="1"/>
          </p:cNvPicPr>
          <p:nvPr/>
        </p:nvPicPr>
        <p:blipFill>
          <a:blip r:embed="rId5">
            <a:extLst>
              <a:ext uri="{28A0092B-C50C-407E-A947-70E740481C1C}">
                <a14:useLocalDpi xmlns:a14="http://schemas.microsoft.com/office/drawing/2010/main" val="0"/>
              </a:ext>
            </a:extLst>
          </a:blip>
          <a:srcRect t="27885"/>
          <a:stretch>
            <a:fillRect/>
          </a:stretch>
        </p:blipFill>
        <p:spPr bwMode="auto">
          <a:xfrm>
            <a:off x="5806055" y="1714911"/>
            <a:ext cx="2872775" cy="1872208"/>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6" name="TextBox 5"/>
          <p:cNvSpPr txBox="1"/>
          <p:nvPr/>
        </p:nvSpPr>
        <p:spPr>
          <a:xfrm>
            <a:off x="2908842" y="188640"/>
            <a:ext cx="3374642" cy="369332"/>
          </a:xfrm>
          <a:prstGeom prst="rect">
            <a:avLst/>
          </a:prstGeom>
          <a:solidFill>
            <a:srgbClr val="FFFF00"/>
          </a:solidFill>
          <a:ln w="12700">
            <a:solidFill>
              <a:schemeClr val="tx1"/>
            </a:solidFill>
          </a:ln>
        </p:spPr>
        <p:txBody>
          <a:bodyPr wrap="none" rtlCol="1">
            <a:spAutoFit/>
          </a:bodyPr>
          <a:lstStyle/>
          <a:p>
            <a:r>
              <a:rPr lang="he-IL" sz="1800" b="1" dirty="0"/>
              <a:t>במושבה מטולה – </a:t>
            </a:r>
            <a:r>
              <a:rPr lang="he-IL" sz="1800" b="1" dirty="0">
                <a:solidFill>
                  <a:srgbClr val="FF0000"/>
                </a:solidFill>
              </a:rPr>
              <a:t>יום ב', ט' בכסלו</a:t>
            </a:r>
          </a:p>
        </p:txBody>
      </p:sp>
      <p:pic>
        <p:nvPicPr>
          <p:cNvPr id="22530" name="Picture 2" descr="כיתוב תמונה"/>
          <p:cNvPicPr>
            <a:picLocks noChangeAspect="1" noChangeArrowheads="1"/>
          </p:cNvPicPr>
          <p:nvPr/>
        </p:nvPicPr>
        <p:blipFill>
          <a:blip r:embed="rId6"/>
          <a:srcRect/>
          <a:stretch>
            <a:fillRect/>
          </a:stretch>
        </p:blipFill>
        <p:spPr bwMode="auto">
          <a:xfrm>
            <a:off x="8156532" y="658504"/>
            <a:ext cx="649946" cy="773436"/>
          </a:xfrm>
          <a:prstGeom prst="rect">
            <a:avLst/>
          </a:prstGeom>
          <a:noFill/>
          <a:ln w="38100">
            <a:solidFill>
              <a:srgbClr val="FF0000"/>
            </a:solidFill>
          </a:ln>
        </p:spPr>
      </p:pic>
      <p:sp>
        <p:nvSpPr>
          <p:cNvPr id="8" name="TextBox 7"/>
          <p:cNvSpPr txBox="1"/>
          <p:nvPr/>
        </p:nvSpPr>
        <p:spPr>
          <a:xfrm>
            <a:off x="7668344" y="175593"/>
            <a:ext cx="1273105" cy="338554"/>
          </a:xfrm>
          <a:prstGeom prst="rect">
            <a:avLst/>
          </a:prstGeom>
          <a:solidFill>
            <a:srgbClr val="76E3FF"/>
          </a:solidFill>
          <a:ln w="12700">
            <a:solidFill>
              <a:schemeClr val="tx1"/>
            </a:solidFill>
          </a:ln>
        </p:spPr>
        <p:txBody>
          <a:bodyPr wrap="none" rtlCol="1">
            <a:spAutoFit/>
          </a:bodyPr>
          <a:lstStyle/>
          <a:p>
            <a:r>
              <a:rPr lang="he-IL" sz="1600" b="1" dirty="0"/>
              <a:t>02:00 בלילה</a:t>
            </a:r>
          </a:p>
        </p:txBody>
      </p:sp>
      <p:sp>
        <p:nvSpPr>
          <p:cNvPr id="9" name="TextBox 8"/>
          <p:cNvSpPr txBox="1"/>
          <p:nvPr/>
        </p:nvSpPr>
        <p:spPr>
          <a:xfrm>
            <a:off x="6660232" y="6453336"/>
            <a:ext cx="582211" cy="307777"/>
          </a:xfrm>
          <a:prstGeom prst="rect">
            <a:avLst/>
          </a:prstGeom>
          <a:noFill/>
        </p:spPr>
        <p:txBody>
          <a:bodyPr wrap="none" rtlCol="1">
            <a:spAutoFit/>
          </a:bodyPr>
          <a:lstStyle/>
          <a:p>
            <a:r>
              <a:rPr lang="he-IL" b="1" dirty="0"/>
              <a:t>1912</a:t>
            </a:r>
          </a:p>
        </p:txBody>
      </p:sp>
      <p:sp>
        <p:nvSpPr>
          <p:cNvPr id="10" name="TextBox 9"/>
          <p:cNvSpPr txBox="1"/>
          <p:nvPr/>
        </p:nvSpPr>
        <p:spPr>
          <a:xfrm>
            <a:off x="5140409" y="908720"/>
            <a:ext cx="2811988" cy="523220"/>
          </a:xfrm>
          <a:prstGeom prst="rect">
            <a:avLst/>
          </a:prstGeom>
          <a:solidFill>
            <a:srgbClr val="FFFF00"/>
          </a:solidFill>
          <a:ln>
            <a:solidFill>
              <a:schemeClr val="tx1"/>
            </a:solidFill>
          </a:ln>
        </p:spPr>
        <p:txBody>
          <a:bodyPr wrap="none" rtlCol="1">
            <a:spAutoFit/>
          </a:bodyPr>
          <a:lstStyle/>
          <a:p>
            <a:pPr algn="r" rtl="1"/>
            <a:r>
              <a:rPr lang="he-IL" b="1" dirty="0"/>
              <a:t>1886 – הברון רוטשילד ('עם סגולה')</a:t>
            </a:r>
          </a:p>
          <a:p>
            <a:pPr algn="r" rtl="1"/>
            <a:r>
              <a:rPr lang="he-IL" b="1" dirty="0"/>
              <a:t>            40 משפחות</a:t>
            </a:r>
          </a:p>
        </p:txBody>
      </p:sp>
      <p:sp>
        <p:nvSpPr>
          <p:cNvPr id="2" name="תיבת טקסט 1">
            <a:extLst>
              <a:ext uri="{FF2B5EF4-FFF2-40B4-BE49-F238E27FC236}">
                <a16:creationId xmlns:a16="http://schemas.microsoft.com/office/drawing/2014/main" id="{2ADE9638-9020-4780-6DE4-E8B2C1BE025D}"/>
              </a:ext>
            </a:extLst>
          </p:cNvPr>
          <p:cNvSpPr txBox="1"/>
          <p:nvPr/>
        </p:nvSpPr>
        <p:spPr>
          <a:xfrm>
            <a:off x="2135145" y="6309321"/>
            <a:ext cx="481222" cy="307777"/>
          </a:xfrm>
          <a:prstGeom prst="rect">
            <a:avLst/>
          </a:prstGeom>
          <a:noFill/>
        </p:spPr>
        <p:txBody>
          <a:bodyPr wrap="none" rtlCol="1">
            <a:spAutoFit/>
          </a:bodyPr>
          <a:lstStyle/>
          <a:p>
            <a:r>
              <a:rPr lang="he-IL" b="1" dirty="0"/>
              <a:t>כיום</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http://www.metulla.muni.il/image/users/152013/ftp/my_files/pictures/BW/00A.jpg?id=7002070"/>
          <p:cNvPicPr>
            <a:picLocks noChangeAspect="1" noChangeArrowheads="1"/>
          </p:cNvPicPr>
          <p:nvPr/>
        </p:nvPicPr>
        <p:blipFill>
          <a:blip r:embed="rId3"/>
          <a:srcRect/>
          <a:stretch>
            <a:fillRect/>
          </a:stretch>
        </p:blipFill>
        <p:spPr bwMode="auto">
          <a:xfrm>
            <a:off x="5220072" y="692696"/>
            <a:ext cx="3672408" cy="2550968"/>
          </a:xfrm>
          <a:prstGeom prst="rect">
            <a:avLst/>
          </a:prstGeom>
          <a:noFill/>
          <a:ln w="38100">
            <a:solidFill>
              <a:srgbClr val="FF0000"/>
            </a:solidFill>
          </a:ln>
        </p:spPr>
      </p:pic>
      <p:pic>
        <p:nvPicPr>
          <p:cNvPr id="3" name="Picture 10" descr="http://www.syt.co.il/uploads/9233-%D7%9E%D7%98%D7%95%D7%9C%D7%94__3BE6~1.JPG"/>
          <p:cNvPicPr>
            <a:picLocks noChangeAspect="1" noChangeArrowheads="1"/>
          </p:cNvPicPr>
          <p:nvPr/>
        </p:nvPicPr>
        <p:blipFill>
          <a:blip r:embed="rId4"/>
          <a:srcRect/>
          <a:stretch>
            <a:fillRect/>
          </a:stretch>
        </p:blipFill>
        <p:spPr bwMode="auto">
          <a:xfrm>
            <a:off x="323529" y="692696"/>
            <a:ext cx="4464496" cy="2539802"/>
          </a:xfrm>
          <a:prstGeom prst="rect">
            <a:avLst/>
          </a:prstGeom>
          <a:noFill/>
          <a:ln w="38100">
            <a:solidFill>
              <a:srgbClr val="FF0000"/>
            </a:solidFill>
          </a:ln>
        </p:spPr>
      </p:pic>
      <p:sp>
        <p:nvSpPr>
          <p:cNvPr id="4" name="TextBox 3"/>
          <p:cNvSpPr txBox="1"/>
          <p:nvPr/>
        </p:nvSpPr>
        <p:spPr>
          <a:xfrm>
            <a:off x="3779913" y="116632"/>
            <a:ext cx="1548822" cy="369332"/>
          </a:xfrm>
          <a:prstGeom prst="rect">
            <a:avLst/>
          </a:prstGeom>
          <a:solidFill>
            <a:srgbClr val="FFFF00"/>
          </a:solidFill>
          <a:ln w="12700">
            <a:solidFill>
              <a:schemeClr val="tx1"/>
            </a:solidFill>
          </a:ln>
        </p:spPr>
        <p:txBody>
          <a:bodyPr wrap="none" rtlCol="1">
            <a:spAutoFit/>
          </a:bodyPr>
          <a:lstStyle/>
          <a:p>
            <a:r>
              <a:rPr lang="he-IL" sz="1800" b="1" dirty="0">
                <a:solidFill>
                  <a:srgbClr val="FF0000"/>
                </a:solidFill>
              </a:rPr>
              <a:t>יום ג', י' בכסלו</a:t>
            </a:r>
          </a:p>
        </p:txBody>
      </p:sp>
      <p:sp>
        <p:nvSpPr>
          <p:cNvPr id="5" name="TextBox 4"/>
          <p:cNvSpPr txBox="1"/>
          <p:nvPr/>
        </p:nvSpPr>
        <p:spPr>
          <a:xfrm>
            <a:off x="4211960" y="3534017"/>
            <a:ext cx="4770797" cy="3323987"/>
          </a:xfrm>
          <a:prstGeom prst="rect">
            <a:avLst/>
          </a:prstGeom>
          <a:noFill/>
          <a:ln>
            <a:solidFill>
              <a:srgbClr val="2217F5"/>
            </a:solidFill>
          </a:ln>
        </p:spPr>
        <p:txBody>
          <a:bodyPr wrap="square" rtlCol="1">
            <a:spAutoFit/>
          </a:bodyPr>
          <a:lstStyle/>
          <a:p>
            <a:pPr algn="r" rtl="1"/>
            <a:r>
              <a:rPr lang="he-IL" b="1" dirty="0"/>
              <a:t>הגיעו, קבלת פנים יפה.</a:t>
            </a:r>
          </a:p>
          <a:p>
            <a:pPr algn="r" rtl="1"/>
            <a:r>
              <a:rPr lang="he-IL" b="1" dirty="0"/>
              <a:t>נכנסו </a:t>
            </a:r>
            <a:r>
              <a:rPr lang="he-IL" b="1" dirty="0" err="1"/>
              <a:t>לבהכנ"ס</a:t>
            </a:r>
            <a:r>
              <a:rPr lang="he-IL" b="1" dirty="0"/>
              <a:t>, תפילה, הרב קוק: </a:t>
            </a:r>
            <a:r>
              <a:rPr lang="he-IL" b="1" dirty="0">
                <a:solidFill>
                  <a:srgbClr val="FF0000"/>
                </a:solidFill>
              </a:rPr>
              <a:t>על המטרה הגדולה.</a:t>
            </a:r>
          </a:p>
          <a:p>
            <a:pPr algn="r" rtl="1"/>
            <a:r>
              <a:rPr lang="he-IL" b="1" dirty="0"/>
              <a:t>אחד המורים עמד על הבימה: דיבר כדי </a:t>
            </a:r>
            <a:r>
              <a:rPr lang="he-IL" b="1" dirty="0">
                <a:solidFill>
                  <a:srgbClr val="FF0000"/>
                </a:solidFill>
              </a:rPr>
              <a:t>לבטל הרושם שעשו </a:t>
            </a:r>
          </a:p>
          <a:p>
            <a:pPr algn="r" rtl="1"/>
            <a:r>
              <a:rPr lang="he-IL" b="1" dirty="0">
                <a:solidFill>
                  <a:srgbClr val="FF0000"/>
                </a:solidFill>
              </a:rPr>
              <a:t>דבריו. שיתקנו בחוגי הישוב הישן.</a:t>
            </a:r>
          </a:p>
          <a:p>
            <a:pPr algn="r" rtl="1"/>
            <a:r>
              <a:rPr lang="he-IL" b="1" dirty="0"/>
              <a:t>הרב קוק: הוכיחו.</a:t>
            </a:r>
          </a:p>
          <a:p>
            <a:pPr algn="r" rtl="1"/>
            <a:r>
              <a:rPr lang="he-IL" b="1" dirty="0"/>
              <a:t>הרב </a:t>
            </a:r>
            <a:r>
              <a:rPr lang="he-IL" b="1" dirty="0" err="1"/>
              <a:t>זוננפלד</a:t>
            </a:r>
            <a:r>
              <a:rPr lang="he-IL" b="1" dirty="0"/>
              <a:t>: על כבוד התורה, והרב קוק: </a:t>
            </a:r>
            <a:r>
              <a:rPr lang="he-IL" b="1" dirty="0">
                <a:solidFill>
                  <a:srgbClr val="FF0000"/>
                </a:solidFill>
              </a:rPr>
              <a:t>קשות נגד דרך ארץ, </a:t>
            </a:r>
          </a:p>
          <a:p>
            <a:pPr algn="r" rtl="1"/>
            <a:r>
              <a:rPr lang="he-IL" b="1" dirty="0">
                <a:solidFill>
                  <a:srgbClr val="FF0000"/>
                </a:solidFill>
              </a:rPr>
              <a:t>איך יכול להשפיע על תלמידים? עלינו לתקן את חטא 'מי מריבה'. </a:t>
            </a:r>
          </a:p>
          <a:p>
            <a:pPr algn="r" rtl="1"/>
            <a:r>
              <a:rPr lang="he-IL" b="1" dirty="0">
                <a:solidFill>
                  <a:srgbClr val="FF0000"/>
                </a:solidFill>
              </a:rPr>
              <a:t>משה הכה ואמר: "שמעו נא המורים", בדורנו צריך להפוך את היוצרות, להכות את המורים ולדבר אל הסלע – לב אבן! </a:t>
            </a:r>
          </a:p>
          <a:p>
            <a:pPr algn="r" rtl="1"/>
            <a:r>
              <a:rPr lang="he-IL" b="1" dirty="0">
                <a:solidFill>
                  <a:schemeClr val="tx1"/>
                </a:solidFill>
              </a:rPr>
              <a:t>המורה ביקש סליחה.</a:t>
            </a:r>
          </a:p>
          <a:p>
            <a:pPr algn="r" rtl="1"/>
            <a:endParaRPr lang="he-IL" b="1" dirty="0">
              <a:solidFill>
                <a:srgbClr val="FF0000"/>
              </a:solidFill>
            </a:endParaRPr>
          </a:p>
          <a:p>
            <a:pPr algn="r" rtl="1"/>
            <a:r>
              <a:rPr lang="he-IL" b="1" dirty="0">
                <a:solidFill>
                  <a:srgbClr val="2217F5"/>
                </a:solidFill>
              </a:rPr>
              <a:t>נשמעו יריות – </a:t>
            </a:r>
            <a:r>
              <a:rPr lang="he-IL" b="1" dirty="0">
                <a:solidFill>
                  <a:schemeClr val="tx1"/>
                </a:solidFill>
              </a:rPr>
              <a:t>הרבנים: החלו לומר "מן </a:t>
            </a:r>
            <a:r>
              <a:rPr lang="he-IL" b="1" dirty="0" err="1">
                <a:solidFill>
                  <a:schemeClr val="tx1"/>
                </a:solidFill>
              </a:rPr>
              <a:t>המיצר</a:t>
            </a:r>
            <a:r>
              <a:rPr lang="he-IL" b="1" dirty="0">
                <a:solidFill>
                  <a:schemeClr val="tx1"/>
                </a:solidFill>
              </a:rPr>
              <a:t>", הרב קוק יצא </a:t>
            </a:r>
          </a:p>
          <a:p>
            <a:pPr algn="r" rtl="1"/>
            <a:r>
              <a:rPr lang="he-IL" b="1" dirty="0">
                <a:solidFill>
                  <a:schemeClr val="tx1"/>
                </a:solidFill>
              </a:rPr>
              <a:t>עם </a:t>
            </a:r>
            <a:r>
              <a:rPr lang="he-IL" b="1" dirty="0" err="1">
                <a:solidFill>
                  <a:schemeClr val="tx1"/>
                </a:solidFill>
              </a:rPr>
              <a:t>המגינים</a:t>
            </a:r>
            <a:r>
              <a:rPr lang="he-IL" b="1" dirty="0">
                <a:solidFill>
                  <a:srgbClr val="FF0000"/>
                </a:solidFill>
              </a:rPr>
              <a:t>, </a:t>
            </a:r>
            <a:r>
              <a:rPr lang="he-IL" b="1" dirty="0">
                <a:solidFill>
                  <a:schemeClr val="tx1"/>
                </a:solidFill>
              </a:rPr>
              <a:t>ביקשו</a:t>
            </a:r>
            <a:r>
              <a:rPr lang="he-IL" b="1" dirty="0">
                <a:solidFill>
                  <a:srgbClr val="FF0000"/>
                </a:solidFill>
              </a:rPr>
              <a:t> </a:t>
            </a:r>
            <a:r>
              <a:rPr lang="he-IL" b="1" dirty="0">
                <a:solidFill>
                  <a:schemeClr val="tx1"/>
                </a:solidFill>
              </a:rPr>
              <a:t>שיחזור, השיב: </a:t>
            </a:r>
            <a:r>
              <a:rPr lang="he-IL" b="1" dirty="0">
                <a:solidFill>
                  <a:srgbClr val="FF0000"/>
                </a:solidFill>
              </a:rPr>
              <a:t>"אחי בני עמי צועדים לקרב הגנה  - ואותי שולחים לבית הכנסת"?  </a:t>
            </a:r>
            <a:r>
              <a:rPr lang="he-IL" b="1" dirty="0">
                <a:solidFill>
                  <a:schemeClr val="tx1"/>
                </a:solidFill>
              </a:rPr>
              <a:t>הגיע הרוקח, הלך לעזור לו.</a:t>
            </a:r>
          </a:p>
        </p:txBody>
      </p:sp>
      <p:sp>
        <p:nvSpPr>
          <p:cNvPr id="6" name="TextBox 5"/>
          <p:cNvSpPr txBox="1"/>
          <p:nvPr/>
        </p:nvSpPr>
        <p:spPr>
          <a:xfrm>
            <a:off x="64763" y="3812553"/>
            <a:ext cx="3961341" cy="738664"/>
          </a:xfrm>
          <a:prstGeom prst="rect">
            <a:avLst/>
          </a:prstGeom>
          <a:noFill/>
          <a:ln>
            <a:solidFill>
              <a:srgbClr val="2217F5"/>
            </a:solidFill>
          </a:ln>
        </p:spPr>
        <p:txBody>
          <a:bodyPr wrap="none" rtlCol="1">
            <a:spAutoFit/>
          </a:bodyPr>
          <a:lstStyle/>
          <a:p>
            <a:pPr algn="r" rtl="1"/>
            <a:r>
              <a:rPr lang="he-IL" b="1" dirty="0"/>
              <a:t>לאחר התפילה באו לבקש שיתקנו את המקווה שחרב.</a:t>
            </a:r>
          </a:p>
          <a:p>
            <a:pPr algn="r" rtl="1"/>
            <a:r>
              <a:rPr lang="he-IL" b="1" dirty="0"/>
              <a:t>כשישבו בעגלה, הועד הביא את הפרוטוקול.</a:t>
            </a:r>
          </a:p>
          <a:p>
            <a:pPr algn="r" rtl="1"/>
            <a:r>
              <a:rPr lang="he-IL" b="1" dirty="0"/>
              <a:t>התושבים ליוו אותם ביקשו שיגיעו לביקורים נוספים.</a:t>
            </a:r>
          </a:p>
        </p:txBody>
      </p:sp>
      <p:sp>
        <p:nvSpPr>
          <p:cNvPr id="7" name="TextBox 6"/>
          <p:cNvSpPr txBox="1"/>
          <p:nvPr/>
        </p:nvSpPr>
        <p:spPr>
          <a:xfrm>
            <a:off x="479029" y="5234955"/>
            <a:ext cx="3551037" cy="1384995"/>
          </a:xfrm>
          <a:prstGeom prst="rect">
            <a:avLst/>
          </a:prstGeom>
          <a:noFill/>
          <a:ln>
            <a:solidFill>
              <a:srgbClr val="2217F5"/>
            </a:solidFill>
          </a:ln>
        </p:spPr>
        <p:txBody>
          <a:bodyPr wrap="none" rtlCol="1">
            <a:spAutoFit/>
          </a:bodyPr>
          <a:lstStyle/>
          <a:p>
            <a:pPr algn="r" rtl="1"/>
            <a:r>
              <a:rPr lang="he-IL" b="1" dirty="0">
                <a:solidFill>
                  <a:srgbClr val="0096D5"/>
                </a:solidFill>
              </a:rPr>
              <a:t>לפנות ערב – </a:t>
            </a:r>
            <a:r>
              <a:rPr lang="he-IL" b="1" dirty="0"/>
              <a:t>הגיעו ליסוד המעלה.</a:t>
            </a:r>
          </a:p>
          <a:p>
            <a:pPr algn="r" rtl="1"/>
            <a:r>
              <a:rPr lang="he-IL" b="1" dirty="0">
                <a:solidFill>
                  <a:srgbClr val="0096D5"/>
                </a:solidFill>
              </a:rPr>
              <a:t>04:00 – </a:t>
            </a:r>
            <a:r>
              <a:rPr lang="he-IL" b="1" dirty="0"/>
              <a:t>בראש פינה, הביאו את הפרוטוקול. </a:t>
            </a:r>
          </a:p>
          <a:p>
            <a:pPr algn="r" rtl="1"/>
            <a:r>
              <a:rPr lang="he-IL" b="1" dirty="0"/>
              <a:t>שמעו שמורה קיים אסיפה שהפרוטוקול כרצונם.</a:t>
            </a:r>
          </a:p>
          <a:p>
            <a:pPr algn="r" rtl="1"/>
            <a:r>
              <a:rPr lang="he-IL" b="1" dirty="0"/>
              <a:t>דברו נגד הרבנים.</a:t>
            </a:r>
          </a:p>
          <a:p>
            <a:pPr algn="r" rtl="1"/>
            <a:endParaRPr lang="he-IL" b="1" dirty="0"/>
          </a:p>
          <a:p>
            <a:pPr algn="r" rtl="1"/>
            <a:r>
              <a:rPr lang="he-IL" b="1" dirty="0"/>
              <a:t>על סוסים ופרדות לצפת.</a:t>
            </a:r>
          </a:p>
        </p:txBody>
      </p:sp>
      <p:pic>
        <p:nvPicPr>
          <p:cNvPr id="8" name="Picture 2" descr="http://www.coupon424.co.il/halabi/hors%20(5).JPG"/>
          <p:cNvPicPr>
            <a:picLocks noChangeAspect="1" noChangeArrowheads="1"/>
          </p:cNvPicPr>
          <p:nvPr/>
        </p:nvPicPr>
        <p:blipFill>
          <a:blip r:embed="rId5"/>
          <a:srcRect l="21452"/>
          <a:stretch>
            <a:fillRect/>
          </a:stretch>
        </p:blipFill>
        <p:spPr bwMode="auto">
          <a:xfrm>
            <a:off x="1248636" y="6021288"/>
            <a:ext cx="713268" cy="681053"/>
          </a:xfrm>
          <a:prstGeom prst="rect">
            <a:avLst/>
          </a:prstGeom>
          <a:noFill/>
          <a:ln w="38100">
            <a:solidFill>
              <a:srgbClr val="FF0000"/>
            </a:solidFill>
          </a:ln>
        </p:spPr>
      </p:pic>
      <p:pic>
        <p:nvPicPr>
          <p:cNvPr id="9" name="Picture 6" descr="http://beeri.wikibbutz.org/Wikibbutz/images/thumb/0/07/Tinofet.jpg/400px-Tinofet.jpg"/>
          <p:cNvPicPr>
            <a:picLocks noChangeAspect="1" noChangeArrowheads="1"/>
          </p:cNvPicPr>
          <p:nvPr/>
        </p:nvPicPr>
        <p:blipFill>
          <a:blip r:embed="rId6"/>
          <a:srcRect/>
          <a:stretch>
            <a:fillRect/>
          </a:stretch>
        </p:blipFill>
        <p:spPr bwMode="auto">
          <a:xfrm>
            <a:off x="157721" y="5980209"/>
            <a:ext cx="776970" cy="703158"/>
          </a:xfrm>
          <a:prstGeom prst="rect">
            <a:avLst/>
          </a:prstGeom>
          <a:noFill/>
          <a:ln w="38100">
            <a:solidFill>
              <a:srgbClr val="FF0000"/>
            </a:solidFill>
          </a:ln>
        </p:spPr>
      </p:pic>
      <p:pic>
        <p:nvPicPr>
          <p:cNvPr id="10" name="Picture 22" descr="ksvk">
            <a:hlinkClick r:id="rId7"/>
          </p:cNvPr>
          <p:cNvPicPr>
            <a:picLocks noChangeAspect="1" noChangeArrowheads="1"/>
          </p:cNvPicPr>
          <p:nvPr/>
        </p:nvPicPr>
        <p:blipFill>
          <a:blip r:embed="rId8"/>
          <a:srcRect/>
          <a:stretch>
            <a:fillRect/>
          </a:stretch>
        </p:blipFill>
        <p:spPr bwMode="auto">
          <a:xfrm>
            <a:off x="2195736" y="4653136"/>
            <a:ext cx="719658" cy="485894"/>
          </a:xfrm>
          <a:prstGeom prst="rect">
            <a:avLst/>
          </a:prstGeom>
          <a:noFill/>
          <a:ln w="38100">
            <a:solidFill>
              <a:srgbClr val="0000FF"/>
            </a:solidFill>
            <a:miter lim="800000"/>
            <a:headEnd/>
            <a:tailEnd/>
          </a:ln>
        </p:spPr>
      </p:pic>
      <p:sp>
        <p:nvSpPr>
          <p:cNvPr id="11" name="TextBox 10"/>
          <p:cNvSpPr txBox="1"/>
          <p:nvPr/>
        </p:nvSpPr>
        <p:spPr>
          <a:xfrm>
            <a:off x="3390994" y="3461081"/>
            <a:ext cx="635110" cy="307777"/>
          </a:xfrm>
          <a:prstGeom prst="rect">
            <a:avLst/>
          </a:prstGeom>
          <a:solidFill>
            <a:srgbClr val="76E3FF"/>
          </a:solidFill>
          <a:ln>
            <a:solidFill>
              <a:schemeClr val="tx1"/>
            </a:solidFill>
          </a:ln>
        </p:spPr>
        <p:txBody>
          <a:bodyPr wrap="none" rtlCol="1">
            <a:spAutoFit/>
          </a:bodyPr>
          <a:lstStyle/>
          <a:p>
            <a:pPr algn="r" rtl="1"/>
            <a:r>
              <a:rPr lang="he-IL" b="1" dirty="0"/>
              <a:t>בבוקר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anim calcmode="lin" valueType="num">
                                      <p:cBhvr>
                                        <p:cTn id="8" dur="2000" fill="hold"/>
                                        <p:tgtEl>
                                          <p:spTgt spid="10"/>
                                        </p:tgtEl>
                                        <p:attrNameLst>
                                          <p:attrName>style.rotation</p:attrName>
                                        </p:attrNameLst>
                                      </p:cBhvr>
                                      <p:tavLst>
                                        <p:tav tm="0">
                                          <p:val>
                                            <p:fltVal val="720"/>
                                          </p:val>
                                        </p:tav>
                                        <p:tav tm="100000">
                                          <p:val>
                                            <p:fltVal val="0"/>
                                          </p:val>
                                        </p:tav>
                                      </p:tavLst>
                                    </p:anim>
                                    <p:anim calcmode="lin" valueType="num">
                                      <p:cBhvr>
                                        <p:cTn id="9" dur="2000" fill="hold"/>
                                        <p:tgtEl>
                                          <p:spTgt spid="10"/>
                                        </p:tgtEl>
                                        <p:attrNameLst>
                                          <p:attrName>ppt_h</p:attrName>
                                        </p:attrNameLst>
                                      </p:cBhvr>
                                      <p:tavLst>
                                        <p:tav tm="0">
                                          <p:val>
                                            <p:fltVal val="0"/>
                                          </p:val>
                                        </p:tav>
                                        <p:tav tm="100000">
                                          <p:val>
                                            <p:strVal val="#ppt_h"/>
                                          </p:val>
                                        </p:tav>
                                      </p:tavLst>
                                    </p:anim>
                                    <p:anim calcmode="lin" valueType="num">
                                      <p:cBhvr>
                                        <p:cTn id="10" dur="2000" fill="hold"/>
                                        <p:tgtEl>
                                          <p:spTgt spid="10"/>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par>
                          <p:cTn id="11" fill="hold">
                            <p:stCondLst>
                              <p:cond delay="2000"/>
                            </p:stCondLst>
                            <p:childTnLst>
                              <p:par>
                                <p:cTn id="12" presetID="35"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2000"/>
                                        <p:tgtEl>
                                          <p:spTgt spid="10"/>
                                        </p:tgtEl>
                                      </p:cBhvr>
                                    </p:animEffect>
                                    <p:anim calcmode="lin" valueType="num">
                                      <p:cBhvr>
                                        <p:cTn id="15" dur="2000" fill="hold"/>
                                        <p:tgtEl>
                                          <p:spTgt spid="10"/>
                                        </p:tgtEl>
                                        <p:attrNameLst>
                                          <p:attrName>style.rotation</p:attrName>
                                        </p:attrNameLst>
                                      </p:cBhvr>
                                      <p:tavLst>
                                        <p:tav tm="0">
                                          <p:val>
                                            <p:fltVal val="720"/>
                                          </p:val>
                                        </p:tav>
                                        <p:tav tm="100000">
                                          <p:val>
                                            <p:fltVal val="0"/>
                                          </p:val>
                                        </p:tav>
                                      </p:tavLst>
                                    </p:anim>
                                    <p:anim calcmode="lin" valueType="num">
                                      <p:cBhvr>
                                        <p:cTn id="16" dur="2000" fill="hold"/>
                                        <p:tgtEl>
                                          <p:spTgt spid="10"/>
                                        </p:tgtEl>
                                        <p:attrNameLst>
                                          <p:attrName>ppt_h</p:attrName>
                                        </p:attrNameLst>
                                      </p:cBhvr>
                                      <p:tavLst>
                                        <p:tav tm="0">
                                          <p:val>
                                            <p:fltVal val="0"/>
                                          </p:val>
                                        </p:tav>
                                        <p:tav tm="100000">
                                          <p:val>
                                            <p:strVal val="#ppt_h"/>
                                          </p:val>
                                        </p:tav>
                                      </p:tavLst>
                                    </p:anim>
                                    <p:anim calcmode="lin" valueType="num">
                                      <p:cBhvr>
                                        <p:cTn id="17" dur="2000" fill="hold"/>
                                        <p:tgtEl>
                                          <p:spTgt spid="10"/>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2"/>
                                            </p:cond>
                                          </p:stCondLst>
                                          <p:endCondLst>
                                            <p:cond evt="onStopAudio" delay="0">
                                              <p:tgtEl>
                                                <p:sldTgt/>
                                              </p:tgtEl>
                                            </p:cond>
                                          </p:endCondLst>
                                        </p:cTn>
                                        <p:tgtEl>
                                          <p:sndTgt r:embed="rId2" name="explode.wav"/>
                                        </p:tgtEl>
                                      </p:cMediaNode>
                                    </p:audio>
                                  </p:subTnLst>
                                </p:cTn>
                              </p:par>
                            </p:childTnLst>
                          </p:cTn>
                        </p:par>
                        <p:par>
                          <p:cTn id="18" fill="hold">
                            <p:stCondLst>
                              <p:cond delay="4000"/>
                            </p:stCondLst>
                            <p:childTnLst>
                              <p:par>
                                <p:cTn id="19" presetID="35"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0"/>
                                        <p:tgtEl>
                                          <p:spTgt spid="10"/>
                                        </p:tgtEl>
                                      </p:cBhvr>
                                    </p:animEffect>
                                    <p:anim calcmode="lin" valueType="num">
                                      <p:cBhvr>
                                        <p:cTn id="22" dur="2000" fill="hold"/>
                                        <p:tgtEl>
                                          <p:spTgt spid="10"/>
                                        </p:tgtEl>
                                        <p:attrNameLst>
                                          <p:attrName>style.rotation</p:attrName>
                                        </p:attrNameLst>
                                      </p:cBhvr>
                                      <p:tavLst>
                                        <p:tav tm="0">
                                          <p:val>
                                            <p:fltVal val="720"/>
                                          </p:val>
                                        </p:tav>
                                        <p:tav tm="100000">
                                          <p:val>
                                            <p:fltVal val="0"/>
                                          </p:val>
                                        </p:tav>
                                      </p:tavLst>
                                    </p:anim>
                                    <p:anim calcmode="lin" valueType="num">
                                      <p:cBhvr>
                                        <p:cTn id="23" dur="2000" fill="hold"/>
                                        <p:tgtEl>
                                          <p:spTgt spid="10"/>
                                        </p:tgtEl>
                                        <p:attrNameLst>
                                          <p:attrName>ppt_h</p:attrName>
                                        </p:attrNameLst>
                                      </p:cBhvr>
                                      <p:tavLst>
                                        <p:tav tm="0">
                                          <p:val>
                                            <p:fltVal val="0"/>
                                          </p:val>
                                        </p:tav>
                                        <p:tav tm="100000">
                                          <p:val>
                                            <p:strVal val="#ppt_h"/>
                                          </p:val>
                                        </p:tav>
                                      </p:tavLst>
                                    </p:anim>
                                    <p:anim calcmode="lin" valueType="num">
                                      <p:cBhvr>
                                        <p:cTn id="24" dur="2000" fill="hold"/>
                                        <p:tgtEl>
                                          <p:spTgt spid="10"/>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9"/>
                                            </p:cond>
                                          </p:stCondLst>
                                          <p:endCondLst>
                                            <p:cond evt="onStopAudio" delay="0">
                                              <p:tgtEl>
                                                <p:sldTgt/>
                                              </p:tgtEl>
                                            </p:cond>
                                          </p:endCondLst>
                                        </p:cTn>
                                        <p:tgtEl>
                                          <p:sndTgt r:embed="rId2"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4" name="Picture 2" descr="Safed COA.png"/>
          <p:cNvPicPr>
            <a:picLocks noChangeAspect="1" noChangeArrowheads="1"/>
          </p:cNvPicPr>
          <p:nvPr/>
        </p:nvPicPr>
        <p:blipFill>
          <a:blip r:embed="rId2"/>
          <a:srcRect/>
          <a:stretch>
            <a:fillRect/>
          </a:stretch>
        </p:blipFill>
        <p:spPr bwMode="auto">
          <a:xfrm>
            <a:off x="8100393" y="438200"/>
            <a:ext cx="658352" cy="1070919"/>
          </a:xfrm>
          <a:prstGeom prst="rect">
            <a:avLst/>
          </a:prstGeom>
          <a:noFill/>
          <a:ln w="38100">
            <a:solidFill>
              <a:srgbClr val="FF0000"/>
            </a:solidFill>
          </a:ln>
        </p:spPr>
      </p:pic>
      <p:pic>
        <p:nvPicPr>
          <p:cNvPr id="156676" name="Picture 4" descr="קובץ:הרובע-הספרדי-צפת-1895.jpg"/>
          <p:cNvPicPr>
            <a:picLocks noChangeAspect="1" noChangeArrowheads="1"/>
          </p:cNvPicPr>
          <p:nvPr/>
        </p:nvPicPr>
        <p:blipFill>
          <a:blip r:embed="rId3"/>
          <a:srcRect/>
          <a:stretch>
            <a:fillRect/>
          </a:stretch>
        </p:blipFill>
        <p:spPr bwMode="auto">
          <a:xfrm>
            <a:off x="140316" y="347907"/>
            <a:ext cx="2955521" cy="1868218"/>
          </a:xfrm>
          <a:prstGeom prst="rect">
            <a:avLst/>
          </a:prstGeom>
          <a:noFill/>
          <a:ln w="38100">
            <a:solidFill>
              <a:srgbClr val="FF0000"/>
            </a:solidFill>
          </a:ln>
        </p:spPr>
      </p:pic>
      <p:pic>
        <p:nvPicPr>
          <p:cNvPr id="156678" name="Picture 6" descr="צפת, בירת הגליל העליון, על רקע אגם הכנרת"/>
          <p:cNvPicPr>
            <a:picLocks noChangeAspect="1" noChangeArrowheads="1"/>
          </p:cNvPicPr>
          <p:nvPr/>
        </p:nvPicPr>
        <p:blipFill>
          <a:blip r:embed="rId4"/>
          <a:srcRect l="27587"/>
          <a:stretch>
            <a:fillRect/>
          </a:stretch>
        </p:blipFill>
        <p:spPr bwMode="auto">
          <a:xfrm>
            <a:off x="395536" y="4653136"/>
            <a:ext cx="4914370" cy="1520194"/>
          </a:xfrm>
          <a:prstGeom prst="rect">
            <a:avLst/>
          </a:prstGeom>
          <a:noFill/>
          <a:ln w="38100">
            <a:solidFill>
              <a:srgbClr val="FF0000"/>
            </a:solidFill>
          </a:ln>
        </p:spPr>
      </p:pic>
      <p:pic>
        <p:nvPicPr>
          <p:cNvPr id="17409" name="Picture 1" descr="C:\Users\123\Pictures\תשע'ד-א'-ד'\017.jpg"/>
          <p:cNvPicPr>
            <a:picLocks noChangeAspect="1" noChangeArrowheads="1"/>
          </p:cNvPicPr>
          <p:nvPr/>
        </p:nvPicPr>
        <p:blipFill>
          <a:blip r:embed="rId5"/>
          <a:srcRect l="5275" b="59992"/>
          <a:stretch>
            <a:fillRect/>
          </a:stretch>
        </p:blipFill>
        <p:spPr bwMode="auto">
          <a:xfrm rot="10800000">
            <a:off x="3419872" y="764704"/>
            <a:ext cx="3024336" cy="1935286"/>
          </a:xfrm>
          <a:prstGeom prst="rect">
            <a:avLst/>
          </a:prstGeom>
          <a:noFill/>
          <a:ln w="38100">
            <a:solidFill>
              <a:srgbClr val="FF0000"/>
            </a:solidFill>
          </a:ln>
        </p:spPr>
      </p:pic>
      <p:pic>
        <p:nvPicPr>
          <p:cNvPr id="296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1399" y="2699990"/>
            <a:ext cx="1883506" cy="1702131"/>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8" name="TextBox 7"/>
          <p:cNvSpPr txBox="1"/>
          <p:nvPr/>
        </p:nvSpPr>
        <p:spPr>
          <a:xfrm>
            <a:off x="1043608" y="188640"/>
            <a:ext cx="2016224" cy="400110"/>
          </a:xfrm>
          <a:prstGeom prst="rect">
            <a:avLst/>
          </a:prstGeom>
          <a:noFill/>
          <a:ln w="38100">
            <a:noFill/>
          </a:ln>
        </p:spPr>
        <p:txBody>
          <a:bodyPr wrap="square" rtlCol="1">
            <a:spAutoFit/>
          </a:bodyPr>
          <a:lstStyle/>
          <a:p>
            <a:endParaRPr lang="he-IL" sz="2000" b="1" dirty="0"/>
          </a:p>
        </p:txBody>
      </p:sp>
      <p:sp>
        <p:nvSpPr>
          <p:cNvPr id="10" name="TextBox 9"/>
          <p:cNvSpPr txBox="1"/>
          <p:nvPr/>
        </p:nvSpPr>
        <p:spPr>
          <a:xfrm>
            <a:off x="3347865" y="160544"/>
            <a:ext cx="2558714" cy="369332"/>
          </a:xfrm>
          <a:prstGeom prst="rect">
            <a:avLst/>
          </a:prstGeom>
          <a:solidFill>
            <a:srgbClr val="FFFF00"/>
          </a:solidFill>
          <a:ln w="12700">
            <a:solidFill>
              <a:schemeClr val="tx1"/>
            </a:solidFill>
          </a:ln>
        </p:spPr>
        <p:txBody>
          <a:bodyPr wrap="none" rtlCol="1">
            <a:spAutoFit/>
          </a:bodyPr>
          <a:lstStyle/>
          <a:p>
            <a:r>
              <a:rPr lang="he-IL" sz="1800" b="1" dirty="0"/>
              <a:t>בצפת – </a:t>
            </a:r>
            <a:r>
              <a:rPr lang="he-IL" sz="1800" b="1" dirty="0">
                <a:solidFill>
                  <a:srgbClr val="FF0000"/>
                </a:solidFill>
              </a:rPr>
              <a:t>יום ד', י"א בכסלו</a:t>
            </a:r>
          </a:p>
        </p:txBody>
      </p:sp>
      <p:sp>
        <p:nvSpPr>
          <p:cNvPr id="11" name="TextBox 10"/>
          <p:cNvSpPr txBox="1"/>
          <p:nvPr/>
        </p:nvSpPr>
        <p:spPr>
          <a:xfrm>
            <a:off x="539552" y="4293100"/>
            <a:ext cx="184731" cy="307777"/>
          </a:xfrm>
          <a:prstGeom prst="rect">
            <a:avLst/>
          </a:prstGeom>
          <a:noFill/>
          <a:ln w="38100">
            <a:noFill/>
          </a:ln>
        </p:spPr>
        <p:txBody>
          <a:bodyPr wrap="none" rtlCol="1">
            <a:spAutoFit/>
          </a:bodyPr>
          <a:lstStyle/>
          <a:p>
            <a:endParaRPr lang="he-IL" dirty="0"/>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8264" y="332660"/>
            <a:ext cx="864096" cy="1256867"/>
          </a:xfrm>
          <a:prstGeom prst="rect">
            <a:avLst/>
          </a:prstGeom>
          <a:noFill/>
          <a:ln w="38100">
            <a:solidFill>
              <a:srgbClr val="2217F5"/>
            </a:solidFill>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2200" y="4581128"/>
            <a:ext cx="2513856" cy="1885392"/>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14" name="TextBox 13"/>
          <p:cNvSpPr txBox="1"/>
          <p:nvPr/>
        </p:nvSpPr>
        <p:spPr>
          <a:xfrm>
            <a:off x="6444145" y="1628800"/>
            <a:ext cx="1845442" cy="954107"/>
          </a:xfrm>
          <a:prstGeom prst="rect">
            <a:avLst/>
          </a:prstGeom>
          <a:noFill/>
        </p:spPr>
        <p:txBody>
          <a:bodyPr wrap="none" rtlCol="1">
            <a:spAutoFit/>
          </a:bodyPr>
          <a:lstStyle/>
          <a:p>
            <a:pPr algn="r" rtl="1"/>
            <a:r>
              <a:rPr lang="he-IL" b="1" dirty="0"/>
              <a:t>הרב יעקב דוד וילובסקי</a:t>
            </a:r>
          </a:p>
          <a:p>
            <a:pPr algn="r" rtl="1"/>
            <a:r>
              <a:rPr lang="he-IL" b="1" dirty="0"/>
              <a:t>         </a:t>
            </a:r>
            <a:r>
              <a:rPr lang="he-IL" b="1" dirty="0" err="1"/>
              <a:t>הרידב"ז</a:t>
            </a:r>
            <a:endParaRPr lang="he-IL" b="1" dirty="0"/>
          </a:p>
          <a:p>
            <a:pPr algn="r" rtl="1"/>
            <a:r>
              <a:rPr lang="he-IL" b="1" dirty="0"/>
              <a:t>   נפטר, נחום אבלים</a:t>
            </a:r>
          </a:p>
          <a:p>
            <a:pPr algn="r" rtl="1"/>
            <a:r>
              <a:rPr lang="he-IL" b="1" dirty="0"/>
              <a:t>בביתו</a:t>
            </a:r>
          </a:p>
        </p:txBody>
      </p:sp>
      <p:sp>
        <p:nvSpPr>
          <p:cNvPr id="15" name="TextBox 14"/>
          <p:cNvSpPr txBox="1"/>
          <p:nvPr/>
        </p:nvSpPr>
        <p:spPr>
          <a:xfrm>
            <a:off x="5966653" y="6524763"/>
            <a:ext cx="3324949" cy="307777"/>
          </a:xfrm>
          <a:prstGeom prst="rect">
            <a:avLst/>
          </a:prstGeom>
          <a:noFill/>
        </p:spPr>
        <p:txBody>
          <a:bodyPr wrap="none" rtlCol="1">
            <a:spAutoFit/>
          </a:bodyPr>
          <a:lstStyle/>
          <a:p>
            <a:r>
              <a:rPr lang="he-IL" b="1" dirty="0"/>
              <a:t>שלח את הרב חרל"פ עם שמות לקבר האר"י</a:t>
            </a:r>
          </a:p>
        </p:txBody>
      </p:sp>
      <p:pic>
        <p:nvPicPr>
          <p:cNvPr id="18434" name="Picture 2" descr="http://upload.wikimedia.org/wikipedia/commons/thumb/7/73/Technion.jpg/250px-Technion.jpg"/>
          <p:cNvPicPr>
            <a:picLocks noChangeAspect="1" noChangeArrowheads="1"/>
          </p:cNvPicPr>
          <p:nvPr/>
        </p:nvPicPr>
        <p:blipFill>
          <a:blip r:embed="rId9"/>
          <a:srcRect/>
          <a:stretch>
            <a:fillRect/>
          </a:stretch>
        </p:blipFill>
        <p:spPr bwMode="auto">
          <a:xfrm>
            <a:off x="169095" y="2602164"/>
            <a:ext cx="2381250" cy="1628776"/>
          </a:xfrm>
          <a:prstGeom prst="rect">
            <a:avLst/>
          </a:prstGeom>
          <a:noFill/>
          <a:ln w="38100">
            <a:solidFill>
              <a:srgbClr val="FF0000"/>
            </a:solidFill>
          </a:ln>
        </p:spPr>
      </p:pic>
      <p:sp>
        <p:nvSpPr>
          <p:cNvPr id="18" name="TextBox 17"/>
          <p:cNvSpPr txBox="1"/>
          <p:nvPr/>
        </p:nvSpPr>
        <p:spPr>
          <a:xfrm>
            <a:off x="2" y="4293100"/>
            <a:ext cx="2972289" cy="307777"/>
          </a:xfrm>
          <a:prstGeom prst="rect">
            <a:avLst/>
          </a:prstGeom>
          <a:noFill/>
        </p:spPr>
        <p:txBody>
          <a:bodyPr wrap="none" rtlCol="1">
            <a:spAutoFit/>
          </a:bodyPr>
          <a:lstStyle/>
          <a:p>
            <a:pPr algn="r" rtl="1"/>
            <a:r>
              <a:rPr lang="he-IL" b="1" dirty="0"/>
              <a:t>הטכניקום (הטכניון – נפתח רק ב1924)</a:t>
            </a:r>
          </a:p>
        </p:txBody>
      </p:sp>
      <p:sp>
        <p:nvSpPr>
          <p:cNvPr id="19" name="TextBox 18"/>
          <p:cNvSpPr txBox="1"/>
          <p:nvPr/>
        </p:nvSpPr>
        <p:spPr>
          <a:xfrm>
            <a:off x="2708830" y="2949610"/>
            <a:ext cx="4239434" cy="1384995"/>
          </a:xfrm>
          <a:prstGeom prst="rect">
            <a:avLst/>
          </a:prstGeom>
          <a:noFill/>
          <a:ln>
            <a:solidFill>
              <a:srgbClr val="2217F5"/>
            </a:solidFill>
          </a:ln>
        </p:spPr>
        <p:txBody>
          <a:bodyPr wrap="square" rtlCol="1">
            <a:spAutoFit/>
          </a:bodyPr>
          <a:lstStyle/>
          <a:p>
            <a:pPr algn="r" rtl="1"/>
            <a:r>
              <a:rPr lang="he-IL" b="1" dirty="0"/>
              <a:t>תפילת מנחה, התפלל בנוסח האר"י באריכות ורוממות</a:t>
            </a:r>
          </a:p>
          <a:p>
            <a:pPr algn="r" rtl="1"/>
            <a:r>
              <a:rPr lang="he-IL" b="1" dirty="0"/>
              <a:t>ביקור אצל הרב רפאל זילברמן רב העיר, סעודה.</a:t>
            </a:r>
          </a:p>
          <a:p>
            <a:pPr algn="r" rtl="1"/>
            <a:endParaRPr lang="he-IL" b="1" dirty="0"/>
          </a:p>
          <a:p>
            <a:pPr algn="r" rtl="1"/>
            <a:r>
              <a:rPr lang="he-IL" b="1" dirty="0"/>
              <a:t>המורים ביקשו 'גילוי דעת' על 'מלחמת השפות' בטכניקום. הרב קוק היה בעד השפה העברית ולא הגרמנית. כתב לסניף אגודת המורים בראש פינה, שמחו.</a:t>
            </a:r>
          </a:p>
        </p:txBody>
      </p:sp>
      <p:sp>
        <p:nvSpPr>
          <p:cNvPr id="20" name="TextBox 19"/>
          <p:cNvSpPr txBox="1"/>
          <p:nvPr/>
        </p:nvSpPr>
        <p:spPr>
          <a:xfrm>
            <a:off x="169095" y="6309280"/>
            <a:ext cx="5591595" cy="523220"/>
          </a:xfrm>
          <a:prstGeom prst="rect">
            <a:avLst/>
          </a:prstGeom>
          <a:noFill/>
          <a:ln>
            <a:solidFill>
              <a:srgbClr val="2217F5"/>
            </a:solidFill>
          </a:ln>
        </p:spPr>
        <p:txBody>
          <a:bodyPr wrap="none" rtlCol="1">
            <a:spAutoFit/>
          </a:bodyPr>
          <a:lstStyle/>
          <a:p>
            <a:pPr algn="r" rtl="1"/>
            <a:r>
              <a:rPr lang="he-IL" b="1" dirty="0"/>
              <a:t>המנהל ממגדל שלח את החייל שלו עם 2 סוסים, באשמורת הבוקר עד מגדל,</a:t>
            </a:r>
          </a:p>
          <a:p>
            <a:pPr algn="r" rtl="1"/>
            <a:r>
              <a:rPr lang="he-IL" b="1" dirty="0"/>
              <a:t>ירד גשם, התפללו שם שחרית.  טבלו כלים ושתו תה.</a:t>
            </a:r>
          </a:p>
        </p:txBody>
      </p:sp>
      <p:pic>
        <p:nvPicPr>
          <p:cNvPr id="3074" name="Picture 2" descr="C:\Users\123\Pictures\תשע'ד-ג'-ד'\003.jpg"/>
          <p:cNvPicPr>
            <a:picLocks noChangeAspect="1" noChangeArrowheads="1"/>
          </p:cNvPicPr>
          <p:nvPr/>
        </p:nvPicPr>
        <p:blipFill>
          <a:blip r:embed="rId10"/>
          <a:srcRect l="27006" t="21205" r="5381" b="63926"/>
          <a:stretch>
            <a:fillRect/>
          </a:stretch>
        </p:blipFill>
        <p:spPr bwMode="auto">
          <a:xfrm>
            <a:off x="165176" y="3058058"/>
            <a:ext cx="8809729" cy="2664296"/>
          </a:xfrm>
          <a:prstGeom prst="rect">
            <a:avLst/>
          </a:prstGeom>
          <a:noFill/>
          <a:ln w="38100">
            <a:solidFill>
              <a:srgbClr val="FF0000"/>
            </a:solidFill>
          </a:ln>
        </p:spPr>
      </p:pic>
      <p:sp>
        <p:nvSpPr>
          <p:cNvPr id="2" name="תיבת טקסט 1">
            <a:extLst>
              <a:ext uri="{FF2B5EF4-FFF2-40B4-BE49-F238E27FC236}">
                <a16:creationId xmlns:a16="http://schemas.microsoft.com/office/drawing/2014/main" id="{0F17F5A1-D0D3-046A-332C-8C8752F9DE57}"/>
              </a:ext>
            </a:extLst>
          </p:cNvPr>
          <p:cNvSpPr txBox="1"/>
          <p:nvPr/>
        </p:nvSpPr>
        <p:spPr>
          <a:xfrm>
            <a:off x="1323462" y="2185119"/>
            <a:ext cx="502061" cy="307777"/>
          </a:xfrm>
          <a:prstGeom prst="rect">
            <a:avLst/>
          </a:prstGeom>
          <a:noFill/>
        </p:spPr>
        <p:txBody>
          <a:bodyPr wrap="none" rtlCol="1">
            <a:spAutoFit/>
          </a:bodyPr>
          <a:lstStyle/>
          <a:p>
            <a:r>
              <a:rPr lang="he-IL" b="1" dirty="0"/>
              <a:t>צפת</a:t>
            </a:r>
          </a:p>
        </p:txBody>
      </p:sp>
      <p:sp>
        <p:nvSpPr>
          <p:cNvPr id="4" name="תיבת טקסט 3">
            <a:extLst>
              <a:ext uri="{FF2B5EF4-FFF2-40B4-BE49-F238E27FC236}">
                <a16:creationId xmlns:a16="http://schemas.microsoft.com/office/drawing/2014/main" id="{2DC50F19-3899-00BA-5473-F7C920CD4B2E}"/>
              </a:ext>
            </a:extLst>
          </p:cNvPr>
          <p:cNvSpPr txBox="1"/>
          <p:nvPr/>
        </p:nvSpPr>
        <p:spPr>
          <a:xfrm>
            <a:off x="936137" y="2682817"/>
            <a:ext cx="4643436" cy="307777"/>
          </a:xfrm>
          <a:prstGeom prst="rect">
            <a:avLst/>
          </a:prstGeom>
          <a:noFill/>
        </p:spPr>
        <p:txBody>
          <a:bodyPr wrap="square">
            <a:spAutoFit/>
          </a:bodyPr>
          <a:lstStyle/>
          <a:p>
            <a:pPr algn="r" rtl="1"/>
            <a:r>
              <a:rPr lang="he-IL" b="1" dirty="0"/>
              <a:t>בית כנסת האר"י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5000" fill="hold"/>
                                        <p:tgtEl>
                                          <p:spTgt spid="3074"/>
                                        </p:tgtEl>
                                        <p:attrNameLst>
                                          <p:attrName>ppt_w</p:attrName>
                                        </p:attrNameLst>
                                      </p:cBhvr>
                                      <p:tavLst>
                                        <p:tav tm="0">
                                          <p:val>
                                            <p:fltVal val="0"/>
                                          </p:val>
                                        </p:tav>
                                        <p:tav tm="100000">
                                          <p:val>
                                            <p:strVal val="#ppt_w"/>
                                          </p:val>
                                        </p:tav>
                                      </p:tavLst>
                                    </p:anim>
                                    <p:anim calcmode="lin" valueType="num">
                                      <p:cBhvr>
                                        <p:cTn id="8" dur="5000" fill="hold"/>
                                        <p:tgtEl>
                                          <p:spTgt spid="3074"/>
                                        </p:tgtEl>
                                        <p:attrNameLst>
                                          <p:attrName>ppt_h</p:attrName>
                                        </p:attrNameLst>
                                      </p:cBhvr>
                                      <p:tavLst>
                                        <p:tav tm="0">
                                          <p:val>
                                            <p:fltVal val="0"/>
                                          </p:val>
                                        </p:tav>
                                        <p:tav tm="100000">
                                          <p:val>
                                            <p:strVal val="#ppt_h"/>
                                          </p:val>
                                        </p:tav>
                                      </p:tavLst>
                                    </p:anim>
                                    <p:anim calcmode="lin" valueType="num">
                                      <p:cBhvr>
                                        <p:cTn id="9" dur="5000" fill="hold"/>
                                        <p:tgtEl>
                                          <p:spTgt spid="3074"/>
                                        </p:tgtEl>
                                        <p:attrNameLst>
                                          <p:attrName>ppt_x</p:attrName>
                                        </p:attrNameLst>
                                      </p:cBhvr>
                                      <p:tavLst>
                                        <p:tav tm="0" fmla="#ppt_x+(cos(-2*pi*(1-$))*-#ppt_x-sin(-2*pi*(1-$))*(1-#ppt_y))*(1-$)">
                                          <p:val>
                                            <p:fltVal val="0"/>
                                          </p:val>
                                        </p:tav>
                                        <p:tav tm="100000">
                                          <p:val>
                                            <p:fltVal val="1"/>
                                          </p:val>
                                        </p:tav>
                                      </p:tavLst>
                                    </p:anim>
                                    <p:anim calcmode="lin" valueType="num">
                                      <p:cBhvr>
                                        <p:cTn id="10" dur="5000" fill="hold"/>
                                        <p:tgtEl>
                                          <p:spTgt spid="307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C:\Users\123\Pictures\תשע'ד-א'-ד'\018.jpg"/>
          <p:cNvPicPr>
            <a:picLocks noChangeAspect="1" noChangeArrowheads="1"/>
          </p:cNvPicPr>
          <p:nvPr/>
        </p:nvPicPr>
        <p:blipFill>
          <a:blip r:embed="rId2"/>
          <a:srcRect l="3023" t="64001" r="17835" b="2250"/>
          <a:stretch>
            <a:fillRect/>
          </a:stretch>
        </p:blipFill>
        <p:spPr bwMode="auto">
          <a:xfrm rot="10800000">
            <a:off x="179514" y="620692"/>
            <a:ext cx="3384376" cy="1990809"/>
          </a:xfrm>
          <a:prstGeom prst="rect">
            <a:avLst/>
          </a:prstGeom>
          <a:noFill/>
          <a:ln w="38100">
            <a:solidFill>
              <a:srgbClr val="FF0000"/>
            </a:solidFill>
          </a:ln>
        </p:spPr>
      </p:pic>
      <p:pic>
        <p:nvPicPr>
          <p:cNvPr id="3" name="Picture 2" descr="C:\Users\123\Pictures\תשע'ד-א'-ד'\018.jpg"/>
          <p:cNvPicPr>
            <a:picLocks noChangeAspect="1" noChangeArrowheads="1"/>
          </p:cNvPicPr>
          <p:nvPr/>
        </p:nvPicPr>
        <p:blipFill>
          <a:blip r:embed="rId2"/>
          <a:srcRect t="5123" b="46503"/>
          <a:stretch>
            <a:fillRect/>
          </a:stretch>
        </p:blipFill>
        <p:spPr bwMode="auto">
          <a:xfrm rot="10800000">
            <a:off x="5076058" y="3645024"/>
            <a:ext cx="3669101" cy="2448272"/>
          </a:xfrm>
          <a:prstGeom prst="rect">
            <a:avLst/>
          </a:prstGeom>
          <a:noFill/>
          <a:ln w="38100">
            <a:solidFill>
              <a:srgbClr val="FF0000"/>
            </a:solidFill>
          </a:ln>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4" y="3717036"/>
            <a:ext cx="3418765" cy="2525063"/>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3635897" y="1628800"/>
            <a:ext cx="1056700" cy="307777"/>
          </a:xfrm>
          <a:prstGeom prst="rect">
            <a:avLst/>
          </a:prstGeom>
          <a:noFill/>
        </p:spPr>
        <p:txBody>
          <a:bodyPr wrap="none" rtlCol="1">
            <a:spAutoFit/>
          </a:bodyPr>
          <a:lstStyle/>
          <a:p>
            <a:r>
              <a:rPr lang="he-IL" b="1" dirty="0"/>
              <a:t>צמח - 1912</a:t>
            </a:r>
          </a:p>
        </p:txBody>
      </p:sp>
      <p:pic>
        <p:nvPicPr>
          <p:cNvPr id="8" name="Picture 2" descr="http://www.mkm-haifa.co.il/ulpanim/zafonulpanim/emekHayrden.files/image006.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6138" y="620688"/>
            <a:ext cx="2952328" cy="2263452"/>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228184" y="6165308"/>
            <a:ext cx="1636987" cy="307777"/>
          </a:xfrm>
          <a:prstGeom prst="rect">
            <a:avLst/>
          </a:prstGeom>
          <a:noFill/>
        </p:spPr>
        <p:txBody>
          <a:bodyPr wrap="none" rtlCol="1">
            <a:spAutoFit/>
          </a:bodyPr>
          <a:lstStyle/>
          <a:p>
            <a:r>
              <a:rPr lang="he-IL" b="1" dirty="0"/>
              <a:t>תחנת הרכבת בצמח</a:t>
            </a:r>
          </a:p>
        </p:txBody>
      </p:sp>
      <p:sp>
        <p:nvSpPr>
          <p:cNvPr id="10" name="TextBox 9"/>
          <p:cNvSpPr txBox="1"/>
          <p:nvPr/>
        </p:nvSpPr>
        <p:spPr>
          <a:xfrm>
            <a:off x="0" y="6309324"/>
            <a:ext cx="3619902" cy="307777"/>
          </a:xfrm>
          <a:prstGeom prst="rect">
            <a:avLst/>
          </a:prstGeom>
          <a:noFill/>
        </p:spPr>
        <p:txBody>
          <a:bodyPr wrap="none" rtlCol="1">
            <a:spAutoFit/>
          </a:bodyPr>
          <a:lstStyle/>
          <a:p>
            <a:pPr algn="r" rtl="1"/>
            <a:r>
              <a:rPr lang="en-US" b="1" dirty="0"/>
              <a:t> </a:t>
            </a:r>
            <a:r>
              <a:rPr lang="he-IL" b="1" dirty="0"/>
              <a:t>מסלול רכבת העמק: צמח – חיפה (הגיעו בערב)</a:t>
            </a:r>
          </a:p>
        </p:txBody>
      </p:sp>
      <p:sp>
        <p:nvSpPr>
          <p:cNvPr id="12" name="TextBox 11"/>
          <p:cNvSpPr txBox="1"/>
          <p:nvPr/>
        </p:nvSpPr>
        <p:spPr>
          <a:xfrm>
            <a:off x="3707905" y="68020"/>
            <a:ext cx="1771640" cy="369332"/>
          </a:xfrm>
          <a:prstGeom prst="rect">
            <a:avLst/>
          </a:prstGeom>
          <a:solidFill>
            <a:srgbClr val="FFFF00"/>
          </a:solidFill>
          <a:ln>
            <a:solidFill>
              <a:schemeClr val="tx1"/>
            </a:solidFill>
          </a:ln>
        </p:spPr>
        <p:txBody>
          <a:bodyPr wrap="none" rtlCol="1">
            <a:spAutoFit/>
          </a:bodyPr>
          <a:lstStyle/>
          <a:p>
            <a:pPr algn="r" rtl="1"/>
            <a:r>
              <a:rPr lang="he-IL" sz="1800" b="1" dirty="0">
                <a:solidFill>
                  <a:srgbClr val="FF0000"/>
                </a:solidFill>
              </a:rPr>
              <a:t>יום ה', י"ב בכסלו</a:t>
            </a:r>
          </a:p>
        </p:txBody>
      </p:sp>
      <p:sp>
        <p:nvSpPr>
          <p:cNvPr id="13" name="TextBox 12"/>
          <p:cNvSpPr txBox="1"/>
          <p:nvPr/>
        </p:nvSpPr>
        <p:spPr>
          <a:xfrm>
            <a:off x="5603415" y="3097000"/>
            <a:ext cx="3337773" cy="307777"/>
          </a:xfrm>
          <a:prstGeom prst="rect">
            <a:avLst/>
          </a:prstGeom>
          <a:noFill/>
          <a:ln>
            <a:solidFill>
              <a:srgbClr val="2217F5"/>
            </a:solidFill>
          </a:ln>
        </p:spPr>
        <p:txBody>
          <a:bodyPr wrap="none" rtlCol="1">
            <a:spAutoFit/>
          </a:bodyPr>
          <a:lstStyle/>
          <a:p>
            <a:pPr algn="r" rtl="1"/>
            <a:r>
              <a:rPr lang="he-IL" b="1" dirty="0">
                <a:solidFill>
                  <a:srgbClr val="FF0000"/>
                </a:solidFill>
              </a:rPr>
              <a:t>1906 - </a:t>
            </a:r>
            <a:r>
              <a:rPr lang="he-IL" b="1" dirty="0"/>
              <a:t>מטבריה לצמח בספינת קיטור - שעה</a:t>
            </a:r>
          </a:p>
        </p:txBody>
      </p:sp>
      <p:sp>
        <p:nvSpPr>
          <p:cNvPr id="14" name="TextBox 13"/>
          <p:cNvSpPr txBox="1"/>
          <p:nvPr/>
        </p:nvSpPr>
        <p:spPr>
          <a:xfrm>
            <a:off x="215748" y="2780928"/>
            <a:ext cx="4794903" cy="738664"/>
          </a:xfrm>
          <a:prstGeom prst="rect">
            <a:avLst/>
          </a:prstGeom>
          <a:noFill/>
          <a:ln>
            <a:solidFill>
              <a:srgbClr val="2217F5"/>
            </a:solidFill>
          </a:ln>
        </p:spPr>
        <p:txBody>
          <a:bodyPr wrap="none" rtlCol="1">
            <a:spAutoFit/>
          </a:bodyPr>
          <a:lstStyle/>
          <a:p>
            <a:pPr algn="r" rtl="1"/>
            <a:r>
              <a:rPr lang="he-IL" b="1" dirty="0"/>
              <a:t>פגישה עם יואל </a:t>
            </a:r>
            <a:r>
              <a:rPr lang="he-IL" b="1" dirty="0" err="1"/>
              <a:t>רוזנהק</a:t>
            </a:r>
            <a:r>
              <a:rPr lang="he-IL" b="1" dirty="0"/>
              <a:t>, מנהל מושבות הגליל מחיפה,</a:t>
            </a:r>
          </a:p>
          <a:p>
            <a:pPr algn="r" rtl="1"/>
            <a:r>
              <a:rPr lang="he-IL" b="1" dirty="0"/>
              <a:t>הסכים לדרישות בעייני דת, </a:t>
            </a:r>
            <a:r>
              <a:rPr lang="he-IL" b="1" dirty="0" err="1"/>
              <a:t>תרומיה</a:t>
            </a:r>
            <a:r>
              <a:rPr lang="he-IL" b="1" dirty="0"/>
              <a:t>, הזזת הבימה </a:t>
            </a:r>
            <a:r>
              <a:rPr lang="he-IL" b="1" dirty="0" err="1"/>
              <a:t>בזכרון</a:t>
            </a:r>
            <a:r>
              <a:rPr lang="he-IL" b="1" dirty="0"/>
              <a:t> יעקב</a:t>
            </a:r>
          </a:p>
          <a:p>
            <a:pPr algn="r" rtl="1"/>
            <a:r>
              <a:rPr lang="he-IL" b="1" dirty="0"/>
              <a:t>הגיעה הבשורה </a:t>
            </a:r>
            <a:r>
              <a:rPr lang="he-IL" b="1" dirty="0" err="1"/>
              <a:t>שבפוריה</a:t>
            </a:r>
            <a:r>
              <a:rPr lang="he-IL" b="1" dirty="0"/>
              <a:t> הכשירו את המטבח, וסתרו את הבימה.</a:t>
            </a:r>
          </a:p>
        </p:txBody>
      </p:sp>
      <p:sp>
        <p:nvSpPr>
          <p:cNvPr id="15" name="אליפסה 14"/>
          <p:cNvSpPr/>
          <p:nvPr/>
        </p:nvSpPr>
        <p:spPr>
          <a:xfrm>
            <a:off x="6732241" y="1412776"/>
            <a:ext cx="72008" cy="12231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28" name="Picture 4" descr="C:\Users\123\Pictures\תשע'ד-ג'-י'ג\003.jpg"/>
          <p:cNvPicPr>
            <a:picLocks noChangeAspect="1" noChangeArrowheads="1"/>
          </p:cNvPicPr>
          <p:nvPr/>
        </p:nvPicPr>
        <p:blipFill>
          <a:blip r:embed="rId6"/>
          <a:srcRect l="35044" t="28968" r="31978" b="62274"/>
          <a:stretch>
            <a:fillRect/>
          </a:stretch>
        </p:blipFill>
        <p:spPr bwMode="auto">
          <a:xfrm>
            <a:off x="163531" y="1713645"/>
            <a:ext cx="8675250" cy="3168352"/>
          </a:xfrm>
          <a:prstGeom prst="rect">
            <a:avLst/>
          </a:prstGeom>
          <a:noFill/>
          <a:ln w="38100">
            <a:solidFill>
              <a:srgbClr val="2217F5"/>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p:cTn id="7" dur="5000" fill="hold"/>
                                        <p:tgtEl>
                                          <p:spTgt spid="1028"/>
                                        </p:tgtEl>
                                        <p:attrNameLst>
                                          <p:attrName>ppt_w</p:attrName>
                                        </p:attrNameLst>
                                      </p:cBhvr>
                                      <p:tavLst>
                                        <p:tav tm="0">
                                          <p:val>
                                            <p:fltVal val="0"/>
                                          </p:val>
                                        </p:tav>
                                        <p:tav tm="100000">
                                          <p:val>
                                            <p:strVal val="#ppt_w"/>
                                          </p:val>
                                        </p:tav>
                                      </p:tavLst>
                                    </p:anim>
                                    <p:anim calcmode="lin" valueType="num">
                                      <p:cBhvr>
                                        <p:cTn id="8" dur="5000" fill="hold"/>
                                        <p:tgtEl>
                                          <p:spTgt spid="1028"/>
                                        </p:tgtEl>
                                        <p:attrNameLst>
                                          <p:attrName>ppt_h</p:attrName>
                                        </p:attrNameLst>
                                      </p:cBhvr>
                                      <p:tavLst>
                                        <p:tav tm="0">
                                          <p:val>
                                            <p:fltVal val="0"/>
                                          </p:val>
                                        </p:tav>
                                        <p:tav tm="100000">
                                          <p:val>
                                            <p:strVal val="#ppt_h"/>
                                          </p:val>
                                        </p:tav>
                                      </p:tavLst>
                                    </p:anim>
                                    <p:anim calcmode="lin" valueType="num">
                                      <p:cBhvr>
                                        <p:cTn id="9" dur="5000" fill="hold"/>
                                        <p:tgtEl>
                                          <p:spTgt spid="1028"/>
                                        </p:tgtEl>
                                        <p:attrNameLst>
                                          <p:attrName>ppt_x</p:attrName>
                                        </p:attrNameLst>
                                      </p:cBhvr>
                                      <p:tavLst>
                                        <p:tav tm="0" fmla="#ppt_x+(cos(-2*pi*(1-$))*-#ppt_x-sin(-2*pi*(1-$))*(1-#ppt_y))*(1-$)">
                                          <p:val>
                                            <p:fltVal val="0"/>
                                          </p:val>
                                        </p:tav>
                                        <p:tav tm="100000">
                                          <p:val>
                                            <p:fltVal val="1"/>
                                          </p:val>
                                        </p:tav>
                                      </p:tavLst>
                                    </p:anim>
                                    <p:anim calcmode="lin" valueType="num">
                                      <p:cBhvr>
                                        <p:cTn id="10" dur="5000" fill="hold"/>
                                        <p:tgtEl>
                                          <p:spTgt spid="102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descr="C:\Users\123\Pictures\תשע'ד-א'-ד'\019.jpg"/>
          <p:cNvPicPr>
            <a:picLocks noChangeAspect="1" noChangeArrowheads="1"/>
          </p:cNvPicPr>
          <p:nvPr/>
        </p:nvPicPr>
        <p:blipFill>
          <a:blip r:embed="rId2"/>
          <a:srcRect b="15231"/>
          <a:stretch>
            <a:fillRect/>
          </a:stretch>
        </p:blipFill>
        <p:spPr bwMode="auto">
          <a:xfrm>
            <a:off x="847340" y="1412776"/>
            <a:ext cx="3504993" cy="1821163"/>
          </a:xfrm>
          <a:prstGeom prst="rect">
            <a:avLst/>
          </a:prstGeom>
          <a:noFill/>
          <a:ln w="38100">
            <a:solidFill>
              <a:srgbClr val="FF0000"/>
            </a:solidFill>
          </a:ln>
        </p:spPr>
      </p:pic>
      <p:pic>
        <p:nvPicPr>
          <p:cNvPr id="118787" name="Picture 3" descr="C:\Users\123\Pictures\תשע'ד-א'-ד'\020.jpg"/>
          <p:cNvPicPr>
            <a:picLocks noChangeAspect="1" noChangeArrowheads="1"/>
          </p:cNvPicPr>
          <p:nvPr/>
        </p:nvPicPr>
        <p:blipFill>
          <a:blip r:embed="rId3"/>
          <a:srcRect l="6749" t="14585" r="9142" b="10049"/>
          <a:stretch>
            <a:fillRect/>
          </a:stretch>
        </p:blipFill>
        <p:spPr bwMode="auto">
          <a:xfrm rot="10800000">
            <a:off x="899594" y="4509120"/>
            <a:ext cx="3345971" cy="2182154"/>
          </a:xfrm>
          <a:prstGeom prst="rect">
            <a:avLst/>
          </a:prstGeom>
          <a:noFill/>
          <a:ln w="38100">
            <a:solidFill>
              <a:srgbClr val="FF0000"/>
            </a:solidFill>
          </a:ln>
        </p:spPr>
      </p:pic>
      <p:sp>
        <p:nvSpPr>
          <p:cNvPr id="5" name="TextBox 4"/>
          <p:cNvSpPr txBox="1"/>
          <p:nvPr/>
        </p:nvSpPr>
        <p:spPr>
          <a:xfrm>
            <a:off x="1915182" y="3412072"/>
            <a:ext cx="1595310" cy="338554"/>
          </a:xfrm>
          <a:prstGeom prst="rect">
            <a:avLst/>
          </a:prstGeom>
          <a:solidFill>
            <a:srgbClr val="FFFF00"/>
          </a:solidFill>
          <a:ln>
            <a:solidFill>
              <a:schemeClr val="tx1"/>
            </a:solidFill>
          </a:ln>
        </p:spPr>
        <p:txBody>
          <a:bodyPr wrap="none" rtlCol="1">
            <a:spAutoFit/>
          </a:bodyPr>
          <a:lstStyle/>
          <a:p>
            <a:pPr algn="r" rtl="1"/>
            <a:r>
              <a:rPr lang="he-IL" sz="1600" b="1" dirty="0"/>
              <a:t>יום ג', </a:t>
            </a:r>
            <a:r>
              <a:rPr lang="he-IL" sz="1600" b="1" dirty="0">
                <a:solidFill>
                  <a:srgbClr val="FF0000"/>
                </a:solidFill>
              </a:rPr>
              <a:t>י"ז בכסלו </a:t>
            </a:r>
          </a:p>
        </p:txBody>
      </p:sp>
      <p:sp>
        <p:nvSpPr>
          <p:cNvPr id="6" name="מלבן 5"/>
          <p:cNvSpPr/>
          <p:nvPr/>
        </p:nvSpPr>
        <p:spPr>
          <a:xfrm>
            <a:off x="1915182" y="166718"/>
            <a:ext cx="2406428" cy="369332"/>
          </a:xfrm>
          <a:prstGeom prst="rect">
            <a:avLst/>
          </a:prstGeom>
          <a:solidFill>
            <a:srgbClr val="FFFF00"/>
          </a:solidFill>
          <a:ln>
            <a:solidFill>
              <a:schemeClr val="tx1"/>
            </a:solidFill>
          </a:ln>
        </p:spPr>
        <p:txBody>
          <a:bodyPr wrap="none">
            <a:spAutoFit/>
          </a:bodyPr>
          <a:lstStyle/>
          <a:p>
            <a:pPr lvl="0"/>
            <a:r>
              <a:rPr lang="he-IL" sz="1800" b="1" dirty="0"/>
              <a:t>ביפו - </a:t>
            </a:r>
            <a:r>
              <a:rPr lang="he-IL" sz="1800" b="1" dirty="0">
                <a:solidFill>
                  <a:srgbClr val="FF0000"/>
                </a:solidFill>
              </a:rPr>
              <a:t>יום ב', ט"ז בכסלו</a:t>
            </a:r>
          </a:p>
        </p:txBody>
      </p:sp>
      <p:sp>
        <p:nvSpPr>
          <p:cNvPr id="7" name="TextBox 6"/>
          <p:cNvSpPr txBox="1"/>
          <p:nvPr/>
        </p:nvSpPr>
        <p:spPr>
          <a:xfrm>
            <a:off x="263842" y="170078"/>
            <a:ext cx="1271502" cy="338554"/>
          </a:xfrm>
          <a:prstGeom prst="rect">
            <a:avLst/>
          </a:prstGeom>
          <a:solidFill>
            <a:srgbClr val="76E3FF"/>
          </a:solidFill>
          <a:ln>
            <a:solidFill>
              <a:schemeClr val="tx1"/>
            </a:solidFill>
          </a:ln>
        </p:spPr>
        <p:txBody>
          <a:bodyPr wrap="none" rtlCol="1">
            <a:spAutoFit/>
          </a:bodyPr>
          <a:lstStyle/>
          <a:p>
            <a:r>
              <a:rPr lang="he-IL" sz="1600" b="1" dirty="0"/>
              <a:t>בשעה 15:00</a:t>
            </a:r>
            <a:endParaRPr lang="he-IL" sz="1600" dirty="0"/>
          </a:p>
        </p:txBody>
      </p:sp>
      <p:sp>
        <p:nvSpPr>
          <p:cNvPr id="8" name="TextBox 7"/>
          <p:cNvSpPr txBox="1"/>
          <p:nvPr/>
        </p:nvSpPr>
        <p:spPr>
          <a:xfrm>
            <a:off x="5681559" y="170078"/>
            <a:ext cx="2848857" cy="369332"/>
          </a:xfrm>
          <a:prstGeom prst="rect">
            <a:avLst/>
          </a:prstGeom>
          <a:solidFill>
            <a:srgbClr val="FFFF00"/>
          </a:solidFill>
          <a:ln>
            <a:solidFill>
              <a:schemeClr val="tx1"/>
            </a:solidFill>
          </a:ln>
        </p:spPr>
        <p:txBody>
          <a:bodyPr wrap="none" rtlCol="1">
            <a:spAutoFit/>
          </a:bodyPr>
          <a:lstStyle/>
          <a:p>
            <a:pPr algn="r" rtl="1"/>
            <a:r>
              <a:rPr lang="he-IL" sz="1800" b="1" dirty="0"/>
              <a:t>בחיפה - </a:t>
            </a:r>
            <a:r>
              <a:rPr lang="he-IL" sz="1800" b="1" dirty="0">
                <a:solidFill>
                  <a:srgbClr val="FF0000"/>
                </a:solidFill>
              </a:rPr>
              <a:t>ליל שישי, י"ג בכסלו</a:t>
            </a:r>
          </a:p>
        </p:txBody>
      </p:sp>
      <p:sp>
        <p:nvSpPr>
          <p:cNvPr id="9" name="TextBox 8"/>
          <p:cNvSpPr txBox="1"/>
          <p:nvPr/>
        </p:nvSpPr>
        <p:spPr>
          <a:xfrm>
            <a:off x="5353713" y="1199276"/>
            <a:ext cx="3280129" cy="1600438"/>
          </a:xfrm>
          <a:prstGeom prst="rect">
            <a:avLst/>
          </a:prstGeom>
          <a:noFill/>
          <a:ln>
            <a:solidFill>
              <a:srgbClr val="2217F5"/>
            </a:solidFill>
          </a:ln>
        </p:spPr>
        <p:txBody>
          <a:bodyPr wrap="none" rtlCol="1">
            <a:spAutoFit/>
          </a:bodyPr>
          <a:lstStyle/>
          <a:p>
            <a:pPr algn="r" rtl="1"/>
            <a:r>
              <a:rPr lang="he-IL" b="1" dirty="0"/>
              <a:t>ויכוח באיזה בית כנסת יתפללו.</a:t>
            </a:r>
          </a:p>
          <a:p>
            <a:pPr algn="r" rtl="1"/>
            <a:r>
              <a:rPr lang="he-IL" b="1" dirty="0"/>
              <a:t>ע"פ עצת הרב </a:t>
            </a:r>
            <a:r>
              <a:rPr lang="he-IL" b="1" dirty="0" err="1"/>
              <a:t>יאדלר</a:t>
            </a:r>
            <a:r>
              <a:rPr lang="he-IL" b="1" dirty="0"/>
              <a:t> הרב קוק והרב חרל"פ</a:t>
            </a:r>
          </a:p>
          <a:p>
            <a:pPr algn="r" rtl="1"/>
            <a:r>
              <a:rPr lang="he-IL" b="1" dirty="0"/>
              <a:t>הלכו </a:t>
            </a:r>
            <a:r>
              <a:rPr lang="he-IL" b="1" dirty="0" err="1"/>
              <a:t>לבהכנ"ס</a:t>
            </a:r>
            <a:r>
              <a:rPr lang="he-IL" b="1" dirty="0"/>
              <a:t> הישן, והשאר הלכו לחדש.</a:t>
            </a:r>
          </a:p>
          <a:p>
            <a:pPr algn="r" rtl="1"/>
            <a:r>
              <a:rPr lang="he-IL" b="1" dirty="0"/>
              <a:t>הרב קוק דרש במנחה: </a:t>
            </a:r>
            <a:r>
              <a:rPr lang="he-IL" b="1" dirty="0">
                <a:solidFill>
                  <a:srgbClr val="FF0000"/>
                </a:solidFill>
              </a:rPr>
              <a:t>על </a:t>
            </a:r>
            <a:r>
              <a:rPr lang="he-IL" b="1" dirty="0" err="1">
                <a:solidFill>
                  <a:srgbClr val="FF0000"/>
                </a:solidFill>
              </a:rPr>
              <a:t>יצרא</a:t>
            </a:r>
            <a:r>
              <a:rPr lang="he-IL" b="1" dirty="0">
                <a:solidFill>
                  <a:srgbClr val="FF0000"/>
                </a:solidFill>
              </a:rPr>
              <a:t> שבמת יחיד</a:t>
            </a:r>
          </a:p>
          <a:p>
            <a:pPr algn="r" rtl="1"/>
            <a:r>
              <a:rPr lang="he-IL" b="1" dirty="0">
                <a:solidFill>
                  <a:srgbClr val="FF0000"/>
                </a:solidFill>
              </a:rPr>
              <a:t>שגרם לחורבן גם אצל היראים.</a:t>
            </a:r>
          </a:p>
          <a:p>
            <a:pPr algn="r" rtl="1"/>
            <a:endParaRPr lang="he-IL" b="1" dirty="0"/>
          </a:p>
          <a:p>
            <a:pPr algn="r" rtl="1"/>
            <a:r>
              <a:rPr lang="he-IL" b="1" dirty="0"/>
              <a:t>השפיע מאוד על השלום בעדה.</a:t>
            </a:r>
          </a:p>
        </p:txBody>
      </p:sp>
      <p:sp>
        <p:nvSpPr>
          <p:cNvPr id="10" name="TextBox 9"/>
          <p:cNvSpPr txBox="1"/>
          <p:nvPr/>
        </p:nvSpPr>
        <p:spPr>
          <a:xfrm>
            <a:off x="5516449" y="3212017"/>
            <a:ext cx="3013967" cy="369332"/>
          </a:xfrm>
          <a:prstGeom prst="rect">
            <a:avLst/>
          </a:prstGeom>
          <a:solidFill>
            <a:srgbClr val="FFFF00"/>
          </a:solidFill>
          <a:ln>
            <a:solidFill>
              <a:schemeClr val="tx1"/>
            </a:solidFill>
          </a:ln>
        </p:spPr>
        <p:txBody>
          <a:bodyPr wrap="none" rtlCol="1">
            <a:spAutoFit/>
          </a:bodyPr>
          <a:lstStyle/>
          <a:p>
            <a:pPr algn="r" rtl="1"/>
            <a:r>
              <a:rPr lang="he-IL" sz="1800" b="1" dirty="0">
                <a:solidFill>
                  <a:srgbClr val="FF0000"/>
                </a:solidFill>
              </a:rPr>
              <a:t>במוצאי שבת ויום א' ט"ו בכסלו</a:t>
            </a:r>
          </a:p>
        </p:txBody>
      </p:sp>
      <p:sp>
        <p:nvSpPr>
          <p:cNvPr id="11" name="TextBox 10"/>
          <p:cNvSpPr txBox="1"/>
          <p:nvPr/>
        </p:nvSpPr>
        <p:spPr>
          <a:xfrm>
            <a:off x="5087977" y="3710842"/>
            <a:ext cx="3794630" cy="307777"/>
          </a:xfrm>
          <a:prstGeom prst="rect">
            <a:avLst/>
          </a:prstGeom>
          <a:noFill/>
          <a:ln>
            <a:solidFill>
              <a:srgbClr val="2217F5"/>
            </a:solidFill>
          </a:ln>
        </p:spPr>
        <p:txBody>
          <a:bodyPr wrap="none" rtlCol="1">
            <a:spAutoFit/>
          </a:bodyPr>
          <a:lstStyle/>
          <a:p>
            <a:pPr algn="r" rtl="1"/>
            <a:r>
              <a:rPr lang="he-IL" b="1" dirty="0"/>
              <a:t>מו"מ שלום בין בעל בית מסחר ליינות עם רב העיר.</a:t>
            </a:r>
          </a:p>
        </p:txBody>
      </p:sp>
      <p:sp>
        <p:nvSpPr>
          <p:cNvPr id="12" name="TextBox 11"/>
          <p:cNvSpPr txBox="1"/>
          <p:nvPr/>
        </p:nvSpPr>
        <p:spPr>
          <a:xfrm>
            <a:off x="4716017" y="4365108"/>
            <a:ext cx="4166590" cy="2246769"/>
          </a:xfrm>
          <a:prstGeom prst="rect">
            <a:avLst/>
          </a:prstGeom>
          <a:noFill/>
          <a:ln>
            <a:solidFill>
              <a:srgbClr val="2217F5"/>
            </a:solidFill>
          </a:ln>
        </p:spPr>
        <p:txBody>
          <a:bodyPr wrap="none" rtlCol="1">
            <a:spAutoFit/>
          </a:bodyPr>
          <a:lstStyle/>
          <a:p>
            <a:pPr algn="r" rtl="1"/>
            <a:r>
              <a:rPr lang="he-IL" b="1" dirty="0"/>
              <a:t>המשלחת </a:t>
            </a:r>
            <a:r>
              <a:rPr lang="he-IL" b="1" dirty="0" err="1"/>
              <a:t>היתה</a:t>
            </a:r>
            <a:r>
              <a:rPr lang="he-IL" b="1" dirty="0"/>
              <a:t> אמורה להגיע לעכו ומשם בספינה ליפו. </a:t>
            </a:r>
          </a:p>
          <a:p>
            <a:pPr algn="r" rtl="1"/>
            <a:r>
              <a:rPr lang="he-IL" b="1" dirty="0"/>
              <a:t>הרב </a:t>
            </a:r>
            <a:r>
              <a:rPr lang="he-IL" b="1" dirty="0" err="1"/>
              <a:t>חרל"פ</a:t>
            </a:r>
            <a:r>
              <a:rPr lang="he-IL" b="1" dirty="0"/>
              <a:t> לא רצה לצאת מגבולות הארץ. הרב קוק</a:t>
            </a:r>
          </a:p>
          <a:p>
            <a:pPr algn="r" rtl="1"/>
            <a:r>
              <a:rPr lang="he-IL" b="1" dirty="0"/>
              <a:t>נשקו על מצחו.</a:t>
            </a:r>
          </a:p>
          <a:p>
            <a:pPr algn="r" rtl="1"/>
            <a:endParaRPr lang="he-IL" b="1" dirty="0"/>
          </a:p>
          <a:p>
            <a:pPr algn="r" rtl="1"/>
            <a:r>
              <a:rPr lang="he-IL" b="1" dirty="0"/>
              <a:t>מחיפה נסעו בספינה (קו בירות-אלכסנדריה), הים סער.</a:t>
            </a:r>
          </a:p>
          <a:p>
            <a:pPr algn="r" rtl="1"/>
            <a:r>
              <a:rPr lang="he-IL" b="1" dirty="0"/>
              <a:t>הרבנים אמרו תהילים. הרב קוק החל לרקוד, הרב חרל"פ</a:t>
            </a:r>
          </a:p>
          <a:p>
            <a:pPr algn="r" rtl="1"/>
            <a:r>
              <a:rPr lang="he-IL" b="1" dirty="0"/>
              <a:t>אחז באבנטו. שר: </a:t>
            </a:r>
            <a:r>
              <a:rPr lang="he-IL" b="1" dirty="0">
                <a:solidFill>
                  <a:srgbClr val="FF0000"/>
                </a:solidFill>
              </a:rPr>
              <a:t>"שלוחי </a:t>
            </a:r>
            <a:r>
              <a:rPr lang="he-IL" b="1" dirty="0" err="1">
                <a:solidFill>
                  <a:srgbClr val="FF0000"/>
                </a:solidFill>
              </a:rPr>
              <a:t>מצוה</a:t>
            </a:r>
            <a:r>
              <a:rPr lang="he-IL" b="1" dirty="0">
                <a:solidFill>
                  <a:srgbClr val="FF0000"/>
                </a:solidFill>
              </a:rPr>
              <a:t> אינם ניזוקים".</a:t>
            </a:r>
          </a:p>
          <a:p>
            <a:pPr algn="r" rtl="1"/>
            <a:r>
              <a:rPr lang="he-IL" b="1" dirty="0">
                <a:solidFill>
                  <a:schemeClr val="tx1"/>
                </a:solidFill>
              </a:rPr>
              <a:t>נתן עיניו בים פרש ידיו נגד הגלים, והים נרגע!</a:t>
            </a:r>
          </a:p>
          <a:p>
            <a:pPr algn="r" rtl="1"/>
            <a:r>
              <a:rPr lang="he-IL" b="1" dirty="0">
                <a:solidFill>
                  <a:srgbClr val="FF0000"/>
                </a:solidFill>
              </a:rPr>
              <a:t>"עמדה לנו זכותו של הרב </a:t>
            </a:r>
            <a:r>
              <a:rPr lang="he-IL" b="1" dirty="0" err="1">
                <a:solidFill>
                  <a:srgbClr val="FF0000"/>
                </a:solidFill>
              </a:rPr>
              <a:t>חרל"פ</a:t>
            </a:r>
            <a:r>
              <a:rPr lang="he-IL" b="1" dirty="0">
                <a:solidFill>
                  <a:srgbClr val="FF0000"/>
                </a:solidFill>
              </a:rPr>
              <a:t> שלא יצא מעולם מארץ</a:t>
            </a:r>
          </a:p>
          <a:p>
            <a:pPr algn="r" rtl="1"/>
            <a:r>
              <a:rPr lang="he-IL" b="1" dirty="0">
                <a:solidFill>
                  <a:srgbClr val="FF0000"/>
                </a:solidFill>
              </a:rPr>
              <a:t>הקודש!"</a:t>
            </a:r>
            <a:endParaRPr lang="he-IL" b="1" dirty="0"/>
          </a:p>
        </p:txBody>
      </p:sp>
      <p:sp>
        <p:nvSpPr>
          <p:cNvPr id="13" name="TextBox 12"/>
          <p:cNvSpPr txBox="1"/>
          <p:nvPr/>
        </p:nvSpPr>
        <p:spPr>
          <a:xfrm>
            <a:off x="1231403" y="764704"/>
            <a:ext cx="3124573" cy="523220"/>
          </a:xfrm>
          <a:prstGeom prst="rect">
            <a:avLst/>
          </a:prstGeom>
          <a:noFill/>
          <a:ln>
            <a:solidFill>
              <a:srgbClr val="2217F5"/>
            </a:solidFill>
          </a:ln>
        </p:spPr>
        <p:txBody>
          <a:bodyPr wrap="none" rtlCol="1">
            <a:spAutoFit/>
          </a:bodyPr>
          <a:lstStyle/>
          <a:p>
            <a:pPr algn="r" rtl="1"/>
            <a:r>
              <a:rPr lang="he-IL" b="1" dirty="0"/>
              <a:t>אמרו 'נשמת' ופרקי הלל עד שהגיעו לחוף</a:t>
            </a:r>
          </a:p>
          <a:p>
            <a:pPr algn="r" rtl="1"/>
            <a:r>
              <a:rPr lang="he-IL" b="1" dirty="0" err="1"/>
              <a:t>היתה</a:t>
            </a:r>
            <a:r>
              <a:rPr lang="he-IL" b="1" dirty="0"/>
              <a:t> סערה לפני ואחרי.</a:t>
            </a:r>
          </a:p>
        </p:txBody>
      </p:sp>
      <p:sp>
        <p:nvSpPr>
          <p:cNvPr id="14" name="TextBox 13"/>
          <p:cNvSpPr txBox="1"/>
          <p:nvPr/>
        </p:nvSpPr>
        <p:spPr>
          <a:xfrm>
            <a:off x="467608" y="3861048"/>
            <a:ext cx="4152099" cy="523220"/>
          </a:xfrm>
          <a:prstGeom prst="rect">
            <a:avLst/>
          </a:prstGeom>
          <a:noFill/>
          <a:ln>
            <a:solidFill>
              <a:srgbClr val="2217F5"/>
            </a:solidFill>
          </a:ln>
        </p:spPr>
        <p:txBody>
          <a:bodyPr wrap="none" rtlCol="1">
            <a:spAutoFit/>
          </a:bodyPr>
          <a:lstStyle/>
          <a:p>
            <a:pPr algn="r" rtl="1"/>
            <a:r>
              <a:rPr lang="he-IL" b="1" dirty="0"/>
              <a:t>לטכס עצה להמשך העבודה בחיזוק הדת: ת"ת, שוחטים</a:t>
            </a:r>
          </a:p>
          <a:p>
            <a:pPr algn="r" rtl="1"/>
            <a:r>
              <a:rPr lang="he-IL" b="1" dirty="0"/>
              <a:t>קובץ פרשת הנסיעה, לפנות לאגודת ישראל שתממן.</a:t>
            </a:r>
          </a:p>
        </p:txBody>
      </p:sp>
      <p:sp>
        <p:nvSpPr>
          <p:cNvPr id="15" name="TextBox 14"/>
          <p:cNvSpPr txBox="1"/>
          <p:nvPr/>
        </p:nvSpPr>
        <p:spPr>
          <a:xfrm>
            <a:off x="8073634" y="803631"/>
            <a:ext cx="535724" cy="307777"/>
          </a:xfrm>
          <a:prstGeom prst="rect">
            <a:avLst/>
          </a:prstGeom>
          <a:solidFill>
            <a:srgbClr val="FFFF00"/>
          </a:solidFill>
          <a:ln>
            <a:solidFill>
              <a:schemeClr val="tx1"/>
            </a:solidFill>
          </a:ln>
        </p:spPr>
        <p:txBody>
          <a:bodyPr wrap="none" rtlCol="1">
            <a:spAutoFit/>
          </a:bodyPr>
          <a:lstStyle/>
          <a:p>
            <a:r>
              <a:rPr lang="he-IL" b="1" dirty="0"/>
              <a:t>שבת</a:t>
            </a:r>
          </a:p>
        </p:txBody>
      </p:sp>
      <p:sp>
        <p:nvSpPr>
          <p:cNvPr id="16" name="TextBox 15"/>
          <p:cNvSpPr txBox="1"/>
          <p:nvPr/>
        </p:nvSpPr>
        <p:spPr>
          <a:xfrm>
            <a:off x="5652120" y="786973"/>
            <a:ext cx="1011815" cy="307777"/>
          </a:xfrm>
          <a:prstGeom prst="rect">
            <a:avLst/>
          </a:prstGeom>
          <a:solidFill>
            <a:srgbClr val="76E3FF"/>
          </a:solidFill>
          <a:ln>
            <a:solidFill>
              <a:schemeClr val="tx1"/>
            </a:solidFill>
          </a:ln>
        </p:spPr>
        <p:txBody>
          <a:bodyPr wrap="none" rtlCol="1">
            <a:spAutoFit/>
          </a:bodyPr>
          <a:lstStyle/>
          <a:p>
            <a:pPr algn="r" rtl="1"/>
            <a:r>
              <a:rPr lang="he-IL" b="1" dirty="0"/>
              <a:t>פרשת וישב</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2" name="Picture 2" descr="http://cache.bhol-forums.co.il/upload0708/2008928_1147282250_DSCF4071.JPG"/>
          <p:cNvPicPr>
            <a:picLocks noChangeAspect="1" noChangeArrowheads="1"/>
          </p:cNvPicPr>
          <p:nvPr/>
        </p:nvPicPr>
        <p:blipFill>
          <a:blip r:embed="rId2"/>
          <a:srcRect/>
          <a:stretch>
            <a:fillRect/>
          </a:stretch>
        </p:blipFill>
        <p:spPr bwMode="auto">
          <a:xfrm>
            <a:off x="2461941" y="502484"/>
            <a:ext cx="2784036" cy="2087177"/>
          </a:xfrm>
          <a:prstGeom prst="rect">
            <a:avLst/>
          </a:prstGeom>
          <a:noFill/>
          <a:ln w="38100">
            <a:solidFill>
              <a:srgbClr val="FF0000"/>
            </a:solidFill>
          </a:ln>
        </p:spPr>
      </p:pic>
      <p:pic>
        <p:nvPicPr>
          <p:cNvPr id="1026" name="Picture 2" descr="C:\Users\123\Pictures\תשע'ג-י'ב-כ'א\002.jpg"/>
          <p:cNvPicPr>
            <a:picLocks noChangeAspect="1" noChangeArrowheads="1"/>
          </p:cNvPicPr>
          <p:nvPr/>
        </p:nvPicPr>
        <p:blipFill>
          <a:blip r:embed="rId3"/>
          <a:srcRect/>
          <a:stretch>
            <a:fillRect/>
          </a:stretch>
        </p:blipFill>
        <p:spPr bwMode="auto">
          <a:xfrm rot="10800000">
            <a:off x="5868145" y="188644"/>
            <a:ext cx="2832332" cy="4048491"/>
          </a:xfrm>
          <a:prstGeom prst="rect">
            <a:avLst/>
          </a:prstGeom>
          <a:noFill/>
          <a:ln w="38100">
            <a:solidFill>
              <a:srgbClr val="FF0000"/>
            </a:solidFill>
          </a:ln>
        </p:spPr>
      </p:pic>
      <p:pic>
        <p:nvPicPr>
          <p:cNvPr id="4" name="Picture 2" descr="C:\Users\123\Pictures\תשע'ג-י'ב-כ'ג\001.jpg"/>
          <p:cNvPicPr>
            <a:picLocks noChangeAspect="1" noChangeArrowheads="1"/>
          </p:cNvPicPr>
          <p:nvPr/>
        </p:nvPicPr>
        <p:blipFill rotWithShape="1">
          <a:blip r:embed="rId4"/>
          <a:srcRect l="67041" t="2025" r="3515" b="68281"/>
          <a:stretch/>
        </p:blipFill>
        <p:spPr bwMode="auto">
          <a:xfrm>
            <a:off x="323528" y="548684"/>
            <a:ext cx="1296144" cy="1557903"/>
          </a:xfrm>
          <a:prstGeom prst="rect">
            <a:avLst/>
          </a:prstGeom>
          <a:noFill/>
          <a:ln w="38100">
            <a:solidFill>
              <a:srgbClr val="FF0000"/>
            </a:solidFill>
          </a:ln>
        </p:spPr>
      </p:pic>
      <p:sp>
        <p:nvSpPr>
          <p:cNvPr id="5" name="TextBox 4"/>
          <p:cNvSpPr txBox="1"/>
          <p:nvPr/>
        </p:nvSpPr>
        <p:spPr>
          <a:xfrm>
            <a:off x="6626058" y="4221576"/>
            <a:ext cx="1410963" cy="307777"/>
          </a:xfrm>
          <a:prstGeom prst="rect">
            <a:avLst/>
          </a:prstGeom>
          <a:noFill/>
        </p:spPr>
        <p:txBody>
          <a:bodyPr wrap="none" rtlCol="1">
            <a:spAutoFit/>
          </a:bodyPr>
          <a:lstStyle/>
          <a:p>
            <a:r>
              <a:rPr lang="he-IL" b="1" dirty="0"/>
              <a:t>פרנקפורט תרע"ו</a:t>
            </a:r>
          </a:p>
        </p:txBody>
      </p:sp>
      <p:pic>
        <p:nvPicPr>
          <p:cNvPr id="15362" name="Picture 2" descr="WW1 TitlePicture For Wikipedia Article.jpg"/>
          <p:cNvPicPr>
            <a:picLocks noChangeAspect="1" noChangeArrowheads="1"/>
          </p:cNvPicPr>
          <p:nvPr/>
        </p:nvPicPr>
        <p:blipFill>
          <a:blip r:embed="rId5"/>
          <a:srcRect/>
          <a:stretch>
            <a:fillRect/>
          </a:stretch>
        </p:blipFill>
        <p:spPr bwMode="auto">
          <a:xfrm>
            <a:off x="2771802" y="3789040"/>
            <a:ext cx="2164315" cy="2917498"/>
          </a:xfrm>
          <a:prstGeom prst="rect">
            <a:avLst/>
          </a:prstGeom>
          <a:noFill/>
          <a:ln w="38100">
            <a:solidFill>
              <a:srgbClr val="FF0000"/>
            </a:solidFill>
          </a:ln>
        </p:spPr>
      </p:pic>
      <p:sp>
        <p:nvSpPr>
          <p:cNvPr id="8" name="TextBox 7"/>
          <p:cNvSpPr txBox="1"/>
          <p:nvPr/>
        </p:nvSpPr>
        <p:spPr>
          <a:xfrm>
            <a:off x="115436" y="2119624"/>
            <a:ext cx="1712328" cy="523220"/>
          </a:xfrm>
          <a:prstGeom prst="rect">
            <a:avLst/>
          </a:prstGeom>
          <a:noFill/>
        </p:spPr>
        <p:txBody>
          <a:bodyPr wrap="none" rtlCol="1">
            <a:spAutoFit/>
          </a:bodyPr>
          <a:lstStyle/>
          <a:p>
            <a:pPr algn="r" rtl="1"/>
            <a:r>
              <a:rPr lang="he-IL" b="1" dirty="0"/>
              <a:t>הרב י' בנימין הורוביץ</a:t>
            </a:r>
          </a:p>
          <a:p>
            <a:pPr algn="r" rtl="1"/>
            <a:r>
              <a:rPr lang="he-IL" b="1" dirty="0"/>
              <a:t>   כותב החוברת</a:t>
            </a:r>
          </a:p>
        </p:txBody>
      </p:sp>
      <p:sp>
        <p:nvSpPr>
          <p:cNvPr id="9" name="TextBox 8"/>
          <p:cNvSpPr txBox="1"/>
          <p:nvPr/>
        </p:nvSpPr>
        <p:spPr>
          <a:xfrm>
            <a:off x="179576" y="2724094"/>
            <a:ext cx="8616462" cy="1200329"/>
          </a:xfrm>
          <a:prstGeom prst="rect">
            <a:avLst/>
          </a:prstGeom>
          <a:solidFill>
            <a:srgbClr val="FFFF00"/>
          </a:solidFill>
          <a:ln>
            <a:solidFill>
              <a:schemeClr val="tx1"/>
            </a:solidFill>
          </a:ln>
        </p:spPr>
        <p:txBody>
          <a:bodyPr wrap="none" rtlCol="1">
            <a:spAutoFit/>
          </a:bodyPr>
          <a:lstStyle/>
          <a:p>
            <a:pPr algn="r" rtl="1"/>
            <a:r>
              <a:rPr lang="he-IL" sz="3600" b="1" dirty="0"/>
              <a:t>הרב קוק: "באנו בשעה מאוחרת מעט, אבל לא</a:t>
            </a:r>
          </a:p>
          <a:p>
            <a:pPr algn="r" rtl="1"/>
            <a:r>
              <a:rPr lang="he-IL" sz="3600" b="1" dirty="0"/>
              <a:t> מאוחרת לגמרי!"</a:t>
            </a:r>
          </a:p>
        </p:txBody>
      </p:sp>
      <p:sp>
        <p:nvSpPr>
          <p:cNvPr id="13" name="TextBox 12"/>
          <p:cNvSpPr txBox="1"/>
          <p:nvPr/>
        </p:nvSpPr>
        <p:spPr>
          <a:xfrm>
            <a:off x="577004" y="4149664"/>
            <a:ext cx="1877437" cy="738664"/>
          </a:xfrm>
          <a:prstGeom prst="rect">
            <a:avLst/>
          </a:prstGeom>
          <a:noFill/>
          <a:ln w="12700">
            <a:solidFill>
              <a:srgbClr val="2217F5"/>
            </a:solidFill>
          </a:ln>
        </p:spPr>
        <p:txBody>
          <a:bodyPr wrap="none" rtlCol="1">
            <a:spAutoFit/>
          </a:bodyPr>
          <a:lstStyle/>
          <a:p>
            <a:pPr algn="r" rtl="1"/>
            <a:r>
              <a:rPr lang="he-IL" b="1" dirty="0"/>
              <a:t>פרופ' מרדכי אליאב:</a:t>
            </a:r>
          </a:p>
          <a:p>
            <a:pPr algn="r" rtl="1"/>
            <a:r>
              <a:rPr lang="he-IL" b="1" dirty="0"/>
              <a:t>לו הגיעו 10 שנים קודם </a:t>
            </a:r>
          </a:p>
          <a:p>
            <a:pPr algn="r" rtl="1"/>
            <a:r>
              <a:rPr lang="he-IL" b="1" dirty="0"/>
              <a:t>יכלו להשפיע.</a:t>
            </a:r>
          </a:p>
        </p:txBody>
      </p:sp>
      <p:sp>
        <p:nvSpPr>
          <p:cNvPr id="14" name="TextBox 13"/>
          <p:cNvSpPr txBox="1"/>
          <p:nvPr/>
        </p:nvSpPr>
        <p:spPr>
          <a:xfrm>
            <a:off x="5275451" y="4671147"/>
            <a:ext cx="3658374" cy="307777"/>
          </a:xfrm>
          <a:prstGeom prst="rect">
            <a:avLst/>
          </a:prstGeom>
          <a:noFill/>
          <a:ln>
            <a:solidFill>
              <a:srgbClr val="2217F5"/>
            </a:solidFill>
          </a:ln>
        </p:spPr>
        <p:txBody>
          <a:bodyPr wrap="none" rtlCol="1">
            <a:spAutoFit/>
          </a:bodyPr>
          <a:lstStyle/>
          <a:p>
            <a:pPr algn="r" rtl="1"/>
            <a:r>
              <a:rPr lang="he-IL" b="1" dirty="0"/>
              <a:t>הרב קוק כתב וערך אותה, החתים את כל הרבנים</a:t>
            </a:r>
          </a:p>
        </p:txBody>
      </p:sp>
      <p:sp>
        <p:nvSpPr>
          <p:cNvPr id="16" name="מלבן 15"/>
          <p:cNvSpPr/>
          <p:nvPr/>
        </p:nvSpPr>
        <p:spPr>
          <a:xfrm>
            <a:off x="5076056" y="5247789"/>
            <a:ext cx="3923928" cy="1384995"/>
          </a:xfrm>
          <a:prstGeom prst="rect">
            <a:avLst/>
          </a:prstGeom>
          <a:ln>
            <a:solidFill>
              <a:srgbClr val="2217F5"/>
            </a:solidFill>
          </a:ln>
        </p:spPr>
        <p:txBody>
          <a:bodyPr wrap="square">
            <a:spAutoFit/>
          </a:bodyPr>
          <a:lstStyle/>
          <a:p>
            <a:pPr algn="r" rtl="1"/>
            <a:r>
              <a:rPr lang="he-IL" b="1" dirty="0"/>
              <a:t>הרב קוק יצא בתמוז תרע"ד לכינוס של אגודת ישראל בפרנקפורט, כדי לשכנע אותה לממן את רשת החינוך</a:t>
            </a:r>
          </a:p>
          <a:p>
            <a:pPr algn="r" rtl="1"/>
            <a:r>
              <a:rPr lang="he-IL" b="1" dirty="0"/>
              <a:t>החרדי בארץ, ומורים יראי שמים במושבות.</a:t>
            </a:r>
          </a:p>
          <a:p>
            <a:pPr algn="r" rtl="1"/>
            <a:endParaRPr lang="he-IL" b="1" dirty="0"/>
          </a:p>
          <a:p>
            <a:pPr algn="r" rtl="1"/>
            <a:endParaRPr lang="he-IL" b="1" dirty="0"/>
          </a:p>
          <a:p>
            <a:pPr algn="r" rtl="1"/>
            <a:endParaRPr lang="he-IL" b="1" dirty="0"/>
          </a:p>
        </p:txBody>
      </p:sp>
      <p:sp>
        <p:nvSpPr>
          <p:cNvPr id="17" name="מלבן 16"/>
          <p:cNvSpPr/>
          <p:nvPr/>
        </p:nvSpPr>
        <p:spPr>
          <a:xfrm>
            <a:off x="4427984" y="6093296"/>
            <a:ext cx="4572000" cy="523220"/>
          </a:xfrm>
          <a:prstGeom prst="rect">
            <a:avLst/>
          </a:prstGeom>
        </p:spPr>
        <p:txBody>
          <a:bodyPr>
            <a:spAutoFit/>
          </a:bodyPr>
          <a:lstStyle/>
          <a:p>
            <a:pPr algn="r" rtl="1"/>
            <a:r>
              <a:rPr lang="he-IL" b="1" dirty="0">
                <a:solidFill>
                  <a:srgbClr val="FF0000"/>
                </a:solidFill>
              </a:rPr>
              <a:t>ט' באב תרע"ד </a:t>
            </a:r>
            <a:r>
              <a:rPr lang="he-IL" b="1" dirty="0"/>
              <a:t>– פרצה מלחמת העולם הראשונה.</a:t>
            </a:r>
          </a:p>
          <a:p>
            <a:pPr algn="r" rtl="1"/>
            <a:r>
              <a:rPr lang="he-IL" b="1" dirty="0"/>
              <a:t>הרב קוק נשאר באירופה, חזר לארץ ב</a:t>
            </a:r>
            <a:r>
              <a:rPr lang="he-IL" b="1" dirty="0">
                <a:solidFill>
                  <a:srgbClr val="FF0000"/>
                </a:solidFill>
              </a:rPr>
              <a:t>ב' אלול תרע"ט</a:t>
            </a:r>
            <a:r>
              <a:rPr lang="he-IL"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0"/>
                                        <p:tgtEl>
                                          <p:spTgt spid="9"/>
                                        </p:tgtEl>
                                      </p:cBhvr>
                                    </p:animEffect>
                                    <p:anim calcmode="lin" valueType="num">
                                      <p:cBhvr>
                                        <p:cTn id="8" dur="5000" fill="hold"/>
                                        <p:tgtEl>
                                          <p:spTgt spid="9"/>
                                        </p:tgtEl>
                                        <p:attrNameLst>
                                          <p:attrName>style.rotation</p:attrName>
                                        </p:attrNameLst>
                                      </p:cBhvr>
                                      <p:tavLst>
                                        <p:tav tm="0">
                                          <p:val>
                                            <p:fltVal val="720"/>
                                          </p:val>
                                        </p:tav>
                                        <p:tav tm="100000">
                                          <p:val>
                                            <p:fltVal val="0"/>
                                          </p:val>
                                        </p:tav>
                                      </p:tavLst>
                                    </p:anim>
                                    <p:anim calcmode="lin" valueType="num">
                                      <p:cBhvr>
                                        <p:cTn id="9" dur="5000" fill="hold"/>
                                        <p:tgtEl>
                                          <p:spTgt spid="9"/>
                                        </p:tgtEl>
                                        <p:attrNameLst>
                                          <p:attrName>ppt_h</p:attrName>
                                        </p:attrNameLst>
                                      </p:cBhvr>
                                      <p:tavLst>
                                        <p:tav tm="0">
                                          <p:val>
                                            <p:fltVal val="0"/>
                                          </p:val>
                                        </p:tav>
                                        <p:tav tm="100000">
                                          <p:val>
                                            <p:strVal val="#ppt_h"/>
                                          </p:val>
                                        </p:tav>
                                      </p:tavLst>
                                    </p:anim>
                                    <p:anim calcmode="lin" valueType="num">
                                      <p:cBhvr>
                                        <p:cTn id="10" dur="5000" fill="hold"/>
                                        <p:tgtEl>
                                          <p:spTgt spid="9"/>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70388" y="292296"/>
            <a:ext cx="2403222" cy="369332"/>
          </a:xfrm>
          <a:prstGeom prst="rect">
            <a:avLst/>
          </a:prstGeom>
          <a:solidFill>
            <a:srgbClr val="FFFF00"/>
          </a:solidFill>
          <a:ln w="19050">
            <a:solidFill>
              <a:schemeClr val="tx1"/>
            </a:solidFill>
          </a:ln>
        </p:spPr>
        <p:txBody>
          <a:bodyPr wrap="none" rtlCol="1">
            <a:spAutoFit/>
          </a:bodyPr>
          <a:lstStyle/>
          <a:p>
            <a:r>
              <a:rPr lang="he-IL" sz="1800" b="1" dirty="0"/>
              <a:t>תוצאות והשפעות המסע</a:t>
            </a:r>
          </a:p>
        </p:txBody>
      </p:sp>
      <p:sp>
        <p:nvSpPr>
          <p:cNvPr id="3" name="TextBox 2"/>
          <p:cNvSpPr txBox="1"/>
          <p:nvPr/>
        </p:nvSpPr>
        <p:spPr>
          <a:xfrm>
            <a:off x="4531991" y="980728"/>
            <a:ext cx="4193777" cy="738664"/>
          </a:xfrm>
          <a:prstGeom prst="rect">
            <a:avLst/>
          </a:prstGeom>
          <a:noFill/>
          <a:ln w="19050">
            <a:solidFill>
              <a:srgbClr val="2217F5"/>
            </a:solidFill>
          </a:ln>
        </p:spPr>
        <p:txBody>
          <a:bodyPr wrap="none" rtlCol="1">
            <a:spAutoFit/>
          </a:bodyPr>
          <a:lstStyle/>
          <a:p>
            <a:pPr algn="r" rtl="1"/>
            <a:r>
              <a:rPr lang="he-IL" b="1" dirty="0"/>
              <a:t>זקף קומתם של שומרי המצוות.</a:t>
            </a:r>
          </a:p>
          <a:p>
            <a:pPr algn="r" rtl="1"/>
            <a:r>
              <a:rPr lang="he-IL" b="1" dirty="0"/>
              <a:t>הוקם ועד מצומצם "הועד להפרשת תרומות ומעשרות" –</a:t>
            </a:r>
          </a:p>
          <a:p>
            <a:pPr algn="r" rtl="1"/>
            <a:r>
              <a:rPr lang="he-IL" b="1" dirty="0"/>
              <a:t>חוליה מקשרת עם הרבנים בכל ענייני הדת.</a:t>
            </a:r>
          </a:p>
        </p:txBody>
      </p:sp>
      <p:sp>
        <p:nvSpPr>
          <p:cNvPr id="4" name="TextBox 3"/>
          <p:cNvSpPr txBox="1"/>
          <p:nvPr/>
        </p:nvSpPr>
        <p:spPr>
          <a:xfrm>
            <a:off x="899592" y="968072"/>
            <a:ext cx="3352200" cy="307777"/>
          </a:xfrm>
          <a:prstGeom prst="rect">
            <a:avLst/>
          </a:prstGeom>
          <a:noFill/>
          <a:ln w="19050">
            <a:solidFill>
              <a:srgbClr val="2217F5"/>
            </a:solidFill>
          </a:ln>
        </p:spPr>
        <p:txBody>
          <a:bodyPr wrap="none" rtlCol="1">
            <a:spAutoFit/>
          </a:bodyPr>
          <a:lstStyle/>
          <a:p>
            <a:pPr algn="r" rtl="1"/>
            <a:r>
              <a:rPr lang="he-IL" b="1" dirty="0"/>
              <a:t>לבנות מערכת חינוך בדומה </a:t>
            </a:r>
            <a:r>
              <a:rPr lang="he-IL" b="1" dirty="0" err="1"/>
              <a:t>ל'חדר</a:t>
            </a:r>
            <a:r>
              <a:rPr lang="he-IL" b="1" dirty="0"/>
              <a:t>' המסורתי</a:t>
            </a:r>
          </a:p>
        </p:txBody>
      </p:sp>
      <p:sp>
        <p:nvSpPr>
          <p:cNvPr id="6" name="TextBox 5"/>
          <p:cNvSpPr txBox="1"/>
          <p:nvPr/>
        </p:nvSpPr>
        <p:spPr>
          <a:xfrm>
            <a:off x="1103173" y="1411615"/>
            <a:ext cx="2945037" cy="307777"/>
          </a:xfrm>
          <a:prstGeom prst="rect">
            <a:avLst/>
          </a:prstGeom>
          <a:noFill/>
          <a:ln w="19050">
            <a:solidFill>
              <a:srgbClr val="2217F5"/>
            </a:solidFill>
          </a:ln>
        </p:spPr>
        <p:txBody>
          <a:bodyPr wrap="none" rtlCol="1">
            <a:spAutoFit/>
          </a:bodyPr>
          <a:lstStyle/>
          <a:p>
            <a:pPr algn="r" rtl="1"/>
            <a:r>
              <a:rPr lang="he-IL" b="1" dirty="0"/>
              <a:t>הרב הורוביץ השיג תקציב ל-6 מלמדים</a:t>
            </a:r>
          </a:p>
        </p:txBody>
      </p:sp>
      <p:sp>
        <p:nvSpPr>
          <p:cNvPr id="7" name="TextBox 6"/>
          <p:cNvSpPr txBox="1"/>
          <p:nvPr/>
        </p:nvSpPr>
        <p:spPr>
          <a:xfrm>
            <a:off x="323528" y="5877272"/>
            <a:ext cx="8544151" cy="707886"/>
          </a:xfrm>
          <a:prstGeom prst="rect">
            <a:avLst/>
          </a:prstGeom>
          <a:noFill/>
          <a:ln w="19050">
            <a:solidFill>
              <a:srgbClr val="2217F5"/>
            </a:solidFill>
          </a:ln>
        </p:spPr>
        <p:txBody>
          <a:bodyPr wrap="square" rtlCol="1">
            <a:spAutoFit/>
          </a:bodyPr>
          <a:lstStyle/>
          <a:p>
            <a:pPr algn="r" rtl="1"/>
            <a:r>
              <a:rPr lang="he-IL" b="1" dirty="0"/>
              <a:t>האיכרים והפועלים...עסוקים הם יותר מדי בחרישה ובזריעה, בהגנה על נפשם ועל רכושם, ואין לבם נתון כלל לשמוע את שבט המוסר של הרב קוק ובני </a:t>
            </a:r>
            <a:r>
              <a:rPr lang="he-IL" b="1" dirty="0" err="1"/>
              <a:t>לוויתו</a:t>
            </a:r>
            <a:r>
              <a:rPr lang="he-IL" b="1" dirty="0"/>
              <a:t>, וכך שבו להם הרבנים כלעומת שבאו, תקן לא </a:t>
            </a:r>
            <a:r>
              <a:rPr lang="he-IL" b="1" dirty="0" err="1"/>
              <a:t>תקנווהצלח</a:t>
            </a:r>
            <a:r>
              <a:rPr lang="he-IL" b="1" dirty="0"/>
              <a:t> לא הצליחו בשליחותם"                                                              </a:t>
            </a:r>
            <a:r>
              <a:rPr lang="he-IL" sz="1200" b="1" dirty="0"/>
              <a:t>(הפועל הצעיר תרע"ד </a:t>
            </a:r>
            <a:r>
              <a:rPr lang="he-IL" sz="1200" b="1" dirty="0" err="1"/>
              <a:t>גליון</a:t>
            </a:r>
            <a:r>
              <a:rPr lang="he-IL" sz="1200" b="1" dirty="0"/>
              <a:t> 11)</a:t>
            </a:r>
          </a:p>
        </p:txBody>
      </p:sp>
      <p:sp>
        <p:nvSpPr>
          <p:cNvPr id="8" name="TextBox 7"/>
          <p:cNvSpPr txBox="1"/>
          <p:nvPr/>
        </p:nvSpPr>
        <p:spPr>
          <a:xfrm>
            <a:off x="440230" y="2276876"/>
            <a:ext cx="8430513" cy="954107"/>
          </a:xfrm>
          <a:prstGeom prst="rect">
            <a:avLst/>
          </a:prstGeom>
          <a:noFill/>
          <a:ln w="19050">
            <a:solidFill>
              <a:srgbClr val="2217F5"/>
            </a:solidFill>
          </a:ln>
        </p:spPr>
        <p:txBody>
          <a:bodyPr wrap="none" rtlCol="1">
            <a:spAutoFit/>
          </a:bodyPr>
          <a:lstStyle/>
          <a:p>
            <a:pPr algn="r" rtl="1"/>
            <a:r>
              <a:rPr lang="he-IL" b="1" dirty="0">
                <a:solidFill>
                  <a:srgbClr val="FF0000"/>
                </a:solidFill>
              </a:rPr>
              <a:t>סיכום:</a:t>
            </a:r>
          </a:p>
          <a:p>
            <a:pPr algn="r" rtl="1"/>
            <a:r>
              <a:rPr lang="he-IL" b="1" dirty="0"/>
              <a:t>פריחת הארץ הנשמה, הניצוצות המאירים, המידות הטובות והרוממות הנפשית אשר פגשו במסעם המצוין, בררו </a:t>
            </a:r>
          </a:p>
          <a:p>
            <a:pPr algn="r" rtl="1"/>
            <a:r>
              <a:rPr lang="he-IL" b="1" dirty="0"/>
              <a:t>להם שגם כל הליקויים והמגרעות...יתוקנו...אבל לעבודה אנו קרואים, והעבודה עבודת קודש היא, עבודת ה' קדושה</a:t>
            </a:r>
          </a:p>
          <a:p>
            <a:pPr algn="r" rtl="1"/>
            <a:r>
              <a:rPr lang="he-IL" b="1" dirty="0"/>
              <a:t>ואדירה, את נס השלום אנו נושאים, שלום אנחנו מדברים לקרוב וגם לרחוק.                             </a:t>
            </a:r>
            <a:r>
              <a:rPr lang="he-IL" sz="1200" b="1" dirty="0"/>
              <a:t>(אלה מסעי, עמ' ס) </a:t>
            </a:r>
          </a:p>
        </p:txBody>
      </p:sp>
      <p:sp>
        <p:nvSpPr>
          <p:cNvPr id="9" name="TextBox 8"/>
          <p:cNvSpPr txBox="1"/>
          <p:nvPr/>
        </p:nvSpPr>
        <p:spPr>
          <a:xfrm>
            <a:off x="440230" y="3429000"/>
            <a:ext cx="8455923" cy="523220"/>
          </a:xfrm>
          <a:prstGeom prst="rect">
            <a:avLst/>
          </a:prstGeom>
          <a:noFill/>
          <a:ln w="19050">
            <a:solidFill>
              <a:srgbClr val="2217F5"/>
            </a:solidFill>
          </a:ln>
        </p:spPr>
        <p:txBody>
          <a:bodyPr wrap="square" rtlCol="1">
            <a:spAutoFit/>
          </a:bodyPr>
          <a:lstStyle/>
          <a:p>
            <a:pPr algn="r" rtl="1"/>
            <a:r>
              <a:rPr lang="he-IL" b="1" dirty="0"/>
              <a:t>הרב חרל"פ לרב קוק בט"ו טבת: "לאהוב את כל אחד ואחד מישראל אהבה טבעית, אהבה בלי מצרים: קנאים, צדיקים, בלתי קנאים".                                                                                                                             </a:t>
            </a:r>
            <a:r>
              <a:rPr lang="he-IL" sz="1200" b="1" dirty="0"/>
              <a:t>(הד הרים, עמ' נט)</a:t>
            </a:r>
          </a:p>
        </p:txBody>
      </p:sp>
      <p:sp>
        <p:nvSpPr>
          <p:cNvPr id="10" name="TextBox 9"/>
          <p:cNvSpPr txBox="1"/>
          <p:nvPr/>
        </p:nvSpPr>
        <p:spPr>
          <a:xfrm>
            <a:off x="440230" y="4221088"/>
            <a:ext cx="8447665" cy="738664"/>
          </a:xfrm>
          <a:prstGeom prst="rect">
            <a:avLst/>
          </a:prstGeom>
          <a:noFill/>
          <a:ln w="19050">
            <a:solidFill>
              <a:srgbClr val="2217F5"/>
            </a:solidFill>
          </a:ln>
        </p:spPr>
        <p:txBody>
          <a:bodyPr wrap="square" rtlCol="1">
            <a:spAutoFit/>
          </a:bodyPr>
          <a:lstStyle/>
          <a:p>
            <a:pPr algn="r" rtl="1"/>
            <a:r>
              <a:rPr lang="he-IL" b="1" dirty="0"/>
              <a:t>(בתרע"ד) אחרי שיחה על הכשרות, אסיפת חברים הוסכם להכשיר את המטבח מלבד צעיר קיצוני) ..</a:t>
            </a:r>
            <a:r>
              <a:rPr lang="he-IL" b="1" dirty="0" err="1"/>
              <a:t>נודעתי</a:t>
            </a:r>
            <a:r>
              <a:rPr lang="he-IL" b="1" dirty="0"/>
              <a:t> שרק ע"י </a:t>
            </a:r>
          </a:p>
          <a:p>
            <a:pPr algn="r" rtl="1"/>
            <a:r>
              <a:rPr lang="he-IL" b="1" dirty="0"/>
              <a:t>אמצעים נוחים, ע"י השפעה מלאה אהבה, הוקרה וכבוד, ויחד עם זה הושטת עזרה </a:t>
            </a:r>
            <a:r>
              <a:rPr lang="he-IL" b="1" dirty="0" err="1"/>
              <a:t>ליסד</a:t>
            </a:r>
            <a:r>
              <a:rPr lang="he-IL" b="1" dirty="0"/>
              <a:t> </a:t>
            </a:r>
            <a:r>
              <a:rPr lang="he-IL" b="1" dirty="0" err="1"/>
              <a:t>הבנין</a:t>
            </a:r>
            <a:r>
              <a:rPr lang="he-IL" b="1" dirty="0"/>
              <a:t> הלאומי, עד כמה שידינו</a:t>
            </a:r>
          </a:p>
          <a:p>
            <a:pPr algn="r" rtl="1"/>
            <a:r>
              <a:rPr lang="he-IL" b="1" dirty="0"/>
              <a:t>מגעת, נבוא לכלל תיקון, בנוגע לכל המגרעות שישנם עתה </a:t>
            </a:r>
            <a:r>
              <a:rPr lang="he-IL" b="1" dirty="0" err="1"/>
              <a:t>בישובנו</a:t>
            </a:r>
            <a:r>
              <a:rPr lang="he-IL" b="1" dirty="0"/>
              <a:t> החדש."        </a:t>
            </a:r>
            <a:r>
              <a:rPr lang="he-IL" sz="1200" b="1" dirty="0"/>
              <a:t>(בסכום המסע, דאר היום ט"ו ניסן תרפ"ז)</a:t>
            </a:r>
          </a:p>
        </p:txBody>
      </p:sp>
      <p:sp>
        <p:nvSpPr>
          <p:cNvPr id="11" name="TextBox 10"/>
          <p:cNvSpPr txBox="1"/>
          <p:nvPr/>
        </p:nvSpPr>
        <p:spPr>
          <a:xfrm>
            <a:off x="6958182" y="5445224"/>
            <a:ext cx="1909497" cy="307777"/>
          </a:xfrm>
          <a:prstGeom prst="rect">
            <a:avLst/>
          </a:prstGeom>
          <a:solidFill>
            <a:srgbClr val="FFFF00"/>
          </a:solidFill>
          <a:ln w="19050">
            <a:solidFill>
              <a:schemeClr val="tx1"/>
            </a:solidFill>
          </a:ln>
        </p:spPr>
        <p:txBody>
          <a:bodyPr wrap="none" rtlCol="1">
            <a:spAutoFit/>
          </a:bodyPr>
          <a:lstStyle/>
          <a:p>
            <a:pPr algn="r" rtl="1"/>
            <a:r>
              <a:rPr lang="he-IL" b="1" dirty="0"/>
              <a:t>יחס שלילי אצל הפועלים</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611559" y="693859"/>
            <a:ext cx="7920880" cy="1600438"/>
          </a:xfrm>
          <a:prstGeom prst="rect">
            <a:avLst/>
          </a:prstGeom>
          <a:ln w="19050">
            <a:solidFill>
              <a:srgbClr val="2217F5"/>
            </a:solidFill>
          </a:ln>
        </p:spPr>
        <p:txBody>
          <a:bodyPr wrap="square">
            <a:spAutoFit/>
          </a:bodyPr>
          <a:lstStyle/>
          <a:p>
            <a:pPr algn="r" rtl="1"/>
            <a:r>
              <a:rPr lang="he-IL" b="1" dirty="0"/>
              <a:t>הרב </a:t>
            </a:r>
            <a:r>
              <a:rPr lang="he-IL" b="1" dirty="0" err="1"/>
              <a:t>חרל"פ</a:t>
            </a:r>
            <a:r>
              <a:rPr lang="he-IL" b="1" dirty="0"/>
              <a:t> ביום פטירת </a:t>
            </a:r>
            <a:r>
              <a:rPr lang="he-IL" b="1" dirty="0" err="1"/>
              <a:t>הראי"ה</a:t>
            </a:r>
            <a:r>
              <a:rPr lang="he-IL" b="1" dirty="0"/>
              <a:t> הספידו בביתו:</a:t>
            </a:r>
          </a:p>
          <a:p>
            <a:pPr algn="r" rtl="1"/>
            <a:endParaRPr lang="he-IL" b="1" dirty="0"/>
          </a:p>
          <a:p>
            <a:pPr algn="r" rtl="1"/>
            <a:r>
              <a:rPr lang="he-IL" b="1" dirty="0"/>
              <a:t>בחרדת קודש סיפר על המראה הגדול אשר זכה לו באישון לילה, בנסיעתו עם הרב בגליל בחורף תרע"ד:</a:t>
            </a:r>
          </a:p>
          <a:p>
            <a:pPr algn="r" rtl="1"/>
            <a:r>
              <a:rPr lang="he-IL" b="1" dirty="0"/>
              <a:t>"התעוררתי באמצע הלילה, וראיתי את הרב נישא בסערת רוח, הלוך ושוב לאורך החדר, נחרדתי והתרוממתי, והנה ניגש אלי ואחז בי, ידיו היו קרות כקרח ופניו בערו-זהרו כלפידים, ומפיו פרצו דברי להבה: "רבי יעקב משה, איך </a:t>
            </a:r>
            <a:r>
              <a:rPr lang="he-IL" b="1" dirty="0" err="1"/>
              <a:t>ווער</a:t>
            </a:r>
            <a:r>
              <a:rPr lang="he-IL" b="1" dirty="0"/>
              <a:t> </a:t>
            </a:r>
            <a:r>
              <a:rPr lang="he-IL" b="1" dirty="0" err="1"/>
              <a:t>פארברענט</a:t>
            </a:r>
            <a:r>
              <a:rPr lang="he-IL" b="1" dirty="0"/>
              <a:t> פון אהבת השם!" (=אני נשרף מאהבת השם!)".</a:t>
            </a:r>
          </a:p>
          <a:p>
            <a:pPr algn="r" rtl="1"/>
            <a:r>
              <a:rPr lang="he-IL" b="1" dirty="0"/>
              <a:t>                                                                                                                   (שיחות הראיה </a:t>
            </a:r>
            <a:r>
              <a:rPr lang="he-IL" b="1" dirty="0" err="1"/>
              <a:t>עמ</a:t>
            </a:r>
            <a:r>
              <a:rPr lang="he-IL" b="1" dirty="0"/>
              <a:t>' שנא-ב)</a:t>
            </a:r>
          </a:p>
        </p:txBody>
      </p:sp>
      <p:sp>
        <p:nvSpPr>
          <p:cNvPr id="5" name="TextBox 4"/>
          <p:cNvSpPr txBox="1"/>
          <p:nvPr/>
        </p:nvSpPr>
        <p:spPr>
          <a:xfrm>
            <a:off x="606749" y="2506530"/>
            <a:ext cx="7983276" cy="1169551"/>
          </a:xfrm>
          <a:prstGeom prst="rect">
            <a:avLst/>
          </a:prstGeom>
          <a:noFill/>
          <a:ln w="19050">
            <a:solidFill>
              <a:srgbClr val="2217F5"/>
            </a:solidFill>
          </a:ln>
        </p:spPr>
        <p:txBody>
          <a:bodyPr wrap="none" rtlCol="1">
            <a:spAutoFit/>
          </a:bodyPr>
          <a:lstStyle/>
          <a:p>
            <a:pPr algn="r" rtl="1"/>
            <a:r>
              <a:rPr lang="he-IL" b="1" dirty="0"/>
              <a:t>הרב חרל"פ לרב מ"ל שחור, </a:t>
            </a:r>
            <a:r>
              <a:rPr lang="he-IL" b="1" dirty="0">
                <a:solidFill>
                  <a:srgbClr val="FF0000"/>
                </a:solidFill>
              </a:rPr>
              <a:t>כ"א חשון תרע"ד</a:t>
            </a:r>
          </a:p>
          <a:p>
            <a:pPr algn="r" rtl="1"/>
            <a:r>
              <a:rPr lang="he-IL" b="1" dirty="0"/>
              <a:t>(על הביקור </a:t>
            </a:r>
            <a:r>
              <a:rPr lang="he-IL" b="1" dirty="0" err="1"/>
              <a:t>בזכרון</a:t>
            </a:r>
            <a:r>
              <a:rPr lang="he-IL" b="1" dirty="0"/>
              <a:t> יעקב)</a:t>
            </a:r>
          </a:p>
          <a:p>
            <a:pPr algn="r" rtl="1"/>
            <a:r>
              <a:rPr lang="he-IL" b="1" dirty="0"/>
              <a:t>"בדרך כלל אין כל הכסף והזהב שבעולם שווה לעומת גודל התענוג לראות הוד </a:t>
            </a:r>
            <a:r>
              <a:rPr lang="he-IL" b="1" dirty="0" err="1"/>
              <a:t>יפיו</a:t>
            </a:r>
            <a:r>
              <a:rPr lang="he-IL" b="1" dirty="0"/>
              <a:t> של מרן אור ישראל שליט"א</a:t>
            </a:r>
          </a:p>
          <a:p>
            <a:pPr algn="r" rtl="1"/>
            <a:r>
              <a:rPr lang="he-IL" b="1" dirty="0"/>
              <a:t>מדבר מעומק נשמתו בלי שום התפעלות גופנית, רואים איך עולה למקורו ושואב מים שאינם נפסקים ומורידים</a:t>
            </a:r>
          </a:p>
          <a:p>
            <a:pPr algn="r" rtl="1"/>
            <a:r>
              <a:rPr lang="he-IL" b="1" dirty="0"/>
              <a:t>לזה העולם".                                                                                                                  (מכתבי מרום </a:t>
            </a:r>
            <a:r>
              <a:rPr lang="he-IL" b="1" dirty="0" err="1"/>
              <a:t>יח</a:t>
            </a:r>
            <a:r>
              <a:rPr lang="he-IL" b="1" dirty="0"/>
              <a:t>)</a:t>
            </a:r>
          </a:p>
        </p:txBody>
      </p:sp>
      <p:sp>
        <p:nvSpPr>
          <p:cNvPr id="6" name="TextBox 5"/>
          <p:cNvSpPr txBox="1"/>
          <p:nvPr/>
        </p:nvSpPr>
        <p:spPr>
          <a:xfrm>
            <a:off x="3423287" y="118432"/>
            <a:ext cx="2297424" cy="369332"/>
          </a:xfrm>
          <a:prstGeom prst="rect">
            <a:avLst/>
          </a:prstGeom>
          <a:solidFill>
            <a:srgbClr val="FFFF00"/>
          </a:solidFill>
          <a:ln w="19050">
            <a:solidFill>
              <a:srgbClr val="2217F5"/>
            </a:solidFill>
          </a:ln>
        </p:spPr>
        <p:txBody>
          <a:bodyPr wrap="none" rtlCol="1">
            <a:spAutoFit/>
          </a:bodyPr>
          <a:lstStyle/>
          <a:p>
            <a:pPr algn="r" rtl="1"/>
            <a:r>
              <a:rPr lang="he-IL" sz="1800" b="1" dirty="0"/>
              <a:t>הרב יעקב משה </a:t>
            </a:r>
            <a:r>
              <a:rPr lang="he-IL" sz="1800" b="1" dirty="0" err="1"/>
              <a:t>חרל"פ</a:t>
            </a:r>
            <a:endParaRPr lang="he-IL" sz="1800" b="1" dirty="0"/>
          </a:p>
        </p:txBody>
      </p:sp>
      <p:pic>
        <p:nvPicPr>
          <p:cNvPr id="3" name="תמונה 2"/>
          <p:cNvPicPr>
            <a:picLocks noChangeAspect="1"/>
          </p:cNvPicPr>
          <p:nvPr/>
        </p:nvPicPr>
        <p:blipFill rotWithShape="1">
          <a:blip r:embed="rId2"/>
          <a:srcRect b="8289"/>
          <a:stretch/>
        </p:blipFill>
        <p:spPr>
          <a:xfrm>
            <a:off x="606749" y="4149080"/>
            <a:ext cx="4637920" cy="2400262"/>
          </a:xfrm>
          <a:prstGeom prst="rect">
            <a:avLst/>
          </a:prstGeom>
          <a:ln w="19050">
            <a:solidFill>
              <a:srgbClr val="2217F5"/>
            </a:solidFill>
          </a:ln>
        </p:spPr>
      </p:pic>
      <p:sp>
        <p:nvSpPr>
          <p:cNvPr id="7" name="מלבן 6"/>
          <p:cNvSpPr/>
          <p:nvPr/>
        </p:nvSpPr>
        <p:spPr>
          <a:xfrm>
            <a:off x="5480306" y="4149080"/>
            <a:ext cx="3109719" cy="2246769"/>
          </a:xfrm>
          <a:prstGeom prst="rect">
            <a:avLst/>
          </a:prstGeom>
          <a:ln w="19050">
            <a:solidFill>
              <a:srgbClr val="2217F5"/>
            </a:solidFill>
          </a:ln>
        </p:spPr>
        <p:txBody>
          <a:bodyPr wrap="square">
            <a:spAutoFit/>
          </a:bodyPr>
          <a:lstStyle/>
          <a:p>
            <a:pPr algn="r" rtl="1"/>
            <a:r>
              <a:rPr lang="he-IL" dirty="0">
                <a:latin typeface="Arial" panose="020B0604020202020204" pitchFamily="34" charset="0"/>
              </a:rPr>
              <a:t>הרב קוק שלח לשם כך את הרב חרל"פ לרב </a:t>
            </a:r>
            <a:r>
              <a:rPr lang="he-IL" dirty="0" err="1">
                <a:latin typeface="Arial" panose="020B0604020202020204" pitchFamily="34" charset="0"/>
              </a:rPr>
              <a:t>זוננפלד</a:t>
            </a:r>
            <a:r>
              <a:rPr lang="he-IL" dirty="0">
                <a:latin typeface="Arial" panose="020B0604020202020204" pitchFamily="34" charset="0"/>
              </a:rPr>
              <a:t> ששאל של מי הרעיון. הרב חרל"פ אמר שמאחורי הרעיון עומד הרב קוק. הרב </a:t>
            </a:r>
            <a:r>
              <a:rPr lang="he-IL" dirty="0" err="1">
                <a:latin typeface="Arial" panose="020B0604020202020204" pitchFamily="34" charset="0"/>
              </a:rPr>
              <a:t>זוננפלד</a:t>
            </a:r>
            <a:r>
              <a:rPr lang="he-IL" dirty="0">
                <a:latin typeface="Arial" panose="020B0604020202020204" pitchFamily="34" charset="0"/>
              </a:rPr>
              <a:t> טען שאין צורך במסע שכזה אך הרב חרל"פ שאל אם אין האמונה בערך התשובה מצדיקה מסע שכזה. כשחזר מהסיור הזה נשאל הרב חרל"פ מה הוא ראה בעבודתם של החקלאים הללו, ובתשובה סיפר: 'הרחתי </a:t>
            </a:r>
            <a:r>
              <a:rPr lang="he-IL" dirty="0" err="1">
                <a:latin typeface="Arial" panose="020B0604020202020204" pitchFamily="34" charset="0"/>
              </a:rPr>
              <a:t>חקל</a:t>
            </a:r>
            <a:r>
              <a:rPr lang="he-IL" dirty="0">
                <a:latin typeface="Arial" panose="020B0604020202020204" pitchFamily="34" charset="0"/>
              </a:rPr>
              <a:t> </a:t>
            </a:r>
            <a:r>
              <a:rPr lang="he-IL" dirty="0" err="1">
                <a:latin typeface="Arial" panose="020B0604020202020204" pitchFamily="34" charset="0"/>
              </a:rPr>
              <a:t>תפוחין</a:t>
            </a:r>
            <a:r>
              <a:rPr lang="he-IL" dirty="0">
                <a:latin typeface="Arial" panose="020B0604020202020204" pitchFamily="34" charset="0"/>
              </a:rPr>
              <a:t> </a:t>
            </a:r>
            <a:r>
              <a:rPr lang="he-IL" dirty="0" err="1">
                <a:latin typeface="Arial" panose="020B0604020202020204" pitchFamily="34" charset="0"/>
              </a:rPr>
              <a:t>קדישין</a:t>
            </a:r>
            <a:r>
              <a:rPr lang="he-IL" dirty="0">
                <a:latin typeface="Arial" panose="020B0604020202020204" pitchFamily="34" charset="0"/>
              </a:rPr>
              <a:t> בעבודה שלהם'".</a:t>
            </a:r>
            <a:endParaRPr lang="he-IL"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15867" t="53608" r="7384" b="13539"/>
          <a:stretch/>
        </p:blipFill>
        <p:spPr>
          <a:xfrm rot="5400000">
            <a:off x="687068" y="2194663"/>
            <a:ext cx="5418170" cy="3278337"/>
          </a:xfrm>
          <a:prstGeom prst="rect">
            <a:avLst/>
          </a:prstGeom>
          <a:ln w="19050">
            <a:solidFill>
              <a:srgbClr val="2217F5"/>
            </a:solidFill>
          </a:ln>
        </p:spPr>
      </p:pic>
      <p:pic>
        <p:nvPicPr>
          <p:cNvPr id="3" name="תמונה 2"/>
          <p:cNvPicPr>
            <a:picLocks noChangeAspect="1"/>
          </p:cNvPicPr>
          <p:nvPr/>
        </p:nvPicPr>
        <p:blipFill rotWithShape="1">
          <a:blip r:embed="rId2" cstate="print">
            <a:extLst>
              <a:ext uri="{28A0092B-C50C-407E-A947-70E740481C1C}">
                <a14:useLocalDpi xmlns:a14="http://schemas.microsoft.com/office/drawing/2010/main" val="0"/>
              </a:ext>
            </a:extLst>
          </a:blip>
          <a:srcRect l="15867" t="13196" r="11886" b="54203"/>
          <a:stretch/>
        </p:blipFill>
        <p:spPr>
          <a:xfrm rot="5400000">
            <a:off x="4233340" y="2111478"/>
            <a:ext cx="5449008" cy="3475545"/>
          </a:xfrm>
          <a:prstGeom prst="rect">
            <a:avLst/>
          </a:prstGeom>
          <a:ln w="19050">
            <a:solidFill>
              <a:srgbClr val="2217F5"/>
            </a:solidFill>
          </a:ln>
        </p:spPr>
      </p:pic>
      <p:sp>
        <p:nvSpPr>
          <p:cNvPr id="4" name="TextBox 3"/>
          <p:cNvSpPr txBox="1"/>
          <p:nvPr/>
        </p:nvSpPr>
        <p:spPr>
          <a:xfrm>
            <a:off x="1043608" y="283155"/>
            <a:ext cx="7018268" cy="369332"/>
          </a:xfrm>
          <a:prstGeom prst="rect">
            <a:avLst/>
          </a:prstGeom>
          <a:solidFill>
            <a:srgbClr val="FFFF00"/>
          </a:solidFill>
          <a:ln>
            <a:solidFill>
              <a:schemeClr val="tx1"/>
            </a:solidFill>
          </a:ln>
        </p:spPr>
        <p:txBody>
          <a:bodyPr wrap="none" rtlCol="1">
            <a:spAutoFit/>
          </a:bodyPr>
          <a:lstStyle/>
          <a:p>
            <a:r>
              <a:rPr lang="he-IL" sz="1800" b="1" dirty="0"/>
              <a:t>מכתב של הרב </a:t>
            </a:r>
            <a:r>
              <a:rPr lang="he-IL" sz="1800" b="1" dirty="0" err="1"/>
              <a:t>י"מ</a:t>
            </a:r>
            <a:r>
              <a:rPr lang="he-IL" sz="1800" b="1" dirty="0"/>
              <a:t> חרל"פ לגיסו של האדמו"ר מגור, הרב צבי </a:t>
            </a:r>
            <a:r>
              <a:rPr lang="he-IL" sz="1800" b="1" dirty="0" err="1"/>
              <a:t>העניך</a:t>
            </a:r>
            <a:r>
              <a:rPr lang="he-IL" sz="1800" b="1" dirty="0"/>
              <a:t> </a:t>
            </a:r>
            <a:r>
              <a:rPr lang="he-IL" sz="1800" b="1" dirty="0" err="1"/>
              <a:t>לעווין</a:t>
            </a:r>
            <a:r>
              <a:rPr lang="he-IL" sz="1800" b="1" dirty="0"/>
              <a:t> </a:t>
            </a:r>
          </a:p>
        </p:txBody>
      </p:sp>
      <p:sp>
        <p:nvSpPr>
          <p:cNvPr id="5" name="TextBox 4"/>
          <p:cNvSpPr txBox="1"/>
          <p:nvPr/>
        </p:nvSpPr>
        <p:spPr>
          <a:xfrm>
            <a:off x="9008" y="6312145"/>
            <a:ext cx="2238113" cy="523220"/>
          </a:xfrm>
          <a:prstGeom prst="rect">
            <a:avLst/>
          </a:prstGeom>
          <a:noFill/>
        </p:spPr>
        <p:txBody>
          <a:bodyPr wrap="none" rtlCol="1">
            <a:spAutoFit/>
          </a:bodyPr>
          <a:lstStyle/>
          <a:p>
            <a:r>
              <a:rPr lang="he-IL" b="1" dirty="0"/>
              <a:t>הרב משה צבי נריה,</a:t>
            </a:r>
          </a:p>
          <a:p>
            <a:r>
              <a:rPr lang="he-IL" b="1" dirty="0"/>
              <a:t>בשדה </a:t>
            </a:r>
            <a:r>
              <a:rPr lang="he-IL" b="1" dirty="0" err="1"/>
              <a:t>הראי"ה</a:t>
            </a:r>
            <a:r>
              <a:rPr lang="he-IL" b="1" dirty="0"/>
              <a:t> עמ' 340-341</a:t>
            </a:r>
          </a:p>
        </p:txBody>
      </p:sp>
      <p:pic>
        <p:nvPicPr>
          <p:cNvPr id="3074" name="Picture 2" descr="תוצאת תמונה עבור צבי פסח פרנק"/>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562" y="1207377"/>
            <a:ext cx="880452" cy="1229070"/>
          </a:xfrm>
          <a:prstGeom prst="rect">
            <a:avLst/>
          </a:prstGeom>
          <a:noFill/>
          <a:ln w="38100">
            <a:solidFill>
              <a:srgbClr val="2217F5"/>
            </a:solidFill>
          </a:ln>
          <a:extLst>
            <a:ext uri="{909E8E84-426E-40DD-AFC4-6F175D3DCCD1}">
              <a14:hiddenFill xmlns:a14="http://schemas.microsoft.com/office/drawing/2010/main">
                <a:solidFill>
                  <a:srgbClr val="FFFFFF"/>
                </a:solidFill>
              </a14:hiddenFill>
            </a:ext>
          </a:extLst>
        </p:spPr>
      </p:pic>
      <p:sp>
        <p:nvSpPr>
          <p:cNvPr id="7" name="מלבן 6"/>
          <p:cNvSpPr/>
          <p:nvPr/>
        </p:nvSpPr>
        <p:spPr>
          <a:xfrm>
            <a:off x="541561" y="3060326"/>
            <a:ext cx="8154056" cy="1815882"/>
          </a:xfrm>
          <a:prstGeom prst="rect">
            <a:avLst/>
          </a:prstGeom>
          <a:solidFill>
            <a:srgbClr val="FFFF00"/>
          </a:solidFill>
          <a:ln w="38100">
            <a:solidFill>
              <a:srgbClr val="2217F5"/>
            </a:solidFill>
          </a:ln>
        </p:spPr>
        <p:txBody>
          <a:bodyPr wrap="square">
            <a:spAutoFit/>
          </a:bodyPr>
          <a:lstStyle/>
          <a:p>
            <a:pPr algn="r" rtl="1"/>
            <a:r>
              <a:rPr lang="he-IL" b="1" dirty="0"/>
              <a:t>ב' ר"ח כסלו תרפ"א</a:t>
            </a:r>
          </a:p>
          <a:p>
            <a:pPr algn="r" rtl="1"/>
            <a:endParaRPr lang="he-IL" b="1" dirty="0"/>
          </a:p>
          <a:p>
            <a:pPr algn="r" rtl="1"/>
            <a:r>
              <a:rPr lang="he-IL" b="1" dirty="0"/>
              <a:t>"כל ישרי לב יודעים כי </a:t>
            </a:r>
            <a:r>
              <a:rPr lang="he-IL" b="1" dirty="0">
                <a:solidFill>
                  <a:srgbClr val="FF0000"/>
                </a:solidFill>
              </a:rPr>
              <a:t>אין באה"ק עתה איש אשר יכול לעמוד בפרץ נגד כל הקמים על תורתנו ומסורתנו כמו מרן </a:t>
            </a:r>
            <a:r>
              <a:rPr lang="he-IL" b="1" dirty="0" err="1">
                <a:solidFill>
                  <a:srgbClr val="FF0000"/>
                </a:solidFill>
              </a:rPr>
              <a:t>שליט"א</a:t>
            </a:r>
            <a:r>
              <a:rPr lang="he-IL" b="1" dirty="0"/>
              <a:t> [הרב קוק]...</a:t>
            </a:r>
          </a:p>
          <a:p>
            <a:pPr algn="r" rtl="1"/>
            <a:r>
              <a:rPr lang="he-IL" b="1" dirty="0"/>
              <a:t>...וראה אז הגאון ר' יוסף חיים שליט"א בעצמו, איך הוא פועל בכל השדרות, וקידש שם שמים ברבים </a:t>
            </a:r>
            <a:r>
              <a:rPr lang="he-IL" b="1" dirty="0" err="1"/>
              <a:t>בהחזיר</a:t>
            </a:r>
            <a:r>
              <a:rPr lang="he-IL" b="1" dirty="0"/>
              <a:t> כמה נפשות וקבוצות שלימות לתשובה. הגאון ר' יוסף חיים </a:t>
            </a:r>
            <a:r>
              <a:rPr lang="he-IL" b="1" dirty="0" err="1"/>
              <a:t>זוננפלד</a:t>
            </a:r>
            <a:r>
              <a:rPr lang="he-IL" b="1" dirty="0"/>
              <a:t> בעצמו שמע לקולו אז בכל אשר ציווה לו, אף בדרכים שלא הסכין מעולם...ולולא גינו אותו [=הקנאים] הלא היה הדרך ארץ לפניו נורא מאוד, ואז היו מעמד ארצנו הקדושה!"                                                                                                               (מאבני המקום, </a:t>
            </a:r>
            <a:r>
              <a:rPr lang="he-IL" b="1" dirty="0" err="1"/>
              <a:t>יג</a:t>
            </a:r>
            <a:r>
              <a:rPr lang="he-IL" b="1" dirty="0"/>
              <a:t>)</a:t>
            </a:r>
          </a:p>
        </p:txBody>
      </p:sp>
      <p:sp>
        <p:nvSpPr>
          <p:cNvPr id="6" name="מלבן 5"/>
          <p:cNvSpPr/>
          <p:nvPr/>
        </p:nvSpPr>
        <p:spPr>
          <a:xfrm>
            <a:off x="147903" y="2436447"/>
            <a:ext cx="1372492" cy="307777"/>
          </a:xfrm>
          <a:prstGeom prst="rect">
            <a:avLst/>
          </a:prstGeom>
        </p:spPr>
        <p:txBody>
          <a:bodyPr wrap="none">
            <a:spAutoFit/>
          </a:bodyPr>
          <a:lstStyle/>
          <a:p>
            <a:r>
              <a:rPr lang="he-IL" b="1" dirty="0"/>
              <a:t>הרב </a:t>
            </a:r>
            <a:r>
              <a:rPr lang="he-IL" b="1" dirty="0" err="1"/>
              <a:t>י"מ</a:t>
            </a:r>
            <a:r>
              <a:rPr lang="he-IL" b="1" dirty="0"/>
              <a:t> חרל"פ </a:t>
            </a:r>
            <a:endParaRPr lang="he-IL" dirty="0"/>
          </a:p>
        </p:txBody>
      </p:sp>
    </p:spTree>
    <p:extLst>
      <p:ext uri="{BB962C8B-B14F-4D97-AF65-F5344CB8AC3E}">
        <p14:creationId xmlns:p14="http://schemas.microsoft.com/office/powerpoint/2010/main" val="416580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ppt_w</p:attrName>
                                        </p:attrNameLst>
                                      </p:cBhvr>
                                      <p:tavLst>
                                        <p:tav tm="0">
                                          <p:val>
                                            <p:fltVal val="0"/>
                                          </p:val>
                                        </p:tav>
                                        <p:tav tm="100000">
                                          <p:val>
                                            <p:strVal val="#ppt_w"/>
                                          </p:val>
                                        </p:tav>
                                      </p:tavLst>
                                    </p:anim>
                                    <p:anim calcmode="lin" valueType="num">
                                      <p:cBhvr>
                                        <p:cTn id="8" dur="2000" fill="hold"/>
                                        <p:tgtEl>
                                          <p:spTgt spid="7"/>
                                        </p:tgtEl>
                                        <p:attrNameLst>
                                          <p:attrName>ppt_h</p:attrName>
                                        </p:attrNameLst>
                                      </p:cBhvr>
                                      <p:tavLst>
                                        <p:tav tm="0">
                                          <p:val>
                                            <p:fltVal val="0"/>
                                          </p:val>
                                        </p:tav>
                                        <p:tav tm="100000">
                                          <p:val>
                                            <p:strVal val="#ppt_h"/>
                                          </p:val>
                                        </p:tav>
                                      </p:tavLst>
                                    </p:anim>
                                    <p:animEffect transition="in" filter="fade">
                                      <p:cBhvr>
                                        <p:cTn id="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64754" y="171388"/>
            <a:ext cx="1511952" cy="369332"/>
          </a:xfrm>
          <a:prstGeom prst="rect">
            <a:avLst/>
          </a:prstGeom>
          <a:solidFill>
            <a:srgbClr val="FFFF00"/>
          </a:solidFill>
          <a:ln>
            <a:solidFill>
              <a:schemeClr val="tx1"/>
            </a:solidFill>
          </a:ln>
        </p:spPr>
        <p:txBody>
          <a:bodyPr wrap="none" rtlCol="1">
            <a:spAutoFit/>
          </a:bodyPr>
          <a:lstStyle/>
          <a:p>
            <a:r>
              <a:rPr lang="he-IL" sz="1800" b="1" dirty="0"/>
              <a:t>מסעות נוספים</a:t>
            </a:r>
          </a:p>
        </p:txBody>
      </p:sp>
      <p:sp>
        <p:nvSpPr>
          <p:cNvPr id="3" name="מלבן 2"/>
          <p:cNvSpPr/>
          <p:nvPr/>
        </p:nvSpPr>
        <p:spPr>
          <a:xfrm>
            <a:off x="6067752" y="1154383"/>
            <a:ext cx="2108270" cy="307777"/>
          </a:xfrm>
          <a:prstGeom prst="rect">
            <a:avLst/>
          </a:prstGeom>
          <a:ln>
            <a:solidFill>
              <a:srgbClr val="2217F5"/>
            </a:solidFill>
          </a:ln>
        </p:spPr>
        <p:txBody>
          <a:bodyPr wrap="none">
            <a:spAutoFit/>
          </a:bodyPr>
          <a:lstStyle/>
          <a:p>
            <a:pPr algn="just" rtl="1"/>
            <a:r>
              <a:rPr lang="he-IL" b="1" dirty="0">
                <a:latin typeface="Times New Roman" panose="02020603050405020304" pitchFamily="18" charset="0"/>
                <a:ea typeface="Times New Roman" panose="02020603050405020304" pitchFamily="18" charset="0"/>
                <a:cs typeface="+mn-cs"/>
              </a:rPr>
              <a:t>יצא לסיור במושבות יהודה.</a:t>
            </a:r>
            <a:endParaRPr lang="en-US" b="1" dirty="0">
              <a:latin typeface="Times New Roman" panose="02020603050405020304" pitchFamily="18" charset="0"/>
              <a:ea typeface="Times New Roman" panose="02020603050405020304" pitchFamily="18" charset="0"/>
              <a:cs typeface="+mn-cs"/>
            </a:endParaRPr>
          </a:p>
        </p:txBody>
      </p:sp>
      <p:sp>
        <p:nvSpPr>
          <p:cNvPr id="4" name="TextBox 3"/>
          <p:cNvSpPr txBox="1"/>
          <p:nvPr/>
        </p:nvSpPr>
        <p:spPr>
          <a:xfrm>
            <a:off x="5655429" y="744957"/>
            <a:ext cx="2496196" cy="338554"/>
          </a:xfrm>
          <a:prstGeom prst="rect">
            <a:avLst/>
          </a:prstGeom>
          <a:solidFill>
            <a:srgbClr val="FFFF00"/>
          </a:solidFill>
          <a:ln>
            <a:solidFill>
              <a:schemeClr val="tx1"/>
            </a:solidFill>
          </a:ln>
        </p:spPr>
        <p:txBody>
          <a:bodyPr wrap="none" rtlCol="1">
            <a:spAutoFit/>
          </a:bodyPr>
          <a:lstStyle/>
          <a:p>
            <a:r>
              <a:rPr lang="he-IL" sz="1600" b="1" dirty="0">
                <a:solidFill>
                  <a:srgbClr val="FF0000"/>
                </a:solidFill>
              </a:rPr>
              <a:t>מסע שני: </a:t>
            </a:r>
            <a:r>
              <a:rPr lang="he-IL" sz="1600" b="1" dirty="0">
                <a:latin typeface="Times New Roman" panose="02020603050405020304" pitchFamily="18" charset="0"/>
                <a:ea typeface="Times New Roman" panose="02020603050405020304" pitchFamily="18" charset="0"/>
                <a:cs typeface="David" panose="020E0502060401010101" pitchFamily="34" charset="-79"/>
              </a:rPr>
              <a:t>ד' - ט' תמוז תרע"ד</a:t>
            </a:r>
            <a:endParaRPr lang="he-IL" sz="1600" b="1" dirty="0"/>
          </a:p>
        </p:txBody>
      </p:sp>
      <p:sp>
        <p:nvSpPr>
          <p:cNvPr id="5" name="TextBox 4"/>
          <p:cNvSpPr txBox="1"/>
          <p:nvPr/>
        </p:nvSpPr>
        <p:spPr>
          <a:xfrm>
            <a:off x="5062669" y="1864912"/>
            <a:ext cx="3113353" cy="338554"/>
          </a:xfrm>
          <a:prstGeom prst="rect">
            <a:avLst/>
          </a:prstGeom>
          <a:solidFill>
            <a:srgbClr val="FFFF00"/>
          </a:solidFill>
          <a:ln>
            <a:solidFill>
              <a:schemeClr val="tx1"/>
            </a:solidFill>
          </a:ln>
        </p:spPr>
        <p:txBody>
          <a:bodyPr wrap="none" rtlCol="1">
            <a:spAutoFit/>
          </a:bodyPr>
          <a:lstStyle/>
          <a:p>
            <a:r>
              <a:rPr lang="he-IL" sz="1600" b="1" dirty="0">
                <a:solidFill>
                  <a:srgbClr val="FF0000"/>
                </a:solidFill>
              </a:rPr>
              <a:t>מסע שלישי: </a:t>
            </a:r>
            <a:r>
              <a:rPr lang="he-IL" sz="1600" b="1" dirty="0">
                <a:solidFill>
                  <a:schemeClr val="tx1"/>
                </a:solidFill>
              </a:rPr>
              <a:t>י"ז אב – ג' אלול תר"פ</a:t>
            </a:r>
          </a:p>
        </p:txBody>
      </p:sp>
      <p:sp>
        <p:nvSpPr>
          <p:cNvPr id="6" name="מלבן 5"/>
          <p:cNvSpPr/>
          <p:nvPr/>
        </p:nvSpPr>
        <p:spPr>
          <a:xfrm>
            <a:off x="4500373" y="2309932"/>
            <a:ext cx="3688831" cy="307777"/>
          </a:xfrm>
          <a:prstGeom prst="rect">
            <a:avLst/>
          </a:prstGeom>
          <a:ln>
            <a:solidFill>
              <a:srgbClr val="2217F5"/>
            </a:solidFill>
          </a:ln>
        </p:spPr>
        <p:txBody>
          <a:bodyPr wrap="none">
            <a:spAutoFit/>
          </a:bodyPr>
          <a:lstStyle/>
          <a:p>
            <a:pPr algn="just" rtl="1"/>
            <a:r>
              <a:rPr lang="he-IL" b="1" kern="1200" dirty="0">
                <a:latin typeface="Times New Roman" panose="02020603050405020304" pitchFamily="18" charset="0"/>
                <a:ea typeface="Times New Roman" panose="02020603050405020304" pitchFamily="18" charset="0"/>
                <a:cs typeface="+mn-cs"/>
              </a:rPr>
              <a:t>יצא לסיור במשך שבועיים במושבות יהודה וביפו. </a:t>
            </a:r>
            <a:endParaRPr lang="en-US" b="1" dirty="0">
              <a:effectLst/>
              <a:latin typeface="Times New Roman" panose="02020603050405020304" pitchFamily="18" charset="0"/>
              <a:ea typeface="Times New Roman" panose="02020603050405020304" pitchFamily="18" charset="0"/>
              <a:cs typeface="+mn-cs"/>
            </a:endParaRPr>
          </a:p>
        </p:txBody>
      </p:sp>
      <p:sp>
        <p:nvSpPr>
          <p:cNvPr id="9" name="TextBox 4">
            <a:extLst>
              <a:ext uri="{FF2B5EF4-FFF2-40B4-BE49-F238E27FC236}">
                <a16:creationId xmlns:a16="http://schemas.microsoft.com/office/drawing/2014/main" id="{E3C0BE7A-623D-A905-B4D6-D41EBE239DC7}"/>
              </a:ext>
            </a:extLst>
          </p:cNvPr>
          <p:cNvSpPr txBox="1"/>
          <p:nvPr/>
        </p:nvSpPr>
        <p:spPr>
          <a:xfrm>
            <a:off x="5130353" y="2892818"/>
            <a:ext cx="3058851" cy="338554"/>
          </a:xfrm>
          <a:prstGeom prst="rect">
            <a:avLst/>
          </a:prstGeom>
          <a:solidFill>
            <a:srgbClr val="FFFF00"/>
          </a:solidFill>
          <a:ln>
            <a:solidFill>
              <a:schemeClr val="tx1"/>
            </a:solidFill>
          </a:ln>
        </p:spPr>
        <p:txBody>
          <a:bodyPr wrap="none" rtlCol="1">
            <a:spAutoFit/>
          </a:bodyPr>
          <a:lstStyle/>
          <a:p>
            <a:r>
              <a:rPr lang="he-IL" sz="1600" b="1" dirty="0">
                <a:solidFill>
                  <a:srgbClr val="FF0000"/>
                </a:solidFill>
              </a:rPr>
              <a:t>מסע רביעי: </a:t>
            </a:r>
            <a:r>
              <a:rPr lang="he-IL" sz="1600" b="1" dirty="0"/>
              <a:t>י"ג – כ"ב כסלו תרפ"ד</a:t>
            </a:r>
          </a:p>
        </p:txBody>
      </p:sp>
      <p:sp>
        <p:nvSpPr>
          <p:cNvPr id="10" name="TextBox 1"/>
          <p:cNvSpPr txBox="1"/>
          <p:nvPr/>
        </p:nvSpPr>
        <p:spPr>
          <a:xfrm>
            <a:off x="619559" y="3432975"/>
            <a:ext cx="7582793" cy="523220"/>
          </a:xfrm>
          <a:prstGeom prst="rect">
            <a:avLst/>
          </a:prstGeom>
          <a:noFill/>
          <a:ln w="19050">
            <a:solidFill>
              <a:srgbClr val="2217F5"/>
            </a:solidFill>
          </a:ln>
        </p:spPr>
        <p:txBody>
          <a:bodyPr wrap="square" rtlCol="1">
            <a:spAutoFit/>
          </a:bodyPr>
          <a:lstStyle/>
          <a:p>
            <a:pPr algn="r" rtl="1"/>
            <a:r>
              <a:rPr lang="he-IL" b="1" dirty="0">
                <a:solidFill>
                  <a:srgbClr val="FF0000"/>
                </a:solidFill>
              </a:rPr>
              <a:t>י"ג תשרי תרפ"ג </a:t>
            </a:r>
            <a:r>
              <a:rPr lang="he-IL" b="1" dirty="0"/>
              <a:t>ל'הסתדרות ירושלים' בשוויץ:</a:t>
            </a:r>
          </a:p>
          <a:p>
            <a:pPr algn="r" rtl="1"/>
            <a:r>
              <a:rPr lang="he-IL" b="1" dirty="0"/>
              <a:t>"...לעזור לקניית </a:t>
            </a:r>
            <a:r>
              <a:rPr lang="he-IL" b="1" dirty="0" err="1"/>
              <a:t>אוטומביל</a:t>
            </a:r>
            <a:r>
              <a:rPr lang="he-IL" b="1" dirty="0"/>
              <a:t> אחד או שנים בשביל המטרה </a:t>
            </a:r>
            <a:r>
              <a:rPr lang="he-IL" b="1" dirty="0" err="1"/>
              <a:t>הסיורית</a:t>
            </a:r>
            <a:r>
              <a:rPr lang="he-IL" b="1" dirty="0"/>
              <a:t> הנ"ל".           (אגרות הראיה, א, קמט)</a:t>
            </a:r>
          </a:p>
        </p:txBody>
      </p:sp>
      <p:sp>
        <p:nvSpPr>
          <p:cNvPr id="11" name="TextBox 2"/>
          <p:cNvSpPr txBox="1"/>
          <p:nvPr/>
        </p:nvSpPr>
        <p:spPr>
          <a:xfrm>
            <a:off x="603560" y="4128908"/>
            <a:ext cx="7598792" cy="954107"/>
          </a:xfrm>
          <a:prstGeom prst="rect">
            <a:avLst/>
          </a:prstGeom>
          <a:noFill/>
          <a:ln w="19050">
            <a:solidFill>
              <a:srgbClr val="2217F5"/>
            </a:solidFill>
          </a:ln>
        </p:spPr>
        <p:txBody>
          <a:bodyPr wrap="square" rtlCol="1">
            <a:spAutoFit/>
          </a:bodyPr>
          <a:lstStyle/>
          <a:p>
            <a:pPr algn="r" rtl="1"/>
            <a:r>
              <a:rPr lang="he-IL" b="1" dirty="0" err="1">
                <a:solidFill>
                  <a:srgbClr val="FF0000"/>
                </a:solidFill>
              </a:rPr>
              <a:t>חשון</a:t>
            </a:r>
            <a:r>
              <a:rPr lang="he-IL" b="1" dirty="0">
                <a:solidFill>
                  <a:srgbClr val="FF0000"/>
                </a:solidFill>
              </a:rPr>
              <a:t> תרפ"ד </a:t>
            </a:r>
            <a:r>
              <a:rPr lang="he-IL" b="1" dirty="0"/>
              <a:t>לרב שלמה </a:t>
            </a:r>
            <a:r>
              <a:rPr lang="he-IL" b="1" dirty="0" err="1"/>
              <a:t>אהרונסןון</a:t>
            </a:r>
            <a:r>
              <a:rPr lang="he-IL" b="1" dirty="0"/>
              <a:t> רבה של תל אביב – יפו:</a:t>
            </a:r>
          </a:p>
          <a:p>
            <a:pPr algn="r" rtl="1"/>
            <a:r>
              <a:rPr lang="he-IL" b="1" dirty="0"/>
              <a:t>"והנה זה מכבר הסכמתי לעשות מסע זה בראשית ימי החורף דנא, אחרי אשר הרבה </a:t>
            </a:r>
            <a:r>
              <a:rPr lang="he-IL" b="1" dirty="0" err="1"/>
              <a:t>נצטערתי</a:t>
            </a:r>
            <a:r>
              <a:rPr lang="he-IL" b="1" dirty="0"/>
              <a:t> על העיכוב</a:t>
            </a:r>
          </a:p>
          <a:p>
            <a:pPr algn="r" rtl="1"/>
            <a:r>
              <a:rPr lang="he-IL" b="1" dirty="0"/>
              <a:t>הגדול שנתעכבה נסיעה מוכרחה זו מאז לפני המלחמה, שסדרנו סיור הגון בישוב הגלילי, </a:t>
            </a:r>
            <a:r>
              <a:rPr lang="he-IL" b="1" dirty="0">
                <a:solidFill>
                  <a:srgbClr val="FF0000"/>
                </a:solidFill>
              </a:rPr>
              <a:t>והתועלת </a:t>
            </a:r>
            <a:r>
              <a:rPr lang="he-IL" b="1" dirty="0" err="1">
                <a:solidFill>
                  <a:srgbClr val="FF0000"/>
                </a:solidFill>
              </a:rPr>
              <a:t>היתה</a:t>
            </a:r>
            <a:endParaRPr lang="he-IL" b="1" dirty="0">
              <a:solidFill>
                <a:srgbClr val="FF0000"/>
              </a:solidFill>
            </a:endParaRPr>
          </a:p>
          <a:p>
            <a:pPr algn="r" rtl="1"/>
            <a:r>
              <a:rPr lang="he-IL" b="1" dirty="0">
                <a:solidFill>
                  <a:srgbClr val="FF0000"/>
                </a:solidFill>
              </a:rPr>
              <a:t> אז גדולה מאוד!".                                                                                      </a:t>
            </a:r>
            <a:r>
              <a:rPr lang="he-IL" b="1" dirty="0">
                <a:solidFill>
                  <a:schemeClr val="tx1"/>
                </a:solidFill>
              </a:rPr>
              <a:t>(אגרות הראיה, א, </a:t>
            </a:r>
            <a:r>
              <a:rPr lang="he-IL" b="1" dirty="0" err="1">
                <a:solidFill>
                  <a:schemeClr val="tx1"/>
                </a:solidFill>
              </a:rPr>
              <a:t>קצד</a:t>
            </a:r>
            <a:r>
              <a:rPr lang="he-IL" b="1" dirty="0">
                <a:solidFill>
                  <a:schemeClr val="tx1"/>
                </a:solidFill>
              </a:rPr>
              <a:t>-ה)</a:t>
            </a:r>
          </a:p>
        </p:txBody>
      </p:sp>
      <p:sp>
        <p:nvSpPr>
          <p:cNvPr id="12" name="TextBox 3"/>
          <p:cNvSpPr txBox="1"/>
          <p:nvPr/>
        </p:nvSpPr>
        <p:spPr>
          <a:xfrm>
            <a:off x="539552" y="5373216"/>
            <a:ext cx="7662800" cy="1169551"/>
          </a:xfrm>
          <a:prstGeom prst="rect">
            <a:avLst/>
          </a:prstGeom>
          <a:noFill/>
          <a:ln w="19050">
            <a:solidFill>
              <a:srgbClr val="2217F5"/>
            </a:solidFill>
          </a:ln>
        </p:spPr>
        <p:txBody>
          <a:bodyPr wrap="square" rtlCol="1">
            <a:spAutoFit/>
          </a:bodyPr>
          <a:lstStyle/>
          <a:p>
            <a:pPr algn="r" rtl="1"/>
            <a:r>
              <a:rPr lang="he-IL" b="1" dirty="0">
                <a:solidFill>
                  <a:schemeClr val="tx1"/>
                </a:solidFill>
              </a:rPr>
              <a:t>השתתפו: הרב קוק, הרב ש' אהרונסון, הרב </a:t>
            </a:r>
            <a:r>
              <a:rPr lang="he-IL" b="1" dirty="0" err="1">
                <a:solidFill>
                  <a:schemeClr val="tx1"/>
                </a:solidFill>
              </a:rPr>
              <a:t>י"מ</a:t>
            </a:r>
            <a:r>
              <a:rPr lang="he-IL" b="1" dirty="0">
                <a:solidFill>
                  <a:schemeClr val="tx1"/>
                </a:solidFill>
              </a:rPr>
              <a:t> חרל"פ, הרב מ"י רוזנטל, ר' מנחם אייזיק </a:t>
            </a:r>
            <a:r>
              <a:rPr lang="he-IL" b="1" dirty="0" err="1">
                <a:solidFill>
                  <a:schemeClr val="tx1"/>
                </a:solidFill>
              </a:rPr>
              <a:t>רלב"ג</a:t>
            </a:r>
            <a:r>
              <a:rPr lang="he-IL" b="1" dirty="0">
                <a:solidFill>
                  <a:schemeClr val="tx1"/>
                </a:solidFill>
              </a:rPr>
              <a:t> מזכירו – רשם פרוטוקול (אבני המקום, יא). ביקרו ב-30 ערים, מושבות וקיבוצים בעמק יזרעאל ובגליל. המטרה </a:t>
            </a:r>
            <a:r>
              <a:rPr lang="he-IL" b="1" dirty="0" err="1">
                <a:solidFill>
                  <a:schemeClr val="tx1"/>
                </a:solidFill>
              </a:rPr>
              <a:t>היתה</a:t>
            </a:r>
            <a:r>
              <a:rPr lang="he-IL" b="1" dirty="0">
                <a:solidFill>
                  <a:schemeClr val="tx1"/>
                </a:solidFill>
              </a:rPr>
              <a:t> לחזק את שמירת השבת, הכשרות, קביעת מזוזות, הפרשת תרומות ומעשרות, ושיפור רמת החינוך בבתי הספר, בעיקר בנקודות היישוב שהוקמו בשנים האחרונות. במימון 'הסתדרות ירושלים', </a:t>
            </a:r>
            <a:r>
              <a:rPr lang="he-IL" b="1" dirty="0" err="1">
                <a:solidFill>
                  <a:schemeClr val="tx1"/>
                </a:solidFill>
              </a:rPr>
              <a:t>יק"א</a:t>
            </a:r>
            <a:r>
              <a:rPr lang="he-IL" b="1" dirty="0">
                <a:solidFill>
                  <a:schemeClr val="tx1"/>
                </a:solidFill>
              </a:rPr>
              <a:t> והמזרחי. </a:t>
            </a:r>
          </a:p>
        </p:txBody>
      </p:sp>
    </p:spTree>
    <p:extLst>
      <p:ext uri="{BB962C8B-B14F-4D97-AF65-F5344CB8AC3E}">
        <p14:creationId xmlns:p14="http://schemas.microsoft.com/office/powerpoint/2010/main" val="20734698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764823" y="222963"/>
            <a:ext cx="3171061" cy="338554"/>
          </a:xfrm>
          <a:prstGeom prst="rect">
            <a:avLst/>
          </a:prstGeom>
          <a:solidFill>
            <a:srgbClr val="FFFF00"/>
          </a:solidFill>
          <a:ln>
            <a:solidFill>
              <a:schemeClr val="tx1"/>
            </a:solidFill>
          </a:ln>
        </p:spPr>
        <p:txBody>
          <a:bodyPr wrap="none" rtlCol="1">
            <a:spAutoFit/>
          </a:bodyPr>
          <a:lstStyle/>
          <a:p>
            <a:pPr algn="r" rtl="1"/>
            <a:r>
              <a:rPr lang="he-IL" sz="1600" b="1" dirty="0">
                <a:solidFill>
                  <a:srgbClr val="FF0000"/>
                </a:solidFill>
              </a:rPr>
              <a:t>מסע חמישי: </a:t>
            </a:r>
            <a:r>
              <a:rPr lang="he-IL" sz="1600" b="1" dirty="0"/>
              <a:t>י"ט – כ"א אלול תרפ"ה</a:t>
            </a:r>
          </a:p>
        </p:txBody>
      </p:sp>
      <p:sp>
        <p:nvSpPr>
          <p:cNvPr id="14" name="מלבן 13"/>
          <p:cNvSpPr/>
          <p:nvPr/>
        </p:nvSpPr>
        <p:spPr>
          <a:xfrm>
            <a:off x="237165" y="697782"/>
            <a:ext cx="8698719" cy="738664"/>
          </a:xfrm>
          <a:prstGeom prst="rect">
            <a:avLst/>
          </a:prstGeom>
          <a:ln w="19050">
            <a:solidFill>
              <a:srgbClr val="2217F5"/>
            </a:solidFill>
          </a:ln>
        </p:spPr>
        <p:txBody>
          <a:bodyPr wrap="square">
            <a:spAutoFit/>
          </a:bodyPr>
          <a:lstStyle/>
          <a:p>
            <a:pPr algn="r">
              <a:spcBef>
                <a:spcPct val="0"/>
              </a:spcBef>
            </a:pPr>
            <a:r>
              <a:rPr lang="he-IL" altLang="he-IL" b="1" dirty="0"/>
              <a:t>השתתפו: הרב קוק, הראשון לציון הרב יעקב מאיר, הרב ש' אהרונסון, הרב א"י </a:t>
            </a:r>
            <a:r>
              <a:rPr lang="he-IL" altLang="he-IL" b="1" dirty="0" err="1"/>
              <a:t>בורכוב</a:t>
            </a:r>
            <a:r>
              <a:rPr lang="he-IL" altLang="he-IL" b="1" dirty="0"/>
              <a:t>, הרב י' שפירא, ר' בנימין (יהושע </a:t>
            </a:r>
            <a:r>
              <a:rPr lang="he-IL" altLang="he-IL" b="1" dirty="0" err="1"/>
              <a:t>רדלר</a:t>
            </a:r>
            <a:r>
              <a:rPr lang="he-IL" altLang="he-IL" b="1" dirty="0"/>
              <a:t>-פלדמן). </a:t>
            </a:r>
            <a:r>
              <a:rPr lang="he-IL" altLang="he-IL" b="1" dirty="0">
                <a:solidFill>
                  <a:srgbClr val="FF0000"/>
                </a:solidFill>
              </a:rPr>
              <a:t>'מסע תשובה' </a:t>
            </a:r>
            <a:r>
              <a:rPr lang="he-IL" altLang="he-IL" b="1" dirty="0"/>
              <a:t>בקיבוצים ובמושבות בעמק יזרעאל ובגליל. הם התקבלו שם באהדה רבה. ביוזמת ובמימון 'קרן קימת לישראל'. </a:t>
            </a:r>
          </a:p>
        </p:txBody>
      </p:sp>
      <p:pic>
        <p:nvPicPr>
          <p:cNvPr id="1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91" b="16945"/>
          <a:stretch/>
        </p:blipFill>
        <p:spPr bwMode="auto">
          <a:xfrm>
            <a:off x="857565" y="1671690"/>
            <a:ext cx="3243007" cy="2214460"/>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7" name="TextBox 6"/>
          <p:cNvSpPr txBox="1"/>
          <p:nvPr/>
        </p:nvSpPr>
        <p:spPr>
          <a:xfrm>
            <a:off x="491184" y="4007655"/>
            <a:ext cx="3975768" cy="738664"/>
          </a:xfrm>
          <a:prstGeom prst="rect">
            <a:avLst/>
          </a:prstGeom>
          <a:noFill/>
        </p:spPr>
        <p:txBody>
          <a:bodyPr wrap="none" rtlCol="1">
            <a:spAutoFit/>
          </a:bodyPr>
          <a:lstStyle/>
          <a:p>
            <a:pPr algn="ctr"/>
            <a:r>
              <a:rPr lang="he-IL" b="1" dirty="0"/>
              <a:t>המשלחת בכפר חסידים, </a:t>
            </a:r>
            <a:r>
              <a:rPr lang="he-IL" b="1" dirty="0">
                <a:solidFill>
                  <a:srgbClr val="FF0000"/>
                </a:solidFill>
              </a:rPr>
              <a:t>כ"א אלול תרפ"ה</a:t>
            </a:r>
          </a:p>
          <a:p>
            <a:pPr algn="r"/>
            <a:r>
              <a:rPr lang="he-IL" b="1" dirty="0"/>
              <a:t>מימין לשמאל: הרב ש' אהרונסון, הרב א"י </a:t>
            </a:r>
            <a:r>
              <a:rPr lang="he-IL" b="1" dirty="0" err="1"/>
              <a:t>בורכוב</a:t>
            </a:r>
            <a:r>
              <a:rPr lang="he-IL" b="1" dirty="0"/>
              <a:t>, </a:t>
            </a:r>
          </a:p>
          <a:p>
            <a:pPr algn="r"/>
            <a:r>
              <a:rPr lang="he-IL" b="1" dirty="0"/>
              <a:t>הרב י' שפירא, הרב י' מאיר, הרב קוק, הרב ב' מרכוס</a:t>
            </a:r>
          </a:p>
        </p:txBody>
      </p:sp>
      <p:pic>
        <p:nvPicPr>
          <p:cNvPr id="6" name="תמונה 5">
            <a:extLst>
              <a:ext uri="{FF2B5EF4-FFF2-40B4-BE49-F238E27FC236}">
                <a16:creationId xmlns:a16="http://schemas.microsoft.com/office/drawing/2014/main" id="{6FBE4464-C7BF-AE16-EFE4-3EB2BBE07A31}"/>
              </a:ext>
            </a:extLst>
          </p:cNvPr>
          <p:cNvPicPr>
            <a:picLocks noChangeAspect="1"/>
          </p:cNvPicPr>
          <p:nvPr/>
        </p:nvPicPr>
        <p:blipFill rotWithShape="1">
          <a:blip r:embed="rId3"/>
          <a:srcRect l="22201" t="9066" r="20138" b="29807"/>
          <a:stretch/>
        </p:blipFill>
        <p:spPr>
          <a:xfrm>
            <a:off x="5436096" y="1671690"/>
            <a:ext cx="3130964" cy="2229857"/>
          </a:xfrm>
          <a:prstGeom prst="rect">
            <a:avLst/>
          </a:prstGeom>
          <a:ln w="38100">
            <a:solidFill>
              <a:srgbClr val="FF0000"/>
            </a:solidFill>
          </a:ln>
        </p:spPr>
      </p:pic>
      <p:pic>
        <p:nvPicPr>
          <p:cNvPr id="8" name="תמונה 7"/>
          <p:cNvPicPr>
            <a:picLocks noChangeAspect="1"/>
          </p:cNvPicPr>
          <p:nvPr/>
        </p:nvPicPr>
        <p:blipFill>
          <a:blip r:embed="rId4"/>
          <a:stretch>
            <a:fillRect/>
          </a:stretch>
        </p:blipFill>
        <p:spPr>
          <a:xfrm>
            <a:off x="4448519" y="3976674"/>
            <a:ext cx="4584589" cy="1018120"/>
          </a:xfrm>
          <a:prstGeom prst="rect">
            <a:avLst/>
          </a:prstGeom>
        </p:spPr>
      </p:pic>
      <p:sp>
        <p:nvSpPr>
          <p:cNvPr id="10" name="TextBox 9"/>
          <p:cNvSpPr txBox="1"/>
          <p:nvPr/>
        </p:nvSpPr>
        <p:spPr>
          <a:xfrm>
            <a:off x="4263789" y="4653811"/>
            <a:ext cx="184730" cy="307777"/>
          </a:xfrm>
          <a:prstGeom prst="rect">
            <a:avLst/>
          </a:prstGeom>
          <a:noFill/>
          <a:ln w="38100">
            <a:noFill/>
          </a:ln>
        </p:spPr>
        <p:txBody>
          <a:bodyPr wrap="none" rtlCol="1">
            <a:spAutoFit/>
          </a:bodyPr>
          <a:lstStyle/>
          <a:p>
            <a:pPr algn="r"/>
            <a:endParaRPr lang="he-IL" b="1" dirty="0"/>
          </a:p>
        </p:txBody>
      </p:sp>
      <p:pic>
        <p:nvPicPr>
          <p:cNvPr id="9" name="תמונה 8"/>
          <p:cNvPicPr>
            <a:picLocks noChangeAspect="1"/>
          </p:cNvPicPr>
          <p:nvPr/>
        </p:nvPicPr>
        <p:blipFill>
          <a:blip r:embed="rId5"/>
          <a:stretch>
            <a:fillRect/>
          </a:stretch>
        </p:blipFill>
        <p:spPr>
          <a:xfrm>
            <a:off x="4822747" y="5204622"/>
            <a:ext cx="4113137" cy="1252737"/>
          </a:xfrm>
          <a:prstGeom prst="rect">
            <a:avLst/>
          </a:prstGeom>
          <a:ln w="38100">
            <a:solidFill>
              <a:srgbClr val="FF0000"/>
            </a:solidFill>
          </a:ln>
        </p:spPr>
      </p:pic>
      <p:sp>
        <p:nvSpPr>
          <p:cNvPr id="12" name="TextBox 4"/>
          <p:cNvSpPr txBox="1"/>
          <p:nvPr/>
        </p:nvSpPr>
        <p:spPr>
          <a:xfrm>
            <a:off x="4716016" y="6481148"/>
            <a:ext cx="1760418" cy="307777"/>
          </a:xfrm>
          <a:prstGeom prst="rect">
            <a:avLst/>
          </a:prstGeom>
          <a:noFill/>
          <a:ln w="38100">
            <a:noFill/>
          </a:ln>
        </p:spPr>
        <p:txBody>
          <a:bodyPr wrap="none" rtlCol="1">
            <a:spAutoFit/>
          </a:bodyPr>
          <a:lstStyle/>
          <a:p>
            <a:r>
              <a:rPr lang="he-IL" b="1" dirty="0"/>
              <a:t>הארץ, כ' אלול תרפ"ה</a:t>
            </a:r>
          </a:p>
        </p:txBody>
      </p:sp>
      <p:pic>
        <p:nvPicPr>
          <p:cNvPr id="13" name="תמונה 12">
            <a:extLst>
              <a:ext uri="{FF2B5EF4-FFF2-40B4-BE49-F238E27FC236}">
                <a16:creationId xmlns:a16="http://schemas.microsoft.com/office/drawing/2014/main" id="{40937614-D550-0450-20D0-9558F2457243}"/>
              </a:ext>
            </a:extLst>
          </p:cNvPr>
          <p:cNvPicPr>
            <a:picLocks noChangeAspect="1"/>
          </p:cNvPicPr>
          <p:nvPr/>
        </p:nvPicPr>
        <p:blipFill>
          <a:blip r:embed="rId6"/>
          <a:stretch>
            <a:fillRect/>
          </a:stretch>
        </p:blipFill>
        <p:spPr>
          <a:xfrm>
            <a:off x="1588975" y="4907661"/>
            <a:ext cx="1780186" cy="1560711"/>
          </a:xfrm>
          <a:prstGeom prst="rect">
            <a:avLst/>
          </a:prstGeom>
        </p:spPr>
      </p:pic>
      <p:sp>
        <p:nvSpPr>
          <p:cNvPr id="16" name="תיבת טקסט 15">
            <a:extLst>
              <a:ext uri="{FF2B5EF4-FFF2-40B4-BE49-F238E27FC236}">
                <a16:creationId xmlns:a16="http://schemas.microsoft.com/office/drawing/2014/main" id="{B20AAC21-DAE6-410B-C5C8-BE2414F56C94}"/>
              </a:ext>
            </a:extLst>
          </p:cNvPr>
          <p:cNvSpPr txBox="1"/>
          <p:nvPr/>
        </p:nvSpPr>
        <p:spPr>
          <a:xfrm>
            <a:off x="1140345" y="6481148"/>
            <a:ext cx="2824812" cy="307777"/>
          </a:xfrm>
          <a:prstGeom prst="rect">
            <a:avLst/>
          </a:prstGeom>
          <a:noFill/>
        </p:spPr>
        <p:txBody>
          <a:bodyPr wrap="none" rtlCol="1">
            <a:spAutoFit/>
          </a:bodyPr>
          <a:lstStyle/>
          <a:p>
            <a:r>
              <a:rPr lang="he-IL" b="1" dirty="0"/>
              <a:t>הרבנים הראשיים בבית הכנסת בכפר</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248" y="3453916"/>
            <a:ext cx="8788232" cy="1169551"/>
          </a:xfrm>
          <a:prstGeom prst="rect">
            <a:avLst/>
          </a:prstGeom>
          <a:noFill/>
          <a:ln w="19050">
            <a:solidFill>
              <a:srgbClr val="2217F5"/>
            </a:solidFill>
          </a:ln>
        </p:spPr>
        <p:txBody>
          <a:bodyPr wrap="square" rtlCol="1">
            <a:spAutoFit/>
          </a:bodyPr>
          <a:lstStyle/>
          <a:p>
            <a:pPr algn="just" rtl="1"/>
            <a:r>
              <a:rPr lang="he-IL" b="1" dirty="0"/>
              <a:t>השתתפו: הרב קוק, הרב מ' ברלין, הרב א"י בורוכוב, מזכירו וחתנו של הרב קוק, </a:t>
            </a:r>
            <a:r>
              <a:rPr lang="he-IL" b="1" dirty="0" err="1"/>
              <a:t>י"ש</a:t>
            </a:r>
            <a:r>
              <a:rPr lang="he-IL" b="1" dirty="0"/>
              <a:t> </a:t>
            </a:r>
            <a:r>
              <a:rPr lang="he-IL" b="1" dirty="0" err="1"/>
              <a:t>רבינוביץ</a:t>
            </a:r>
            <a:r>
              <a:rPr lang="he-IL" b="1" dirty="0"/>
              <a:t>, בכל מקום הצטרפו אליהם הרבנים המחוזיים, כגון: הרב דב קוק (עפולה), הרב יוסף כהן (חדרה). 'מסע תשובה', במטרה לשפר את המצב הדתי של המושבות והקיבוצים, ולתקן את הטעון תיקון בענייני כשרות, שבת ועוד. ביקרו במשך שבועיים ב-42 נקודות יישוב בשומרון, עמק יזרעאל, גליל תחתון וגליל עליון. המשלחת התקבלה בכבוד והערכה. הרב קוק היה ראש המדברים בכל מקום , דבריו, שנבעו מלב אוהב, השפיע רבות על התושבים. המסע מומן ואורגן ע"י 'המרכז העולמי של המזרחי'. </a:t>
            </a:r>
          </a:p>
        </p:txBody>
      </p:sp>
      <p:sp>
        <p:nvSpPr>
          <p:cNvPr id="5" name="TextBox 4"/>
          <p:cNvSpPr txBox="1"/>
          <p:nvPr/>
        </p:nvSpPr>
        <p:spPr>
          <a:xfrm>
            <a:off x="144280" y="5949280"/>
            <a:ext cx="8759129" cy="523220"/>
          </a:xfrm>
          <a:prstGeom prst="rect">
            <a:avLst/>
          </a:prstGeom>
          <a:noFill/>
          <a:ln w="19050">
            <a:solidFill>
              <a:srgbClr val="2217F5"/>
            </a:solidFill>
          </a:ln>
        </p:spPr>
        <p:txBody>
          <a:bodyPr wrap="none" rtlCol="1">
            <a:spAutoFit/>
          </a:bodyPr>
          <a:lstStyle/>
          <a:p>
            <a:pPr algn="r" rtl="1"/>
            <a:r>
              <a:rPr lang="he-IL" b="1" dirty="0"/>
              <a:t>במסיבת עיתונאים בבית הרב קוק: "בכל מקום קבלום בסבר פנים יפות...והדגיש שהמצב הוטב עתה בהרבה. הרב ברלין</a:t>
            </a:r>
          </a:p>
          <a:p>
            <a:pPr algn="r" rtl="1"/>
            <a:r>
              <a:rPr lang="he-IL" b="1" dirty="0"/>
              <a:t>הבליט את הקבוצות לרעה מהמושבות, הרב קוק הפסיקו מסר פעמים מתוך אי הסכמה".              (דבר, כ"ט ניסן תרפ"ז)</a:t>
            </a:r>
          </a:p>
        </p:txBody>
      </p:sp>
      <p:sp>
        <p:nvSpPr>
          <p:cNvPr id="6" name="TextBox 5"/>
          <p:cNvSpPr txBox="1"/>
          <p:nvPr/>
        </p:nvSpPr>
        <p:spPr>
          <a:xfrm>
            <a:off x="222385" y="5013176"/>
            <a:ext cx="8625360" cy="523220"/>
          </a:xfrm>
          <a:prstGeom prst="rect">
            <a:avLst/>
          </a:prstGeom>
          <a:noFill/>
          <a:ln w="19050">
            <a:solidFill>
              <a:srgbClr val="2217F5"/>
            </a:solidFill>
          </a:ln>
        </p:spPr>
        <p:txBody>
          <a:bodyPr wrap="square" rtlCol="1">
            <a:spAutoFit/>
          </a:bodyPr>
          <a:lstStyle/>
          <a:p>
            <a:pPr algn="r" rtl="1"/>
            <a:r>
              <a:rPr lang="he-IL" b="1" dirty="0"/>
              <a:t>"בהרבה מקומות נחשב יום הביקור ל"יום טוב". הרב קוק אמר למתיישבים: </a:t>
            </a:r>
            <a:r>
              <a:rPr lang="he-IL" b="1" dirty="0">
                <a:solidFill>
                  <a:srgbClr val="FF0000"/>
                </a:solidFill>
              </a:rPr>
              <a:t>"באנו לא רק להכיר אתכם, אלא כדי שתכירו </a:t>
            </a:r>
          </a:p>
          <a:p>
            <a:pPr algn="r" rtl="1"/>
            <a:r>
              <a:rPr lang="he-IL" b="1" dirty="0">
                <a:solidFill>
                  <a:srgbClr val="FF0000"/>
                </a:solidFill>
              </a:rPr>
              <a:t>אותנו."                                                                                                                          </a:t>
            </a:r>
            <a:r>
              <a:rPr lang="he-IL" b="1" dirty="0"/>
              <a:t>(הצפירה, ט"ז סיון תרפ"ז) </a:t>
            </a:r>
          </a:p>
        </p:txBody>
      </p:sp>
      <p:sp>
        <p:nvSpPr>
          <p:cNvPr id="10" name="מלבן 9"/>
          <p:cNvSpPr/>
          <p:nvPr/>
        </p:nvSpPr>
        <p:spPr>
          <a:xfrm>
            <a:off x="391883" y="687936"/>
            <a:ext cx="8511526" cy="523220"/>
          </a:xfrm>
          <a:prstGeom prst="rect">
            <a:avLst/>
          </a:prstGeom>
          <a:ln>
            <a:solidFill>
              <a:srgbClr val="2217F5"/>
            </a:solidFill>
          </a:ln>
        </p:spPr>
        <p:txBody>
          <a:bodyPr wrap="square">
            <a:spAutoFit/>
          </a:bodyPr>
          <a:lstStyle/>
          <a:p>
            <a:pPr algn="r"/>
            <a:r>
              <a:rPr lang="he-IL" b="1" dirty="0"/>
              <a:t>השתתפו: הרב קוק, הראשון לציון הרב יעקב מאיר, חברי הרבנות הראשית. יצאו לביקור בן שבוע בערים ובמושבות בצפון הארץ, הם תיקנו שם תיקונים בענייני הדת.</a:t>
            </a:r>
          </a:p>
        </p:txBody>
      </p:sp>
      <p:sp>
        <p:nvSpPr>
          <p:cNvPr id="11" name="TextBox 10"/>
          <p:cNvSpPr txBox="1"/>
          <p:nvPr/>
        </p:nvSpPr>
        <p:spPr>
          <a:xfrm>
            <a:off x="5883323" y="240867"/>
            <a:ext cx="3009157" cy="338554"/>
          </a:xfrm>
          <a:prstGeom prst="rect">
            <a:avLst/>
          </a:prstGeom>
          <a:solidFill>
            <a:srgbClr val="FFFF00"/>
          </a:solidFill>
          <a:ln>
            <a:solidFill>
              <a:schemeClr val="tx1"/>
            </a:solidFill>
          </a:ln>
        </p:spPr>
        <p:txBody>
          <a:bodyPr wrap="none" rtlCol="1">
            <a:spAutoFit/>
          </a:bodyPr>
          <a:lstStyle/>
          <a:p>
            <a:pPr algn="r" rtl="1"/>
            <a:r>
              <a:rPr lang="he-IL" sz="1600" b="1" dirty="0">
                <a:solidFill>
                  <a:srgbClr val="FF0000"/>
                </a:solidFill>
              </a:rPr>
              <a:t>מסע שישי: </a:t>
            </a:r>
            <a:r>
              <a:rPr lang="he-IL" sz="1600" b="1" dirty="0"/>
              <a:t>י"ד – כ"א חשון תרפ"ז</a:t>
            </a:r>
          </a:p>
        </p:txBody>
      </p:sp>
      <p:sp>
        <p:nvSpPr>
          <p:cNvPr id="12" name="TextBox 11"/>
          <p:cNvSpPr txBox="1"/>
          <p:nvPr/>
        </p:nvSpPr>
        <p:spPr>
          <a:xfrm>
            <a:off x="5872537" y="1798872"/>
            <a:ext cx="3044424" cy="338554"/>
          </a:xfrm>
          <a:prstGeom prst="rect">
            <a:avLst/>
          </a:prstGeom>
          <a:solidFill>
            <a:srgbClr val="FFFF00"/>
          </a:solidFill>
          <a:ln>
            <a:solidFill>
              <a:schemeClr val="tx1"/>
            </a:solidFill>
          </a:ln>
        </p:spPr>
        <p:txBody>
          <a:bodyPr wrap="none" rtlCol="1">
            <a:spAutoFit/>
          </a:bodyPr>
          <a:lstStyle/>
          <a:p>
            <a:pPr algn="r" rtl="1"/>
            <a:r>
              <a:rPr lang="he-IL" sz="1600" b="1" dirty="0">
                <a:solidFill>
                  <a:srgbClr val="FF0000"/>
                </a:solidFill>
              </a:rPr>
              <a:t>מסע שביעי: </a:t>
            </a:r>
            <a:r>
              <a:rPr lang="he-IL" sz="1600" b="1" dirty="0"/>
              <a:t>י"ב – כ"ד אייר תרפ"ז</a:t>
            </a:r>
          </a:p>
        </p:txBody>
      </p:sp>
      <p:pic>
        <p:nvPicPr>
          <p:cNvPr id="2" name="תמונה 1"/>
          <p:cNvPicPr>
            <a:picLocks noChangeAspect="1"/>
          </p:cNvPicPr>
          <p:nvPr/>
        </p:nvPicPr>
        <p:blipFill rotWithShape="1">
          <a:blip r:embed="rId2">
            <a:extLst>
              <a:ext uri="{28A0092B-C50C-407E-A947-70E740481C1C}">
                <a14:useLocalDpi xmlns:a14="http://schemas.microsoft.com/office/drawing/2010/main" val="0"/>
              </a:ext>
            </a:extLst>
          </a:blip>
          <a:srcRect l="29221" t="56242" r="23285" b="38450"/>
          <a:stretch/>
        </p:blipFill>
        <p:spPr>
          <a:xfrm>
            <a:off x="3992127" y="2385668"/>
            <a:ext cx="4896544" cy="773444"/>
          </a:xfrm>
          <a:prstGeom prst="rect">
            <a:avLst/>
          </a:prstGeom>
          <a:ln>
            <a:solidFill>
              <a:srgbClr val="2217F5"/>
            </a:solidFill>
          </a:ln>
        </p:spPr>
      </p:pic>
    </p:spTree>
    <p:extLst>
      <p:ext uri="{BB962C8B-B14F-4D97-AF65-F5344CB8AC3E}">
        <p14:creationId xmlns:p14="http://schemas.microsoft.com/office/powerpoint/2010/main" val="33044236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p:cNvPicPr>
            <a:picLocks noChangeAspect="1"/>
          </p:cNvPicPr>
          <p:nvPr/>
        </p:nvPicPr>
        <p:blipFill rotWithShape="1">
          <a:blip r:embed="rId2"/>
          <a:srcRect l="5443"/>
          <a:stretch/>
        </p:blipFill>
        <p:spPr>
          <a:xfrm>
            <a:off x="1495220" y="116632"/>
            <a:ext cx="3408170" cy="6433591"/>
          </a:xfrm>
          <a:prstGeom prst="rect">
            <a:avLst/>
          </a:prstGeom>
          <a:ln w="19050">
            <a:solidFill>
              <a:srgbClr val="2217F5"/>
            </a:solidFill>
          </a:ln>
        </p:spPr>
      </p:pic>
      <p:sp>
        <p:nvSpPr>
          <p:cNvPr id="4" name="TextBox 3"/>
          <p:cNvSpPr txBox="1"/>
          <p:nvPr/>
        </p:nvSpPr>
        <p:spPr>
          <a:xfrm>
            <a:off x="1331640" y="6550223"/>
            <a:ext cx="2056455" cy="307777"/>
          </a:xfrm>
          <a:prstGeom prst="rect">
            <a:avLst/>
          </a:prstGeom>
          <a:noFill/>
          <a:ln w="38100">
            <a:noFill/>
          </a:ln>
        </p:spPr>
        <p:txBody>
          <a:bodyPr wrap="square" rtlCol="1">
            <a:spAutoFit/>
          </a:bodyPr>
          <a:lstStyle/>
          <a:p>
            <a:pPr algn="r"/>
            <a:r>
              <a:rPr lang="he-IL" b="1" dirty="0"/>
              <a:t>דאר היום, י"ד סיון תרפ"ז</a:t>
            </a:r>
          </a:p>
        </p:txBody>
      </p:sp>
      <p:pic>
        <p:nvPicPr>
          <p:cNvPr id="1026" name="Picture 2" descr="צילום: ביתמונה, אוסף ד&quot;ר אדוארד אלקן"/>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6096" y="1268760"/>
            <a:ext cx="3201944" cy="2520280"/>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
        <p:nvSpPr>
          <p:cNvPr id="6" name="תיבת טקסט 5">
            <a:extLst>
              <a:ext uri="{FF2B5EF4-FFF2-40B4-BE49-F238E27FC236}">
                <a16:creationId xmlns:a16="http://schemas.microsoft.com/office/drawing/2014/main" id="{B7E1A71E-4367-C213-3B00-DA616811D0A4}"/>
              </a:ext>
            </a:extLst>
          </p:cNvPr>
          <p:cNvSpPr txBox="1"/>
          <p:nvPr/>
        </p:nvSpPr>
        <p:spPr>
          <a:xfrm>
            <a:off x="6372200" y="3804270"/>
            <a:ext cx="1463862" cy="307777"/>
          </a:xfrm>
          <a:prstGeom prst="rect">
            <a:avLst/>
          </a:prstGeom>
          <a:noFill/>
        </p:spPr>
        <p:txBody>
          <a:bodyPr wrap="none" rtlCol="1">
            <a:spAutoFit/>
          </a:bodyPr>
          <a:lstStyle/>
          <a:p>
            <a:r>
              <a:rPr lang="he-IL" b="1" dirty="0"/>
              <a:t>המשלחת בעפולה</a:t>
            </a:r>
          </a:p>
        </p:txBody>
      </p:sp>
    </p:spTree>
    <p:extLst>
      <p:ext uri="{BB962C8B-B14F-4D97-AF65-F5344CB8AC3E}">
        <p14:creationId xmlns:p14="http://schemas.microsoft.com/office/powerpoint/2010/main" val="24455326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34955-CD38-145C-BAD7-FD214AA56E95}"/>
            </a:ext>
          </a:extLst>
        </p:cNvPr>
        <p:cNvGrpSpPr/>
        <p:nvPr/>
      </p:nvGrpSpPr>
      <p:grpSpPr>
        <a:xfrm>
          <a:off x="0" y="0"/>
          <a:ext cx="0" cy="0"/>
          <a:chOff x="0" y="0"/>
          <a:chExt cx="0" cy="0"/>
        </a:xfrm>
      </p:grpSpPr>
      <p:pic>
        <p:nvPicPr>
          <p:cNvPr id="6" name="תמונה 5">
            <a:extLst>
              <a:ext uri="{FF2B5EF4-FFF2-40B4-BE49-F238E27FC236}">
                <a16:creationId xmlns:a16="http://schemas.microsoft.com/office/drawing/2014/main" id="{9547BA1B-480D-5DD3-9EF9-50A2BAF94754}"/>
              </a:ext>
            </a:extLst>
          </p:cNvPr>
          <p:cNvPicPr>
            <a:picLocks noChangeAspect="1"/>
          </p:cNvPicPr>
          <p:nvPr/>
        </p:nvPicPr>
        <p:blipFill>
          <a:blip r:embed="rId2"/>
          <a:stretch>
            <a:fillRect/>
          </a:stretch>
        </p:blipFill>
        <p:spPr>
          <a:xfrm>
            <a:off x="591491" y="548680"/>
            <a:ext cx="3129229" cy="6161535"/>
          </a:xfrm>
          <a:prstGeom prst="rect">
            <a:avLst/>
          </a:prstGeom>
          <a:ln w="19050">
            <a:solidFill>
              <a:srgbClr val="2217F5"/>
            </a:solidFill>
          </a:ln>
        </p:spPr>
      </p:pic>
      <p:sp>
        <p:nvSpPr>
          <p:cNvPr id="10" name="תיבת טקסט 9">
            <a:extLst>
              <a:ext uri="{FF2B5EF4-FFF2-40B4-BE49-F238E27FC236}">
                <a16:creationId xmlns:a16="http://schemas.microsoft.com/office/drawing/2014/main" id="{08E8D04C-3AC5-0AE0-0720-70E5420BD30E}"/>
              </a:ext>
            </a:extLst>
          </p:cNvPr>
          <p:cNvSpPr txBox="1"/>
          <p:nvPr/>
        </p:nvSpPr>
        <p:spPr>
          <a:xfrm>
            <a:off x="3102837" y="110939"/>
            <a:ext cx="2994731" cy="338554"/>
          </a:xfrm>
          <a:prstGeom prst="rect">
            <a:avLst/>
          </a:prstGeom>
          <a:solidFill>
            <a:srgbClr val="FFFF00"/>
          </a:solidFill>
          <a:ln w="12700">
            <a:solidFill>
              <a:schemeClr val="tx1"/>
            </a:solidFill>
          </a:ln>
        </p:spPr>
        <p:txBody>
          <a:bodyPr wrap="none" rtlCol="1">
            <a:spAutoFit/>
          </a:bodyPr>
          <a:lstStyle/>
          <a:p>
            <a:r>
              <a:rPr lang="he-IL" sz="1600" b="1" dirty="0"/>
              <a:t>נאום הרב קוק במסיבת העיתונאים</a:t>
            </a:r>
          </a:p>
        </p:txBody>
      </p:sp>
      <p:pic>
        <p:nvPicPr>
          <p:cNvPr id="8" name="תמונה 7">
            <a:extLst>
              <a:ext uri="{FF2B5EF4-FFF2-40B4-BE49-F238E27FC236}">
                <a16:creationId xmlns:a16="http://schemas.microsoft.com/office/drawing/2014/main" id="{A3B225AD-6B2A-D28C-9961-58A5FADFCAD2}"/>
              </a:ext>
            </a:extLst>
          </p:cNvPr>
          <p:cNvPicPr>
            <a:picLocks noChangeAspect="1"/>
          </p:cNvPicPr>
          <p:nvPr/>
        </p:nvPicPr>
        <p:blipFill>
          <a:blip r:embed="rId3"/>
          <a:srcRect l="51829" t="1881"/>
          <a:stretch>
            <a:fillRect/>
          </a:stretch>
        </p:blipFill>
        <p:spPr>
          <a:xfrm>
            <a:off x="5276807" y="548680"/>
            <a:ext cx="3275702" cy="6021856"/>
          </a:xfrm>
          <a:prstGeom prst="rect">
            <a:avLst/>
          </a:prstGeom>
          <a:ln w="19050">
            <a:solidFill>
              <a:srgbClr val="2217F5"/>
            </a:solidFill>
          </a:ln>
        </p:spPr>
      </p:pic>
    </p:spTree>
    <p:extLst>
      <p:ext uri="{BB962C8B-B14F-4D97-AF65-F5344CB8AC3E}">
        <p14:creationId xmlns:p14="http://schemas.microsoft.com/office/powerpoint/2010/main" val="3197730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EF88F2F0-DCA8-C856-B1AC-05F9DA8F45ED}"/>
              </a:ext>
            </a:extLst>
          </p:cNvPr>
          <p:cNvPicPr>
            <a:picLocks noChangeAspect="1"/>
          </p:cNvPicPr>
          <p:nvPr/>
        </p:nvPicPr>
        <p:blipFill>
          <a:blip r:embed="rId2"/>
          <a:srcRect l="1797" r="2585" b="2237"/>
          <a:stretch>
            <a:fillRect/>
          </a:stretch>
        </p:blipFill>
        <p:spPr>
          <a:xfrm>
            <a:off x="4988370" y="106313"/>
            <a:ext cx="3919860" cy="5976664"/>
          </a:xfrm>
          <a:prstGeom prst="rect">
            <a:avLst/>
          </a:prstGeom>
          <a:ln w="19050">
            <a:solidFill>
              <a:srgbClr val="2217F5"/>
            </a:solidFill>
          </a:ln>
        </p:spPr>
      </p:pic>
      <p:pic>
        <p:nvPicPr>
          <p:cNvPr id="5" name="תמונה 4">
            <a:extLst>
              <a:ext uri="{FF2B5EF4-FFF2-40B4-BE49-F238E27FC236}">
                <a16:creationId xmlns:a16="http://schemas.microsoft.com/office/drawing/2014/main" id="{7C77E675-DA87-4BC6-CB71-70A328A01AF0}"/>
              </a:ext>
            </a:extLst>
          </p:cNvPr>
          <p:cNvPicPr>
            <a:picLocks noChangeAspect="1"/>
          </p:cNvPicPr>
          <p:nvPr/>
        </p:nvPicPr>
        <p:blipFill>
          <a:blip r:embed="rId3"/>
          <a:srcRect t="1637" r="52050" b="27568"/>
          <a:stretch/>
        </p:blipFill>
        <p:spPr>
          <a:xfrm>
            <a:off x="235771" y="116632"/>
            <a:ext cx="4485188" cy="5976664"/>
          </a:xfrm>
          <a:prstGeom prst="rect">
            <a:avLst/>
          </a:prstGeom>
          <a:ln w="19050">
            <a:solidFill>
              <a:srgbClr val="2217F5"/>
            </a:solidFill>
          </a:ln>
        </p:spPr>
      </p:pic>
      <p:sp>
        <p:nvSpPr>
          <p:cNvPr id="9" name="TextBox 8">
            <a:extLst>
              <a:ext uri="{FF2B5EF4-FFF2-40B4-BE49-F238E27FC236}">
                <a16:creationId xmlns:a16="http://schemas.microsoft.com/office/drawing/2014/main" id="{09E2B0BE-2E1F-6614-EFCD-2CF0C4645A87}"/>
              </a:ext>
            </a:extLst>
          </p:cNvPr>
          <p:cNvSpPr txBox="1"/>
          <p:nvPr/>
        </p:nvSpPr>
        <p:spPr>
          <a:xfrm>
            <a:off x="235771" y="6165304"/>
            <a:ext cx="2032929" cy="307777"/>
          </a:xfrm>
          <a:prstGeom prst="rect">
            <a:avLst/>
          </a:prstGeom>
          <a:noFill/>
          <a:ln w="38100">
            <a:noFill/>
          </a:ln>
        </p:spPr>
        <p:txBody>
          <a:bodyPr wrap="none" rtlCol="1">
            <a:spAutoFit/>
          </a:bodyPr>
          <a:lstStyle/>
          <a:p>
            <a:r>
              <a:rPr lang="he-IL" b="1" dirty="0"/>
              <a:t>דאר היום, ט"ו סיון תרפ"ז</a:t>
            </a:r>
          </a:p>
        </p:txBody>
      </p:sp>
    </p:spTree>
    <p:extLst>
      <p:ext uri="{BB962C8B-B14F-4D97-AF65-F5344CB8AC3E}">
        <p14:creationId xmlns:p14="http://schemas.microsoft.com/office/powerpoint/2010/main" val="33862046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p:cNvPicPr>
            <a:picLocks noChangeAspect="1"/>
          </p:cNvPicPr>
          <p:nvPr/>
        </p:nvPicPr>
        <p:blipFill rotWithShape="1">
          <a:blip r:embed="rId2">
            <a:extLst>
              <a:ext uri="{28A0092B-C50C-407E-A947-70E740481C1C}">
                <a14:useLocalDpi xmlns:a14="http://schemas.microsoft.com/office/drawing/2010/main" val="0"/>
              </a:ext>
            </a:extLst>
          </a:blip>
          <a:srcRect l="45497" t="6023" r="13091" b="61427"/>
          <a:stretch>
            <a:fillRect/>
          </a:stretch>
        </p:blipFill>
        <p:spPr>
          <a:xfrm rot="5400000">
            <a:off x="2595203" y="257225"/>
            <a:ext cx="3953594" cy="4392488"/>
          </a:xfrm>
          <a:prstGeom prst="rect">
            <a:avLst/>
          </a:prstGeom>
          <a:ln w="19050">
            <a:solidFill>
              <a:srgbClr val="2217F5"/>
            </a:solidFill>
          </a:ln>
        </p:spPr>
      </p:pic>
      <p:pic>
        <p:nvPicPr>
          <p:cNvPr id="4" name="תמונה 3"/>
          <p:cNvPicPr>
            <a:picLocks noChangeAspect="1"/>
          </p:cNvPicPr>
          <p:nvPr/>
        </p:nvPicPr>
        <p:blipFill rotWithShape="1">
          <a:blip r:embed="rId2">
            <a:extLst>
              <a:ext uri="{28A0092B-C50C-407E-A947-70E740481C1C}">
                <a14:useLocalDpi xmlns:a14="http://schemas.microsoft.com/office/drawing/2010/main" val="0"/>
              </a:ext>
            </a:extLst>
          </a:blip>
          <a:srcRect l="8695" t="49072" r="72435" b="17328"/>
          <a:stretch/>
        </p:blipFill>
        <p:spPr>
          <a:xfrm rot="5400000">
            <a:off x="3711590" y="3094432"/>
            <a:ext cx="1737414" cy="4409082"/>
          </a:xfrm>
          <a:prstGeom prst="rect">
            <a:avLst/>
          </a:prstGeom>
          <a:ln w="19050">
            <a:solidFill>
              <a:srgbClr val="2217F5"/>
            </a:solidFill>
          </a:ln>
        </p:spPr>
      </p:pic>
      <p:sp>
        <p:nvSpPr>
          <p:cNvPr id="2" name="תיבת טקסט 1">
            <a:extLst>
              <a:ext uri="{FF2B5EF4-FFF2-40B4-BE49-F238E27FC236}">
                <a16:creationId xmlns:a16="http://schemas.microsoft.com/office/drawing/2014/main" id="{8ACD5CE8-D642-28F2-BA8A-482BB26FFE8B}"/>
              </a:ext>
            </a:extLst>
          </p:cNvPr>
          <p:cNvSpPr txBox="1"/>
          <p:nvPr/>
        </p:nvSpPr>
        <p:spPr>
          <a:xfrm>
            <a:off x="2267744" y="6184770"/>
            <a:ext cx="1566454" cy="338554"/>
          </a:xfrm>
          <a:prstGeom prst="rect">
            <a:avLst/>
          </a:prstGeom>
          <a:noFill/>
        </p:spPr>
        <p:txBody>
          <a:bodyPr wrap="none" rtlCol="1">
            <a:spAutoFit/>
          </a:bodyPr>
          <a:lstStyle/>
          <a:p>
            <a:r>
              <a:rPr lang="he-IL" sz="1600" b="1" dirty="0"/>
              <a:t>ההד, סיון תרפ"ז</a:t>
            </a:r>
          </a:p>
        </p:txBody>
      </p:sp>
    </p:spTree>
    <p:extLst>
      <p:ext uri="{BB962C8B-B14F-4D97-AF65-F5344CB8AC3E}">
        <p14:creationId xmlns:p14="http://schemas.microsoft.com/office/powerpoint/2010/main" val="9016962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a7.org/pictures/310/310616.jpg"/>
          <p:cNvPicPr>
            <a:picLocks noChangeAspect="1" noChangeArrowheads="1"/>
          </p:cNvPicPr>
          <p:nvPr/>
        </p:nvPicPr>
        <p:blipFill>
          <a:blip r:embed="rId2"/>
          <a:srcRect/>
          <a:stretch>
            <a:fillRect/>
          </a:stretch>
        </p:blipFill>
        <p:spPr bwMode="auto">
          <a:xfrm>
            <a:off x="4932042" y="980728"/>
            <a:ext cx="3552395" cy="5328592"/>
          </a:xfrm>
          <a:prstGeom prst="rect">
            <a:avLst/>
          </a:prstGeom>
          <a:noFill/>
          <a:ln w="38100">
            <a:solidFill>
              <a:srgbClr val="FF0000"/>
            </a:solidFill>
          </a:ln>
        </p:spPr>
      </p:pic>
      <p:sp>
        <p:nvSpPr>
          <p:cNvPr id="5" name="TextBox 4"/>
          <p:cNvSpPr txBox="1"/>
          <p:nvPr/>
        </p:nvSpPr>
        <p:spPr>
          <a:xfrm>
            <a:off x="5940154" y="6381332"/>
            <a:ext cx="1867820" cy="307777"/>
          </a:xfrm>
          <a:prstGeom prst="rect">
            <a:avLst/>
          </a:prstGeom>
          <a:noFill/>
        </p:spPr>
        <p:txBody>
          <a:bodyPr wrap="none" rtlCol="1">
            <a:spAutoFit/>
          </a:bodyPr>
          <a:lstStyle/>
          <a:p>
            <a:pPr algn="r" rtl="1"/>
            <a:r>
              <a:rPr lang="he-IL" b="1" dirty="0"/>
              <a:t>הרב עמיהוד </a:t>
            </a:r>
            <a:r>
              <a:rPr lang="he-IL" b="1" dirty="0" err="1"/>
              <a:t>לוין</a:t>
            </a:r>
            <a:r>
              <a:rPr lang="he-IL" b="1" dirty="0"/>
              <a:t>, נתניה</a:t>
            </a:r>
          </a:p>
        </p:txBody>
      </p:sp>
      <p:sp>
        <p:nvSpPr>
          <p:cNvPr id="6" name="TextBox 5"/>
          <p:cNvSpPr txBox="1"/>
          <p:nvPr/>
        </p:nvSpPr>
        <p:spPr>
          <a:xfrm>
            <a:off x="3779914" y="188640"/>
            <a:ext cx="1588897" cy="369332"/>
          </a:xfrm>
          <a:prstGeom prst="rect">
            <a:avLst/>
          </a:prstGeom>
          <a:solidFill>
            <a:srgbClr val="FFFF00"/>
          </a:solidFill>
          <a:ln>
            <a:solidFill>
              <a:schemeClr val="tx1"/>
            </a:solidFill>
          </a:ln>
        </p:spPr>
        <p:txBody>
          <a:bodyPr wrap="none" rtlCol="1">
            <a:spAutoFit/>
          </a:bodyPr>
          <a:lstStyle/>
          <a:p>
            <a:r>
              <a:rPr lang="he-IL" sz="1800" b="1" dirty="0"/>
              <a:t>ספרים וחוברות</a:t>
            </a:r>
          </a:p>
        </p:txBody>
      </p:sp>
      <p:pic>
        <p:nvPicPr>
          <p:cNvPr id="7" name="Picture 2" descr="https://www.mosadharavkook.com/wp-content/uploads/2018/03/%D7%91%D7%A2%D7%A7%D7%91%D7%95%D7%AA-%D7%9E%D7%A1%D7%A2-%D7%97%D7%AA%D7%95%D7%9A.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4" y="954465"/>
            <a:ext cx="3463445" cy="5420345"/>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0858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descr="C:\Users\123\Pictures\תשע'ד-ב'-כ'\002.jpg"/>
          <p:cNvPicPr>
            <a:picLocks noChangeAspect="1" noChangeArrowheads="1"/>
          </p:cNvPicPr>
          <p:nvPr/>
        </p:nvPicPr>
        <p:blipFill>
          <a:blip r:embed="rId2"/>
          <a:srcRect l="2102" b="26647"/>
          <a:stretch>
            <a:fillRect/>
          </a:stretch>
        </p:blipFill>
        <p:spPr bwMode="auto">
          <a:xfrm rot="5400000">
            <a:off x="4561624" y="505376"/>
            <a:ext cx="4053200" cy="4176464"/>
          </a:xfrm>
          <a:prstGeom prst="rect">
            <a:avLst/>
          </a:prstGeom>
          <a:noFill/>
          <a:ln w="38100">
            <a:solidFill>
              <a:srgbClr val="FF0000"/>
            </a:solidFill>
          </a:ln>
        </p:spPr>
      </p:pic>
      <p:sp>
        <p:nvSpPr>
          <p:cNvPr id="5" name="TextBox 4"/>
          <p:cNvSpPr txBox="1"/>
          <p:nvPr/>
        </p:nvSpPr>
        <p:spPr>
          <a:xfrm>
            <a:off x="3059832" y="5877272"/>
            <a:ext cx="2492990" cy="338554"/>
          </a:xfrm>
          <a:prstGeom prst="rect">
            <a:avLst/>
          </a:prstGeom>
          <a:noFill/>
        </p:spPr>
        <p:txBody>
          <a:bodyPr wrap="none" rtlCol="1">
            <a:spAutoFit/>
          </a:bodyPr>
          <a:lstStyle/>
          <a:p>
            <a:pPr algn="r" rtl="1"/>
            <a:r>
              <a:rPr lang="he-IL" sz="1600" b="1" dirty="0"/>
              <a:t>בהוצאת 'בית הרב', ירושלים</a:t>
            </a:r>
            <a:endParaRPr lang="he-IL" sz="1600" dirty="0"/>
          </a:p>
        </p:txBody>
      </p:sp>
      <p:pic>
        <p:nvPicPr>
          <p:cNvPr id="6" name="Picture 4" descr="http://www.beit-harav.org.il/images/stories/mh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664" y="539556"/>
            <a:ext cx="3686234" cy="5212523"/>
          </a:xfrm>
          <a:prstGeom prst="rect">
            <a:avLst/>
          </a:prstGeom>
          <a:solidFill>
            <a:schemeClr val="accent2"/>
          </a:solidFill>
          <a:ln w="38100">
            <a:solidFill>
              <a:srgbClr val="FF0000"/>
            </a:solidFill>
          </a:ln>
        </p:spPr>
      </p:pic>
    </p:spTree>
    <p:extLst>
      <p:ext uri="{BB962C8B-B14F-4D97-AF65-F5344CB8AC3E}">
        <p14:creationId xmlns:p14="http://schemas.microsoft.com/office/powerpoint/2010/main" val="40668788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123\Pictures\תשע'ד-ג'-ד'\002.jpg"/>
          <p:cNvPicPr>
            <a:picLocks noChangeAspect="1" noChangeArrowheads="1"/>
          </p:cNvPicPr>
          <p:nvPr/>
        </p:nvPicPr>
        <p:blipFill>
          <a:blip r:embed="rId2"/>
          <a:srcRect l="25267" r="7318" b="31914"/>
          <a:stretch>
            <a:fillRect/>
          </a:stretch>
        </p:blipFill>
        <p:spPr bwMode="auto">
          <a:xfrm>
            <a:off x="2267744" y="188640"/>
            <a:ext cx="4504340" cy="6256028"/>
          </a:xfrm>
          <a:prstGeom prst="rect">
            <a:avLst/>
          </a:prstGeom>
          <a:noFill/>
          <a:ln w="38100">
            <a:solidFill>
              <a:srgbClr val="FF0000"/>
            </a:solidFill>
          </a:ln>
        </p:spPr>
      </p:pic>
      <p:sp>
        <p:nvSpPr>
          <p:cNvPr id="5" name="TextBox 4"/>
          <p:cNvSpPr txBox="1"/>
          <p:nvPr/>
        </p:nvSpPr>
        <p:spPr>
          <a:xfrm>
            <a:off x="2250366" y="6444668"/>
            <a:ext cx="3387466" cy="338554"/>
          </a:xfrm>
          <a:prstGeom prst="rect">
            <a:avLst/>
          </a:prstGeom>
          <a:noFill/>
        </p:spPr>
        <p:txBody>
          <a:bodyPr wrap="none" rtlCol="1">
            <a:spAutoFit/>
          </a:bodyPr>
          <a:lstStyle/>
          <a:p>
            <a:pPr algn="r" rtl="1"/>
            <a:r>
              <a:rPr lang="he-IL" sz="1600" b="1" dirty="0"/>
              <a:t>משה נחמני, בהוצאת </a:t>
            </a:r>
            <a:r>
              <a:rPr lang="he-IL" sz="1600" b="1"/>
              <a:t>מכון 'אור </a:t>
            </a:r>
            <a:r>
              <a:rPr lang="he-IL" sz="1600" b="1" dirty="0"/>
              <a:t>האורות</a:t>
            </a:r>
            <a:r>
              <a:rPr lang="he-IL" sz="1600" dirty="0"/>
              <a:t>'</a:t>
            </a:r>
          </a:p>
        </p:txBody>
      </p:sp>
    </p:spTree>
    <p:extLst>
      <p:ext uri="{BB962C8B-B14F-4D97-AF65-F5344CB8AC3E}">
        <p14:creationId xmlns:p14="http://schemas.microsoft.com/office/powerpoint/2010/main" val="13590005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https://encrypted-tbn0.gstatic.com/images?q=tbn:ANd9GcRXnrHA436uBnKAjmcASAVOl9p_7vktGuZuSiII8-tWVlGpDIIoc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321" y="604776"/>
            <a:ext cx="3314426" cy="5184576"/>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3" name="Picture 2" descr="איור: עדי דוד"/>
          <p:cNvPicPr>
            <a:picLocks noChangeAspect="1" noChangeArrowheads="1"/>
          </p:cNvPicPr>
          <p:nvPr/>
        </p:nvPicPr>
        <p:blipFill>
          <a:blip r:embed="rId3"/>
          <a:srcRect l="1677" t="748" r="3824"/>
          <a:stretch>
            <a:fillRect/>
          </a:stretch>
        </p:blipFill>
        <p:spPr bwMode="auto">
          <a:xfrm>
            <a:off x="4737863" y="3665917"/>
            <a:ext cx="3455959" cy="2989243"/>
          </a:xfrm>
          <a:prstGeom prst="rect">
            <a:avLst/>
          </a:prstGeom>
          <a:noFill/>
          <a:ln w="38100">
            <a:solidFill>
              <a:srgbClr val="FF0000"/>
            </a:solidFill>
          </a:ln>
        </p:spPr>
      </p:pic>
      <p:pic>
        <p:nvPicPr>
          <p:cNvPr id="4" name="תמונה 3">
            <a:extLst>
              <a:ext uri="{FF2B5EF4-FFF2-40B4-BE49-F238E27FC236}">
                <a16:creationId xmlns:a16="http://schemas.microsoft.com/office/drawing/2014/main" id="{D851D2B7-2CA8-A5FE-2725-F9F69DE30C7E}"/>
              </a:ext>
            </a:extLst>
          </p:cNvPr>
          <p:cNvPicPr>
            <a:picLocks noChangeAspect="1"/>
          </p:cNvPicPr>
          <p:nvPr/>
        </p:nvPicPr>
        <p:blipFill>
          <a:blip r:embed="rId4"/>
          <a:stretch>
            <a:fillRect/>
          </a:stretch>
        </p:blipFill>
        <p:spPr>
          <a:xfrm>
            <a:off x="5312254" y="229108"/>
            <a:ext cx="2307178" cy="3199891"/>
          </a:xfrm>
          <a:prstGeom prst="rect">
            <a:avLst/>
          </a:prstGeom>
          <a:ln w="38100">
            <a:solidFill>
              <a:srgbClr val="FF0000"/>
            </a:solid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123\Desktop\פרוספקט מסע המושבות.jpg"/>
          <p:cNvPicPr>
            <a:picLocks noChangeAspect="1" noChangeArrowheads="1"/>
          </p:cNvPicPr>
          <p:nvPr/>
        </p:nvPicPr>
        <p:blipFill>
          <a:blip r:embed="rId2"/>
          <a:srcRect/>
          <a:stretch>
            <a:fillRect/>
          </a:stretch>
        </p:blipFill>
        <p:spPr bwMode="auto">
          <a:xfrm>
            <a:off x="707227" y="696776"/>
            <a:ext cx="7729550" cy="5464448"/>
          </a:xfrm>
          <a:prstGeom prst="rect">
            <a:avLst/>
          </a:prstGeom>
          <a:noFill/>
          <a:ln w="38100">
            <a:solidFill>
              <a:srgbClr val="FF0000"/>
            </a:solidFill>
          </a:ln>
        </p:spPr>
      </p:pic>
      <p:sp>
        <p:nvSpPr>
          <p:cNvPr id="3" name="TextBox 2"/>
          <p:cNvSpPr txBox="1"/>
          <p:nvPr/>
        </p:nvSpPr>
        <p:spPr>
          <a:xfrm>
            <a:off x="3660532" y="116632"/>
            <a:ext cx="1822935" cy="369332"/>
          </a:xfrm>
          <a:prstGeom prst="rect">
            <a:avLst/>
          </a:prstGeom>
          <a:solidFill>
            <a:srgbClr val="FFFF00"/>
          </a:solidFill>
          <a:ln>
            <a:solidFill>
              <a:schemeClr val="tx1"/>
            </a:solidFill>
          </a:ln>
        </p:spPr>
        <p:txBody>
          <a:bodyPr wrap="none" rtlCol="1">
            <a:spAutoFit/>
          </a:bodyPr>
          <a:lstStyle/>
          <a:p>
            <a:r>
              <a:rPr lang="he-IL" sz="1800" b="1" dirty="0"/>
              <a:t>פעילות 'בית הרב'</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123\Pictures\תשע'ד-ג'-ב'\001.jpg"/>
          <p:cNvPicPr>
            <a:picLocks noChangeAspect="1" noChangeArrowheads="1"/>
          </p:cNvPicPr>
          <p:nvPr/>
        </p:nvPicPr>
        <p:blipFill>
          <a:blip r:embed="rId2"/>
          <a:srcRect l="18444" t="27997" r="42587" b="25302"/>
          <a:stretch>
            <a:fillRect/>
          </a:stretch>
        </p:blipFill>
        <p:spPr bwMode="auto">
          <a:xfrm>
            <a:off x="395536" y="188640"/>
            <a:ext cx="3960440" cy="6527011"/>
          </a:xfrm>
          <a:prstGeom prst="rect">
            <a:avLst/>
          </a:prstGeom>
          <a:noFill/>
          <a:ln w="38100">
            <a:solidFill>
              <a:srgbClr val="FF0000"/>
            </a:solidFill>
          </a:ln>
        </p:spPr>
      </p:pic>
      <p:pic>
        <p:nvPicPr>
          <p:cNvPr id="3" name="Picture 2" descr="C:\Users\123\Desktop\פרוספקט מסע המושבות.jpg"/>
          <p:cNvPicPr>
            <a:picLocks noChangeAspect="1" noChangeArrowheads="1"/>
          </p:cNvPicPr>
          <p:nvPr/>
        </p:nvPicPr>
        <p:blipFill>
          <a:blip r:embed="rId3"/>
          <a:srcRect l="24221" t="7907" r="49694" b="30159"/>
          <a:stretch>
            <a:fillRect/>
          </a:stretch>
        </p:blipFill>
        <p:spPr bwMode="auto">
          <a:xfrm>
            <a:off x="5004050" y="205824"/>
            <a:ext cx="3646363" cy="6120680"/>
          </a:xfrm>
          <a:prstGeom prst="rect">
            <a:avLst/>
          </a:prstGeom>
          <a:noFill/>
          <a:ln w="38100">
            <a:solidFill>
              <a:srgbClr val="FF0000"/>
            </a:solidFill>
          </a:ln>
        </p:spPr>
      </p:pic>
      <p:sp>
        <p:nvSpPr>
          <p:cNvPr id="4" name="TextBox 3"/>
          <p:cNvSpPr txBox="1"/>
          <p:nvPr/>
        </p:nvSpPr>
        <p:spPr>
          <a:xfrm>
            <a:off x="4355976" y="6407874"/>
            <a:ext cx="899606" cy="307777"/>
          </a:xfrm>
          <a:prstGeom prst="rect">
            <a:avLst/>
          </a:prstGeom>
          <a:noFill/>
        </p:spPr>
        <p:txBody>
          <a:bodyPr wrap="none" rtlCol="1">
            <a:spAutoFit/>
          </a:bodyPr>
          <a:lstStyle/>
          <a:p>
            <a:pPr algn="r" rtl="1"/>
            <a:r>
              <a:rPr lang="he-IL" b="1" dirty="0"/>
              <a:t>'בית הרב'</a:t>
            </a:r>
          </a:p>
        </p:txBody>
      </p:sp>
    </p:spTree>
    <p:extLst>
      <p:ext uri="{BB962C8B-B14F-4D97-AF65-F5344CB8AC3E}">
        <p14:creationId xmlns:p14="http://schemas.microsoft.com/office/powerpoint/2010/main" val="284676386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963DB37E-D704-C6E6-782F-87F1166BF514}"/>
              </a:ext>
            </a:extLst>
          </p:cNvPr>
          <p:cNvPicPr>
            <a:picLocks noChangeAspect="1"/>
          </p:cNvPicPr>
          <p:nvPr/>
        </p:nvPicPr>
        <p:blipFill>
          <a:blip r:embed="rId2"/>
          <a:srcRect l="12033" t="24808" r="2928"/>
          <a:stretch/>
        </p:blipFill>
        <p:spPr>
          <a:xfrm>
            <a:off x="4391395" y="476672"/>
            <a:ext cx="4664744" cy="5544616"/>
          </a:xfrm>
          <a:prstGeom prst="rect">
            <a:avLst/>
          </a:prstGeom>
          <a:ln w="38100">
            <a:solidFill>
              <a:srgbClr val="FF0000"/>
            </a:solidFill>
          </a:ln>
        </p:spPr>
      </p:pic>
      <p:pic>
        <p:nvPicPr>
          <p:cNvPr id="5" name="תמונה 4">
            <a:extLst>
              <a:ext uri="{FF2B5EF4-FFF2-40B4-BE49-F238E27FC236}">
                <a16:creationId xmlns:a16="http://schemas.microsoft.com/office/drawing/2014/main" id="{7D1786E1-2F3E-1D50-8052-6191CC38C398}"/>
              </a:ext>
            </a:extLst>
          </p:cNvPr>
          <p:cNvPicPr>
            <a:picLocks noChangeAspect="1"/>
          </p:cNvPicPr>
          <p:nvPr/>
        </p:nvPicPr>
        <p:blipFill>
          <a:blip r:embed="rId3"/>
          <a:srcRect l="2915" t="9825" r="17405" b="994"/>
          <a:stretch>
            <a:fillRect/>
          </a:stretch>
        </p:blipFill>
        <p:spPr>
          <a:xfrm>
            <a:off x="179512" y="476672"/>
            <a:ext cx="4032448" cy="6074254"/>
          </a:xfrm>
          <a:prstGeom prst="rect">
            <a:avLst/>
          </a:prstGeom>
          <a:ln w="38100">
            <a:solidFill>
              <a:srgbClr val="FF0000"/>
            </a:solidFill>
          </a:ln>
        </p:spPr>
      </p:pic>
    </p:spTree>
    <p:extLst>
      <p:ext uri="{BB962C8B-B14F-4D97-AF65-F5344CB8AC3E}">
        <p14:creationId xmlns:p14="http://schemas.microsoft.com/office/powerpoint/2010/main" val="10293886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CA24226A-4792-EE20-736D-940EC476FDE8}"/>
              </a:ext>
            </a:extLst>
          </p:cNvPr>
          <p:cNvPicPr>
            <a:picLocks noChangeAspect="1"/>
          </p:cNvPicPr>
          <p:nvPr/>
        </p:nvPicPr>
        <p:blipFill>
          <a:blip r:embed="rId2"/>
          <a:srcRect l="17364" t="8619" r="4664"/>
          <a:stretch/>
        </p:blipFill>
        <p:spPr>
          <a:xfrm>
            <a:off x="4860032" y="260647"/>
            <a:ext cx="4084746" cy="6450415"/>
          </a:xfrm>
          <a:prstGeom prst="rect">
            <a:avLst/>
          </a:prstGeom>
          <a:ln w="38100">
            <a:solidFill>
              <a:srgbClr val="FF0000"/>
            </a:solidFill>
          </a:ln>
        </p:spPr>
      </p:pic>
      <p:pic>
        <p:nvPicPr>
          <p:cNvPr id="5" name="תמונה 4">
            <a:extLst>
              <a:ext uri="{FF2B5EF4-FFF2-40B4-BE49-F238E27FC236}">
                <a16:creationId xmlns:a16="http://schemas.microsoft.com/office/drawing/2014/main" id="{04528216-46FB-D506-DF28-607A0849A702}"/>
              </a:ext>
            </a:extLst>
          </p:cNvPr>
          <p:cNvPicPr>
            <a:picLocks noChangeAspect="1"/>
          </p:cNvPicPr>
          <p:nvPr/>
        </p:nvPicPr>
        <p:blipFill>
          <a:blip r:embed="rId3"/>
          <a:srcRect l="4636" t="6126" r="14547"/>
          <a:stretch/>
        </p:blipFill>
        <p:spPr>
          <a:xfrm>
            <a:off x="238400" y="249242"/>
            <a:ext cx="4189584" cy="6420118"/>
          </a:xfrm>
          <a:prstGeom prst="rect">
            <a:avLst/>
          </a:prstGeom>
          <a:ln w="38100">
            <a:solidFill>
              <a:srgbClr val="FF0000"/>
            </a:solidFill>
          </a:ln>
        </p:spPr>
      </p:pic>
    </p:spTree>
    <p:extLst>
      <p:ext uri="{BB962C8B-B14F-4D97-AF65-F5344CB8AC3E}">
        <p14:creationId xmlns:p14="http://schemas.microsoft.com/office/powerpoint/2010/main" val="342874505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834804E-99D2-5B8F-DA6A-444E05DE410A}"/>
              </a:ext>
            </a:extLst>
          </p:cNvPr>
          <p:cNvPicPr>
            <a:picLocks noChangeAspect="1"/>
          </p:cNvPicPr>
          <p:nvPr/>
        </p:nvPicPr>
        <p:blipFill>
          <a:blip r:embed="rId2"/>
          <a:srcRect t="6977" r="5985"/>
          <a:stretch/>
        </p:blipFill>
        <p:spPr>
          <a:xfrm>
            <a:off x="4415342" y="332670"/>
            <a:ext cx="4614455" cy="6264697"/>
          </a:xfrm>
          <a:prstGeom prst="rect">
            <a:avLst/>
          </a:prstGeom>
          <a:ln w="38100">
            <a:solidFill>
              <a:srgbClr val="FF0000"/>
            </a:solidFill>
          </a:ln>
        </p:spPr>
      </p:pic>
      <p:pic>
        <p:nvPicPr>
          <p:cNvPr id="5" name="תמונה 4">
            <a:extLst>
              <a:ext uri="{FF2B5EF4-FFF2-40B4-BE49-F238E27FC236}">
                <a16:creationId xmlns:a16="http://schemas.microsoft.com/office/drawing/2014/main" id="{111CDB99-AB12-E604-8AFB-1FD071C235C4}"/>
              </a:ext>
            </a:extLst>
          </p:cNvPr>
          <p:cNvPicPr>
            <a:picLocks noChangeAspect="1"/>
          </p:cNvPicPr>
          <p:nvPr/>
        </p:nvPicPr>
        <p:blipFill>
          <a:blip r:embed="rId3"/>
          <a:srcRect r="12996" b="1162"/>
          <a:stretch/>
        </p:blipFill>
        <p:spPr>
          <a:xfrm>
            <a:off x="251520" y="332669"/>
            <a:ext cx="3901657" cy="6257375"/>
          </a:xfrm>
          <a:prstGeom prst="rect">
            <a:avLst/>
          </a:prstGeom>
          <a:ln w="38100">
            <a:solidFill>
              <a:srgbClr val="FF0000"/>
            </a:solidFill>
          </a:ln>
        </p:spPr>
      </p:pic>
    </p:spTree>
    <p:extLst>
      <p:ext uri="{BB962C8B-B14F-4D97-AF65-F5344CB8AC3E}">
        <p14:creationId xmlns:p14="http://schemas.microsoft.com/office/powerpoint/2010/main" val="16124819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C11883FC-21A4-B67E-4818-5318A926D079}"/>
              </a:ext>
            </a:extLst>
          </p:cNvPr>
          <p:cNvPicPr>
            <a:picLocks noChangeAspect="1"/>
          </p:cNvPicPr>
          <p:nvPr/>
        </p:nvPicPr>
        <p:blipFill>
          <a:blip r:embed="rId2"/>
          <a:srcRect l="8429" t="2405" r="6325"/>
          <a:stretch/>
        </p:blipFill>
        <p:spPr>
          <a:xfrm>
            <a:off x="5065946" y="282778"/>
            <a:ext cx="3907679" cy="6098550"/>
          </a:xfrm>
          <a:prstGeom prst="rect">
            <a:avLst/>
          </a:prstGeom>
          <a:ln w="38100">
            <a:solidFill>
              <a:srgbClr val="FF0000"/>
            </a:solidFill>
          </a:ln>
        </p:spPr>
      </p:pic>
      <p:pic>
        <p:nvPicPr>
          <p:cNvPr id="5" name="תמונה 4">
            <a:extLst>
              <a:ext uri="{FF2B5EF4-FFF2-40B4-BE49-F238E27FC236}">
                <a16:creationId xmlns:a16="http://schemas.microsoft.com/office/drawing/2014/main" id="{9C3F4624-D3D6-CADA-D5D7-28A55864F47B}"/>
              </a:ext>
            </a:extLst>
          </p:cNvPr>
          <p:cNvPicPr>
            <a:picLocks noChangeAspect="1"/>
          </p:cNvPicPr>
          <p:nvPr/>
        </p:nvPicPr>
        <p:blipFill>
          <a:blip r:embed="rId3"/>
          <a:srcRect l="1419" t="4409" r="12662"/>
          <a:stretch/>
        </p:blipFill>
        <p:spPr>
          <a:xfrm>
            <a:off x="585173" y="282778"/>
            <a:ext cx="3960365" cy="6098550"/>
          </a:xfrm>
          <a:prstGeom prst="rect">
            <a:avLst/>
          </a:prstGeom>
          <a:ln w="38100">
            <a:solidFill>
              <a:srgbClr val="FF0000"/>
            </a:solidFill>
          </a:ln>
        </p:spPr>
      </p:pic>
      <p:sp>
        <p:nvSpPr>
          <p:cNvPr id="6" name="תיבת טקסט 5">
            <a:extLst>
              <a:ext uri="{FF2B5EF4-FFF2-40B4-BE49-F238E27FC236}">
                <a16:creationId xmlns:a16="http://schemas.microsoft.com/office/drawing/2014/main" id="{B7B9F904-BFF6-3B8A-4433-1D9D2C85A47F}"/>
              </a:ext>
            </a:extLst>
          </p:cNvPr>
          <p:cNvSpPr txBox="1"/>
          <p:nvPr/>
        </p:nvSpPr>
        <p:spPr>
          <a:xfrm>
            <a:off x="395536" y="6421333"/>
            <a:ext cx="3844322" cy="307777"/>
          </a:xfrm>
          <a:prstGeom prst="rect">
            <a:avLst/>
          </a:prstGeom>
          <a:noFill/>
        </p:spPr>
        <p:txBody>
          <a:bodyPr wrap="none" rtlCol="1">
            <a:spAutoFit/>
          </a:bodyPr>
          <a:lstStyle/>
          <a:p>
            <a:pPr algn="r" rtl="1"/>
            <a:r>
              <a:rPr lang="he-IL" b="1" dirty="0"/>
              <a:t>שושנה רייך (עורכת), מגד ירחים, 171 כסלו תשע"ד</a:t>
            </a:r>
          </a:p>
        </p:txBody>
      </p:sp>
    </p:spTree>
    <p:extLst>
      <p:ext uri="{BB962C8B-B14F-4D97-AF65-F5344CB8AC3E}">
        <p14:creationId xmlns:p14="http://schemas.microsoft.com/office/powerpoint/2010/main" val="33194104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123\Desktop\סת בית הרב, ל אב תשעד\DSC_0158.JPG"/>
          <p:cNvPicPr>
            <a:picLocks noChangeAspect="1" noChangeArrowheads="1"/>
          </p:cNvPicPr>
          <p:nvPr/>
        </p:nvPicPr>
        <p:blipFill>
          <a:blip r:embed="rId2"/>
          <a:srcRect/>
          <a:stretch>
            <a:fillRect/>
          </a:stretch>
        </p:blipFill>
        <p:spPr bwMode="auto">
          <a:xfrm>
            <a:off x="2339754" y="3140972"/>
            <a:ext cx="4464496" cy="2976331"/>
          </a:xfrm>
          <a:prstGeom prst="rect">
            <a:avLst/>
          </a:prstGeom>
          <a:noFill/>
          <a:ln w="38100">
            <a:solidFill>
              <a:srgbClr val="FF0000"/>
            </a:solidFill>
          </a:ln>
        </p:spPr>
      </p:pic>
      <p:pic>
        <p:nvPicPr>
          <p:cNvPr id="1027" name="Picture 3" descr="C:\Users\123\Desktop\סת בית הרב, ל אב תשעד\DSC_0161.JPG"/>
          <p:cNvPicPr>
            <a:picLocks noChangeAspect="1" noChangeArrowheads="1"/>
          </p:cNvPicPr>
          <p:nvPr/>
        </p:nvPicPr>
        <p:blipFill>
          <a:blip r:embed="rId3"/>
          <a:srcRect/>
          <a:stretch>
            <a:fillRect/>
          </a:stretch>
        </p:blipFill>
        <p:spPr bwMode="auto">
          <a:xfrm>
            <a:off x="4960588" y="260652"/>
            <a:ext cx="3715868" cy="2477245"/>
          </a:xfrm>
          <a:prstGeom prst="rect">
            <a:avLst/>
          </a:prstGeom>
          <a:noFill/>
          <a:ln w="38100">
            <a:solidFill>
              <a:srgbClr val="FF0000"/>
            </a:solidFill>
          </a:ln>
        </p:spPr>
      </p:pic>
      <p:pic>
        <p:nvPicPr>
          <p:cNvPr id="1028" name="Picture 4" descr="C:\Users\123\Desktop\סת בית הרב, ל אב תשעד\DSC_0165.JPG"/>
          <p:cNvPicPr>
            <a:picLocks noChangeAspect="1" noChangeArrowheads="1"/>
          </p:cNvPicPr>
          <p:nvPr/>
        </p:nvPicPr>
        <p:blipFill>
          <a:blip r:embed="rId4"/>
          <a:srcRect/>
          <a:stretch>
            <a:fillRect/>
          </a:stretch>
        </p:blipFill>
        <p:spPr bwMode="auto">
          <a:xfrm>
            <a:off x="539553" y="260652"/>
            <a:ext cx="3636404" cy="2424269"/>
          </a:xfrm>
          <a:prstGeom prst="rect">
            <a:avLst/>
          </a:prstGeom>
          <a:noFill/>
          <a:ln w="38100">
            <a:solidFill>
              <a:srgbClr val="FF0000"/>
            </a:solidFill>
          </a:ln>
        </p:spPr>
      </p:pic>
      <p:sp>
        <p:nvSpPr>
          <p:cNvPr id="5" name="TextBox 4"/>
          <p:cNvSpPr txBox="1"/>
          <p:nvPr/>
        </p:nvSpPr>
        <p:spPr>
          <a:xfrm>
            <a:off x="1043608" y="2737897"/>
            <a:ext cx="5945859" cy="307777"/>
          </a:xfrm>
          <a:prstGeom prst="rect">
            <a:avLst/>
          </a:prstGeom>
          <a:noFill/>
        </p:spPr>
        <p:txBody>
          <a:bodyPr wrap="none" rtlCol="1">
            <a:spAutoFit/>
          </a:bodyPr>
          <a:lstStyle/>
          <a:p>
            <a:pPr algn="r" rtl="1"/>
            <a:r>
              <a:rPr lang="he-IL" b="1" dirty="0"/>
              <a:t>הכנסת שני ספרי תורה מתוקנים ניצולי פרעות תרפ"ט לבית הרב, ל' באב תשע"ד</a:t>
            </a:r>
          </a:p>
        </p:txBody>
      </p:sp>
      <p:sp>
        <p:nvSpPr>
          <p:cNvPr id="6" name="TextBox 5"/>
          <p:cNvSpPr txBox="1"/>
          <p:nvPr/>
        </p:nvSpPr>
        <p:spPr>
          <a:xfrm>
            <a:off x="889877" y="6212601"/>
            <a:ext cx="7383753" cy="523220"/>
          </a:xfrm>
          <a:prstGeom prst="rect">
            <a:avLst/>
          </a:prstGeom>
          <a:noFill/>
        </p:spPr>
        <p:txBody>
          <a:bodyPr wrap="none" rtlCol="1">
            <a:spAutoFit/>
          </a:bodyPr>
          <a:lstStyle/>
          <a:p>
            <a:pPr algn="r" rtl="1"/>
            <a:r>
              <a:rPr lang="he-IL" b="1" dirty="0"/>
              <a:t>נכדו של  הרב י"ח </a:t>
            </a:r>
            <a:r>
              <a:rPr lang="he-IL" b="1" dirty="0" err="1"/>
              <a:t>זוננפלד</a:t>
            </a:r>
            <a:r>
              <a:rPr lang="he-IL" b="1" dirty="0"/>
              <a:t> מכניס את הספר לארון, עליו כתוב: "תוקן לרגל 100 שנה למסע המושבות </a:t>
            </a:r>
          </a:p>
          <a:p>
            <a:pPr algn="r" rtl="1"/>
            <a:r>
              <a:rPr lang="he-IL" b="1" dirty="0"/>
              <a:t>בראשות </a:t>
            </a:r>
            <a:r>
              <a:rPr lang="he-IL" b="1" dirty="0" err="1"/>
              <a:t>הגרי"ח</a:t>
            </a:r>
            <a:r>
              <a:rPr lang="he-IL" b="1" dirty="0"/>
              <a:t> </a:t>
            </a:r>
            <a:r>
              <a:rPr lang="he-IL" b="1" dirty="0" err="1"/>
              <a:t>זוננפלד</a:t>
            </a:r>
            <a:r>
              <a:rPr lang="he-IL" b="1" dirty="0"/>
              <a:t> </a:t>
            </a:r>
            <a:r>
              <a:rPr lang="he-IL" b="1" dirty="0" err="1"/>
              <a:t>והגראי"ה</a:t>
            </a:r>
            <a:r>
              <a:rPr lang="he-IL" b="1" dirty="0"/>
              <a:t> קוק", משמאלו: נשיא המדינה ראובן ריבלין, הרב חיים דרוקמן.</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465179" y="3284984"/>
            <a:ext cx="4608512" cy="2590444"/>
          </a:xfrm>
          <a:prstGeom prst="rect">
            <a:avLst/>
          </a:prstGeom>
          <a:ln w="38100">
            <a:solidFill>
              <a:srgbClr val="FF0000"/>
            </a:solidFill>
          </a:ln>
        </p:spPr>
      </p:pic>
      <p:pic>
        <p:nvPicPr>
          <p:cNvPr id="3" name="תמונה 2"/>
          <p:cNvPicPr>
            <a:picLocks noChangeAspect="1"/>
          </p:cNvPicPr>
          <p:nvPr/>
        </p:nvPicPr>
        <p:blipFill>
          <a:blip r:embed="rId3"/>
          <a:stretch>
            <a:fillRect/>
          </a:stretch>
        </p:blipFill>
        <p:spPr>
          <a:xfrm>
            <a:off x="3635896" y="148848"/>
            <a:ext cx="5203106" cy="2974163"/>
          </a:xfrm>
          <a:prstGeom prst="rect">
            <a:avLst/>
          </a:prstGeom>
          <a:ln w="38100">
            <a:solidFill>
              <a:srgbClr val="FF0000"/>
            </a:solidFill>
          </a:ln>
        </p:spPr>
      </p:pic>
      <p:sp>
        <p:nvSpPr>
          <p:cNvPr id="4" name="TextBox 3"/>
          <p:cNvSpPr txBox="1"/>
          <p:nvPr/>
        </p:nvSpPr>
        <p:spPr>
          <a:xfrm>
            <a:off x="1259632" y="5992539"/>
            <a:ext cx="7128875" cy="738664"/>
          </a:xfrm>
          <a:prstGeom prst="rect">
            <a:avLst/>
          </a:prstGeom>
          <a:noFill/>
          <a:ln>
            <a:solidFill>
              <a:srgbClr val="2217F5"/>
            </a:solidFill>
          </a:ln>
        </p:spPr>
        <p:txBody>
          <a:bodyPr wrap="none" rtlCol="1">
            <a:spAutoFit/>
          </a:bodyPr>
          <a:lstStyle/>
          <a:p>
            <a:pPr algn="r" rtl="1"/>
            <a:r>
              <a:rPr lang="he-IL" b="1" dirty="0"/>
              <a:t>ספר תורה של הרב יונתן בנימין הלוי הורוביץ בו קראו הרבנים במשך כל המסע, נמסר ל'בית הרב' </a:t>
            </a:r>
          </a:p>
          <a:p>
            <a:pPr algn="r" rtl="1"/>
            <a:r>
              <a:rPr lang="he-IL" b="1" dirty="0"/>
              <a:t>ע"י משפחתה של הגברת רבקה רחל </a:t>
            </a:r>
            <a:r>
              <a:rPr lang="he-IL" b="1" dirty="0" err="1"/>
              <a:t>ורבלובסקי</a:t>
            </a:r>
            <a:r>
              <a:rPr lang="he-IL" b="1" dirty="0"/>
              <a:t>-שטיין, נכדתו של הרב </a:t>
            </a:r>
            <a:r>
              <a:rPr lang="he-IL" b="1" dirty="0" err="1"/>
              <a:t>הורוויץ</a:t>
            </a:r>
            <a:r>
              <a:rPr lang="he-IL" b="1" dirty="0"/>
              <a:t>. </a:t>
            </a:r>
          </a:p>
          <a:p>
            <a:pPr algn="r" rtl="1"/>
            <a:r>
              <a:rPr lang="he-IL" b="1" dirty="0"/>
              <a:t>הוא הוצג לראשונה במוצש"ק פרשת </a:t>
            </a:r>
            <a:r>
              <a:rPr lang="he-IL" b="1" dirty="0" err="1"/>
              <a:t>ויקהל</a:t>
            </a:r>
            <a:r>
              <a:rPr lang="he-IL" b="1" dirty="0"/>
              <a:t>-שקלים, כ"ו באדר א' תשפ"ב.</a:t>
            </a:r>
          </a:p>
        </p:txBody>
      </p:sp>
      <p:pic>
        <p:nvPicPr>
          <p:cNvPr id="5" name="תמונה 4">
            <a:extLst>
              <a:ext uri="{FF2B5EF4-FFF2-40B4-BE49-F238E27FC236}">
                <a16:creationId xmlns:a16="http://schemas.microsoft.com/office/drawing/2014/main" id="{3A9768C7-BFC5-358C-F481-070D1889D5E5}"/>
              </a:ext>
            </a:extLst>
          </p:cNvPr>
          <p:cNvPicPr>
            <a:picLocks noChangeAspect="1"/>
          </p:cNvPicPr>
          <p:nvPr/>
        </p:nvPicPr>
        <p:blipFill>
          <a:blip r:embed="rId4"/>
          <a:srcRect l="40320" r="27736" b="15559"/>
          <a:stretch>
            <a:fillRect/>
          </a:stretch>
        </p:blipFill>
        <p:spPr>
          <a:xfrm>
            <a:off x="6516216" y="3585666"/>
            <a:ext cx="1308441" cy="1944217"/>
          </a:xfrm>
          <a:prstGeom prst="rect">
            <a:avLst/>
          </a:prstGeom>
          <a:ln w="38100">
            <a:solidFill>
              <a:srgbClr val="FF0000"/>
            </a:solidFill>
          </a:ln>
        </p:spPr>
      </p:pic>
    </p:spTree>
    <p:extLst>
      <p:ext uri="{BB962C8B-B14F-4D97-AF65-F5344CB8AC3E}">
        <p14:creationId xmlns:p14="http://schemas.microsoft.com/office/powerpoint/2010/main" val="133499361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5720" y="692696"/>
            <a:ext cx="8935420" cy="5016758"/>
          </a:xfrm>
          <a:prstGeom prst="rect">
            <a:avLst/>
          </a:prstGeom>
          <a:noFill/>
          <a:ln w="38100">
            <a:solidFill>
              <a:srgbClr val="2217F5"/>
            </a:solidFill>
          </a:ln>
        </p:spPr>
        <p:txBody>
          <a:bodyPr wrap="square" rtlCol="1">
            <a:spAutoFit/>
          </a:bodyPr>
          <a:lstStyle/>
          <a:p>
            <a:pPr algn="r" rtl="1"/>
            <a:r>
              <a:rPr lang="he-IL" sz="1600" b="1" dirty="0" err="1"/>
              <a:t>אבידור</a:t>
            </a:r>
            <a:r>
              <a:rPr lang="he-IL" sz="1600" b="1" dirty="0"/>
              <a:t> שמואל הכהן, </a:t>
            </a:r>
            <a:r>
              <a:rPr lang="he-IL" sz="1600" dirty="0"/>
              <a:t>האיש נגד הזרם, תל אביב 2002</a:t>
            </a:r>
          </a:p>
          <a:p>
            <a:pPr algn="r" rtl="1"/>
            <a:r>
              <a:rPr lang="he-IL" sz="1600" b="1" dirty="0"/>
              <a:t>אבינרי יוסי, </a:t>
            </a:r>
            <a:r>
              <a:rPr lang="he-IL" sz="1600" dirty="0"/>
              <a:t>מסורת וחידוש: פועלו של </a:t>
            </a:r>
            <a:r>
              <a:rPr lang="he-IL" sz="1600" dirty="0" err="1"/>
              <a:t>הראי"ה</a:t>
            </a:r>
            <a:r>
              <a:rPr lang="he-IL" sz="1600" dirty="0"/>
              <a:t> קוק כרבה של יפו בשנים תרס"ד-תרע"ד, אוניברסיטת בר אילן תשמ"א, עמ' 121-127</a:t>
            </a:r>
          </a:p>
          <a:p>
            <a:pPr algn="r" rtl="1"/>
            <a:r>
              <a:rPr lang="he-IL" sz="1600" b="1" dirty="0"/>
              <a:t>אבינרי יוסי, </a:t>
            </a:r>
            <a:r>
              <a:rPr lang="he-IL" sz="1600" dirty="0"/>
              <a:t>ספר בר-אילן, </a:t>
            </a:r>
            <a:r>
              <a:rPr lang="he-IL" sz="1600" dirty="0" err="1"/>
              <a:t>כח-כט</a:t>
            </a:r>
            <a:r>
              <a:rPr lang="he-IL" sz="1600" dirty="0"/>
              <a:t> (תשס"א), מעמ' 173 [מסע תרפ"ד] </a:t>
            </a:r>
          </a:p>
          <a:p>
            <a:pPr algn="r" rtl="1"/>
            <a:r>
              <a:rPr lang="he-IL" sz="1600" b="1" dirty="0" err="1"/>
              <a:t>אייזיקוביץ</a:t>
            </a:r>
            <a:r>
              <a:rPr lang="he-IL" sz="1600" b="1" dirty="0"/>
              <a:t> אליעזר, </a:t>
            </a:r>
            <a:r>
              <a:rPr lang="he-IL" sz="1600" dirty="0"/>
              <a:t>'מסע בן מאה', קולמוס: המוסף התורני של משפחה, 128 (כסלו תשע"ד), עמ' 4-9, 23</a:t>
            </a:r>
          </a:p>
          <a:p>
            <a:pPr algn="r" rtl="1"/>
            <a:r>
              <a:rPr lang="he-IL" sz="1600" b="1" dirty="0"/>
              <a:t>אליאב מרדכי, </a:t>
            </a:r>
            <a:r>
              <a:rPr lang="he-IL" sz="1600" dirty="0"/>
              <a:t>בתוך: </a:t>
            </a:r>
            <a:r>
              <a:rPr lang="he-IL" sz="1600" dirty="0" err="1"/>
              <a:t>אטקס</a:t>
            </a:r>
            <a:r>
              <a:rPr lang="he-IL" sz="1600" dirty="0"/>
              <a:t>, ע', שלמון, י' (עורכים), פרקים בתולדות החברה היהודית בימי-הביניים ובעת החדשה, ירושלים </a:t>
            </a:r>
            <a:r>
              <a:rPr lang="he-IL" sz="1600" dirty="0" err="1"/>
              <a:t>תש"ם</a:t>
            </a:r>
            <a:r>
              <a:rPr lang="he-IL" sz="1600" dirty="0"/>
              <a:t>, עמ' שעט-שצו</a:t>
            </a:r>
          </a:p>
          <a:p>
            <a:pPr algn="r" rtl="1"/>
            <a:r>
              <a:rPr lang="he-IL" sz="1600" b="1" dirty="0"/>
              <a:t>בן </a:t>
            </a:r>
            <a:r>
              <a:rPr lang="he-IL" sz="1600" b="1" dirty="0" err="1"/>
              <a:t>זרואל</a:t>
            </a:r>
            <a:r>
              <a:rPr lang="he-IL" sz="1600" b="1" dirty="0"/>
              <a:t> יוסף, </a:t>
            </a:r>
            <a:r>
              <a:rPr lang="he-IL" sz="1600" dirty="0"/>
              <a:t>בעקבות מסע המושבות תרע"ד, ממ"ד 'חומת שמואל', ירושלים תשע"ג</a:t>
            </a:r>
          </a:p>
          <a:p>
            <a:pPr algn="r" rtl="1"/>
            <a:r>
              <a:rPr lang="he-IL" sz="1600" b="1" dirty="0"/>
              <a:t>דוד עדי, </a:t>
            </a:r>
            <a:r>
              <a:rPr lang="he-IL" sz="1600" dirty="0"/>
              <a:t>אורות בשביל הארץ: מסע בעקבות הרב קוק, ירושלים [לילדים]</a:t>
            </a:r>
            <a:endParaRPr lang="he-IL" sz="1600" b="1" dirty="0"/>
          </a:p>
          <a:p>
            <a:pPr algn="r" rtl="1"/>
            <a:r>
              <a:rPr lang="he-IL" sz="1600" b="1" dirty="0"/>
              <a:t>דניאל ש', '</a:t>
            </a:r>
            <a:r>
              <a:rPr lang="he-IL" sz="1600" dirty="0"/>
              <a:t>מסע אהבת ישראל', מחניים ל (תשי"ז)</a:t>
            </a:r>
          </a:p>
          <a:p>
            <a:pPr algn="r" rtl="1"/>
            <a:r>
              <a:rPr lang="he-IL" sz="1600" b="1" dirty="0"/>
              <a:t>הדני יעקב, </a:t>
            </a:r>
            <a:r>
              <a:rPr lang="he-IL" sz="1600" dirty="0"/>
              <a:t>הרב קוק וההתיישבות החילונית- מסעות ומגעים, ירושלים </a:t>
            </a:r>
            <a:r>
              <a:rPr lang="he-IL" sz="1600" dirty="0" err="1"/>
              <a:t>תשד"ם</a:t>
            </a:r>
            <a:endParaRPr lang="he-IL" sz="1600" dirty="0"/>
          </a:p>
          <a:p>
            <a:pPr algn="r" rtl="1"/>
            <a:r>
              <a:rPr lang="he-IL" sz="1600" b="1" dirty="0"/>
              <a:t>הורוביץ יונתן בנימין, </a:t>
            </a:r>
            <a:r>
              <a:rPr lang="he-IL" sz="1600" dirty="0"/>
              <a:t>אלה מסעי, פרנקפורט תרע"ו</a:t>
            </a:r>
          </a:p>
          <a:p>
            <a:pPr algn="r" rtl="1"/>
            <a:r>
              <a:rPr lang="he-IL" sz="1600" b="1" dirty="0"/>
              <a:t>ולאן אתה הולך: מסע אישי – חברתי – לאומי בעקבות 'מסע המושבות', חשון תרע"ד, </a:t>
            </a:r>
            <a:r>
              <a:rPr lang="he-IL" sz="1600" dirty="0"/>
              <a:t>'בית הרב' ירושלים</a:t>
            </a:r>
          </a:p>
          <a:p>
            <a:pPr algn="r" rtl="1"/>
            <a:r>
              <a:rPr lang="he-IL" sz="1600" b="1" dirty="0" err="1"/>
              <a:t>זוננפלד</a:t>
            </a:r>
            <a:r>
              <a:rPr lang="he-IL" sz="1600" b="1" dirty="0"/>
              <a:t> שלמה זלמן, </a:t>
            </a:r>
            <a:r>
              <a:rPr lang="he-IL" sz="1600" dirty="0"/>
              <a:t>האיש על החומה, ב, ירושלים תשל"ב, עמ' 285-318</a:t>
            </a:r>
            <a:endParaRPr lang="he-IL" sz="1600" b="1" dirty="0"/>
          </a:p>
          <a:p>
            <a:pPr algn="r" rtl="1"/>
            <a:r>
              <a:rPr lang="he-IL" sz="1600" b="1" dirty="0" err="1"/>
              <a:t>זעירא</a:t>
            </a:r>
            <a:r>
              <a:rPr lang="he-IL" sz="1600" b="1" dirty="0"/>
              <a:t> מוטי, </a:t>
            </a:r>
            <a:r>
              <a:rPr lang="he-IL" sz="1600" dirty="0"/>
              <a:t>קרועים אנו: זיקתה של ההתיישבות העובדת בשנות העשרים אל התרבות היהודית, ירושלים תשס"ב</a:t>
            </a:r>
          </a:p>
          <a:p>
            <a:pPr algn="r" rtl="1"/>
            <a:r>
              <a:rPr lang="he-IL" sz="1600" b="1" dirty="0"/>
              <a:t>חרל"פ יעקב משה, </a:t>
            </a:r>
            <a:r>
              <a:rPr lang="he-IL" sz="1600" dirty="0"/>
              <a:t>הד הרים, ירושלים תשי"ג</a:t>
            </a:r>
          </a:p>
          <a:p>
            <a:pPr algn="r" rtl="1"/>
            <a:r>
              <a:rPr lang="he-IL" sz="1600" b="1" dirty="0" err="1"/>
              <a:t>יאדלר</a:t>
            </a:r>
            <a:r>
              <a:rPr lang="he-IL" sz="1600" b="1" dirty="0"/>
              <a:t> בן ציון, </a:t>
            </a:r>
            <a:r>
              <a:rPr lang="he-IL" sz="1600" dirty="0"/>
              <a:t>בטוב ירושלים, בני ברק תשכ"ז, עמ' </a:t>
            </a:r>
            <a:r>
              <a:rPr lang="he-IL" sz="1600" dirty="0" err="1"/>
              <a:t>קס-קסו</a:t>
            </a:r>
            <a:endParaRPr lang="he-IL" sz="1600" dirty="0"/>
          </a:p>
          <a:p>
            <a:pPr algn="r" rtl="1"/>
            <a:r>
              <a:rPr lang="he-IL" sz="1600" b="1" dirty="0"/>
              <a:t>ירון צבי, </a:t>
            </a:r>
            <a:r>
              <a:rPr lang="he-IL" sz="1600" dirty="0"/>
              <a:t>משנתו של הרב קוק, ירושלים תשל"ד, עמ' 369-371</a:t>
            </a:r>
          </a:p>
          <a:p>
            <a:pPr algn="r" rtl="1"/>
            <a:r>
              <a:rPr lang="he-IL" sz="1600" b="1" dirty="0"/>
              <a:t>כהן הראל, </a:t>
            </a:r>
            <a:r>
              <a:rPr lang="he-IL" sz="1600" dirty="0"/>
              <a:t>מאבני המקום, יא (תש"ס), מעמ' 12 [מסע תרפ"ד]</a:t>
            </a:r>
            <a:endParaRPr lang="he-IL" sz="1600" b="1" dirty="0"/>
          </a:p>
          <a:p>
            <a:pPr algn="r" rtl="1"/>
            <a:r>
              <a:rPr lang="he-IL" sz="1600" b="1" dirty="0"/>
              <a:t>כנעני דוד, </a:t>
            </a:r>
            <a:r>
              <a:rPr lang="he-IL" sz="1600" dirty="0" err="1"/>
              <a:t>העליה</a:t>
            </a:r>
            <a:r>
              <a:rPr lang="he-IL" sz="1600" dirty="0"/>
              <a:t> </a:t>
            </a:r>
            <a:r>
              <a:rPr lang="he-IL" sz="1600" dirty="0" err="1"/>
              <a:t>השניה</a:t>
            </a:r>
            <a:r>
              <a:rPr lang="he-IL" sz="1600" dirty="0"/>
              <a:t> העובדת ויחסה לדת ולמסורת, תל-אביב תשל"ז, עמ' 113-121</a:t>
            </a:r>
          </a:p>
        </p:txBody>
      </p:sp>
      <p:sp>
        <p:nvSpPr>
          <p:cNvPr id="2" name="TextBox 1"/>
          <p:cNvSpPr txBox="1"/>
          <p:nvPr/>
        </p:nvSpPr>
        <p:spPr>
          <a:xfrm>
            <a:off x="3172418" y="188640"/>
            <a:ext cx="2799164" cy="338554"/>
          </a:xfrm>
          <a:prstGeom prst="rect">
            <a:avLst/>
          </a:prstGeom>
          <a:solidFill>
            <a:srgbClr val="FFFF00"/>
          </a:solidFill>
          <a:ln>
            <a:solidFill>
              <a:schemeClr val="tx1"/>
            </a:solidFill>
          </a:ln>
        </p:spPr>
        <p:txBody>
          <a:bodyPr wrap="none" rtlCol="1">
            <a:spAutoFit/>
          </a:bodyPr>
          <a:lstStyle/>
          <a:p>
            <a:r>
              <a:rPr lang="he-IL" sz="1600" b="1" dirty="0"/>
              <a:t>ביבליוגרפיה – מאמרים וספרים</a:t>
            </a:r>
          </a:p>
        </p:txBody>
      </p:sp>
    </p:spTree>
    <p:extLst>
      <p:ext uri="{BB962C8B-B14F-4D97-AF65-F5344CB8AC3E}">
        <p14:creationId xmlns:p14="http://schemas.microsoft.com/office/powerpoint/2010/main" val="29051923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323528" y="476672"/>
            <a:ext cx="8568952" cy="5016758"/>
          </a:xfrm>
          <a:prstGeom prst="rect">
            <a:avLst/>
          </a:prstGeom>
          <a:ln w="38100">
            <a:solidFill>
              <a:srgbClr val="2217F5"/>
            </a:solidFill>
          </a:ln>
        </p:spPr>
        <p:txBody>
          <a:bodyPr wrap="square">
            <a:spAutoFit/>
          </a:bodyPr>
          <a:lstStyle/>
          <a:p>
            <a:pPr algn="r" rtl="1"/>
            <a:r>
              <a:rPr lang="he-IL" sz="1600" b="1" dirty="0"/>
              <a:t>לוז אהוד, </a:t>
            </a:r>
            <a:r>
              <a:rPr lang="he-IL" sz="1600" dirty="0"/>
              <a:t>מקבילים נפגשים, תל-אביב תשמ"ה</a:t>
            </a:r>
          </a:p>
          <a:p>
            <a:pPr algn="r" rtl="1"/>
            <a:r>
              <a:rPr lang="he-IL" sz="1600" b="1" dirty="0"/>
              <a:t>לוין ה', </a:t>
            </a:r>
            <a:r>
              <a:rPr lang="he-IL" sz="1600" dirty="0"/>
              <a:t>אלה מסעי, ירושלים תשע"א</a:t>
            </a:r>
          </a:p>
          <a:p>
            <a:pPr algn="r" rtl="1"/>
            <a:r>
              <a:rPr lang="he-IL" sz="1600" b="1" dirty="0"/>
              <a:t>לוין ה', </a:t>
            </a:r>
            <a:r>
              <a:rPr lang="he-IL" sz="1600" dirty="0"/>
              <a:t>בעקבות מסע המושבות: סיורים תורניים בעקבות מסע </a:t>
            </a:r>
            <a:r>
              <a:rPr lang="he-IL" sz="1600" dirty="0" err="1"/>
              <a:t>הראי"ה</a:t>
            </a:r>
            <a:r>
              <a:rPr lang="he-IL" sz="1600" dirty="0"/>
              <a:t> קוק </a:t>
            </a:r>
            <a:r>
              <a:rPr lang="he-IL" sz="1600" dirty="0" err="1"/>
              <a:t>והרי"ח</a:t>
            </a:r>
            <a:r>
              <a:rPr lang="he-IL" sz="1600" dirty="0"/>
              <a:t> </a:t>
            </a:r>
            <a:r>
              <a:rPr lang="he-IL" sz="1600" dirty="0" err="1"/>
              <a:t>זוננפלד</a:t>
            </a:r>
            <a:r>
              <a:rPr lang="he-IL" sz="1600" dirty="0"/>
              <a:t> למושבות הגליל בחורף תרע"ד, ירושלים תשע"ח</a:t>
            </a:r>
            <a:endParaRPr lang="he-IL" sz="1600" b="1" dirty="0"/>
          </a:p>
          <a:p>
            <a:pPr algn="r" rtl="1"/>
            <a:r>
              <a:rPr lang="he-IL" sz="1600" b="1" dirty="0"/>
              <a:t>ליפשיץ חיים, </a:t>
            </a:r>
            <a:r>
              <a:rPr lang="he-IL" sz="1600" dirty="0"/>
              <a:t>שבחי </a:t>
            </a:r>
            <a:r>
              <a:rPr lang="he-IL" sz="1600" dirty="0" err="1"/>
              <a:t>הראי"ה</a:t>
            </a:r>
            <a:r>
              <a:rPr lang="he-IL" sz="1600" dirty="0"/>
              <a:t>, ירושלים תשל"ט, עמ' קיא-</a:t>
            </a:r>
            <a:r>
              <a:rPr lang="he-IL" sz="1600" dirty="0" err="1"/>
              <a:t>קיג</a:t>
            </a:r>
            <a:endParaRPr lang="he-IL" sz="1600" dirty="0"/>
          </a:p>
          <a:p>
            <a:pPr algn="r" rtl="1"/>
            <a:r>
              <a:rPr lang="he-IL" sz="1600" b="1" dirty="0"/>
              <a:t>מלמד אליעזר, </a:t>
            </a:r>
            <a:r>
              <a:rPr lang="he-IL" sz="1600" dirty="0"/>
              <a:t>'מסע הרבנים ותוצאותיו', בשבע (ה' כסלו תשע"ב), עמ' 42-43 [=אתר ישיבה]</a:t>
            </a:r>
          </a:p>
          <a:p>
            <a:pPr algn="r" rtl="1"/>
            <a:r>
              <a:rPr lang="he-IL" sz="1600" b="1" dirty="0"/>
              <a:t>מסע המושבות, </a:t>
            </a:r>
            <a:r>
              <a:rPr lang="he-IL" sz="1600" dirty="0"/>
              <a:t>'בית הרב' יחד עם ההסתדרות הציונית העולמית המחלקה לשירותים רוחניים בגולה, ירושלים </a:t>
            </a:r>
          </a:p>
          <a:p>
            <a:pPr algn="r" rtl="1"/>
            <a:r>
              <a:rPr lang="he-IL" sz="1600" b="1" dirty="0"/>
              <a:t>נאור מרדכי, </a:t>
            </a:r>
            <a:r>
              <a:rPr lang="he-IL" sz="1600" dirty="0"/>
              <a:t>'חמישה רבנים יצאו לדרך', </a:t>
            </a:r>
            <a:r>
              <a:rPr lang="he-IL" sz="1600" dirty="0" err="1"/>
              <a:t>עתמול</a:t>
            </a:r>
            <a:r>
              <a:rPr lang="he-IL" sz="1600" dirty="0"/>
              <a:t> (כסלו תשנ"א), עמ' 8-10</a:t>
            </a:r>
          </a:p>
          <a:p>
            <a:pPr algn="r" rtl="1"/>
            <a:r>
              <a:rPr lang="he-IL" sz="1600" b="1" dirty="0"/>
              <a:t>נחמני משה, </a:t>
            </a:r>
            <a:r>
              <a:rPr lang="he-IL" sz="1600" dirty="0"/>
              <a:t>מסע התשובה והאהבה בראשות מרן </a:t>
            </a:r>
            <a:r>
              <a:rPr lang="he-IL" sz="1600" dirty="0" err="1"/>
              <a:t>הראי"ה</a:t>
            </a:r>
            <a:r>
              <a:rPr lang="he-IL" sz="1600" dirty="0"/>
              <a:t> קוק זצ"ל, הוצאת רואה </a:t>
            </a:r>
            <a:r>
              <a:rPr lang="he-IL" sz="1600" dirty="0">
                <a:solidFill>
                  <a:schemeClr val="tx1"/>
                </a:solidFill>
              </a:rPr>
              <a:t>האורות תשע"ד </a:t>
            </a:r>
            <a:endParaRPr lang="he-IL" sz="1600" b="1" dirty="0"/>
          </a:p>
          <a:p>
            <a:pPr algn="r" rtl="1"/>
            <a:r>
              <a:rPr lang="he-IL" sz="1600" b="1" dirty="0"/>
              <a:t>סגל ארנון, </a:t>
            </a:r>
            <a:r>
              <a:rPr lang="he-IL" sz="1600" dirty="0"/>
              <a:t>'מסע שלא נגמר: בעקבות מסע המושבות', עולם קטן 420-424 (חשון-כסלו תשע"ד)</a:t>
            </a:r>
          </a:p>
          <a:p>
            <a:pPr algn="r" rtl="1"/>
            <a:r>
              <a:rPr lang="he-IL" sz="1600" b="1" dirty="0"/>
              <a:t>פרנקל אריה, </a:t>
            </a:r>
            <a:r>
              <a:rPr lang="he-IL" sz="1600" dirty="0"/>
              <a:t>אנציקלופדיה לציונות דתית, ה, ירושלים תשמ"ג, עמ' 159-163</a:t>
            </a:r>
          </a:p>
          <a:p>
            <a:pPr algn="r" rtl="1"/>
            <a:r>
              <a:rPr lang="he-IL" sz="1600" b="1" dirty="0"/>
              <a:t>פרנקל אריה, </a:t>
            </a:r>
            <a:r>
              <a:rPr lang="he-IL" sz="1600" dirty="0"/>
              <a:t>בתוך: י' רפאל (עורך), </a:t>
            </a:r>
            <a:r>
              <a:rPr lang="he-IL" sz="1600" dirty="0" err="1"/>
              <a:t>זכרון</a:t>
            </a:r>
            <a:r>
              <a:rPr lang="he-IL" sz="1600" dirty="0"/>
              <a:t> </a:t>
            </a:r>
            <a:r>
              <a:rPr lang="he-IL" sz="1600" dirty="0" err="1"/>
              <a:t>ראי"ה</a:t>
            </a:r>
            <a:r>
              <a:rPr lang="he-IL" sz="1600" dirty="0"/>
              <a:t>, ירושלים תשמ"ו, עמ' </a:t>
            </a:r>
            <a:r>
              <a:rPr lang="he-IL" sz="1600" dirty="0" err="1"/>
              <a:t>טז</a:t>
            </a:r>
            <a:r>
              <a:rPr lang="he-IL" sz="1600" dirty="0"/>
              <a:t>-ס [עריכת החוברת 'אלה מסעי']</a:t>
            </a:r>
          </a:p>
          <a:p>
            <a:pPr algn="r" rtl="1"/>
            <a:r>
              <a:rPr lang="he-IL" sz="1600" b="1" dirty="0"/>
              <a:t>קוק צבי יהודה, </a:t>
            </a:r>
            <a:r>
              <a:rPr lang="he-IL" sz="1600" dirty="0"/>
              <a:t>נפש </a:t>
            </a:r>
            <a:r>
              <a:rPr lang="he-IL" sz="1600" dirty="0" err="1"/>
              <a:t>הראי"ה</a:t>
            </a:r>
            <a:r>
              <a:rPr lang="he-IL" sz="1600" dirty="0"/>
              <a:t> לשלשה באלול, ירושלים תשס"ג, עמ' נ-נב</a:t>
            </a:r>
          </a:p>
          <a:p>
            <a:pPr algn="r" rtl="1"/>
            <a:r>
              <a:rPr lang="he-IL" sz="1600" b="1" dirty="0" err="1"/>
              <a:t>קניאל</a:t>
            </a:r>
            <a:r>
              <a:rPr lang="he-IL" sz="1600" b="1" dirty="0"/>
              <a:t> יהושע, </a:t>
            </a:r>
            <a:r>
              <a:rPr lang="he-IL" sz="1600" dirty="0"/>
              <a:t>המשך ותמורה: היישוב הישן והיישוב החדש בתקופת </a:t>
            </a:r>
            <a:r>
              <a:rPr lang="he-IL" sz="1600" dirty="0" err="1"/>
              <a:t>העליה</a:t>
            </a:r>
            <a:r>
              <a:rPr lang="he-IL" sz="1600" dirty="0"/>
              <a:t> הראשונה </a:t>
            </a:r>
            <a:r>
              <a:rPr lang="he-IL" sz="1600" dirty="0" err="1"/>
              <a:t>והשניה</a:t>
            </a:r>
            <a:r>
              <a:rPr lang="he-IL" sz="1600" dirty="0"/>
              <a:t>, ירושלים תשמ"ב, עמ' 226-222</a:t>
            </a:r>
          </a:p>
          <a:p>
            <a:pPr algn="r" rtl="1"/>
            <a:r>
              <a:rPr lang="he-IL" sz="1600" b="1" dirty="0"/>
              <a:t>רון-פדר- עמית גלילה, </a:t>
            </a:r>
            <a:r>
              <a:rPr lang="he-IL" sz="1600" dirty="0"/>
              <a:t>מנהרת הזמן: מסע המושבות, הוצאת מודן 2006 [לנוער]</a:t>
            </a:r>
          </a:p>
          <a:p>
            <a:pPr algn="r" rtl="1"/>
            <a:r>
              <a:rPr lang="he-IL" sz="1600" b="1" dirty="0" err="1"/>
              <a:t>רוזנק</a:t>
            </a:r>
            <a:r>
              <a:rPr lang="he-IL" sz="1600" b="1" dirty="0"/>
              <a:t> אבינועם, </a:t>
            </a:r>
            <a:r>
              <a:rPr lang="he-IL" sz="1600" dirty="0"/>
              <a:t>הרב קוק, ירושלים תשס"ז, עמ' 106-122</a:t>
            </a:r>
          </a:p>
          <a:p>
            <a:pPr algn="r" rtl="1"/>
            <a:r>
              <a:rPr lang="he-IL" sz="1600" b="1" dirty="0"/>
              <a:t>רז שמחה, </a:t>
            </a:r>
            <a:r>
              <a:rPr lang="he-IL" sz="1600" dirty="0"/>
              <a:t>מלאכים כבני אדם, ירושלים תשס"ה, עמ' 441-454</a:t>
            </a:r>
          </a:p>
          <a:p>
            <a:pPr algn="r" rtl="1"/>
            <a:r>
              <a:rPr lang="he-IL" sz="1600" b="1" dirty="0"/>
              <a:t>שפירא בן ציון (עורך), </a:t>
            </a:r>
            <a:r>
              <a:rPr lang="he-IL" sz="1600" dirty="0"/>
              <a:t>'יומן מסע: ביקור הרבנים במושבות הגליל', גנזי </a:t>
            </a:r>
            <a:r>
              <a:rPr lang="he-IL" sz="1600" dirty="0" err="1"/>
              <a:t>ראי"ה</a:t>
            </a:r>
            <a:r>
              <a:rPr lang="he-IL" sz="1600" dirty="0"/>
              <a:t>, ז, </a:t>
            </a:r>
            <a:r>
              <a:rPr lang="he-IL" sz="1600" dirty="0">
                <a:solidFill>
                  <a:schemeClr val="tx1"/>
                </a:solidFill>
              </a:rPr>
              <a:t>ירושלים, </a:t>
            </a:r>
            <a:r>
              <a:rPr lang="he-IL" sz="1600" dirty="0"/>
              <a:t>עמ' 9-1</a:t>
            </a:r>
          </a:p>
        </p:txBody>
      </p:sp>
    </p:spTree>
    <p:extLst>
      <p:ext uri="{BB962C8B-B14F-4D97-AF65-F5344CB8AC3E}">
        <p14:creationId xmlns:p14="http://schemas.microsoft.com/office/powerpoint/2010/main" val="30681132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359532" y="548680"/>
            <a:ext cx="8424936" cy="2308324"/>
          </a:xfrm>
          <a:prstGeom prst="rect">
            <a:avLst/>
          </a:prstGeom>
          <a:solidFill>
            <a:srgbClr val="FFFF00"/>
          </a:solidFill>
          <a:ln w="38100">
            <a:solidFill>
              <a:srgbClr val="2217F5"/>
            </a:solidFill>
          </a:ln>
        </p:spPr>
        <p:txBody>
          <a:bodyPr wrap="square">
            <a:spAutoFit/>
          </a:bodyPr>
          <a:lstStyle/>
          <a:p>
            <a:pPr algn="r" rtl="1"/>
            <a:r>
              <a:rPr lang="x-none" sz="1800" b="1" dirty="0">
                <a:solidFill>
                  <a:srgbClr val="FF0000"/>
                </a:solidFill>
              </a:rPr>
              <a:t>תודות ל</a:t>
            </a:r>
            <a:r>
              <a:rPr lang="en-US" sz="1800" b="1" dirty="0">
                <a:solidFill>
                  <a:srgbClr val="FF0000"/>
                </a:solidFill>
              </a:rPr>
              <a:t>:</a:t>
            </a:r>
            <a:endParaRPr lang="he-IL" sz="1800" b="1" dirty="0">
              <a:solidFill>
                <a:srgbClr val="FF0000"/>
              </a:solidFill>
            </a:endParaRPr>
          </a:p>
          <a:p>
            <a:pPr algn="r" rtl="1"/>
            <a:r>
              <a:rPr lang="he-IL" sz="1800" b="1" dirty="0"/>
              <a:t>הרב </a:t>
            </a:r>
            <a:r>
              <a:rPr lang="x-none" sz="1800" b="1" dirty="0"/>
              <a:t>אברהם טייץ</a:t>
            </a:r>
            <a:r>
              <a:rPr lang="he-IL" sz="1800" b="1" dirty="0"/>
              <a:t> -</a:t>
            </a:r>
            <a:r>
              <a:rPr lang="x-none" sz="1800" b="1" dirty="0"/>
              <a:t> מנהל </a:t>
            </a:r>
            <a:r>
              <a:rPr lang="he-IL" sz="1800" b="1" dirty="0"/>
              <a:t>'</a:t>
            </a:r>
            <a:r>
              <a:rPr lang="x-none" sz="1800" b="1" dirty="0"/>
              <a:t>בית הרב</a:t>
            </a:r>
            <a:r>
              <a:rPr lang="he-IL" sz="1800" b="1" dirty="0"/>
              <a:t>', על ההדרכה והחומר התיעודי. </a:t>
            </a:r>
          </a:p>
          <a:p>
            <a:pPr algn="r" rtl="1"/>
            <a:r>
              <a:rPr lang="he-IL" sz="1800" b="1" dirty="0"/>
              <a:t>נציגי מינהל החינוך הדתי - על האישור וארגון המסע.</a:t>
            </a:r>
          </a:p>
          <a:p>
            <a:pPr algn="r" rtl="1"/>
            <a:r>
              <a:rPr lang="he-IL" sz="1800" b="1" dirty="0"/>
              <a:t>הרב חיים </a:t>
            </a:r>
            <a:r>
              <a:rPr lang="he-IL" sz="1800" b="1" dirty="0" err="1"/>
              <a:t>ענזי</a:t>
            </a:r>
            <a:r>
              <a:rPr lang="he-IL" sz="1800" b="1" dirty="0"/>
              <a:t>, מפקח על רבני בתי הספר, על ארגון המסע.</a:t>
            </a:r>
          </a:p>
          <a:p>
            <a:pPr algn="r" rtl="1"/>
            <a:r>
              <a:rPr lang="x-none" sz="1800" b="1" dirty="0"/>
              <a:t>הרב</a:t>
            </a:r>
            <a:r>
              <a:rPr lang="he-IL" sz="1800" b="1" dirty="0"/>
              <a:t> עמיהוד לוין – עורך הספר 'אלה מסעי', על המידע והתמונות מספרו.</a:t>
            </a:r>
          </a:p>
          <a:p>
            <a:pPr algn="r" rtl="1"/>
            <a:r>
              <a:rPr lang="he-IL" sz="1800" b="1" dirty="0"/>
              <a:t>הרב צבי הריס – על התמונות ממסע רבני בתי הספר, שהתקיים בט"ז באלול תשע"ג. </a:t>
            </a:r>
          </a:p>
          <a:p>
            <a:pPr algn="r" rtl="1"/>
            <a:endParaRPr lang="he-IL" sz="1800" b="1" dirty="0"/>
          </a:p>
          <a:p>
            <a:pPr algn="r" rtl="1"/>
            <a:r>
              <a:rPr lang="he-IL" sz="1800" b="1" dirty="0">
                <a:solidFill>
                  <a:srgbClr val="FF0000"/>
                </a:solidFill>
              </a:rPr>
              <a:t>תמונות: </a:t>
            </a:r>
            <a:r>
              <a:rPr lang="he-IL" sz="1800" b="1" dirty="0">
                <a:solidFill>
                  <a:schemeClr val="tx1"/>
                </a:solidFill>
              </a:rPr>
              <a:t>'</a:t>
            </a:r>
            <a:r>
              <a:rPr lang="he-IL" sz="1800" b="1" dirty="0"/>
              <a:t>בית הרב', הארכיון הציוני המרכזי, ויקיפדיה, הספר 'אלה מסעי'.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5"/>
          <p:cNvSpPr>
            <a:spLocks noChangeArrowheads="1"/>
          </p:cNvSpPr>
          <p:nvPr/>
        </p:nvSpPr>
        <p:spPr bwMode="auto">
          <a:xfrm>
            <a:off x="3230068" y="542238"/>
            <a:ext cx="2750437" cy="600164"/>
          </a:xfrm>
          <a:prstGeom prst="rect">
            <a:avLst/>
          </a:prstGeom>
          <a:solidFill>
            <a:srgbClr val="0000FF"/>
          </a:solidFill>
          <a:ln>
            <a:noFill/>
          </a:ln>
        </p:spPr>
        <p:txBody>
          <a:bodyPr wrap="square" anchor="ctr">
            <a:spAutoFit/>
          </a:bodyPr>
          <a:lstStyle/>
          <a:p>
            <a:pPr algn="ctr">
              <a:defRPr/>
            </a:pPr>
            <a:r>
              <a:rPr lang="he-IL" sz="3300" b="1" dirty="0">
                <a:solidFill>
                  <a:srgbClr val="FFFF00"/>
                </a:solidFill>
                <a:effectLst>
                  <a:outerShdw blurRad="38100" dist="38100" dir="2700000" algn="tl">
                    <a:srgbClr val="000000"/>
                  </a:outerShdw>
                </a:effectLst>
                <a:cs typeface="Guttman Stam" pitchFamily="2" charset="-79"/>
              </a:rPr>
              <a:t>"לאורו נלך"</a:t>
            </a:r>
          </a:p>
        </p:txBody>
      </p:sp>
      <p:sp>
        <p:nvSpPr>
          <p:cNvPr id="80902" name="Rectangle 6"/>
          <p:cNvSpPr>
            <a:spLocks noChangeArrowheads="1"/>
          </p:cNvSpPr>
          <p:nvPr/>
        </p:nvSpPr>
        <p:spPr bwMode="auto">
          <a:xfrm>
            <a:off x="1050373" y="5424997"/>
            <a:ext cx="6561534" cy="923330"/>
          </a:xfrm>
          <a:prstGeom prst="rect">
            <a:avLst/>
          </a:prstGeom>
          <a:solidFill>
            <a:srgbClr val="0000FF"/>
          </a:solidFill>
          <a:ln>
            <a:noFill/>
          </a:ln>
        </p:spPr>
        <p:txBody>
          <a:bodyPr anchor="ctr">
            <a:spAutoFit/>
          </a:bodyPr>
          <a:lstStyle/>
          <a:p>
            <a:pPr algn="ctr">
              <a:defRPr/>
            </a:pPr>
            <a:r>
              <a:rPr lang="he-IL" sz="27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"בנה ביתך כבתחילה וכונן מקדשך על מכונו, והראנו בבנינו ושמחנו </a:t>
            </a:r>
            <a:r>
              <a:rPr lang="he-IL" sz="2700" b="1" dirty="0" err="1">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בתקונו</a:t>
            </a:r>
            <a:r>
              <a:rPr lang="he-IL" sz="27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 </a:t>
            </a:r>
          </a:p>
        </p:txBody>
      </p:sp>
      <p:pic>
        <p:nvPicPr>
          <p:cNvPr id="114692" name="Picture 5" descr="degelisrael"/>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524" y="2708920"/>
            <a:ext cx="1304970" cy="978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3" name="Picture 6" descr="degelisrael"/>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8051" y="2564904"/>
            <a:ext cx="1223070" cy="91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7" descr="jerusalem_temple_mod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67494" y="1988840"/>
            <a:ext cx="6075586" cy="2589719"/>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83978" name="Text Box 10"/>
          <p:cNvSpPr txBox="1">
            <a:spLocks noChangeArrowheads="1"/>
          </p:cNvSpPr>
          <p:nvPr/>
        </p:nvSpPr>
        <p:spPr bwMode="auto">
          <a:xfrm>
            <a:off x="7732026" y="1500189"/>
            <a:ext cx="256802" cy="403957"/>
          </a:xfrm>
          <a:prstGeom prst="rect">
            <a:avLst/>
          </a:prstGeom>
          <a:noFill/>
          <a:ln>
            <a:noFill/>
          </a:ln>
          <a:effectLst/>
        </p:spPr>
        <p:txBody>
          <a:bodyPr wrap="none">
            <a:spAutoFit/>
          </a:bodyPr>
          <a:lstStyle/>
          <a:p>
            <a:pPr>
              <a:defRPr/>
            </a:pPr>
            <a:r>
              <a:rPr lang="he-IL" sz="2025" b="1" dirty="0">
                <a:solidFill>
                  <a:schemeClr val="bg1"/>
                </a:solidFill>
                <a:effectLst>
                  <a:outerShdw blurRad="38100" dist="38100" dir="2700000" algn="tl">
                    <a:srgbClr val="C0C0C0"/>
                  </a:outerShdw>
                </a:effectLst>
              </a:rPr>
              <a:t> </a:t>
            </a:r>
            <a:endParaRPr lang="en-US" sz="2025" dirty="0">
              <a:solidFill>
                <a:schemeClr val="bg1"/>
              </a:solidFill>
            </a:endParaRPr>
          </a:p>
        </p:txBody>
      </p:sp>
      <p:sp>
        <p:nvSpPr>
          <p:cNvPr id="11" name="TextBox 10"/>
          <p:cNvSpPr txBox="1">
            <a:spLocks noChangeArrowheads="1"/>
          </p:cNvSpPr>
          <p:nvPr/>
        </p:nvSpPr>
        <p:spPr bwMode="auto">
          <a:xfrm>
            <a:off x="3779912" y="3861048"/>
            <a:ext cx="1260398" cy="415498"/>
          </a:xfrm>
          <a:prstGeom prst="rect">
            <a:avLst/>
          </a:prstGeom>
          <a:solidFill>
            <a:srgbClr val="FF0000"/>
          </a:solidFill>
          <a:ln w="28575">
            <a:solidFill>
              <a:schemeClr val="tx1"/>
            </a:solidFill>
            <a:miter lim="800000"/>
            <a:headEnd/>
            <a:tailEnd/>
          </a:ln>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FontTx/>
              <a:buNone/>
            </a:pPr>
            <a:r>
              <a:rPr lang="he-IL" altLang="he-IL" sz="2100" b="1" dirty="0">
                <a:solidFill>
                  <a:srgbClr val="FFFF00"/>
                </a:solidFill>
                <a:latin typeface="David" panose="020E0502060401010101" pitchFamily="34" charset="-79"/>
                <a:cs typeface="David" panose="020E0502060401010101" pitchFamily="34" charset="-79"/>
              </a:rPr>
              <a:t>בהצלחה!</a:t>
            </a:r>
          </a:p>
        </p:txBody>
      </p:sp>
    </p:spTree>
    <p:extLst>
      <p:ext uri="{BB962C8B-B14F-4D97-AF65-F5344CB8AC3E}">
        <p14:creationId xmlns:p14="http://schemas.microsoft.com/office/powerpoint/2010/main" val="17348190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83978">
                                            <p:txEl>
                                              <p:pRg st="0" end="0"/>
                                            </p:txEl>
                                          </p:spTgt>
                                        </p:tgtEl>
                                        <p:attrNameLst>
                                          <p:attrName>style.visibility</p:attrName>
                                        </p:attrNameLst>
                                      </p:cBhvr>
                                      <p:to>
                                        <p:strVal val="visible"/>
                                      </p:to>
                                    </p:set>
                                    <p:animEffect transition="in" filter="fade">
                                      <p:cBhvr>
                                        <p:cTn id="7" dur="5000"/>
                                        <p:tgtEl>
                                          <p:spTgt spid="83978">
                                            <p:txEl>
                                              <p:pRg st="0" end="0"/>
                                            </p:txEl>
                                          </p:spTgt>
                                        </p:tgtEl>
                                      </p:cBhvr>
                                    </p:animEffect>
                                    <p:anim calcmode="lin" valueType="num">
                                      <p:cBhvr>
                                        <p:cTn id="8" dur="5000" fill="hold"/>
                                        <p:tgtEl>
                                          <p:spTgt spid="83978">
                                            <p:txEl>
                                              <p:pRg st="0" end="0"/>
                                            </p:txEl>
                                          </p:spTgt>
                                        </p:tgtEl>
                                        <p:attrNameLst>
                                          <p:attrName>ppt_x</p:attrName>
                                        </p:attrNameLst>
                                      </p:cBhvr>
                                      <p:tavLst>
                                        <p:tav tm="0">
                                          <p:val>
                                            <p:strVal val="#ppt_x"/>
                                          </p:val>
                                        </p:tav>
                                        <p:tav tm="100000">
                                          <p:val>
                                            <p:strVal val="#ppt_x"/>
                                          </p:val>
                                        </p:tav>
                                      </p:tavLst>
                                    </p:anim>
                                    <p:anim calcmode="lin" valueType="num">
                                      <p:cBhvr>
                                        <p:cTn id="9" dur="5000" fill="hold"/>
                                        <p:tgtEl>
                                          <p:spTgt spid="8397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7" presetClass="entr" presetSubtype="4" fill="hold" nodeType="clickEffect">
                                  <p:stCondLst>
                                    <p:cond delay="0"/>
                                  </p:stCondLst>
                                  <p:childTnLst>
                                    <p:set>
                                      <p:cBhvr>
                                        <p:cTn id="13" dur="1" fill="hold">
                                          <p:stCondLst>
                                            <p:cond delay="0"/>
                                          </p:stCondLst>
                                        </p:cTn>
                                        <p:tgtEl>
                                          <p:spTgt spid="80901">
                                            <p:txEl>
                                              <p:pRg st="0" end="0"/>
                                            </p:txEl>
                                          </p:spTgt>
                                        </p:tgtEl>
                                        <p:attrNameLst>
                                          <p:attrName>style.visibility</p:attrName>
                                        </p:attrNameLst>
                                      </p:cBhvr>
                                      <p:to>
                                        <p:strVal val="visible"/>
                                      </p:to>
                                    </p:set>
                                    <p:anim calcmode="lin" valueType="num">
                                      <p:cBhvr additive="base">
                                        <p:cTn id="14" dur="5000" fill="hold"/>
                                        <p:tgtEl>
                                          <p:spTgt spid="80901">
                                            <p:txEl>
                                              <p:pRg st="0" end="0"/>
                                            </p:txEl>
                                          </p:spTgt>
                                        </p:tgtEl>
                                        <p:attrNameLst>
                                          <p:attrName>ppt_x</p:attrName>
                                        </p:attrNameLst>
                                      </p:cBhvr>
                                      <p:tavLst>
                                        <p:tav tm="0">
                                          <p:val>
                                            <p:strVal val="#ppt_x"/>
                                          </p:val>
                                        </p:tav>
                                        <p:tav tm="100000">
                                          <p:val>
                                            <p:strVal val="#ppt_x"/>
                                          </p:val>
                                        </p:tav>
                                      </p:tavLst>
                                    </p:anim>
                                    <p:anim calcmode="lin" valueType="num">
                                      <p:cBhvr additive="base">
                                        <p:cTn id="15" dur="5000" fill="hold"/>
                                        <p:tgtEl>
                                          <p:spTgt spid="809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83975"/>
                                        </p:tgtEl>
                                        <p:attrNameLst>
                                          <p:attrName>style.visibility</p:attrName>
                                        </p:attrNameLst>
                                      </p:cBhvr>
                                      <p:to>
                                        <p:strVal val="visible"/>
                                      </p:to>
                                    </p:set>
                                    <p:anim calcmode="lin" valueType="num">
                                      <p:cBhvr>
                                        <p:cTn id="20" dur="5000" fill="hold"/>
                                        <p:tgtEl>
                                          <p:spTgt spid="83975"/>
                                        </p:tgtEl>
                                        <p:attrNameLst>
                                          <p:attrName>ppt_w</p:attrName>
                                        </p:attrNameLst>
                                      </p:cBhvr>
                                      <p:tavLst>
                                        <p:tav tm="0">
                                          <p:val>
                                            <p:fltVal val="0"/>
                                          </p:val>
                                        </p:tav>
                                        <p:tav tm="100000">
                                          <p:val>
                                            <p:strVal val="#ppt_w"/>
                                          </p:val>
                                        </p:tav>
                                      </p:tavLst>
                                    </p:anim>
                                    <p:anim calcmode="lin" valueType="num">
                                      <p:cBhvr>
                                        <p:cTn id="21" dur="5000" fill="hold"/>
                                        <p:tgtEl>
                                          <p:spTgt spid="83975"/>
                                        </p:tgtEl>
                                        <p:attrNameLst>
                                          <p:attrName>ppt_h</p:attrName>
                                        </p:attrNameLst>
                                      </p:cBhvr>
                                      <p:tavLst>
                                        <p:tav tm="0">
                                          <p:val>
                                            <p:fltVal val="0"/>
                                          </p:val>
                                        </p:tav>
                                        <p:tav tm="100000">
                                          <p:val>
                                            <p:strVal val="#ppt_h"/>
                                          </p:val>
                                        </p:tav>
                                      </p:tavLst>
                                    </p:anim>
                                    <p:animEffect transition="in" filter="fade">
                                      <p:cBhvr>
                                        <p:cTn id="22" dur="5000"/>
                                        <p:tgtEl>
                                          <p:spTgt spid="83975"/>
                                        </p:tgtEl>
                                      </p:cBhvr>
                                    </p:animEffect>
                                  </p:childTnLst>
                                </p:cTn>
                              </p:par>
                              <p:par>
                                <p:cTn id="23" presetID="15" presetClass="entr" presetSubtype="0" fill="hold" grpId="0" nodeType="withEffect">
                                  <p:stCondLst>
                                    <p:cond delay="0"/>
                                  </p:stCondLst>
                                  <p:childTnLst>
                                    <p:set>
                                      <p:cBhvr>
                                        <p:cTn id="24" dur="1" fill="hold">
                                          <p:stCondLst>
                                            <p:cond delay="0"/>
                                          </p:stCondLst>
                                        </p:cTn>
                                        <p:tgtEl>
                                          <p:spTgt spid="80902"/>
                                        </p:tgtEl>
                                        <p:attrNameLst>
                                          <p:attrName>style.visibility</p:attrName>
                                        </p:attrNameLst>
                                      </p:cBhvr>
                                      <p:to>
                                        <p:strVal val="visible"/>
                                      </p:to>
                                    </p:set>
                                    <p:anim calcmode="lin" valueType="num">
                                      <p:cBhvr>
                                        <p:cTn id="25" dur="5000" fill="hold"/>
                                        <p:tgtEl>
                                          <p:spTgt spid="80902"/>
                                        </p:tgtEl>
                                        <p:attrNameLst>
                                          <p:attrName>ppt_w</p:attrName>
                                        </p:attrNameLst>
                                      </p:cBhvr>
                                      <p:tavLst>
                                        <p:tav tm="0">
                                          <p:val>
                                            <p:fltVal val="0"/>
                                          </p:val>
                                        </p:tav>
                                        <p:tav tm="100000">
                                          <p:val>
                                            <p:strVal val="#ppt_w"/>
                                          </p:val>
                                        </p:tav>
                                      </p:tavLst>
                                    </p:anim>
                                    <p:anim calcmode="lin" valueType="num">
                                      <p:cBhvr>
                                        <p:cTn id="26" dur="5000" fill="hold"/>
                                        <p:tgtEl>
                                          <p:spTgt spid="80902"/>
                                        </p:tgtEl>
                                        <p:attrNameLst>
                                          <p:attrName>ppt_h</p:attrName>
                                        </p:attrNameLst>
                                      </p:cBhvr>
                                      <p:tavLst>
                                        <p:tav tm="0">
                                          <p:val>
                                            <p:fltVal val="0"/>
                                          </p:val>
                                        </p:tav>
                                        <p:tav tm="100000">
                                          <p:val>
                                            <p:strVal val="#ppt_h"/>
                                          </p:val>
                                        </p:tav>
                                      </p:tavLst>
                                    </p:anim>
                                    <p:anim calcmode="lin" valueType="num">
                                      <p:cBhvr>
                                        <p:cTn id="27" dur="5000" fill="hold"/>
                                        <p:tgtEl>
                                          <p:spTgt spid="80902"/>
                                        </p:tgtEl>
                                        <p:attrNameLst>
                                          <p:attrName>ppt_x</p:attrName>
                                        </p:attrNameLst>
                                      </p:cBhvr>
                                      <p:tavLst>
                                        <p:tav tm="0" fmla="#ppt_x+(cos(-2*pi*(1-$))*-#ppt_x-sin(-2*pi*(1-$))*(1-#ppt_y))*(1-$)">
                                          <p:val>
                                            <p:fltVal val="0"/>
                                          </p:val>
                                        </p:tav>
                                        <p:tav tm="100000">
                                          <p:val>
                                            <p:fltVal val="1"/>
                                          </p:val>
                                        </p:tav>
                                      </p:tavLst>
                                    </p:anim>
                                    <p:anim calcmode="lin" valueType="num">
                                      <p:cBhvr>
                                        <p:cTn id="28" dur="5000" fill="hold"/>
                                        <p:tgtEl>
                                          <p:spTgt spid="8090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0" fill="hold"/>
                                        <p:tgtEl>
                                          <p:spTgt spid="11"/>
                                        </p:tgtEl>
                                        <p:attrNameLst>
                                          <p:attrName>ppt_w</p:attrName>
                                        </p:attrNameLst>
                                      </p:cBhvr>
                                      <p:tavLst>
                                        <p:tav tm="0">
                                          <p:val>
                                            <p:fltVal val="0"/>
                                          </p:val>
                                        </p:tav>
                                        <p:tav tm="100000">
                                          <p:val>
                                            <p:strVal val="#ppt_w"/>
                                          </p:val>
                                        </p:tav>
                                      </p:tavLst>
                                    </p:anim>
                                    <p:anim calcmode="lin" valueType="num">
                                      <p:cBhvr>
                                        <p:cTn id="34" dur="50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animBg="1"/>
      <p:bldP spid="11" grpId="0" animBg="1"/>
    </p:bldLst>
  </p:timing>
</p:sld>
</file>

<file path=ppt/theme/theme1.xml><?xml version="1.0" encoding="utf-8"?>
<a:theme xmlns:a="http://schemas.openxmlformats.org/drawingml/2006/main">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1">
        <a:spAutoFit/>
      </a:bodyPr>
      <a:lstStyle>
        <a:defPPr algn="r" rtl="1">
          <a:defRPr dirty="0"/>
        </a:defPPr>
      </a:lstStyle>
    </a:txDef>
  </a:objectDefaults>
  <a:extraClrSchemeLst/>
</a:theme>
</file>

<file path=ppt/theme/theme3.xml><?xml version="1.0" encoding="utf-8"?>
<a:theme xmlns:a="http://schemas.openxmlformats.org/drawingml/2006/main" name="2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9613</TotalTime>
  <Words>9382</Words>
  <Application>Microsoft Office PowerPoint</Application>
  <PresentationFormat>‫הצגה על המסך (4:3)</PresentationFormat>
  <Paragraphs>1153</Paragraphs>
  <Slides>110</Slides>
  <Notes>1</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110</vt:i4>
      </vt:variant>
    </vt:vector>
  </HeadingPairs>
  <TitlesOfParts>
    <vt:vector size="119" baseType="lpstr">
      <vt:lpstr>Arial</vt:lpstr>
      <vt:lpstr>Calibri</vt:lpstr>
      <vt:lpstr>Calibri Light</vt:lpstr>
      <vt:lpstr>David</vt:lpstr>
      <vt:lpstr>Guttman Stam</vt:lpstr>
      <vt:lpstr>Times New Roman</vt:lpstr>
      <vt:lpstr/>
      <vt:lpstr>ערכת נושא Office</vt:lpstr>
      <vt:lpstr>2_ערכת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שקופית 1</dc:title>
  <dc:creator>113217-user</dc:creator>
  <cp:lastModifiedBy>שמואל כץ</cp:lastModifiedBy>
  <cp:revision>749</cp:revision>
  <dcterms:modified xsi:type="dcterms:W3CDTF">2026-10-21T08:53:30Z</dcterms:modified>
</cp:coreProperties>
</file>